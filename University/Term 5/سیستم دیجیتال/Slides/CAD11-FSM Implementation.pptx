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619" r:id="rId2"/>
    <p:sldId id="618" r:id="rId3"/>
    <p:sldId id="584" r:id="rId4"/>
    <p:sldId id="617" r:id="rId5"/>
    <p:sldId id="585" r:id="rId6"/>
    <p:sldId id="586" r:id="rId7"/>
    <p:sldId id="587" r:id="rId8"/>
    <p:sldId id="588" r:id="rId9"/>
    <p:sldId id="589" r:id="rId10"/>
    <p:sldId id="590" r:id="rId11"/>
    <p:sldId id="591" r:id="rId12"/>
    <p:sldId id="592" r:id="rId13"/>
    <p:sldId id="593" r:id="rId14"/>
    <p:sldId id="594" r:id="rId15"/>
    <p:sldId id="596" r:id="rId16"/>
    <p:sldId id="597" r:id="rId17"/>
    <p:sldId id="598" r:id="rId18"/>
    <p:sldId id="599" r:id="rId19"/>
    <p:sldId id="595" r:id="rId20"/>
    <p:sldId id="609" r:id="rId21"/>
    <p:sldId id="610" r:id="rId22"/>
    <p:sldId id="611" r:id="rId23"/>
    <p:sldId id="612" r:id="rId24"/>
    <p:sldId id="613" r:id="rId25"/>
    <p:sldId id="614" r:id="rId26"/>
    <p:sldId id="615" r:id="rId27"/>
    <p:sldId id="616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 autoAdjust="0"/>
    <p:restoredTop sz="96405" autoAdjust="0"/>
  </p:normalViewPr>
  <p:slideViewPr>
    <p:cSldViewPr>
      <p:cViewPr varScale="1">
        <p:scale>
          <a:sx n="126" d="100"/>
          <a:sy n="126" d="100"/>
        </p:scale>
        <p:origin x="17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5/13/20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88" tIns="43245" rIns="86488" bIns="43245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10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18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19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20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22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23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24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25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26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C801-CAE9-4064-92C7-1D220957A432}" type="slidenum">
              <a:rPr lang="en-US" smtClean="0">
                <a:ea typeface="ＭＳ Ｐゴシック" pitchFamily="34" charset="-128"/>
              </a:rPr>
              <a:pPr/>
              <a:t>27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“Hardware Systems Modeling”, A. </a:t>
            </a:r>
            <a:r>
              <a:rPr lang="en-US" sz="1400" dirty="0" err="1"/>
              <a:t>Vachoux</a:t>
            </a:r>
            <a:r>
              <a:rPr lang="en-US" sz="1400" dirty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 from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FSM Implementation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3340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</p:spTree>
    <p:extLst>
      <p:ext uri="{BB962C8B-B14F-4D97-AF65-F5344CB8AC3E}">
        <p14:creationId xmlns:p14="http://schemas.microsoft.com/office/powerpoint/2010/main" val="3376620789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FSM ?</a:t>
            </a:r>
          </a:p>
          <a:p>
            <a:r>
              <a:rPr lang="en-US" dirty="0"/>
              <a:t>FSM Design ?</a:t>
            </a:r>
          </a:p>
          <a:p>
            <a:r>
              <a:rPr lang="en-US" dirty="0">
                <a:solidFill>
                  <a:srgbClr val="FF0000"/>
                </a:solidFill>
              </a:rPr>
              <a:t>FSM Implementation 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58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Finite State Machines &amp; VHDL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4486275"/>
            <a:ext cx="68103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533400" y="12192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2800" b="1" dirty="0">
                <a:cs typeface="Lotus" pitchFamily="2" charset="-78"/>
              </a:rPr>
              <a:t>One- , two- or three-processes</a:t>
            </a:r>
          </a:p>
          <a:p>
            <a:r>
              <a:rPr lang="en-US" altLang="en-US" sz="2800" b="1">
                <a:cs typeface="Lotus" pitchFamily="2" charset="-78"/>
              </a:rPr>
              <a:t>State Encoding </a:t>
            </a:r>
            <a:endParaRPr lang="en-US" altLang="en-US" sz="2800" b="1" dirty="0">
              <a:cs typeface="Lotus" pitchFamily="2" charset="-78"/>
            </a:endParaRPr>
          </a:p>
          <a:p>
            <a:r>
              <a:rPr lang="en-US" altLang="en-US" sz="2800" b="1" dirty="0">
                <a:cs typeface="Lotus" pitchFamily="2" charset="-78"/>
              </a:rPr>
              <a:t>FSM Types </a:t>
            </a:r>
          </a:p>
          <a:p>
            <a:pPr lvl="1">
              <a:buFontTx/>
              <a:buChar char="•"/>
            </a:pPr>
            <a:r>
              <a:rPr lang="en-US" altLang="en-US" dirty="0">
                <a:cs typeface="Lotus" pitchFamily="2" charset="-78"/>
              </a:rPr>
              <a:t>Medvedev </a:t>
            </a:r>
          </a:p>
          <a:p>
            <a:pPr lvl="1">
              <a:buFontTx/>
              <a:buChar char="•"/>
            </a:pPr>
            <a:r>
              <a:rPr lang="en-US" altLang="en-US" dirty="0">
                <a:cs typeface="Lotus" pitchFamily="2" charset="-78"/>
              </a:rPr>
              <a:t>Moore </a:t>
            </a:r>
          </a:p>
          <a:p>
            <a:pPr lvl="1">
              <a:buFontTx/>
              <a:buChar char="•"/>
            </a:pPr>
            <a:r>
              <a:rPr lang="en-US" altLang="en-US" dirty="0">
                <a:cs typeface="Lotus" pitchFamily="2" charset="-78"/>
              </a:rPr>
              <a:t>Mealy </a:t>
            </a:r>
          </a:p>
          <a:p>
            <a:pPr lvl="1">
              <a:buFontTx/>
              <a:buChar char="•"/>
            </a:pPr>
            <a:r>
              <a:rPr lang="en-US" altLang="en-US" dirty="0">
                <a:cs typeface="Lotus" pitchFamily="2" charset="-78"/>
              </a:rPr>
              <a:t>Registered Output</a:t>
            </a:r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295258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Enumeration Types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57200" y="1905000"/>
            <a:ext cx="4724400" cy="36988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/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architecture EXAMPLE of ENUMERATION is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</a:t>
            </a:r>
            <a:r>
              <a:rPr lang="en-US" sz="1300">
                <a:solidFill>
                  <a:srgbClr val="FF0000"/>
                </a:solidFill>
              </a:rPr>
              <a:t>  </a:t>
            </a:r>
            <a:r>
              <a:rPr lang="en-US" sz="1300">
                <a:solidFill>
                  <a:srgbClr val="FF0000"/>
                </a:solidFill>
                <a:latin typeface="Helvetica" pitchFamily="34" charset="0"/>
              </a:rPr>
              <a:t> type T_STATE is (RESET, START, EXECUTE, FINISH);</a:t>
            </a:r>
            <a:br>
              <a:rPr lang="en-US" sz="1300">
                <a:solidFill>
                  <a:srgbClr val="FF0000"/>
                </a:solidFill>
                <a:latin typeface="Helvetica" pitchFamily="34" charset="0"/>
              </a:rPr>
            </a:b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  </a:t>
            </a: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signal CURRENT_STATE, NEXT_STATE : </a:t>
            </a:r>
            <a:r>
              <a:rPr lang="en-US" sz="1300">
                <a:solidFill>
                  <a:srgbClr val="FF0000"/>
                </a:solidFill>
                <a:latin typeface="Helvetica" pitchFamily="34" charset="0"/>
              </a:rPr>
              <a:t>T_STATE ;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  </a:t>
            </a: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signal TWO_BIT_VEC : bit_vector(1 downto 0);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begin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  </a:t>
            </a: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-- valid signal assignments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  </a:t>
            </a:r>
            <a:r>
              <a:rPr lang="en-US" sz="1300">
                <a:solidFill>
                  <a:srgbClr val="FF0000"/>
                </a:solidFill>
                <a:latin typeface="Helvetica" pitchFamily="34" charset="0"/>
              </a:rPr>
              <a:t>NEXT_STATE </a:t>
            </a:r>
            <a:r>
              <a:rPr lang="en-US" sz="1300">
                <a:solidFill>
                  <a:srgbClr val="FF0000"/>
                </a:solidFill>
              </a:rPr>
              <a:t>        </a:t>
            </a:r>
            <a:r>
              <a:rPr lang="en-US" sz="1300">
                <a:solidFill>
                  <a:srgbClr val="FF0000"/>
                </a:solidFill>
                <a:latin typeface="Helvetica" pitchFamily="34" charset="0"/>
              </a:rPr>
              <a:t>&lt;= CURRENT_STATE;</a:t>
            </a:r>
            <a:br>
              <a:rPr lang="en-US" sz="1300">
                <a:solidFill>
                  <a:srgbClr val="FF0000"/>
                </a:solidFill>
                <a:latin typeface="Helvetica" pitchFamily="34" charset="0"/>
              </a:rPr>
            </a:br>
            <a:r>
              <a:rPr lang="en-US" sz="1300">
                <a:solidFill>
                  <a:srgbClr val="FF0000"/>
                </a:solidFill>
              </a:rPr>
              <a:t>   </a:t>
            </a:r>
            <a:r>
              <a:rPr lang="en-US" sz="1300">
                <a:solidFill>
                  <a:srgbClr val="FF0000"/>
                </a:solidFill>
                <a:latin typeface="Helvetica" pitchFamily="34" charset="0"/>
              </a:rPr>
              <a:t>CURRENT_STATE &lt;= RESET;</a:t>
            </a:r>
            <a:br>
              <a:rPr lang="en-US" sz="1300">
                <a:solidFill>
                  <a:srgbClr val="FF0000"/>
                </a:solidFill>
                <a:latin typeface="Helvetica" pitchFamily="34" charset="0"/>
              </a:rPr>
            </a:b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  </a:t>
            </a: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-- invalid signal assignments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  </a:t>
            </a: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CURRENT_STATE &lt;= "00";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</a:rPr>
              <a:t>   </a:t>
            </a: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CURRENT_STATE &lt;= TWO_BIT_VEC;</a:t>
            </a: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br>
              <a:rPr lang="en-US" sz="1300">
                <a:solidFill>
                  <a:schemeClr val="accent2"/>
                </a:solidFill>
                <a:latin typeface="Helvetica" pitchFamily="34" charset="0"/>
              </a:rPr>
            </a:br>
            <a:r>
              <a:rPr lang="en-US" sz="1300">
                <a:solidFill>
                  <a:schemeClr val="accent2"/>
                </a:solidFill>
                <a:latin typeface="Helvetica" pitchFamily="34" charset="0"/>
              </a:rPr>
              <a:t>end EXAMPLE;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257800" y="2205037"/>
            <a:ext cx="3276600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666750" indent="-1905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rtl="0" eaLnBrk="1" hangingPunct="1">
              <a:buFontTx/>
              <a:buChar char="•"/>
            </a:pPr>
            <a:r>
              <a:rPr lang="en-US" sz="1800"/>
              <a:t>Designers may define their own types </a:t>
            </a:r>
          </a:p>
          <a:p>
            <a:pPr lvl="1" rtl="0" eaLnBrk="1" hangingPunct="1">
              <a:buFontTx/>
              <a:buChar char="•"/>
            </a:pPr>
            <a:r>
              <a:rPr lang="en-US" sz="1800" b="0"/>
              <a:t>enhanced readability</a:t>
            </a:r>
            <a:br>
              <a:rPr lang="en-US" sz="1800" b="0"/>
            </a:br>
            <a:r>
              <a:rPr lang="en-US" sz="1800" b="0"/>
              <a:t>(commonly used to describe the states of a state machine) </a:t>
            </a:r>
          </a:p>
          <a:p>
            <a:pPr lvl="1" rtl="0" eaLnBrk="1" hangingPunct="1">
              <a:buFontTx/>
              <a:buChar char="•"/>
            </a:pPr>
            <a:r>
              <a:rPr lang="en-US" sz="1800" b="0"/>
              <a:t>limited legal values</a:t>
            </a: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4724400" y="5410200"/>
            <a:ext cx="3657600" cy="838200"/>
            <a:chOff x="2544" y="2640"/>
            <a:chExt cx="2304" cy="528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832" y="2640"/>
              <a:ext cx="2016" cy="528"/>
            </a:xfrm>
            <a:prstGeom prst="rect">
              <a:avLst/>
            </a:prstGeom>
            <a:noFill/>
            <a:ln w="34925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rtl="0"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Helvetica" pitchFamily="34" charset="0"/>
                  <a:cs typeface="Times New Roman" pitchFamily="18" charset="0"/>
                </a:rPr>
                <a:t>Synthesis tools map enumerations onto a suitable bit pattern automatically.</a:t>
              </a:r>
              <a:endParaRPr lang="fa-IR" sz="2000" b="0">
                <a:cs typeface="Times New Roman" pitchFamily="18" charset="0"/>
              </a:endParaRPr>
            </a:p>
          </p:txBody>
        </p:sp>
        <p:pic>
          <p:nvPicPr>
            <p:cNvPr id="10" name="Picture 7" descr="t_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4" y="2717"/>
              <a:ext cx="302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161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One-Process FSM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38200" y="1981200"/>
            <a:ext cx="4876800" cy="41687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latin typeface="Helvetica"/>
                <a:cs typeface="Lotus" pitchFamily="2" charset="-78"/>
              </a:rPr>
              <a:t>FSM_FF: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process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(CLK,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RESET)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Helvetica"/>
                <a:cs typeface="Lotus" pitchFamily="2" charset="-78"/>
              </a:rPr>
              <a:t>begin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RESET='1'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latin typeface="Helvetica"/>
                <a:cs typeface="Lotus" pitchFamily="2" charset="-78"/>
              </a:rPr>
              <a:t>elsif CLK'event and CLK='1' then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case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STATE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is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START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 </a:t>
            </a:r>
            <a:r>
              <a:rPr lang="en-US" altLang="en-US" sz="1400"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>
                <a:latin typeface="Helvetica"/>
                <a:cs typeface="Lotus" pitchFamily="2" charset="-78"/>
              </a:rPr>
              <a:t> X=GO_MID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               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 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MIDDLE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>
                <a:latin typeface="Helvetica"/>
                <a:cs typeface="Lotus" pitchFamily="2" charset="-78"/>
              </a:rPr>
              <a:t> X=GO_STOP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               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 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STOP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  </a:t>
            </a:r>
            <a:r>
              <a:rPr lang="en-US" altLang="en-US" sz="1400"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>
                <a:latin typeface="Helvetica"/>
                <a:cs typeface="Lotus" pitchFamily="2" charset="-78"/>
              </a:rPr>
              <a:t> X=GO_START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               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START 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 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others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8000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400">
                <a:latin typeface="Helvetica"/>
                <a:cs typeface="Lotus" pitchFamily="2" charset="-78"/>
              </a:rPr>
              <a:t> 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case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latin typeface="Helvetica"/>
                <a:cs typeface="Lotus" pitchFamily="2" charset="-78"/>
              </a:rPr>
            </a:br>
            <a:r>
              <a:rPr lang="en-US" altLang="en-US" sz="1400"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process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FSM_FF</a:t>
            </a:r>
            <a:r>
              <a:rPr lang="en-US" altLang="en-US" sz="1400"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latin typeface="Helvetica"/>
                <a:cs typeface="Lotus" pitchFamily="2" charset="-78"/>
              </a:rPr>
              <a:t>;</a:t>
            </a:r>
          </a:p>
        </p:txBody>
      </p:sp>
      <p:pic>
        <p:nvPicPr>
          <p:cNvPr id="7" name="Picture 7" descr="t_2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371600"/>
            <a:ext cx="4914900" cy="147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t_2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363" y="3394075"/>
            <a:ext cx="3170237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58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Two-Process FSM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400" y="2071688"/>
            <a:ext cx="4876800" cy="4405312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FSM_LOGIC: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( 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,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X)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X=GO_MID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then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latin typeface="Times New Roman"/>
                <a:cs typeface="Lotus" pitchFamily="2" charset="-78"/>
              </a:rPr>
              <a:t>                           </a:t>
            </a:r>
            <a:r>
              <a:rPr lang="en-US" altLang="en-US" sz="1600" dirty="0">
                <a:solidFill>
                  <a:srgbClr val="00AA2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NEXT_STATE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600" dirty="0"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latin typeface="Times New Roman"/>
                <a:cs typeface="Lotus" pitchFamily="2" charset="-78"/>
              </a:rPr>
              <a:t>                      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MIDDLE</a:t>
            </a:r>
            <a:r>
              <a:rPr lang="en-US" altLang="en-US" sz="1600" dirty="0"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...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others</a:t>
            </a:r>
            <a:r>
              <a:rPr lang="en-US" altLang="en-US" sz="1600" dirty="0"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AA2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NEXT_STATE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FSM_LOGIC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endParaRPr lang="fa-IR" altLang="en-US" sz="1600" dirty="0">
              <a:solidFill>
                <a:srgbClr val="0000CC"/>
              </a:solidFill>
              <a:latin typeface="Helvetica"/>
              <a:cs typeface="Lotus" pitchFamily="2" charset="-78"/>
            </a:endParaRPr>
          </a:p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FSM_FF: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(CLK,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RESET)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RESET='1'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then</a:t>
            </a:r>
            <a:br>
              <a:rPr lang="en-US" altLang="en-US" sz="1600" dirty="0">
                <a:latin typeface="Helvetica"/>
                <a:cs typeface="Lotus" pitchFamily="2" charset="-78"/>
              </a:rPr>
            </a:br>
            <a:r>
              <a:rPr lang="en-US" altLang="en-US" sz="1600" dirty="0"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latin typeface="Helvetica"/>
                <a:cs typeface="Lotus" pitchFamily="2" charset="-78"/>
              </a:rPr>
            </a:br>
            <a:r>
              <a:rPr lang="en-US" altLang="en-US" sz="1600" dirty="0"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 dirty="0" err="1">
                <a:solidFill>
                  <a:srgbClr val="0000CC"/>
                </a:solidFill>
                <a:latin typeface="Helvetica"/>
                <a:cs typeface="Lotus" pitchFamily="2" charset="-78"/>
              </a:rPr>
              <a:t>elsif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 err="1">
                <a:solidFill>
                  <a:srgbClr val="0000CC"/>
                </a:solidFill>
                <a:latin typeface="Helvetica"/>
                <a:cs typeface="Lotus" pitchFamily="2" charset="-78"/>
              </a:rPr>
              <a:t>CLK'event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and CLK='1' then</a:t>
            </a:r>
            <a:br>
              <a:rPr lang="en-US" altLang="en-US" sz="1600" dirty="0">
                <a:latin typeface="Helvetica"/>
                <a:cs typeface="Lotus" pitchFamily="2" charset="-78"/>
              </a:rPr>
            </a:br>
            <a:r>
              <a:rPr lang="en-US" altLang="en-US" sz="1600" dirty="0"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STATE 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600" dirty="0">
                <a:solidFill>
                  <a:srgbClr val="008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8000"/>
                </a:solidFill>
                <a:latin typeface="Helvetica"/>
                <a:cs typeface="Lotus" pitchFamily="2" charset="-78"/>
              </a:rPr>
              <a:t> NEXT_STATE</a:t>
            </a:r>
            <a:r>
              <a:rPr lang="en-US" altLang="en-US" sz="1600" dirty="0"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if;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FSM_FF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</a:p>
        </p:txBody>
      </p:sp>
      <p:pic>
        <p:nvPicPr>
          <p:cNvPr id="7" name="Picture 6" descr="t_2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1219200"/>
            <a:ext cx="4914900" cy="147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t_2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238" y="3276600"/>
            <a:ext cx="3611562" cy="289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587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Many Processes?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en-US" sz="1800" b="1" dirty="0">
                <a:cs typeface="Lotus" pitchFamily="2" charset="-78"/>
              </a:rPr>
              <a:t>Structure and Readability </a:t>
            </a:r>
          </a:p>
          <a:p>
            <a:pPr lvl="1">
              <a:buFontTx/>
              <a:buChar char="•"/>
            </a:pPr>
            <a:r>
              <a:rPr lang="en-US" altLang="en-US" sz="1800" dirty="0">
                <a:cs typeface="Lotus" pitchFamily="2" charset="-78"/>
              </a:rPr>
              <a:t>Asynchronous combinatory, synchronous storing elements</a:t>
            </a:r>
            <a:br>
              <a:rPr lang="en-US" altLang="en-US" sz="1800" dirty="0">
                <a:cs typeface="Lotus" pitchFamily="2" charset="-78"/>
              </a:rPr>
            </a:br>
            <a:r>
              <a:rPr lang="en-US" altLang="en-US" sz="1800" dirty="0">
                <a:cs typeface="Lotus" pitchFamily="2" charset="-78"/>
              </a:rPr>
              <a:t>=&gt; 2 processes </a:t>
            </a:r>
          </a:p>
          <a:p>
            <a:pPr lvl="1">
              <a:buFontTx/>
              <a:buChar char="•"/>
            </a:pPr>
            <a:r>
              <a:rPr lang="en-US" altLang="en-US" sz="1800" dirty="0">
                <a:cs typeface="Lotus" pitchFamily="2" charset="-78"/>
              </a:rPr>
              <a:t>Graphical FSM (without output equations) resembles one state process</a:t>
            </a:r>
            <a:br>
              <a:rPr lang="en-US" altLang="en-US" sz="1800" dirty="0">
                <a:cs typeface="Lotus" pitchFamily="2" charset="-78"/>
              </a:rPr>
            </a:br>
            <a:r>
              <a:rPr lang="en-US" altLang="en-US" sz="1800" dirty="0">
                <a:cs typeface="Lotus" pitchFamily="2" charset="-78"/>
              </a:rPr>
              <a:t>=&gt; 1 process </a:t>
            </a:r>
          </a:p>
          <a:p>
            <a:r>
              <a:rPr lang="en-US" altLang="en-US" sz="1800" b="1" dirty="0">
                <a:cs typeface="Lotus" pitchFamily="2" charset="-78"/>
              </a:rPr>
              <a:t>Simulation </a:t>
            </a:r>
          </a:p>
          <a:p>
            <a:pPr lvl="1">
              <a:buFontTx/>
              <a:buChar char="•"/>
            </a:pPr>
            <a:r>
              <a:rPr lang="en-US" altLang="en-US" sz="1800" dirty="0">
                <a:cs typeface="Lotus" pitchFamily="2" charset="-78"/>
              </a:rPr>
              <a:t>Error detection easier with two state processes due to access to intermediate signals.</a:t>
            </a:r>
            <a:br>
              <a:rPr lang="en-US" altLang="en-US" sz="1800" dirty="0">
                <a:cs typeface="Lotus" pitchFamily="2" charset="-78"/>
              </a:rPr>
            </a:br>
            <a:r>
              <a:rPr lang="en-US" altLang="en-US" sz="1800" dirty="0">
                <a:cs typeface="Lotus" pitchFamily="2" charset="-78"/>
              </a:rPr>
              <a:t>=&gt; 2 processes </a:t>
            </a:r>
          </a:p>
          <a:p>
            <a:r>
              <a:rPr lang="en-US" altLang="en-US" sz="1800" b="1" dirty="0">
                <a:cs typeface="Lotus" pitchFamily="2" charset="-78"/>
              </a:rPr>
              <a:t>Synthesis </a:t>
            </a:r>
          </a:p>
          <a:p>
            <a:pPr lvl="1">
              <a:buFontTx/>
              <a:buChar char="•"/>
            </a:pPr>
            <a:r>
              <a:rPr lang="en-US" altLang="en-US" sz="1800" dirty="0">
                <a:cs typeface="Lotus" pitchFamily="2" charset="-78"/>
              </a:rPr>
              <a:t>2 state processes can lead to smaller generic net list and therefore to better synthesis results</a:t>
            </a:r>
            <a:br>
              <a:rPr lang="en-US" altLang="en-US" sz="1800" dirty="0">
                <a:cs typeface="Lotus" pitchFamily="2" charset="-78"/>
              </a:rPr>
            </a:br>
            <a:r>
              <a:rPr lang="en-US" altLang="en-US" sz="1800" dirty="0">
                <a:cs typeface="Lotus" pitchFamily="2" charset="-78"/>
              </a:rPr>
              <a:t>(depends on synthesizer but in general, it is closer to hardware)</a:t>
            </a:r>
            <a:br>
              <a:rPr lang="en-US" altLang="en-US" sz="1800" dirty="0">
                <a:cs typeface="Lotus" pitchFamily="2" charset="-78"/>
              </a:rPr>
            </a:br>
            <a:r>
              <a:rPr lang="en-US" altLang="en-US" sz="1800" dirty="0">
                <a:cs typeface="Lotus" pitchFamily="2" charset="-78"/>
              </a:rPr>
              <a:t>=&gt; 2 processes</a:t>
            </a:r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2952587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State Encoding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7200" y="1524000"/>
            <a:ext cx="4724400" cy="8604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type STATE_TYPE is (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START, MIDDLE, STOP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) 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signal STATE : STATE_TYPE ;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410200" y="1600200"/>
            <a:ext cx="3352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State encoding responsible</a:t>
            </a:r>
            <a:b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for safety of FSM 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57200" y="2619375"/>
            <a:ext cx="4724400" cy="8604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00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"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01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"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10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"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410200" y="2695575"/>
            <a:ext cx="3352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Default encoding: binary 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57200" y="4038600"/>
            <a:ext cx="4724400" cy="8604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001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"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010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"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100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"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5410200" y="4114800"/>
            <a:ext cx="3352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Speed optimized default</a:t>
            </a:r>
            <a:b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encoding: one hot </a:t>
            </a:r>
          </a:p>
        </p:txBody>
      </p:sp>
      <p:sp>
        <p:nvSpPr>
          <p:cNvPr id="2" name="Rectangle 1"/>
          <p:cNvSpPr/>
          <p:nvPr/>
        </p:nvSpPr>
        <p:spPr>
          <a:xfrm>
            <a:off x="2133600" y="5486400"/>
            <a:ext cx="2885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srgbClr val="000000"/>
                </a:solidFill>
                <a:latin typeface="Helvetica"/>
                <a:cs typeface="Times New Roman" pitchFamily="18" charset="0"/>
              </a:rPr>
              <a:t>Note: unsafe FSM!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58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9" grpId="0" build="p" autoUpdateAnimBg="0"/>
      <p:bldP spid="1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Encoding of CASE Statement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1676400"/>
            <a:ext cx="4724400" cy="28162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(START,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MIDDLE,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STOP)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signal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when</a:t>
            </a:r>
            <a:r>
              <a:rPr lang="en-US" altLang="en-US" sz="1600" b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others</a:t>
            </a:r>
            <a:r>
              <a:rPr lang="en-US" altLang="en-US" sz="1600" b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b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b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b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</a:t>
            </a:r>
            <a:b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334000" y="1752600"/>
            <a:ext cx="3352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Adding the "when others" choice </a:t>
            </a:r>
          </a:p>
        </p:txBody>
      </p:sp>
      <p:grpSp>
        <p:nvGrpSpPr>
          <p:cNvPr id="8" name="Group 16"/>
          <p:cNvGrpSpPr>
            <a:grpSpLocks/>
          </p:cNvGrpSpPr>
          <p:nvPr/>
        </p:nvGrpSpPr>
        <p:grpSpPr bwMode="auto">
          <a:xfrm>
            <a:off x="685800" y="5105400"/>
            <a:ext cx="6934200" cy="731838"/>
            <a:chOff x="144" y="3235"/>
            <a:chExt cx="4368" cy="461"/>
          </a:xfrm>
        </p:grpSpPr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432" y="3235"/>
              <a:ext cx="4080" cy="461"/>
            </a:xfrm>
            <a:prstGeom prst="rect">
              <a:avLst/>
            </a:prstGeom>
            <a:noFill/>
            <a:ln w="349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 rtl="0">
                <a:spcBef>
                  <a:spcPct val="0"/>
                </a:spcBef>
              </a:pPr>
              <a: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  <a:t>Not necessarily safe;</a:t>
              </a:r>
              <a:b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</a:br>
              <a: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  <a:t>some synthesis tools will ignore "when others" choice</a:t>
              </a:r>
              <a:endParaRPr lang="fa-IR" altLang="en-US">
                <a:cs typeface="Times New Roman" pitchFamily="18" charset="0"/>
              </a:endParaRPr>
            </a:p>
          </p:txBody>
        </p:sp>
        <p:pic>
          <p:nvPicPr>
            <p:cNvPr id="10" name="Picture 14" descr="t_2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3312"/>
              <a:ext cx="302" cy="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4223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Extension of Type Declaration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400" y="1298575"/>
            <a:ext cx="5867400" cy="28162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type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(START,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MIDDLE,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STOP,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b="1">
                <a:solidFill>
                  <a:srgbClr val="0000CC"/>
                </a:solidFill>
                <a:latin typeface="Helvetica"/>
                <a:cs typeface="Lotus" pitchFamily="2" charset="-78"/>
              </a:rPr>
              <a:t>DUMMY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)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signal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: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···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b="1">
                <a:solidFill>
                  <a:srgbClr val="0000CC"/>
                </a:solidFill>
                <a:latin typeface="Helvetica"/>
                <a:cs typeface="Lotus" pitchFamily="2" charset="-78"/>
              </a:rPr>
              <a:t> when</a:t>
            </a:r>
            <a:r>
              <a:rPr lang="en-US" altLang="en-US" sz="1600" b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b="1">
                <a:solidFill>
                  <a:srgbClr val="0000CC"/>
                </a:solidFill>
                <a:latin typeface="Helvetica"/>
                <a:cs typeface="Lotus" pitchFamily="2" charset="-78"/>
              </a:rPr>
              <a:t>DUMMY</a:t>
            </a:r>
            <a:r>
              <a:rPr lang="en-US" altLang="en-US" sz="1600" b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b="1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b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-- or when others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147481" y="4096544"/>
            <a:ext cx="3996519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Adding dummy values</a:t>
            </a:r>
          </a:p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Only for  binary encoding</a:t>
            </a:r>
          </a:p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Advantages: 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Safe FSM after synthesis</a:t>
            </a:r>
          </a:p>
        </p:txBody>
      </p:sp>
      <p:grpSp>
        <p:nvGrpSpPr>
          <p:cNvPr id="8" name="Group 12"/>
          <p:cNvGrpSpPr>
            <a:grpSpLocks/>
          </p:cNvGrpSpPr>
          <p:nvPr/>
        </p:nvGrpSpPr>
        <p:grpSpPr bwMode="auto">
          <a:xfrm>
            <a:off x="304800" y="4800600"/>
            <a:ext cx="4495800" cy="731838"/>
            <a:chOff x="192" y="3648"/>
            <a:chExt cx="2544" cy="461"/>
          </a:xfrm>
        </p:grpSpPr>
        <p:pic>
          <p:nvPicPr>
            <p:cNvPr id="9" name="Picture 10" descr="t_2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737"/>
              <a:ext cx="302" cy="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84" y="3648"/>
              <a:ext cx="2252" cy="461"/>
            </a:xfrm>
            <a:prstGeom prst="rect">
              <a:avLst/>
            </a:prstGeom>
            <a:noFill/>
            <a:ln w="349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 rtl="0">
                <a:spcBef>
                  <a:spcPct val="0"/>
                </a:spcBef>
              </a:pPr>
              <a: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  <a:t>{2 </a:t>
              </a:r>
              <a:r>
                <a:rPr lang="en-US" altLang="en-US" sz="1800" b="1" baseline="30000">
                  <a:solidFill>
                    <a:srgbClr val="000000"/>
                  </a:solidFill>
                  <a:latin typeface="Helvetica"/>
                  <a:cs typeface="Times New Roman" pitchFamily="18" charset="0"/>
                  <a:sym typeface="Symbol" pitchFamily="18" charset="2"/>
                </a:rPr>
                <a:t>log2(# of states)</a:t>
              </a:r>
              <a: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  <a:sym typeface="Symbol" pitchFamily="18" charset="2"/>
                </a:rPr>
                <a:t>  -  n} </a:t>
              </a:r>
              <a: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  <a:t>dummy states</a:t>
              </a:r>
              <a:b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</a:br>
              <a:r>
                <a:rPr lang="en-US" altLang="en-US" sz="1800" b="1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  <a:t>(n=20 =&gt; 12 dummy states)</a:t>
              </a:r>
            </a:p>
          </p:txBody>
        </p:sp>
      </p:grpSp>
      <p:grpSp>
        <p:nvGrpSpPr>
          <p:cNvPr id="11" name="Group 16"/>
          <p:cNvGrpSpPr>
            <a:grpSpLocks/>
          </p:cNvGrpSpPr>
          <p:nvPr/>
        </p:nvGrpSpPr>
        <p:grpSpPr bwMode="auto">
          <a:xfrm>
            <a:off x="304800" y="5638800"/>
            <a:ext cx="6629400" cy="731838"/>
            <a:chOff x="192" y="3792"/>
            <a:chExt cx="3792" cy="461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480" y="3792"/>
              <a:ext cx="3504" cy="461"/>
            </a:xfrm>
            <a:prstGeom prst="rect">
              <a:avLst/>
            </a:prstGeom>
            <a:noFill/>
            <a:ln w="349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l" rtl="0">
                <a:spcBef>
                  <a:spcPct val="0"/>
                </a:spcBef>
              </a:pPr>
              <a:r>
                <a:rPr lang="en-US" altLang="en-US" sz="1800" b="1" dirty="0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  <a:t>Changing to one hot coding =&gt; unnecessary hardware</a:t>
              </a:r>
              <a:br>
                <a:rPr lang="en-US" altLang="en-US" sz="1800" b="1" dirty="0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Helvetica"/>
                  <a:cs typeface="Times New Roman" pitchFamily="18" charset="0"/>
                </a:rPr>
                <a:t>(n=20 =&gt; 12 unnecessary Flip Flops)</a:t>
              </a:r>
              <a:endParaRPr lang="fa-IR" altLang="en-US" dirty="0">
                <a:cs typeface="Times New Roman" pitchFamily="18" charset="0"/>
              </a:endParaRPr>
            </a:p>
          </p:txBody>
        </p:sp>
        <p:pic>
          <p:nvPicPr>
            <p:cNvPr id="13" name="Picture 15" descr="t_2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869"/>
              <a:ext cx="302" cy="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4223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Hand Coding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1000" y="1524000"/>
            <a:ext cx="5334000" cy="3293209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subtype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 err="1">
                <a:solidFill>
                  <a:srgbClr val="0000CC"/>
                </a:solidFill>
                <a:latin typeface="Helvetica"/>
                <a:cs typeface="Lotus" pitchFamily="2" charset="-78"/>
              </a:rPr>
              <a:t>std_ulogic_vector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(1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 err="1">
                <a:solidFill>
                  <a:srgbClr val="0000CC"/>
                </a:solidFill>
                <a:latin typeface="Helvetica"/>
                <a:cs typeface="Lotus" pitchFamily="2" charset="-78"/>
              </a:rPr>
              <a:t>downto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0)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signal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constant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:=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"01";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constant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:=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"11";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constant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:=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"00";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···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others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···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638800" y="1676400"/>
            <a:ext cx="2895600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0500" indent="-1905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Defining constants </a:t>
            </a:r>
          </a:p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Control of encoding </a:t>
            </a:r>
          </a:p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Safe FSM </a:t>
            </a:r>
          </a:p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Portable design </a:t>
            </a:r>
          </a:p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Disadvantage:</a:t>
            </a:r>
          </a:p>
          <a:p>
            <a:pPr>
              <a:buFontTx/>
              <a:buChar char="•"/>
            </a:pP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   More effort (especially when design changes)</a:t>
            </a:r>
          </a:p>
          <a:p>
            <a:pPr>
              <a:buFontTx/>
              <a:buChar char="•"/>
            </a:pPr>
            <a:endParaRPr lang="en-US" altLang="en-US" sz="160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42232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FSM: Medvedev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76200" y="2819400"/>
            <a:ext cx="3429000" cy="391636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</a:t>
            </a:r>
            <a:r>
              <a:rPr lang="en-US" altLang="en-US" sz="1600" b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Two Processes </a:t>
            </a:r>
          </a:p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RTL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of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MEDVEDEV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...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REG:</a:t>
            </a:r>
            <a:r>
              <a:rPr lang="en-US" altLang="en-US" sz="1600" i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i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(CLK,</a:t>
            </a:r>
            <a:r>
              <a:rPr lang="en-US" altLang="en-US" sz="1600" i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RESET)</a:t>
            </a:r>
            <a:b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--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Registers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Inference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REG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CMB:</a:t>
            </a:r>
            <a:r>
              <a:rPr lang="en-US" altLang="en-US" sz="1600" i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i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(X,</a:t>
            </a:r>
            <a:r>
              <a:rPr lang="en-US" altLang="en-US" sz="1600" i="1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STATE)</a:t>
            </a:r>
            <a:b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--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Next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Logic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CMB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S</a:t>
            </a: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RTL</a:t>
            </a: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657600" y="2844225"/>
            <a:ext cx="5410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The output vector resembles the state vector:</a:t>
            </a:r>
            <a:r>
              <a:rPr lang="en-US" altLang="en-US" sz="1600" b="1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 b="1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Y = S</a:t>
            </a: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endParaRPr lang="en-US" altLang="en-US" sz="1600" dirty="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657600" y="3522662"/>
            <a:ext cx="4419600" cy="318293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b="1">
                <a:solidFill>
                  <a:srgbClr val="0000CC"/>
                </a:solidFill>
                <a:latin typeface="Helvetica"/>
                <a:cs typeface="Lotus" pitchFamily="2" charset="-78"/>
              </a:rPr>
              <a:t> One Process 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RTL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of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MEDVEDEV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...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  <a:t> REG:</a:t>
            </a:r>
            <a:r>
              <a:rPr lang="en-US" altLang="en-US" sz="1600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  <a:t>(CLK,</a:t>
            </a:r>
            <a:r>
              <a:rPr lang="en-US" altLang="en-US" sz="1600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  <a:t>RESET)</a:t>
            </a:r>
            <a:b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--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Registers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Inference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with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Logic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Block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REG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S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RTL</a:t>
            </a: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</a:p>
        </p:txBody>
      </p:sp>
      <p:pic>
        <p:nvPicPr>
          <p:cNvPr id="9" name="Picture 6" descr="t_2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19200"/>
            <a:ext cx="5772150" cy="149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04800" y="3962400"/>
            <a:ext cx="2895600" cy="11430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04800" y="5181600"/>
            <a:ext cx="2895600" cy="9906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04800" y="6248400"/>
            <a:ext cx="2895600" cy="1524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733800" y="4876800"/>
            <a:ext cx="3962400" cy="1260475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733800" y="6172200"/>
            <a:ext cx="3962400" cy="2286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32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Medvedev Example (2-Process)</a:t>
            </a:r>
            <a:endParaRPr lang="en-US" sz="4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52400" y="4102100"/>
            <a:ext cx="3886200" cy="26797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RTL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of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MEDVEDEV_TEST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signal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STATE,NEXTSTATE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: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STATE_TYPE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 i="1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  <a:t>REG:</a:t>
            </a:r>
            <a:r>
              <a:rPr lang="en-US" altLang="en-US" sz="1400" b="1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400" b="1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  <a:t>(CLK,</a:t>
            </a:r>
            <a:r>
              <a:rPr lang="en-US" altLang="en-US" sz="1400" b="1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  <a:t>RESET)</a:t>
            </a:r>
            <a:b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RESET='1'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elsif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CLK'event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and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CLK='1'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REG;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038600" y="2120900"/>
            <a:ext cx="4038600" cy="374332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 i="1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  <a:t>CMB:</a:t>
            </a:r>
            <a:r>
              <a:rPr lang="en-US" altLang="en-US" sz="1400" b="1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400" b="1" i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 i="1">
                <a:solidFill>
                  <a:srgbClr val="0000CC"/>
                </a:solidFill>
                <a:latin typeface="Helvetica"/>
                <a:cs typeface="Lotus" pitchFamily="2" charset="-78"/>
              </a:rPr>
              <a:t>(A,B,STATE)</a:t>
            </a:r>
            <a:r>
              <a:rPr lang="en-US" altLang="en-US" sz="1400" b="1">
                <a:solidFill>
                  <a:srgbClr val="0000CC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400" b="1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 b="1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400" b="1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is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(A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or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B)='0'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MIDDLE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(A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and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B)='1'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STOP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(A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xor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B)='1'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others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=&gt;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START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case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process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CMB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--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concurrent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signal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assignments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for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output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(Y,Z)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&lt;=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STATE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RTL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;</a:t>
            </a:r>
          </a:p>
        </p:txBody>
      </p:sp>
      <p:pic>
        <p:nvPicPr>
          <p:cNvPr id="8" name="Picture 7" descr="t_2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5151"/>
            <a:ext cx="3524250" cy="311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04800" y="4979987"/>
            <a:ext cx="2895600" cy="1725613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114800" y="2160587"/>
            <a:ext cx="3810000" cy="2971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114800" y="5208587"/>
            <a:ext cx="3810000" cy="3810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3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Medvedev Example Waveform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04800" y="5737225"/>
            <a:ext cx="541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(Y,Z) = STATE =&gt; Medvedev machine </a:t>
            </a:r>
            <a:endParaRPr lang="en-US" altLang="en-US" sz="160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  <p:pic>
        <p:nvPicPr>
          <p:cNvPr id="7" name="Picture 8" descr="t_2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6858000" cy="391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23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FSM: Moore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495800" y="2819400"/>
            <a:ext cx="3429000" cy="391636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 Three Processes </a:t>
            </a:r>
          </a:p>
          <a:p>
            <a:pPr>
              <a:spcBef>
                <a:spcPct val="50000"/>
              </a:spcBef>
            </a:pPr>
            <a:b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 RTL of MOORE is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...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  <a:t> REG: -- Clocked Process</a:t>
            </a:r>
            <a:b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  <a:t> CMB: -- Combinational Process</a:t>
            </a:r>
            <a:br>
              <a:rPr lang="en-US" altLang="en-US" sz="1600" i="1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OUTPUT: process (STATE)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-- Output Logic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end process OUTPUT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end RTL 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04800" y="2438400"/>
            <a:ext cx="7620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The output vector is a function of the state vector:</a:t>
            </a:r>
            <a:r>
              <a:rPr lang="en-US" altLang="en-US" sz="1600" b="1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b="1">
                <a:solidFill>
                  <a:srgbClr val="FF0000"/>
                </a:solidFill>
                <a:latin typeface="Helvetica"/>
                <a:cs typeface="Lotus" pitchFamily="2" charset="-78"/>
              </a:rPr>
              <a:t> Y = f(S)</a:t>
            </a:r>
            <a:endParaRPr lang="en-US" altLang="en-US" sz="160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6200" y="2819400"/>
            <a:ext cx="4419600" cy="391636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Two Processes </a:t>
            </a:r>
          </a:p>
          <a:p>
            <a:pPr>
              <a:spcBef>
                <a:spcPct val="50000"/>
              </a:spcBef>
            </a:pPr>
            <a:b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 RTL of MOORE is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...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  <a:t> REG: process (CLK, RESET)</a:t>
            </a:r>
            <a:br>
              <a:rPr lang="en-US" altLang="en-US" sz="1600" i="1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-- State Registers Inference with Next State Logic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 process REG ;</a:t>
            </a:r>
            <a:b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OUTPUT: process (STATE)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-- Output Logic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end process OUTPUT 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CC"/>
                </a:solidFill>
                <a:latin typeface="Helvetica"/>
                <a:cs typeface="Lotus" pitchFamily="2" charset="-78"/>
              </a:rPr>
              <a:t>end RTL ;</a:t>
            </a:r>
          </a:p>
        </p:txBody>
      </p:sp>
      <p:pic>
        <p:nvPicPr>
          <p:cNvPr id="9" name="Picture 7" descr="t_2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41387"/>
            <a:ext cx="7326313" cy="149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228600" y="4191000"/>
            <a:ext cx="4038600" cy="1243013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228600" y="5410200"/>
            <a:ext cx="4038600" cy="1017588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95800" y="3962400"/>
            <a:ext cx="3276600" cy="1066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4495800" y="5105400"/>
            <a:ext cx="3276600" cy="11430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57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Moore Example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pic>
        <p:nvPicPr>
          <p:cNvPr id="6" name="Picture 7" descr="t_2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989012"/>
            <a:ext cx="3438525" cy="312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0" y="4191000"/>
            <a:ext cx="3581400" cy="24669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 RTL of MOORE_TEST is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signal STATE,NEXTSTATE : STATE_TYPE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REG: process (CLK, RESET) begin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if RESET='1' then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STATE &lt;= 		START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elsif CLK'event and CLK='1' 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STATE &lt;= NEXTSTATE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 if ;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endParaRPr lang="fa-IR" altLang="en-US" sz="1400">
              <a:solidFill>
                <a:srgbClr val="0000CC"/>
              </a:solidFill>
              <a:latin typeface="Helvetica"/>
              <a:cs typeface="Lotus" pitchFamily="2" charset="-78"/>
            </a:endParaRPr>
          </a:p>
          <a:p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   end process REG ;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048000" y="1371600"/>
            <a:ext cx="4953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Since outputs depend only on the current state, no signals other than STATE appears in the sensitivity list.</a:t>
            </a:r>
            <a:endParaRPr lang="en-US" altLang="en-US" sz="160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581400" y="2209800"/>
            <a:ext cx="4419600" cy="41687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CMB: process (A,B,STATE) begin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case STATE is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 START =&gt; if (A or B)='0' 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 &lt;= MIDDLE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 end if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 MIDDLE =&gt; if (A and B)='1' 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 &lt;= STOP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 end if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 STOP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=&gt; if (A xor B)='1' then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NEXTSTATE &lt;= START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    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 end if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when others =&gt; NEXTSTATE &lt;= START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 case ;</a:t>
            </a: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 end process CMB ;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-- concurrent signal assignments for output</a:t>
            </a:r>
            <a:b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Y &lt;= 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1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when STATE=MIDDLE else 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0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;</a:t>
            </a:r>
            <a:b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Z &lt;= 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1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when STATE=MIDDLE</a:t>
            </a:r>
            <a:b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              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or STATE=STOP else 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0</a:t>
            </a:r>
            <a:r>
              <a:rPr lang="en-US" altLang="en-US" sz="14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4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400">
                <a:solidFill>
                  <a:srgbClr val="0000CC"/>
                </a:solidFill>
                <a:latin typeface="Helvetica"/>
                <a:cs typeface="Lotus" pitchFamily="2" charset="-78"/>
              </a:rPr>
              <a:t>end RTL ;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76200" y="5105400"/>
            <a:ext cx="3276600" cy="15240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3657600" y="2286000"/>
            <a:ext cx="4038600" cy="2971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57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Moore Example Waveform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5640387"/>
            <a:ext cx="7162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(Y,Z) changes simultaneously with STATE   </a:t>
            </a: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  <a:sym typeface="Wingdings" pitchFamily="2" charset="2"/>
              </a:rPr>
              <a:t> </a:t>
            </a: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Moore machine </a:t>
            </a:r>
            <a:endParaRPr lang="en-US" altLang="en-US" sz="1600" dirty="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  <p:pic>
        <p:nvPicPr>
          <p:cNvPr id="7" name="Picture 5" descr="t_24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6189663" cy="350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257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FSM: Mealy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-76200" y="2619375"/>
            <a:ext cx="8610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500" b="1">
                <a:solidFill>
                  <a:srgbClr val="000000"/>
                </a:solidFill>
                <a:latin typeface="Helvetica"/>
                <a:cs typeface="Lotus" pitchFamily="2" charset="-78"/>
              </a:rPr>
              <a:t>The output vector is a function of the state vector and the input vector:</a:t>
            </a:r>
            <a:r>
              <a:rPr lang="en-US" altLang="en-US" sz="1500" b="1">
                <a:solidFill>
                  <a:srgbClr val="00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500" b="1">
                <a:solidFill>
                  <a:srgbClr val="FF0000"/>
                </a:solidFill>
                <a:latin typeface="Helvetica"/>
                <a:cs typeface="Lotus" pitchFamily="2" charset="-78"/>
              </a:rPr>
              <a:t> Y = f(X,S)</a:t>
            </a:r>
            <a:endParaRPr lang="en-US" altLang="en-US" sz="1500" b="1">
              <a:solidFill>
                <a:srgbClr val="000000"/>
              </a:solidFill>
              <a:latin typeface="Helvetica"/>
              <a:cs typeface="Lotus" pitchFamily="2" charset="-78"/>
            </a:endParaRPr>
          </a:p>
          <a:p>
            <a:pPr>
              <a:buFontTx/>
              <a:buChar char="•"/>
            </a:pPr>
            <a:endParaRPr lang="en-US" altLang="en-US" sz="150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  <p:pic>
        <p:nvPicPr>
          <p:cNvPr id="9" name="Picture 7" descr="t_2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7292975" cy="172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4648200" y="3005138"/>
            <a:ext cx="3429000" cy="3548062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 Three Processes 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 RTL of MEALY is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...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REG: -- Clocked Process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CMB: -- Combinational Process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OUTPUT: process (STATE, </a:t>
            </a:r>
            <a:r>
              <a:rPr lang="en-US" altLang="en-US" b="1">
                <a:solidFill>
                  <a:srgbClr val="008000"/>
                </a:solidFill>
                <a:latin typeface="Helvetica"/>
                <a:cs typeface="Lotus" pitchFamily="2" charset="-78"/>
              </a:rPr>
              <a:t>X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)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-- Output Logic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end process OUTPUT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end RTL ;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0" y="2971800"/>
            <a:ext cx="4419600" cy="379253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b="1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</a:t>
            </a: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 Two Processes 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architecture RTL of MEALY is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...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MED: process (CLK, RESET)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-- State Registers Inference with Next State Logic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end process MED ;</a:t>
            </a:r>
            <a:b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OUTPUT: process (STATE,</a:t>
            </a:r>
            <a:r>
              <a:rPr lang="en-US" altLang="en-US" sz="1600" b="1">
                <a:solidFill>
                  <a:srgbClr val="008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b="1">
                <a:solidFill>
                  <a:srgbClr val="008000"/>
                </a:solidFill>
                <a:latin typeface="Helvetica"/>
                <a:cs typeface="Lotus" pitchFamily="2" charset="-78"/>
              </a:rPr>
              <a:t>X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)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-- Output Logic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end process OUTPUT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CC"/>
                </a:solidFill>
                <a:latin typeface="Helvetica"/>
                <a:cs typeface="Lotus" pitchFamily="2" charset="-78"/>
              </a:rPr>
              <a:t>end RTL ;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724400" y="3886200"/>
            <a:ext cx="3124200" cy="6096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4724400" y="4419600"/>
            <a:ext cx="3124200" cy="6096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724400" y="5181600"/>
            <a:ext cx="3124200" cy="1066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03188" y="4114800"/>
            <a:ext cx="3935412" cy="12954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76200" y="5457825"/>
            <a:ext cx="3935413" cy="1019175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57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Mealy Example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04800" y="4975225"/>
            <a:ext cx="3581400" cy="13493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architecture RTL of MEALY_TEST is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signal STATE,NEXTSTATE : STATE_TYPE 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endParaRPr lang="en-US" altLang="en-US" sz="1600">
              <a:solidFill>
                <a:schemeClr val="accent2"/>
              </a:solidFill>
              <a:latin typeface="Helvetica"/>
              <a:cs typeface="Lotus" pitchFamily="2" charset="-78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886200" y="1277937"/>
            <a:ext cx="4876800" cy="504666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REG: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-- clocked STATE process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CMB: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-- Like Medvedev and Moore Examples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OUTPUT: process (</a:t>
            </a:r>
            <a:r>
              <a:rPr lang="en-US" altLang="en-US" sz="1800" b="1">
                <a:solidFill>
                  <a:srgbClr val="008000"/>
                </a:solidFill>
                <a:latin typeface="Helvetica"/>
                <a:cs typeface="Lotus" pitchFamily="2" charset="-78"/>
              </a:rPr>
              <a:t>STATE, A, B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)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case STATE is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when START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=&gt;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 &lt;= '0'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Z &lt;= A and B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 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when MIDLLE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=&gt;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 &lt;= A nor B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Z &lt;= '1'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when STOP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=&gt;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 &lt;= A nand B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Z &lt;= A or B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  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when others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=&gt;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 &lt;= '0'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Z &lt;= '0'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end case;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end process OUTPUT;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end RTL ;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3657600" y="4975225"/>
            <a:ext cx="3048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16" name="Picture 8" descr="t_2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66800"/>
            <a:ext cx="37814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3886200" y="1277937"/>
            <a:ext cx="3935413" cy="304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913188" y="1582737"/>
            <a:ext cx="4697412" cy="304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3921125" y="1887537"/>
            <a:ext cx="3900488" cy="4114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32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Mealy Example (Another Code)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5029200"/>
            <a:ext cx="3581400" cy="13493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architecture RTL of MEALY_TEST is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signal STATE,NEXTSTATE : STATE_TYPE ;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endParaRPr lang="en-US" altLang="en-US" sz="1600">
              <a:solidFill>
                <a:schemeClr val="accent2"/>
              </a:solidFill>
              <a:latin typeface="Helvetica"/>
              <a:cs typeface="Lotus" pitchFamily="2" charset="-78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886200" y="2851150"/>
            <a:ext cx="4876800" cy="35496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REG: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-- clocked STATE process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CMB: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chemeClr val="accent2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-- Like Medvedev and Moore Examples</a:t>
            </a:r>
            <a:b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-- Concurrent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signal assignments for outputs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 &lt;=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1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   when (STATE = MIDDLE and (A or B) =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0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)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	or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	(STATE = STOP and (A and B) =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0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)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   else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0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Z &lt;=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1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   when (STATE = START and (A and B) =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1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)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	or (STATE = MIDDLE) or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	(STATE = STOP and (A or B) =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1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)</a:t>
            </a:r>
          </a:p>
          <a:p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   else 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‘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0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’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chemeClr val="accent2"/>
                </a:solidFill>
                <a:latin typeface="Helvetica"/>
                <a:cs typeface="Lotus" pitchFamily="2" charset="-78"/>
              </a:rPr>
              <a:t>end RTL ;</a:t>
            </a:r>
          </a:p>
        </p:txBody>
      </p:sp>
      <p:pic>
        <p:nvPicPr>
          <p:cNvPr id="8" name="Picture 6" descr="t_2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219200"/>
            <a:ext cx="37814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Mealy Example Waveform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7200" y="5145087"/>
            <a:ext cx="7620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(Y,Z) changes with input =&gt; Mealy machine </a:t>
            </a:r>
          </a:p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Note the "spikes" of Y and Z in the waveform </a:t>
            </a:r>
            <a:endParaRPr lang="en-US" altLang="en-US" sz="1600">
              <a:solidFill>
                <a:srgbClr val="000000"/>
              </a:solidFill>
              <a:latin typeface="Helvetica"/>
              <a:cs typeface="Lotus" pitchFamily="2" charset="-78"/>
            </a:endParaRPr>
          </a:p>
        </p:txBody>
      </p:sp>
      <p:pic>
        <p:nvPicPr>
          <p:cNvPr id="7" name="Picture 5" descr="t_2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3" y="1371600"/>
            <a:ext cx="6434137" cy="362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Modeling Aspects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305800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Medvedev is too inflexible 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but less hardware (no combinational circuit for output)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More effort to calculate state vector.</a:t>
            </a:r>
          </a:p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Moore is preferred because of safe operation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since o/p depends only on state vector.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  <a:sym typeface="Wingdings" pitchFamily="2" charset="2"/>
              </a:rPr>
              <a:t> next output values are stable long before the next clock edge.</a:t>
            </a:r>
            <a:endParaRPr lang="en-US" altLang="en-US" sz="1600" dirty="0">
              <a:solidFill>
                <a:srgbClr val="000000"/>
              </a:solidFill>
              <a:latin typeface="Helvetica"/>
              <a:cs typeface="Lotus" pitchFamily="2" charset="-78"/>
            </a:endParaRPr>
          </a:p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Mealy more flexible, but danger of 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Spikes 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Unnecessary long paths (maximum clock period) </a:t>
            </a:r>
          </a:p>
          <a:p>
            <a:pPr lvl="1">
              <a:buFontTx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Combinational feed back loops </a:t>
            </a:r>
          </a:p>
        </p:txBody>
      </p:sp>
      <p:pic>
        <p:nvPicPr>
          <p:cNvPr id="7" name="Picture 5" descr="t_2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62400"/>
            <a:ext cx="7726363" cy="247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Registered Output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52400" y="1447800"/>
            <a:ext cx="8305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Avoiding long paths and combinational loops. </a:t>
            </a:r>
          </a:p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With one additional clock period</a:t>
            </a:r>
          </a:p>
        </p:txBody>
      </p:sp>
      <p:pic>
        <p:nvPicPr>
          <p:cNvPr id="13" name="Picture 8" descr="t_2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09800"/>
            <a:ext cx="6477000" cy="130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t_24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86000"/>
            <a:ext cx="7315200" cy="122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752600" y="2286000"/>
            <a:ext cx="152400" cy="1143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905000" y="2286000"/>
            <a:ext cx="1447800" cy="76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3352800" y="2286000"/>
            <a:ext cx="2590800" cy="76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>
            <a:off x="1752600" y="2895600"/>
            <a:ext cx="228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6324600" y="2209800"/>
            <a:ext cx="533400" cy="76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0" name="Group 15"/>
          <p:cNvGrpSpPr>
            <a:grpSpLocks/>
          </p:cNvGrpSpPr>
          <p:nvPr/>
        </p:nvGrpSpPr>
        <p:grpSpPr bwMode="auto">
          <a:xfrm>
            <a:off x="152400" y="3854450"/>
            <a:ext cx="8305800" cy="2165350"/>
            <a:chOff x="96" y="2428"/>
            <a:chExt cx="5232" cy="1364"/>
          </a:xfrm>
        </p:grpSpPr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96" y="2428"/>
              <a:ext cx="52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 algn="l" rtl="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914400" indent="-457200" algn="l" rtl="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371600" indent="-457200" algn="l" rtl="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828800" indent="-457200" algn="l" rtl="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286000" indent="-457200" algn="l" rtl="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>
                <a:buFontTx/>
                <a:buChar char="•"/>
              </a:pPr>
              <a:r>
                <a:rPr lang="en-US" altLang="en-US" sz="1600" b="1">
                  <a:solidFill>
                    <a:srgbClr val="000000"/>
                  </a:solidFill>
                  <a:latin typeface="Helvetica"/>
                  <a:cs typeface="Lotus" pitchFamily="2" charset="-78"/>
                </a:rPr>
                <a:t>Without additional clock period</a:t>
              </a:r>
            </a:p>
          </p:txBody>
        </p:sp>
        <p:pic>
          <p:nvPicPr>
            <p:cNvPr id="22" name="Picture 7" descr="t_24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" y="2826"/>
              <a:ext cx="4786" cy="9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2784" y="3408"/>
              <a:ext cx="432" cy="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Registered Output Example (1)</a:t>
            </a:r>
            <a:endParaRPr lang="en-US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5127625"/>
            <a:ext cx="3581400" cy="13493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architecture RTL of REG_TEST is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signal 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Y_I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, 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Z_I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: std_ulogic ;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signal STATE,NEXTSTATE : STATE_TYPE ;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begin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886200" y="1292225"/>
            <a:ext cx="4876800" cy="52609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REG: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-- clocked STATE process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CMB: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-- Like other Examples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OUTPUT: process (STATE, A, B)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case STATE is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when START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=&gt;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Y_I&lt;= '0'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Z_I&lt;= A and B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     ·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end process OUTPUT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-- clocked output process</a:t>
            </a:r>
            <a:b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OUTPUT_REG: process(CLK)</a:t>
            </a: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if CLK'event and CLK='1' then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Y &lt;= Y_I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 Z &lt;= Z_I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end if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  <a:t>end process OUTPUT_REG ;</a:t>
            </a:r>
            <a:br>
              <a:rPr lang="en-US" altLang="en-US" sz="160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>
                <a:solidFill>
                  <a:srgbClr val="000000"/>
                </a:solidFill>
                <a:latin typeface="Helvetica"/>
                <a:cs typeface="Lotus" pitchFamily="2" charset="-78"/>
              </a:rPr>
              <a:t>end RTL ; </a:t>
            </a:r>
          </a:p>
        </p:txBody>
      </p:sp>
      <p:pic>
        <p:nvPicPr>
          <p:cNvPr id="8" name="Picture 7" descr="t_2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3" y="1219200"/>
            <a:ext cx="376078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962400" y="1292225"/>
            <a:ext cx="3935413" cy="304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62400" y="1825625"/>
            <a:ext cx="3935413" cy="3048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962400" y="2282825"/>
            <a:ext cx="3935413" cy="20574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962400" y="4492625"/>
            <a:ext cx="3935413" cy="17526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Reg. Output Example Waveform</a:t>
            </a:r>
            <a:endParaRPr lang="en-US" sz="4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57200" y="5257800"/>
            <a:ext cx="7620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One clock period delay between STATE and output changes. </a:t>
            </a:r>
          </a:p>
          <a:p>
            <a:pPr>
              <a:buFontTx/>
              <a:buChar char="•"/>
            </a:pP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Input changes with clock edge result in an output change.</a:t>
            </a:r>
            <a:b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Helvetica"/>
                <a:cs typeface="Lotus" pitchFamily="2" charset="-78"/>
              </a:rPr>
              <a:t>(Danger of unmeant values     )</a:t>
            </a:r>
          </a:p>
        </p:txBody>
      </p:sp>
      <p:pic>
        <p:nvPicPr>
          <p:cNvPr id="7" name="Picture 5" descr="t_2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71600"/>
            <a:ext cx="5848350" cy="326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657600" y="5867400"/>
            <a:ext cx="228600" cy="152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altLang="en-US" dirty="0"/>
              <a:t>Registered Output Example (2)</a:t>
            </a:r>
            <a:endParaRPr lang="en-US" dirty="0"/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5029200"/>
            <a:ext cx="3581400" cy="13493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architecture RTL of REG_TEST2 is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signal 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Y_I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, 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Z_I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: </a:t>
            </a:r>
            <a:r>
              <a:rPr lang="en-US" altLang="en-US" sz="1600" dirty="0" err="1">
                <a:solidFill>
                  <a:srgbClr val="000000"/>
                </a:solidFill>
                <a:latin typeface="Helvetica"/>
                <a:cs typeface="Lotus" pitchFamily="2" charset="-78"/>
              </a:rPr>
              <a:t>std_ulogic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;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signal STATE,NEXTSTATE : STATE_TYPE ;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begin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114800" y="1143000"/>
            <a:ext cx="3733800" cy="52609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0287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676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23241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971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34290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886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4343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800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REG: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-- clocked STATE process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CMB: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 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-- Like other Examples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OUTPUT: process (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NEXTSTATE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, A, B)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case NEXTSTATE is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   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when START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=&gt;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Y_I&lt;= '0' 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                          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Z_I&lt;= A and B 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         ·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·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end process OUTPUT</a:t>
            </a: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b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OUTPUT_REG: process(CLK)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begin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if </a:t>
            </a:r>
            <a:r>
              <a:rPr lang="en-US" altLang="en-US" sz="1600" dirty="0" err="1">
                <a:solidFill>
                  <a:srgbClr val="FF0000"/>
                </a:solidFill>
                <a:latin typeface="Helvetica"/>
                <a:cs typeface="Lotus" pitchFamily="2" charset="-78"/>
              </a:rPr>
              <a:t>CLK'event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and CLK='1' then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Y &lt;= Y_I 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Z &lt;= Z_I 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      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end if 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 </a:t>
            </a:r>
            <a:r>
              <a:rPr lang="en-US" altLang="en-US" sz="1600" dirty="0">
                <a:solidFill>
                  <a:srgbClr val="FF0000"/>
                </a:solidFill>
                <a:latin typeface="Times New Roman"/>
                <a:cs typeface="Lotus" pitchFamily="2" charset="-78"/>
              </a:rPr>
              <a:t> </a:t>
            </a:r>
            <a: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  <a:t>end process OUTPUT_REG ;</a:t>
            </a:r>
            <a:br>
              <a:rPr lang="en-US" altLang="en-US" sz="1600" dirty="0">
                <a:solidFill>
                  <a:srgbClr val="FF0000"/>
                </a:solidFill>
                <a:latin typeface="Helvetica"/>
                <a:cs typeface="Lotus" pitchFamily="2" charset="-78"/>
              </a:rPr>
            </a:br>
            <a:r>
              <a:rPr lang="en-US" altLang="en-US" sz="1600" dirty="0">
                <a:solidFill>
                  <a:srgbClr val="000000"/>
                </a:solidFill>
                <a:latin typeface="Helvetica"/>
                <a:cs typeface="Lotus" pitchFamily="2" charset="-78"/>
              </a:rPr>
              <a:t>end RTL ; </a:t>
            </a:r>
          </a:p>
        </p:txBody>
      </p:sp>
      <p:pic>
        <p:nvPicPr>
          <p:cNvPr id="8" name="Picture 7" descr="t_2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219200"/>
            <a:ext cx="3706813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Reg. Output Example Waveform</a:t>
            </a:r>
            <a:endParaRPr lang="en-US" sz="4000" dirty="0"/>
          </a:p>
        </p:txBody>
      </p:sp>
      <p:sp>
        <p:nvSpPr>
          <p:cNvPr id="307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Mahdi Aminian</a:t>
            </a:r>
          </a:p>
        </p:txBody>
      </p:sp>
      <p:sp>
        <p:nvSpPr>
          <p:cNvPr id="307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0DCC4-09C2-4596-AAD4-4A3E5621EFF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12"/>
          <p:cNvSpPr txBox="1">
            <a:spLocks noChangeArrowheads="1"/>
          </p:cNvSpPr>
          <p:nvPr/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kern="0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04800" y="5135562"/>
            <a:ext cx="7620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9144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3716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8288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286000" indent="-457200" algn="l" rtl="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No delay between STATE and output changes. </a:t>
            </a:r>
          </a:p>
          <a:p>
            <a:pPr>
              <a:buFontTx/>
              <a:buChar char="•"/>
            </a:pPr>
            <a:r>
              <a:rPr lang="en-US" altLang="en-US" sz="1600" b="1">
                <a:solidFill>
                  <a:srgbClr val="000000"/>
                </a:solidFill>
                <a:latin typeface="Helvetica"/>
                <a:cs typeface="Lotus" pitchFamily="2" charset="-78"/>
              </a:rPr>
              <a:t>"Spikes" of original Mealy machine are gone!</a:t>
            </a:r>
          </a:p>
        </p:txBody>
      </p:sp>
      <p:pic>
        <p:nvPicPr>
          <p:cNvPr id="7" name="Picture 6" descr="t_2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573838" cy="353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71358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14708</TotalTime>
  <Words>4907</Words>
  <Application>Microsoft Macintosh PowerPoint</Application>
  <PresentationFormat>On-screen Show (4:3)</PresentationFormat>
  <Paragraphs>212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Helvetica</vt:lpstr>
      <vt:lpstr>Times New Roman</vt:lpstr>
      <vt:lpstr>Blank Presentation</vt:lpstr>
      <vt:lpstr>Computer-Aided Design    FSM Implementation</vt:lpstr>
      <vt:lpstr>FSM</vt:lpstr>
      <vt:lpstr>Finite State Machines &amp; VHDL</vt:lpstr>
      <vt:lpstr>Enumeration Types</vt:lpstr>
      <vt:lpstr>One-Process FSM</vt:lpstr>
      <vt:lpstr>Two-Process FSM</vt:lpstr>
      <vt:lpstr>How Many Processes?</vt:lpstr>
      <vt:lpstr>State Encoding</vt:lpstr>
      <vt:lpstr>Encoding of CASE Statement</vt:lpstr>
      <vt:lpstr>Extension of Type Declaration</vt:lpstr>
      <vt:lpstr>Hand Coding</vt:lpstr>
      <vt:lpstr>FSM: Medvedev</vt:lpstr>
      <vt:lpstr>Medvedev Example (2-Process)</vt:lpstr>
      <vt:lpstr>Medvedev Example Waveform</vt:lpstr>
      <vt:lpstr>FSM: Moore</vt:lpstr>
      <vt:lpstr>Moore Example</vt:lpstr>
      <vt:lpstr>Moore Example Waveform</vt:lpstr>
      <vt:lpstr>FSM: Mealy</vt:lpstr>
      <vt:lpstr>Mealy Example</vt:lpstr>
      <vt:lpstr>Mealy Example (Another Code)</vt:lpstr>
      <vt:lpstr>Mealy Example Waveform</vt:lpstr>
      <vt:lpstr>Modeling Aspects</vt:lpstr>
      <vt:lpstr>Registered Output</vt:lpstr>
      <vt:lpstr>Registered Output Example (1)</vt:lpstr>
      <vt:lpstr>Reg. Output Example Waveform</vt:lpstr>
      <vt:lpstr>Registered Output Example (2)</vt:lpstr>
      <vt:lpstr>Reg. Output Example Waveform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Microsoft Office User</cp:lastModifiedBy>
  <cp:revision>656</cp:revision>
  <cp:lastPrinted>2015-04-21T13:02:55Z</cp:lastPrinted>
  <dcterms:created xsi:type="dcterms:W3CDTF">2009-11-03T19:03:43Z</dcterms:created>
  <dcterms:modified xsi:type="dcterms:W3CDTF">2020-05-13T04:32:19Z</dcterms:modified>
</cp:coreProperties>
</file>