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640" r:id="rId2"/>
    <p:sldId id="641" r:id="rId3"/>
    <p:sldId id="1245" r:id="rId4"/>
    <p:sldId id="1246" r:id="rId5"/>
    <p:sldId id="1249" r:id="rId6"/>
    <p:sldId id="1250" r:id="rId7"/>
    <p:sldId id="1247" r:id="rId8"/>
    <p:sldId id="1248" r:id="rId9"/>
    <p:sldId id="1251" r:id="rId10"/>
    <p:sldId id="1252" r:id="rId11"/>
    <p:sldId id="1254" r:id="rId12"/>
    <p:sldId id="1256" r:id="rId13"/>
    <p:sldId id="1257" r:id="rId14"/>
    <p:sldId id="1258" r:id="rId15"/>
    <p:sldId id="643" r:id="rId16"/>
    <p:sldId id="644" r:id="rId17"/>
    <p:sldId id="645" r:id="rId18"/>
    <p:sldId id="646" r:id="rId19"/>
    <p:sldId id="647" r:id="rId20"/>
    <p:sldId id="648" r:id="rId21"/>
    <p:sldId id="649" r:id="rId22"/>
    <p:sldId id="650" r:id="rId23"/>
    <p:sldId id="651" r:id="rId24"/>
    <p:sldId id="653" r:id="rId25"/>
    <p:sldId id="661" r:id="rId26"/>
    <p:sldId id="662" r:id="rId27"/>
    <p:sldId id="663" r:id="rId28"/>
    <p:sldId id="664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5" autoAdjust="0"/>
    <p:restoredTop sz="96405" autoAdjust="0"/>
  </p:normalViewPr>
  <p:slideViewPr>
    <p:cSldViewPr>
      <p:cViewPr varScale="1">
        <p:scale>
          <a:sx n="80" d="100"/>
          <a:sy n="80" d="100"/>
        </p:scale>
        <p:origin x="146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6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C1F03B7-E3BF-40F2-ADDC-6E1D7F1CA8D5}" type="datetimeFigureOut">
              <a:rPr lang="en-US" smtClean="0"/>
              <a:pPr/>
              <a:t>12/22/2024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DFD3AD05-09B9-40E3-AE39-E644A0E36E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5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9T21:11:26.0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3708 8216 24575,'0'25'0,"12"14"0,7 11 0,-3-8 0,-1 5 0,-2-14 0,3 7 0,1 0 0,-3-8 0,-3-5 0,-1-5 0,6 20 0,-6-16 0,-3-3 0,-7-11 0,3 5 0,-3-15 0</inkml:trace>
  <inkml:trace contextRef="#ctx0" brushRef="#br0" timeOffset="1713">3697 8221 24575,'0'-20'0,"7"-11"0,10 6 0,2 1 0,0-3 0,16-9 0,-5 61 0,-20-11 0,9 9 0,1 0 0,-12-7 0,-1 27 0,-2 5 0,-2-7 0,-8 4 0,-3 10 0,0-9 0,0-2 0,-10 6 0,4-8 0,17-31 0,31-15 0,9-8 0,-7 0 0,-1-1 0,5-3 0,-12 7 0,-15 8 0,6-2 0,-5 33 0,-4 7 0,-2-11 0,0 7 0,1 10 0,-5-9 0,-10-9 0,-10 11 0,-4-3 0,-1-18 0,-16 8 0,-1-2 0,20-14 0,-23 10 0,37-19 0,7-10 0,-1 6 0,3-5 0</inkml:trace>
  <inkml:trace contextRef="#ctx0" brushRef="#br0" timeOffset="3138">4126 8185 24575,'0'33'0,"0"-17"0,0 16 0,0 2 0,0-14 0,3 9 0,2-1 0,-3-12 0,9 8 0,-3-10 0,-1-9 0,25 3 0,-4-23 0,6 6 0,-6-10 0,-10-7 0,-10 13 0,3-36 0,-11 34 0,-9-27 0,-1-1 0,5 21 0,-7-17 0,0 6 0,11 30 0,-5-2 0,6 15 0,23 19 0,8 4 0,-4-7 0,7 6 0,8 8 0,-8-9 0,-4-6 0,4 4 0,-7-5 0,-22-20 0,3 1 0</inkml:trace>
  <inkml:trace contextRef="#ctx0" brushRef="#br0" timeOffset="4482">4561 7866 24575,'-27'3'0,"-1"0"0,5 25 0,9 6 0,23 10 0,-5-7 0,3 0 0,11 11 0,-9-34 0,17-2 0,2-5 0,-12-10 0,14 2 0,-1-1 0,-19-1 0,9 37 0,-15-16 0,-3 15 0,-1 11 0,-1-8 0,-3 1 0,-7 15 0,-4-6 0,4-31 0,-12 7 0,21-22 0</inkml:trace>
  <inkml:trace contextRef="#ctx0" brushRef="#br0" timeOffset="5172">4853 8182 24575,'33'-17'0,"0"0"0,3 3 0,-1-7 0,1 0 0,4 7 0,-21 6 0,5 1 0</inkml:trace>
  <inkml:trace contextRef="#ctx0" brushRef="#br0" timeOffset="6572">4801 7744 24575,'46'-18'0,"0"1"0,-6 3 0,0-1 0,-7 0 0,7-10 0,-9 8 0,-7 7 0,-20 13 0,-30 42 0,13-23 0,-19 18 0,-2-2 0,17-21 0,-6 5 0,3-2 0,16-13 0,-1 12 0,8-4 0,3 3 0,25 19 0,-13-19 0,4 7 0,-2 0 0,-11-12 0,4 12 0,-13-3 0,0-13 0,-8 18 0,6-25 0,28-16 0,12-8 0,-15 6 0,21-10 0,-4 3 0,-32 19 0,3-2 0</inkml:trace>
  <inkml:trace contextRef="#ctx0" brushRef="#br0" timeOffset="7300">5233 7559 24575,'0'25'0,"9"16"0,7 12 0,-4-8 0,-2 6 0,3-5 0,3 8 0,-7-19 0,-9-27 0,0 0 0</inkml:trace>
  <inkml:trace contextRef="#ctx0" brushRef="#br0" timeOffset="8362">5180 7435 24575,'20'0'0,"21"-4"0,2 0 0,-7 3 0,1-2 0,8 0 0,-8 2 0,-7 1 0,-2-1 0,-5 2 0,-16 1 0,-1 39 0,-6-15 0,1 10 0,2 10 0,-1-6 0,0 6 0,-7 2 0,-4 9 0,-1-12 0,-7-5 0,-2-6 0,-4 6 0,3-10 0,1-9 0,-16 14 0,31-32 0,-1-3 0</inkml:trace>
  <inkml:trace contextRef="#ctx0" brushRef="#br0" timeOffset="11736">5836 7674 24575,'35'-1'0,"1"0"0,-1 0 0,2 1 0,-3-1 0,9-8 0,-14-8 0,-2-2 0,1 5 0,1-6 0,-7 5 0,-20 15 0</inkml:trace>
  <inkml:trace contextRef="#ctx0" brushRef="#br0" timeOffset="12923">5847 7519 24575,'51'-1'0,"-1"-1"0,-5 2 0,-8 0 0,-17-3 0,2 3 0,-5 0 0,26-11 0,-25 8 0,10-8 0</inkml:trace>
  <inkml:trace contextRef="#ctx0" brushRef="#br0" timeOffset="13920">6535 7239 22297,'-48'0'0,"25"0"552,-15 0 1,0 0-553,19 6 384,-12 1-384,28 2 194,3 3-194,0 25 0,8 6 0,2 4 0,-6-12 0,0 4 0,4 6 0,3 8 0,-1-1 0,-2-10 0,-4-11 0,0-2 0,3 15 0,1 7 0,-2-14 0,-6-21 148,6 4 1,-6-17 0,3-3 0</inkml:trace>
  <inkml:trace contextRef="#ctx0" brushRef="#br0" timeOffset="14702">6369 7545 24575,'47'0'0,"-29"0"0,23 0 0,-39 0 0</inkml:trace>
  <inkml:trace contextRef="#ctx0" brushRef="#br0" timeOffset="16311">6661 7310 24575,'18'-29'0,"0"2"0,-9 18 0,1 2 0,7 1 0,8 6 0,-7 0 0,2 3 0,-20 32 0,-10 7 0,0-7 0,-3 3 0,-4 7 0,1-10 0,-1-10 0,-4-1 0,4-4 0,13-13 0,4-1 0,37-7 0,0-6 0,13-1 0,-21 1 0,-4 1 0,-6 1 0,18-1 0,-32 9 0,2 5 0,-7 11 0,-9 31 0,1-21 0,-7 9 0,-3-4 0,4-21 0,-9 18 0,20-31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4588" y="685800"/>
            <a:ext cx="4570412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fld id="{00AFF51F-A535-4BB3-9A7D-F6E9C3D0A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6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363DD2-35CD-4EE1-8D23-F5E51EE2026C}" type="slidenum">
              <a:rPr lang="en-US" smtClean="0">
                <a:ea typeface="ＭＳ Ｐゴシック" pitchFamily="34" charset="-128"/>
              </a:rPr>
              <a:pPr/>
              <a:t>1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8" tIns="43245" rIns="86488" bIns="43245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3743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9778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9353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9606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9576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4021AED6-FC8D-45B5-A644-F9F96138DA57}" type="slidenum">
              <a:rPr lang="en-US" altLang="en-US" sz="1200">
                <a:solidFill>
                  <a:prstClr val="black"/>
                </a:solidFill>
              </a:rPr>
              <a:pPr eaLnBrk="1" hangingPunct="1"/>
              <a:t>25</a:t>
            </a:fld>
            <a:endParaRPr lang="en-US" altLang="en-US" sz="1200">
              <a:solidFill>
                <a:prstClr val="black"/>
              </a:solidFill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855525DC-E441-4DFA-A655-6AC7FC197948}" type="slidenum">
              <a:rPr lang="en-US" altLang="en-US" sz="1200">
                <a:solidFill>
                  <a:prstClr val="black"/>
                </a:solidFill>
              </a:rPr>
              <a:pPr eaLnBrk="1" hangingPunct="1"/>
              <a:t>26</a:t>
            </a:fld>
            <a:endParaRPr lang="en-US" altLang="en-US" sz="1200">
              <a:solidFill>
                <a:prstClr val="black"/>
              </a:solidFill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4C0FB3AF-8333-4EC7-BE1B-C5FF2DBA547A}" type="slidenum">
              <a:rPr lang="en-US" altLang="en-US" sz="1200">
                <a:solidFill>
                  <a:prstClr val="black"/>
                </a:solidFill>
              </a:rPr>
              <a:pPr eaLnBrk="1" hangingPunct="1"/>
              <a:t>27</a:t>
            </a:fld>
            <a:endParaRPr lang="en-US" altLang="en-US" sz="1200">
              <a:solidFill>
                <a:prstClr val="black"/>
              </a:solidFill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E7346454-3D88-4232-B149-DC44E5BE1BD9}" type="slidenum">
              <a:rPr lang="en-US" altLang="en-US" sz="1200">
                <a:solidFill>
                  <a:prstClr val="black"/>
                </a:solidFill>
              </a:rPr>
              <a:pPr eaLnBrk="1" hangingPunct="1"/>
              <a:t>28</a:t>
            </a:fld>
            <a:endParaRPr lang="en-US" altLang="en-US" sz="1200">
              <a:solidFill>
                <a:prstClr val="black"/>
              </a:solidFill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64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848600" y="6248400"/>
            <a:ext cx="609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 bwMode="auto">
          <a:xfrm>
            <a:off x="76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-6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CAD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6B078-E125-4DAE-82C9-FB5092426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AE13A-4373-4A10-BF50-1216A6DA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73B77-06D6-496A-AF15-B301F6359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7CDAC-F5ED-4CF5-A040-46BD3FD9F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71EB1-DEE5-4D2D-8A66-35542A031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BF3FD-ABE3-474C-887C-A20A0AC880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3FA32-19A7-4689-86E1-488491BC67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5F6F7-0353-42FD-B0B9-3AA415C0A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E2495-6C37-4148-B092-2BA900427C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/>
              <a:t>November 12, 2010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fld id="{141EC098-193F-4E7D-8F63-132E3FF02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D:\Documents\Courses\BSc_Hardware Modeling (BS)\Slides\Photos\processor-2217771_960_72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8915400" cy="501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https://www.guilan.ac.ir/images/fa2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1691"/>
            <a:ext cx="3200400" cy="80630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4343400" y="6135469"/>
            <a:ext cx="4800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Some slides courtesy of: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“Hardware Systems Modeling”, A. </a:t>
            </a:r>
            <a:r>
              <a:rPr lang="en-US" sz="1400" dirty="0" err="1"/>
              <a:t>Vachoux</a:t>
            </a:r>
            <a:r>
              <a:rPr lang="en-US" sz="1400" dirty="0"/>
              <a:t>, EPFL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CAD slides from Dr. </a:t>
            </a:r>
            <a:r>
              <a:rPr lang="en-US" sz="1400" dirty="0" err="1"/>
              <a:t>Saheb</a:t>
            </a:r>
            <a:r>
              <a:rPr lang="en-US" sz="1400" dirty="0"/>
              <a:t> </a:t>
            </a:r>
            <a:r>
              <a:rPr lang="en-US" sz="1400" dirty="0" err="1"/>
              <a:t>Zamani</a:t>
            </a:r>
            <a:endParaRPr lang="en-US" sz="1400" dirty="0"/>
          </a:p>
        </p:txBody>
      </p:sp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66800"/>
            <a:ext cx="9144000" cy="3733800"/>
          </a:xfrm>
        </p:spPr>
        <p:txBody>
          <a:bodyPr/>
          <a:lstStyle/>
          <a:p>
            <a:pPr lvl="1" eaLnBrk="1" hangingPunct="1"/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Computer-Aided Design</a:t>
            </a: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Memory</a:t>
            </a:r>
            <a:endParaRPr lang="en-US" sz="4800" b="1" dirty="0">
              <a:solidFill>
                <a:schemeClr val="bg1"/>
              </a:solidFill>
              <a:cs typeface="B Mitra" panose="00000400000000000000" pitchFamily="2" charset="-78"/>
            </a:endParaRPr>
          </a:p>
        </p:txBody>
      </p:sp>
      <p:sp>
        <p:nvSpPr>
          <p:cNvPr id="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8630" y="5334000"/>
            <a:ext cx="8177213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chemeClr val="bg1"/>
                </a:solidFill>
                <a:cs typeface="Times New Roman" pitchFamily="18" charset="0"/>
              </a:rPr>
              <a:t>Mahdi Aminian</a:t>
            </a:r>
          </a:p>
        </p:txBody>
      </p:sp>
    </p:spTree>
    <p:extLst>
      <p:ext uri="{BB962C8B-B14F-4D97-AF65-F5344CB8AC3E}">
        <p14:creationId xmlns:p14="http://schemas.microsoft.com/office/powerpoint/2010/main" val="3875364104"/>
      </p:ext>
    </p:extLst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Mahdi Aminian</a:t>
            </a: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185175" y="1676400"/>
            <a:ext cx="3215625" cy="47244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4050693" y="1909186"/>
            <a:ext cx="1567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0000"/>
                </a:solidFill>
              </a:rPr>
              <a:t>Memory</a:t>
            </a:r>
          </a:p>
        </p:txBody>
      </p:sp>
      <p:sp>
        <p:nvSpPr>
          <p:cNvPr id="32" name="Rectangle 30"/>
          <p:cNvSpPr>
            <a:spLocks noChangeArrowheads="1"/>
          </p:cNvSpPr>
          <p:nvPr/>
        </p:nvSpPr>
        <p:spPr bwMode="auto">
          <a:xfrm>
            <a:off x="2889901" y="2209800"/>
            <a:ext cx="76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>
            <a:off x="2423176" y="3733800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1432576" y="3429000"/>
            <a:ext cx="17526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</a:rPr>
              <a:t>CS (Chip-Select)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1889776" y="3886200"/>
            <a:ext cx="1076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 err="1">
                <a:solidFill>
                  <a:srgbClr val="000000"/>
                </a:solidFill>
              </a:rPr>
              <a:t>WrEn</a:t>
            </a:r>
            <a:endParaRPr lang="en-US" altLang="en-US" sz="1400" b="1" dirty="0">
              <a:solidFill>
                <a:srgbClr val="000000"/>
              </a:solidFill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1889776" y="4191000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" name="Text Box 45"/>
          <p:cNvSpPr txBox="1">
            <a:spLocks noChangeArrowheads="1"/>
          </p:cNvSpPr>
          <p:nvPr/>
        </p:nvSpPr>
        <p:spPr bwMode="auto">
          <a:xfrm>
            <a:off x="2405394" y="4731583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</a:rPr>
              <a:t>CLK</a:t>
            </a:r>
          </a:p>
        </p:txBody>
      </p:sp>
      <p:sp>
        <p:nvSpPr>
          <p:cNvPr id="48" name="Line 46"/>
          <p:cNvSpPr>
            <a:spLocks noChangeShapeType="1"/>
          </p:cNvSpPr>
          <p:nvPr/>
        </p:nvSpPr>
        <p:spPr bwMode="auto">
          <a:xfrm>
            <a:off x="1813576" y="5029199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AutoShape 12">
            <a:extLst>
              <a:ext uri="{FF2B5EF4-FFF2-40B4-BE49-F238E27FC236}">
                <a16:creationId xmlns:a16="http://schemas.microsoft.com/office/drawing/2014/main" id="{8A78FDC3-7EC0-CA44-97DE-8BE1A6037DA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67636" y="2201863"/>
            <a:ext cx="168277" cy="1066798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" name="Text Box 40">
            <a:extLst>
              <a:ext uri="{FF2B5EF4-FFF2-40B4-BE49-F238E27FC236}">
                <a16:creationId xmlns:a16="http://schemas.microsoft.com/office/drawing/2014/main" id="{AADD43B8-66EE-E74E-847D-CCACEC3A7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176" y="2370851"/>
            <a:ext cx="17526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53" name="AutoShape 12">
            <a:extLst>
              <a:ext uri="{FF2B5EF4-FFF2-40B4-BE49-F238E27FC236}">
                <a16:creationId xmlns:a16="http://schemas.microsoft.com/office/drawing/2014/main" id="{463AEC35-B483-CE41-8E7D-CE2770871EA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67636" y="2659061"/>
            <a:ext cx="168277" cy="1066798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4" name="Text Box 40">
            <a:extLst>
              <a:ext uri="{FF2B5EF4-FFF2-40B4-BE49-F238E27FC236}">
                <a16:creationId xmlns:a16="http://schemas.microsoft.com/office/drawing/2014/main" id="{A534F8DB-5A5D-1144-9AE0-7D1C76E57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176" y="2828049"/>
            <a:ext cx="17526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 err="1">
                <a:solidFill>
                  <a:srgbClr val="000000"/>
                </a:solidFill>
              </a:rPr>
              <a:t>DataIn</a:t>
            </a:r>
            <a:endParaRPr lang="en-US" altLang="en-US" sz="1400" b="1" dirty="0">
              <a:solidFill>
                <a:srgbClr val="000000"/>
              </a:solidFill>
            </a:endParaRPr>
          </a:p>
        </p:txBody>
      </p:sp>
      <p:sp>
        <p:nvSpPr>
          <p:cNvPr id="58" name="Text Box 41">
            <a:extLst>
              <a:ext uri="{FF2B5EF4-FFF2-40B4-BE49-F238E27FC236}">
                <a16:creationId xmlns:a16="http://schemas.microsoft.com/office/drawing/2014/main" id="{3E3ABCC4-37AC-3049-A425-3B06A6C4C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776" y="4267199"/>
            <a:ext cx="1076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 err="1">
                <a:solidFill>
                  <a:srgbClr val="000000"/>
                </a:solidFill>
              </a:rPr>
              <a:t>RdEn</a:t>
            </a:r>
            <a:endParaRPr lang="en-US" altLang="en-US" sz="1400" b="1" dirty="0">
              <a:solidFill>
                <a:srgbClr val="000000"/>
              </a:solidFill>
            </a:endParaRPr>
          </a:p>
        </p:txBody>
      </p:sp>
      <p:sp>
        <p:nvSpPr>
          <p:cNvPr id="59" name="Line 43">
            <a:extLst>
              <a:ext uri="{FF2B5EF4-FFF2-40B4-BE49-F238E27FC236}">
                <a16:creationId xmlns:a16="http://schemas.microsoft.com/office/drawing/2014/main" id="{36B7182B-D5AC-324F-9D48-4BF66FFE1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9776" y="4571999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0" name="AutoShape 12">
            <a:extLst>
              <a:ext uri="{FF2B5EF4-FFF2-40B4-BE49-F238E27FC236}">
                <a16:creationId xmlns:a16="http://schemas.microsoft.com/office/drawing/2014/main" id="{99FDA460-A0C2-F941-A186-DD4C2A5E77A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50061" y="3192461"/>
            <a:ext cx="168277" cy="1066798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1" name="Text Box 40">
            <a:extLst>
              <a:ext uri="{FF2B5EF4-FFF2-40B4-BE49-F238E27FC236}">
                <a16:creationId xmlns:a16="http://schemas.microsoft.com/office/drawing/2014/main" id="{916B0409-2457-094E-8D4A-A93FBEF17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358273"/>
            <a:ext cx="17526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</a:rPr>
              <a:t>DataOut1</a:t>
            </a:r>
          </a:p>
        </p:txBody>
      </p:sp>
    </p:spTree>
    <p:extLst>
      <p:ext uri="{BB962C8B-B14F-4D97-AF65-F5344CB8AC3E}">
        <p14:creationId xmlns:p14="http://schemas.microsoft.com/office/powerpoint/2010/main" val="4228684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Implementation - 1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Mahdi Aminian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33400" y="1219199"/>
            <a:ext cx="3962400" cy="2513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762000" indent="-7620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4000" b="1">
                <a:solidFill>
                  <a:srgbClr val="FF5050"/>
                </a:solidFill>
                <a:latin typeface="+mn-lt"/>
                <a:ea typeface="+mn-ea"/>
                <a:cs typeface="+mn-cs"/>
              </a:defRPr>
            </a:lvl1pPr>
            <a:lvl2pPr marL="1066800" indent="-609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3200">
                <a:solidFill>
                  <a:srgbClr val="0000FF"/>
                </a:solidFill>
                <a:latin typeface="+mn-lt"/>
                <a:cs typeface="+mn-cs"/>
              </a:defRPr>
            </a:lvl2pPr>
            <a:lvl3pPr marL="1562100" indent="-5334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800">
                <a:solidFill>
                  <a:schemeClr val="tx1"/>
                </a:solidFill>
                <a:latin typeface="+mn-lt"/>
                <a:cs typeface="+mn-cs"/>
              </a:defRPr>
            </a:lvl3pPr>
            <a:lvl4pPr marL="19177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344738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8019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32591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7163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41735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762000" marR="0" lvl="0" indent="-762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Zar"/>
              </a:rPr>
              <a:t>Simple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Zar"/>
              </a:rPr>
              <a:t>DataOut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"/>
              <a:cs typeface="Zar"/>
            </a:endParaRP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F8D22180-2E71-4C41-86B7-D9FBBBDD8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905000"/>
            <a:ext cx="5638800" cy="3754874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Library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IEEE;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use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IEEE.Std_Logic_1164.all;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use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IEEE.numeric_std.all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entity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Memory1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generic(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AddrWidth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: integer := 8;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        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DataWidth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: Integer := 8 );</a:t>
            </a:r>
          </a:p>
          <a:p>
            <a:pPr eaLnBrk="1" hangingPunct="1"/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port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(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CLK</a:t>
            </a:r>
            <a:r>
              <a:rPr lang="en-US" altLang="en-US" sz="1400" b="0" dirty="0">
                <a:solidFill>
                  <a:srgbClr val="0000CC"/>
                </a:solidFill>
              </a:rPr>
              <a:t>	   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in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     CS,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WrEn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,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RdEn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: in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    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Addr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   : in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std_logic_vector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(AddrWidth-1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downto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0);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   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DataIn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: in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std_logic_vector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(DataWidth-1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downto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0);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    DataOut1 : out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std_logic_vector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(DataWidth-1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downto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0) );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Memory1;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9862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Implementation - 1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Mahdi Aminian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33400" y="1219199"/>
            <a:ext cx="3962400" cy="2513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762000" indent="-7620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4000" b="1">
                <a:solidFill>
                  <a:srgbClr val="FF5050"/>
                </a:solidFill>
                <a:latin typeface="+mn-lt"/>
                <a:ea typeface="+mn-ea"/>
                <a:cs typeface="+mn-cs"/>
              </a:defRPr>
            </a:lvl1pPr>
            <a:lvl2pPr marL="1066800" indent="-609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3200">
                <a:solidFill>
                  <a:srgbClr val="0000FF"/>
                </a:solidFill>
                <a:latin typeface="+mn-lt"/>
                <a:cs typeface="+mn-cs"/>
              </a:defRPr>
            </a:lvl2pPr>
            <a:lvl3pPr marL="1562100" indent="-5334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800">
                <a:solidFill>
                  <a:schemeClr val="tx1"/>
                </a:solidFill>
                <a:latin typeface="+mn-lt"/>
                <a:cs typeface="+mn-cs"/>
              </a:defRPr>
            </a:lvl3pPr>
            <a:lvl4pPr marL="19177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344738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8019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32591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7163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41735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762000" marR="0" lvl="0" indent="-762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Zar"/>
              </a:rPr>
              <a:t>Simple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Zar"/>
              </a:rPr>
              <a:t>DataOut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"/>
              <a:cs typeface="Zar"/>
            </a:endParaRP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1621973C-5154-5343-AA21-D77EEE380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876097"/>
            <a:ext cx="8077200" cy="3970318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architecture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RTL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of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Memory1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   Type </a:t>
            </a:r>
            <a:r>
              <a:rPr lang="en-US" altLang="en-US" sz="1400" b="0" i="1" dirty="0" err="1">
                <a:solidFill>
                  <a:srgbClr val="0000CC"/>
                </a:solidFill>
                <a:latin typeface="Helvetica"/>
              </a:rPr>
              <a:t>MyMem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 is array (2**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AddrWidth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-1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downto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0) of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std_logic_vector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(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DataWidth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-1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downto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0);</a:t>
            </a:r>
            <a:endParaRPr lang="en-US" altLang="en-US" sz="1400" b="0" i="1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    signal</a:t>
            </a:r>
            <a:r>
              <a:rPr lang="en-US" altLang="en-US" sz="1400" b="0" i="1" dirty="0">
                <a:solidFill>
                  <a:srgbClr val="0000CC"/>
                </a:solidFill>
              </a:rPr>
              <a:t> 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Mem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MyMem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(CLK)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</a:p>
          <a:p>
            <a:pPr algn="l" rtl="0"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   i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f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CLK`event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CLK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=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`1`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then</a:t>
            </a:r>
          </a:p>
          <a:p>
            <a:pPr algn="l" rtl="0"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if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(CS = ‘1’ and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WrEn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= ‘1’)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then</a:t>
            </a:r>
            <a:br>
              <a:rPr lang="en-US" altLang="en-US" sz="1400" b="0" dirty="0">
                <a:solidFill>
                  <a:srgbClr val="FF0000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	    Mem(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to_integer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(unsigned(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Addr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))) &lt;=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DataIn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;</a:t>
            </a:r>
            <a:br>
              <a:rPr lang="en-US" altLang="en-US" sz="1400" b="0" dirty="0">
                <a:solidFill>
                  <a:srgbClr val="FF0000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	end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if;</a:t>
            </a:r>
            <a:br>
              <a:rPr lang="en-US" altLang="en-US" sz="1400" b="0" dirty="0">
                <a:solidFill>
                  <a:srgbClr val="FF0000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if;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process;</a:t>
            </a:r>
          </a:p>
          <a:p>
            <a:pPr algn="l" rtl="0" eaLnBrk="1" hangingPunct="1"/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DataOut1 &lt;= 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Mem(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to_integer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(unsigned(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Addr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)));</a:t>
            </a:r>
          </a:p>
          <a:p>
            <a:pPr eaLnBrk="1" hangingPunct="1"/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A;</a:t>
            </a:r>
          </a:p>
        </p:txBody>
      </p:sp>
    </p:spTree>
    <p:extLst>
      <p:ext uri="{BB962C8B-B14F-4D97-AF65-F5344CB8AC3E}">
        <p14:creationId xmlns:p14="http://schemas.microsoft.com/office/powerpoint/2010/main" val="193049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- 2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Mahdi Aminian</a:t>
            </a: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185175" y="1676400"/>
            <a:ext cx="3215625" cy="47244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4050693" y="1909186"/>
            <a:ext cx="1567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0000"/>
                </a:solidFill>
              </a:rPr>
              <a:t>Memory</a:t>
            </a:r>
          </a:p>
        </p:txBody>
      </p:sp>
      <p:sp>
        <p:nvSpPr>
          <p:cNvPr id="32" name="Rectangle 30"/>
          <p:cNvSpPr>
            <a:spLocks noChangeArrowheads="1"/>
          </p:cNvSpPr>
          <p:nvPr/>
        </p:nvSpPr>
        <p:spPr bwMode="auto">
          <a:xfrm>
            <a:off x="2889901" y="2209800"/>
            <a:ext cx="76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>
            <a:off x="2423176" y="3733800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1432576" y="3429000"/>
            <a:ext cx="17526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</a:rPr>
              <a:t>CS (Chip-Select)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1889776" y="3886200"/>
            <a:ext cx="1076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 err="1">
                <a:solidFill>
                  <a:srgbClr val="000000"/>
                </a:solidFill>
              </a:rPr>
              <a:t>WrEn</a:t>
            </a:r>
            <a:endParaRPr lang="en-US" altLang="en-US" sz="1400" b="1" dirty="0">
              <a:solidFill>
                <a:srgbClr val="000000"/>
              </a:solidFill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1889776" y="4191000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" name="Text Box 45"/>
          <p:cNvSpPr txBox="1">
            <a:spLocks noChangeArrowheads="1"/>
          </p:cNvSpPr>
          <p:nvPr/>
        </p:nvSpPr>
        <p:spPr bwMode="auto">
          <a:xfrm>
            <a:off x="2405394" y="4731583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</a:rPr>
              <a:t>CLK</a:t>
            </a:r>
          </a:p>
        </p:txBody>
      </p:sp>
      <p:sp>
        <p:nvSpPr>
          <p:cNvPr id="48" name="Line 46"/>
          <p:cNvSpPr>
            <a:spLocks noChangeShapeType="1"/>
          </p:cNvSpPr>
          <p:nvPr/>
        </p:nvSpPr>
        <p:spPr bwMode="auto">
          <a:xfrm>
            <a:off x="1813576" y="5029199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AutoShape 12">
            <a:extLst>
              <a:ext uri="{FF2B5EF4-FFF2-40B4-BE49-F238E27FC236}">
                <a16:creationId xmlns:a16="http://schemas.microsoft.com/office/drawing/2014/main" id="{8A78FDC3-7EC0-CA44-97DE-8BE1A6037DA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67636" y="2201863"/>
            <a:ext cx="168277" cy="1066798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" name="Text Box 40">
            <a:extLst>
              <a:ext uri="{FF2B5EF4-FFF2-40B4-BE49-F238E27FC236}">
                <a16:creationId xmlns:a16="http://schemas.microsoft.com/office/drawing/2014/main" id="{AADD43B8-66EE-E74E-847D-CCACEC3A7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176" y="2370851"/>
            <a:ext cx="17526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53" name="AutoShape 12">
            <a:extLst>
              <a:ext uri="{FF2B5EF4-FFF2-40B4-BE49-F238E27FC236}">
                <a16:creationId xmlns:a16="http://schemas.microsoft.com/office/drawing/2014/main" id="{463AEC35-B483-CE41-8E7D-CE2770871EA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67636" y="2659061"/>
            <a:ext cx="168277" cy="1066798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4" name="Text Box 40">
            <a:extLst>
              <a:ext uri="{FF2B5EF4-FFF2-40B4-BE49-F238E27FC236}">
                <a16:creationId xmlns:a16="http://schemas.microsoft.com/office/drawing/2014/main" id="{A534F8DB-5A5D-1144-9AE0-7D1C76E57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176" y="2828049"/>
            <a:ext cx="17526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 err="1">
                <a:solidFill>
                  <a:srgbClr val="000000"/>
                </a:solidFill>
              </a:rPr>
              <a:t>DataIn</a:t>
            </a:r>
            <a:endParaRPr lang="en-US" altLang="en-US" sz="1400" b="1" dirty="0">
              <a:solidFill>
                <a:srgbClr val="000000"/>
              </a:solidFill>
            </a:endParaRPr>
          </a:p>
        </p:txBody>
      </p:sp>
      <p:sp>
        <p:nvSpPr>
          <p:cNvPr id="58" name="Text Box 41">
            <a:extLst>
              <a:ext uri="{FF2B5EF4-FFF2-40B4-BE49-F238E27FC236}">
                <a16:creationId xmlns:a16="http://schemas.microsoft.com/office/drawing/2014/main" id="{3E3ABCC4-37AC-3049-A425-3B06A6C4C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776" y="4267199"/>
            <a:ext cx="1076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 err="1">
                <a:solidFill>
                  <a:srgbClr val="000000"/>
                </a:solidFill>
              </a:rPr>
              <a:t>RdEn</a:t>
            </a:r>
            <a:endParaRPr lang="en-US" altLang="en-US" sz="1400" b="1" dirty="0">
              <a:solidFill>
                <a:srgbClr val="000000"/>
              </a:solidFill>
            </a:endParaRPr>
          </a:p>
        </p:txBody>
      </p:sp>
      <p:sp>
        <p:nvSpPr>
          <p:cNvPr id="59" name="Line 43">
            <a:extLst>
              <a:ext uri="{FF2B5EF4-FFF2-40B4-BE49-F238E27FC236}">
                <a16:creationId xmlns:a16="http://schemas.microsoft.com/office/drawing/2014/main" id="{36B7182B-D5AC-324F-9D48-4BF66FFE1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9776" y="4571999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0" name="AutoShape 12">
            <a:extLst>
              <a:ext uri="{FF2B5EF4-FFF2-40B4-BE49-F238E27FC236}">
                <a16:creationId xmlns:a16="http://schemas.microsoft.com/office/drawing/2014/main" id="{99FDA460-A0C2-F941-A186-DD4C2A5E77A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786026" y="3128425"/>
            <a:ext cx="143949" cy="1219197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1" name="Text Box 40">
            <a:extLst>
              <a:ext uri="{FF2B5EF4-FFF2-40B4-BE49-F238E27FC236}">
                <a16:creationId xmlns:a16="http://schemas.microsoft.com/office/drawing/2014/main" id="{916B0409-2457-094E-8D4A-A93FBEF17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358273"/>
            <a:ext cx="17526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</a:rPr>
              <a:t>DataOut2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C163BF9A-F65D-9E49-812E-1333856B0B56}"/>
              </a:ext>
            </a:extLst>
          </p:cNvPr>
          <p:cNvSpPr/>
          <p:nvPr/>
        </p:nvSpPr>
        <p:spPr bwMode="auto">
          <a:xfrm rot="5400000">
            <a:off x="5576684" y="3338716"/>
            <a:ext cx="733832" cy="7620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64" charset="-128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651F5B-8D35-B047-A1E3-F01EDF27507B}"/>
              </a:ext>
            </a:extLst>
          </p:cNvPr>
          <p:cNvCxnSpPr>
            <a:stCxn id="3" idx="5"/>
          </p:cNvCxnSpPr>
          <p:nvPr/>
        </p:nvCxnSpPr>
        <p:spPr bwMode="auto">
          <a:xfrm>
            <a:off x="5943600" y="3903174"/>
            <a:ext cx="0" cy="44022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FED2408-E0E3-B84D-A473-8B6224759C0B}"/>
              </a:ext>
            </a:extLst>
          </p:cNvPr>
          <p:cNvCxnSpPr>
            <a:cxnSpLocks/>
          </p:cNvCxnSpPr>
          <p:nvPr/>
        </p:nvCxnSpPr>
        <p:spPr bwMode="auto">
          <a:xfrm flipH="1">
            <a:off x="5638798" y="4343400"/>
            <a:ext cx="30480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03383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Implementation - 2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Mahdi Aminian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33400" y="1219199"/>
            <a:ext cx="6629400" cy="2513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762000" indent="-7620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4000" b="1">
                <a:solidFill>
                  <a:srgbClr val="FF5050"/>
                </a:solidFill>
                <a:latin typeface="+mn-lt"/>
                <a:ea typeface="+mn-ea"/>
                <a:cs typeface="+mn-cs"/>
              </a:defRPr>
            </a:lvl1pPr>
            <a:lvl2pPr marL="1066800" indent="-609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3200">
                <a:solidFill>
                  <a:srgbClr val="0000FF"/>
                </a:solidFill>
                <a:latin typeface="+mn-lt"/>
                <a:cs typeface="+mn-cs"/>
              </a:defRPr>
            </a:lvl2pPr>
            <a:lvl3pPr marL="1562100" indent="-5334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800">
                <a:solidFill>
                  <a:schemeClr val="tx1"/>
                </a:solidFill>
                <a:latin typeface="+mn-lt"/>
                <a:cs typeface="+mn-cs"/>
              </a:defRPr>
            </a:lvl3pPr>
            <a:lvl4pPr marL="19177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344738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8019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32591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7163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41735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762000" marR="0" lvl="0" indent="-762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Zar"/>
              </a:rPr>
              <a:t>Buffered 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Zar"/>
              </a:rPr>
              <a:t>DataOut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"/>
              <a:cs typeface="Zar"/>
            </a:endParaRP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1621973C-5154-5343-AA21-D77EEE380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876097"/>
            <a:ext cx="8077200" cy="440120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architecture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RTL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of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Memory1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   Type </a:t>
            </a:r>
            <a:r>
              <a:rPr lang="en-US" altLang="en-US" sz="1400" b="0" i="1" dirty="0" err="1">
                <a:solidFill>
                  <a:srgbClr val="0000CC"/>
                </a:solidFill>
                <a:latin typeface="Helvetica"/>
              </a:rPr>
              <a:t>MyMem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 is array (2**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AddrWidth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-1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downto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0) of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std_logic_vector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(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DataWidth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-1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downto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0);</a:t>
            </a:r>
            <a:endParaRPr lang="en-US" altLang="en-US" sz="1400" b="0" i="1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    signal</a:t>
            </a:r>
            <a:r>
              <a:rPr lang="en-US" altLang="en-US" sz="1400" b="0" i="1" dirty="0">
                <a:solidFill>
                  <a:srgbClr val="0000CC"/>
                </a:solidFill>
              </a:rPr>
              <a:t> 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Mem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MyMem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(CLK)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</a:p>
          <a:p>
            <a:pPr algn="l" rtl="0"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   i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f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CLK`event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CLK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=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`1`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then</a:t>
            </a:r>
          </a:p>
          <a:p>
            <a:pPr algn="l" rtl="0"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if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(CS = ‘1’ and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WrEn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= ‘1’)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then</a:t>
            </a:r>
            <a:br>
              <a:rPr lang="en-US" altLang="en-US" sz="1400" b="0" dirty="0">
                <a:solidFill>
                  <a:srgbClr val="FF0000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	    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Mem(</a:t>
            </a:r>
            <a:r>
              <a:rPr lang="en-US" altLang="en-US" sz="1400" b="0" i="1" dirty="0" err="1">
                <a:solidFill>
                  <a:schemeClr val="accent2"/>
                </a:solidFill>
                <a:latin typeface="Helvetica"/>
              </a:rPr>
              <a:t>to_integer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(unsigned(</a:t>
            </a:r>
            <a:r>
              <a:rPr lang="en-US" altLang="en-US" sz="1400" b="0" i="1" dirty="0" err="1">
                <a:solidFill>
                  <a:schemeClr val="accent2"/>
                </a:solidFill>
                <a:latin typeface="Helvetica"/>
              </a:rPr>
              <a:t>Addr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))) &lt;=</a:t>
            </a:r>
            <a:r>
              <a:rPr lang="en-US" altLang="en-US" sz="1400" b="0" i="1" dirty="0">
                <a:solidFill>
                  <a:schemeClr val="accent2"/>
                </a:solidFill>
              </a:rPr>
              <a:t> </a:t>
            </a:r>
            <a:r>
              <a:rPr lang="en-US" altLang="en-US" sz="1400" b="0" i="1" dirty="0" err="1">
                <a:solidFill>
                  <a:schemeClr val="accent2"/>
                </a:solidFill>
                <a:latin typeface="Helvetica"/>
              </a:rPr>
              <a:t>DataIn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;</a:t>
            </a:r>
            <a:br>
              <a:rPr lang="en-US" altLang="en-US" sz="1400" b="0" i="1" dirty="0">
                <a:solidFill>
                  <a:schemeClr val="accent2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	end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if;</a:t>
            </a:r>
          </a:p>
          <a:p>
            <a:pPr eaLnBrk="1" hangingPunct="1"/>
            <a:endParaRPr lang="en-US" altLang="en-US" sz="1400" b="0" dirty="0">
              <a:solidFill>
                <a:srgbClr val="FF0000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if;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process;</a:t>
            </a:r>
            <a:endParaRPr lang="en-US" altLang="en-US" sz="1400" b="0" dirty="0">
              <a:solidFill>
                <a:srgbClr val="FF0000"/>
              </a:solidFill>
              <a:latin typeface="Helvetica"/>
            </a:endParaRPr>
          </a:p>
          <a:p>
            <a:pPr eaLnBrk="1" hangingPunct="1"/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	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DataOut2 &lt;= Mem(</a:t>
            </a:r>
            <a:r>
              <a:rPr lang="en-US" altLang="en-US" sz="1400" b="0" i="1" dirty="0" err="1">
                <a:solidFill>
                  <a:schemeClr val="accent2"/>
                </a:solidFill>
                <a:latin typeface="Helvetica"/>
              </a:rPr>
              <a:t>to_integer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(unsigned(</a:t>
            </a:r>
            <a:r>
              <a:rPr lang="en-US" altLang="en-US" sz="1400" b="0" i="1" dirty="0" err="1">
                <a:solidFill>
                  <a:schemeClr val="accent2"/>
                </a:solidFill>
                <a:latin typeface="Helvetica"/>
              </a:rPr>
              <a:t>Addr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))) </a:t>
            </a:r>
            <a:r>
              <a:rPr lang="en-US" altLang="en-US" sz="1400" b="0" i="1" dirty="0">
                <a:solidFill>
                  <a:srgbClr val="FF0000"/>
                </a:solidFill>
                <a:latin typeface="Helvetica"/>
              </a:rPr>
              <a:t>when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 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(CS = ‘1’ and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RdEn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= ‘1’)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</a:p>
          <a:p>
            <a:pPr eaLnBrk="1" hangingPunct="1"/>
            <a:r>
              <a:rPr lang="en-US" altLang="en-US" sz="1400" b="0" i="1" dirty="0">
                <a:solidFill>
                  <a:srgbClr val="FF0000"/>
                </a:solidFill>
                <a:latin typeface="Helvetica"/>
              </a:rPr>
              <a:t>		else (others =&gt; ‘Z’)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;</a:t>
            </a:r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A;</a:t>
            </a:r>
          </a:p>
        </p:txBody>
      </p:sp>
    </p:spTree>
    <p:extLst>
      <p:ext uri="{BB962C8B-B14F-4D97-AF65-F5344CB8AC3E}">
        <p14:creationId xmlns:p14="http://schemas.microsoft.com/office/powerpoint/2010/main" val="400212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- 3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Mahdi Aminian</a:t>
            </a: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185175" y="1676400"/>
            <a:ext cx="3215625" cy="47244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4050693" y="1909186"/>
            <a:ext cx="1567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0000"/>
                </a:solidFill>
              </a:rPr>
              <a:t>Memory</a:t>
            </a:r>
          </a:p>
        </p:txBody>
      </p:sp>
      <p:sp>
        <p:nvSpPr>
          <p:cNvPr id="32" name="Rectangle 30"/>
          <p:cNvSpPr>
            <a:spLocks noChangeArrowheads="1"/>
          </p:cNvSpPr>
          <p:nvPr/>
        </p:nvSpPr>
        <p:spPr bwMode="auto">
          <a:xfrm>
            <a:off x="2889901" y="2209800"/>
            <a:ext cx="76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>
            <a:off x="2423176" y="3733800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1432576" y="3429000"/>
            <a:ext cx="17526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</a:rPr>
              <a:t>CS (Chip-Select)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1889776" y="3886200"/>
            <a:ext cx="1076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 err="1">
                <a:solidFill>
                  <a:srgbClr val="000000"/>
                </a:solidFill>
              </a:rPr>
              <a:t>WrEn</a:t>
            </a:r>
            <a:endParaRPr lang="en-US" altLang="en-US" sz="1400" b="1" dirty="0">
              <a:solidFill>
                <a:srgbClr val="000000"/>
              </a:solidFill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1889776" y="4191000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" name="Text Box 45"/>
          <p:cNvSpPr txBox="1">
            <a:spLocks noChangeArrowheads="1"/>
          </p:cNvSpPr>
          <p:nvPr/>
        </p:nvSpPr>
        <p:spPr bwMode="auto">
          <a:xfrm>
            <a:off x="2405394" y="4731583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</a:rPr>
              <a:t>CLK</a:t>
            </a:r>
          </a:p>
        </p:txBody>
      </p:sp>
      <p:sp>
        <p:nvSpPr>
          <p:cNvPr id="48" name="Line 46"/>
          <p:cNvSpPr>
            <a:spLocks noChangeShapeType="1"/>
          </p:cNvSpPr>
          <p:nvPr/>
        </p:nvSpPr>
        <p:spPr bwMode="auto">
          <a:xfrm>
            <a:off x="1813576" y="5029199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AutoShape 12">
            <a:extLst>
              <a:ext uri="{FF2B5EF4-FFF2-40B4-BE49-F238E27FC236}">
                <a16:creationId xmlns:a16="http://schemas.microsoft.com/office/drawing/2014/main" id="{8A78FDC3-7EC0-CA44-97DE-8BE1A6037DA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67636" y="2201863"/>
            <a:ext cx="168277" cy="1066798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" name="Text Box 40">
            <a:extLst>
              <a:ext uri="{FF2B5EF4-FFF2-40B4-BE49-F238E27FC236}">
                <a16:creationId xmlns:a16="http://schemas.microsoft.com/office/drawing/2014/main" id="{AADD43B8-66EE-E74E-847D-CCACEC3A7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176" y="2370851"/>
            <a:ext cx="17526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53" name="AutoShape 12">
            <a:extLst>
              <a:ext uri="{FF2B5EF4-FFF2-40B4-BE49-F238E27FC236}">
                <a16:creationId xmlns:a16="http://schemas.microsoft.com/office/drawing/2014/main" id="{463AEC35-B483-CE41-8E7D-CE2770871EA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67636" y="2659061"/>
            <a:ext cx="168277" cy="1066798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4" name="Text Box 40">
            <a:extLst>
              <a:ext uri="{FF2B5EF4-FFF2-40B4-BE49-F238E27FC236}">
                <a16:creationId xmlns:a16="http://schemas.microsoft.com/office/drawing/2014/main" id="{A534F8DB-5A5D-1144-9AE0-7D1C76E57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176" y="2828049"/>
            <a:ext cx="17526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 err="1">
                <a:solidFill>
                  <a:srgbClr val="000000"/>
                </a:solidFill>
              </a:rPr>
              <a:t>DataIn</a:t>
            </a:r>
            <a:endParaRPr lang="en-US" altLang="en-US" sz="1400" b="1" dirty="0">
              <a:solidFill>
                <a:srgbClr val="000000"/>
              </a:solidFill>
            </a:endParaRPr>
          </a:p>
        </p:txBody>
      </p:sp>
      <p:sp>
        <p:nvSpPr>
          <p:cNvPr id="58" name="Text Box 41">
            <a:extLst>
              <a:ext uri="{FF2B5EF4-FFF2-40B4-BE49-F238E27FC236}">
                <a16:creationId xmlns:a16="http://schemas.microsoft.com/office/drawing/2014/main" id="{3E3ABCC4-37AC-3049-A425-3B06A6C4C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776" y="4267199"/>
            <a:ext cx="1076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 err="1">
                <a:solidFill>
                  <a:srgbClr val="000000"/>
                </a:solidFill>
              </a:rPr>
              <a:t>RdEn</a:t>
            </a:r>
            <a:endParaRPr lang="en-US" altLang="en-US" sz="1400" b="1" dirty="0">
              <a:solidFill>
                <a:srgbClr val="000000"/>
              </a:solidFill>
            </a:endParaRPr>
          </a:p>
        </p:txBody>
      </p:sp>
      <p:sp>
        <p:nvSpPr>
          <p:cNvPr id="59" name="Line 43">
            <a:extLst>
              <a:ext uri="{FF2B5EF4-FFF2-40B4-BE49-F238E27FC236}">
                <a16:creationId xmlns:a16="http://schemas.microsoft.com/office/drawing/2014/main" id="{36B7182B-D5AC-324F-9D48-4BF66FFE1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9776" y="4571999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0" name="AutoShape 12">
            <a:extLst>
              <a:ext uri="{FF2B5EF4-FFF2-40B4-BE49-F238E27FC236}">
                <a16:creationId xmlns:a16="http://schemas.microsoft.com/office/drawing/2014/main" id="{99FDA460-A0C2-F941-A186-DD4C2A5E77A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786026" y="3128425"/>
            <a:ext cx="143949" cy="1219197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1" name="Text Box 40">
            <a:extLst>
              <a:ext uri="{FF2B5EF4-FFF2-40B4-BE49-F238E27FC236}">
                <a16:creationId xmlns:a16="http://schemas.microsoft.com/office/drawing/2014/main" id="{916B0409-2457-094E-8D4A-A93FBEF17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358273"/>
            <a:ext cx="17526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</a:rPr>
              <a:t>DataOut3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10CF50-879C-054A-9332-7F2E0FA462E5}"/>
              </a:ext>
            </a:extLst>
          </p:cNvPr>
          <p:cNvSpPr/>
          <p:nvPr/>
        </p:nvSpPr>
        <p:spPr bwMode="auto">
          <a:xfrm>
            <a:off x="5617877" y="3276599"/>
            <a:ext cx="630523" cy="12954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64" charset="-128"/>
            </a:endParaRP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C163BF9A-F65D-9E49-812E-1333856B0B56}"/>
              </a:ext>
            </a:extLst>
          </p:cNvPr>
          <p:cNvSpPr/>
          <p:nvPr/>
        </p:nvSpPr>
        <p:spPr bwMode="auto">
          <a:xfrm rot="5400000">
            <a:off x="5645514" y="4198920"/>
            <a:ext cx="173323" cy="2286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6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8953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Implementation - 3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Mahdi Aminian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33400" y="1219199"/>
            <a:ext cx="6629400" cy="2513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762000" indent="-7620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4000" b="1">
                <a:solidFill>
                  <a:srgbClr val="FF5050"/>
                </a:solidFill>
                <a:latin typeface="+mn-lt"/>
                <a:ea typeface="+mn-ea"/>
                <a:cs typeface="+mn-cs"/>
              </a:defRPr>
            </a:lvl1pPr>
            <a:lvl2pPr marL="1066800" indent="-609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3200">
                <a:solidFill>
                  <a:srgbClr val="0000FF"/>
                </a:solidFill>
                <a:latin typeface="+mn-lt"/>
                <a:cs typeface="+mn-cs"/>
              </a:defRPr>
            </a:lvl2pPr>
            <a:lvl3pPr marL="1562100" indent="-5334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800">
                <a:solidFill>
                  <a:schemeClr val="tx1"/>
                </a:solidFill>
                <a:latin typeface="+mn-lt"/>
                <a:cs typeface="+mn-cs"/>
              </a:defRPr>
            </a:lvl3pPr>
            <a:lvl4pPr marL="19177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344738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8019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32591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7163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41735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762000" marR="0" lvl="0" indent="-762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Zar"/>
              </a:rPr>
              <a:t>Registered  </a:t>
            </a: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Zar"/>
              </a:rPr>
              <a:t>DataOut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rial"/>
              <a:cs typeface="Zar"/>
            </a:endParaRP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1621973C-5154-5343-AA21-D77EEE380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876097"/>
            <a:ext cx="8077200" cy="4616648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architecture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RTL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of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Memory1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   Type </a:t>
            </a:r>
            <a:r>
              <a:rPr lang="en-US" altLang="en-US" sz="1400" b="0" i="1" dirty="0" err="1">
                <a:solidFill>
                  <a:srgbClr val="0000CC"/>
                </a:solidFill>
                <a:latin typeface="Helvetica"/>
              </a:rPr>
              <a:t>MyMem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 is array (2**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AddrWidth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-1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downto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0) of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std_logic_vector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(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DataWidth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-1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downto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0);</a:t>
            </a:r>
            <a:endParaRPr lang="en-US" altLang="en-US" sz="1400" b="0" i="1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    signal</a:t>
            </a:r>
            <a:r>
              <a:rPr lang="en-US" altLang="en-US" sz="1400" b="0" i="1" dirty="0">
                <a:solidFill>
                  <a:srgbClr val="0000CC"/>
                </a:solidFill>
              </a:rPr>
              <a:t> 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Mem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MyMem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(CLK)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</a:p>
          <a:p>
            <a:pPr algn="l" rtl="0"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   i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f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CLK`event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CLK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=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`1`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then</a:t>
            </a:r>
          </a:p>
          <a:p>
            <a:pPr algn="l" rtl="0"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if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(CS = ‘1’ and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WrEn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= ‘1’)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then</a:t>
            </a:r>
            <a:br>
              <a:rPr lang="en-US" altLang="en-US" sz="1400" b="0" dirty="0">
                <a:solidFill>
                  <a:srgbClr val="FF0000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	    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Mem(</a:t>
            </a:r>
            <a:r>
              <a:rPr lang="en-US" altLang="en-US" sz="1400" b="0" i="1" dirty="0" err="1">
                <a:solidFill>
                  <a:schemeClr val="accent2"/>
                </a:solidFill>
                <a:latin typeface="Helvetica"/>
              </a:rPr>
              <a:t>to_integer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(unsigned(</a:t>
            </a:r>
            <a:r>
              <a:rPr lang="en-US" altLang="en-US" sz="1400" b="0" i="1" dirty="0" err="1">
                <a:solidFill>
                  <a:schemeClr val="accent2"/>
                </a:solidFill>
                <a:latin typeface="Helvetica"/>
              </a:rPr>
              <a:t>Addr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))) &lt;=</a:t>
            </a:r>
            <a:r>
              <a:rPr lang="en-US" altLang="en-US" sz="1400" b="0" i="1" dirty="0">
                <a:solidFill>
                  <a:schemeClr val="accent2"/>
                </a:solidFill>
              </a:rPr>
              <a:t> </a:t>
            </a:r>
            <a:r>
              <a:rPr lang="en-US" altLang="en-US" sz="1400" b="0" i="1" dirty="0" err="1">
                <a:solidFill>
                  <a:schemeClr val="accent2"/>
                </a:solidFill>
                <a:latin typeface="Helvetica"/>
              </a:rPr>
              <a:t>DataIn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;</a:t>
            </a:r>
            <a:br>
              <a:rPr lang="en-US" altLang="en-US" sz="1400" b="0" i="1" dirty="0">
                <a:solidFill>
                  <a:schemeClr val="accent2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	end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if;</a:t>
            </a:r>
          </a:p>
          <a:p>
            <a:pPr eaLnBrk="1" hangingPunct="1"/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if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(CS = ‘1’ and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RdEn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= ‘1’)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then</a:t>
            </a:r>
            <a:br>
              <a:rPr lang="en-US" altLang="en-US" sz="1400" b="0" dirty="0">
                <a:solidFill>
                  <a:srgbClr val="FF0000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	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DataOut3 &lt;= Mem(</a:t>
            </a:r>
            <a:r>
              <a:rPr lang="en-US" altLang="en-US" sz="1400" b="0" i="1" dirty="0" err="1">
                <a:solidFill>
                  <a:schemeClr val="accent2"/>
                </a:solidFill>
                <a:latin typeface="Helvetica"/>
              </a:rPr>
              <a:t>to_integer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(unsigned(</a:t>
            </a:r>
            <a:r>
              <a:rPr lang="en-US" altLang="en-US" sz="1400" b="0" i="1" dirty="0" err="1">
                <a:solidFill>
                  <a:schemeClr val="accent2"/>
                </a:solidFill>
                <a:latin typeface="Helvetica"/>
              </a:rPr>
              <a:t>Addr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)));</a:t>
            </a:r>
            <a:br>
              <a:rPr lang="en-US" altLang="en-US" sz="1400" b="0" dirty="0">
                <a:solidFill>
                  <a:schemeClr val="accent2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	end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if;</a:t>
            </a:r>
          </a:p>
          <a:p>
            <a:pPr algn="l" rtl="0" eaLnBrk="1" hangingPunct="1"/>
            <a:endParaRPr lang="en-US" altLang="en-US" sz="1400" b="0" dirty="0">
              <a:solidFill>
                <a:srgbClr val="FF0000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if;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process;</a:t>
            </a:r>
            <a:endParaRPr lang="en-US" altLang="en-US" sz="1400" b="0" dirty="0">
              <a:solidFill>
                <a:srgbClr val="FF0000"/>
              </a:solidFill>
              <a:latin typeface="Helvetica"/>
            </a:endParaRPr>
          </a:p>
          <a:p>
            <a:pPr eaLnBrk="1" hangingPunct="1"/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A;</a:t>
            </a:r>
          </a:p>
        </p:txBody>
      </p:sp>
    </p:spTree>
    <p:extLst>
      <p:ext uri="{BB962C8B-B14F-4D97-AF65-F5344CB8AC3E}">
        <p14:creationId xmlns:p14="http://schemas.microsoft.com/office/powerpoint/2010/main" val="35651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- 4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Mahdi Aminian</a:t>
            </a: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185175" y="1676400"/>
            <a:ext cx="3215625" cy="47244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4050693" y="1909186"/>
            <a:ext cx="1567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0000"/>
                </a:solidFill>
              </a:rPr>
              <a:t>Memory</a:t>
            </a:r>
          </a:p>
        </p:txBody>
      </p:sp>
      <p:sp>
        <p:nvSpPr>
          <p:cNvPr id="32" name="Rectangle 30"/>
          <p:cNvSpPr>
            <a:spLocks noChangeArrowheads="1"/>
          </p:cNvSpPr>
          <p:nvPr/>
        </p:nvSpPr>
        <p:spPr bwMode="auto">
          <a:xfrm>
            <a:off x="2889901" y="2209800"/>
            <a:ext cx="76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>
            <a:off x="2423176" y="3733800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1432576" y="3429000"/>
            <a:ext cx="17526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</a:rPr>
              <a:t>CS (Chip-Select)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1889776" y="3886200"/>
            <a:ext cx="1076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 err="1">
                <a:solidFill>
                  <a:srgbClr val="000000"/>
                </a:solidFill>
              </a:rPr>
              <a:t>WrEn</a:t>
            </a:r>
            <a:endParaRPr lang="en-US" altLang="en-US" sz="1400" b="1" dirty="0">
              <a:solidFill>
                <a:srgbClr val="000000"/>
              </a:solidFill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1889776" y="4191000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" name="Text Box 45"/>
          <p:cNvSpPr txBox="1">
            <a:spLocks noChangeArrowheads="1"/>
          </p:cNvSpPr>
          <p:nvPr/>
        </p:nvSpPr>
        <p:spPr bwMode="auto">
          <a:xfrm>
            <a:off x="2405394" y="4731583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</a:rPr>
              <a:t>CLK</a:t>
            </a:r>
          </a:p>
        </p:txBody>
      </p:sp>
      <p:sp>
        <p:nvSpPr>
          <p:cNvPr id="48" name="Line 46"/>
          <p:cNvSpPr>
            <a:spLocks noChangeShapeType="1"/>
          </p:cNvSpPr>
          <p:nvPr/>
        </p:nvSpPr>
        <p:spPr bwMode="auto">
          <a:xfrm>
            <a:off x="1813576" y="5029199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AutoShape 12">
            <a:extLst>
              <a:ext uri="{FF2B5EF4-FFF2-40B4-BE49-F238E27FC236}">
                <a16:creationId xmlns:a16="http://schemas.microsoft.com/office/drawing/2014/main" id="{8A78FDC3-7EC0-CA44-97DE-8BE1A6037DA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67636" y="2201863"/>
            <a:ext cx="168277" cy="1066798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" name="Text Box 40">
            <a:extLst>
              <a:ext uri="{FF2B5EF4-FFF2-40B4-BE49-F238E27FC236}">
                <a16:creationId xmlns:a16="http://schemas.microsoft.com/office/drawing/2014/main" id="{AADD43B8-66EE-E74E-847D-CCACEC3A7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176" y="2370851"/>
            <a:ext cx="17526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58" name="Text Box 41">
            <a:extLst>
              <a:ext uri="{FF2B5EF4-FFF2-40B4-BE49-F238E27FC236}">
                <a16:creationId xmlns:a16="http://schemas.microsoft.com/office/drawing/2014/main" id="{3E3ABCC4-37AC-3049-A425-3B06A6C4C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776" y="4267199"/>
            <a:ext cx="1076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 dirty="0" err="1">
                <a:solidFill>
                  <a:srgbClr val="000000"/>
                </a:solidFill>
              </a:rPr>
              <a:t>RdEn</a:t>
            </a:r>
            <a:endParaRPr lang="en-US" altLang="en-US" sz="1400" b="1" dirty="0">
              <a:solidFill>
                <a:srgbClr val="000000"/>
              </a:solidFill>
            </a:endParaRPr>
          </a:p>
        </p:txBody>
      </p:sp>
      <p:sp>
        <p:nvSpPr>
          <p:cNvPr id="59" name="Line 43">
            <a:extLst>
              <a:ext uri="{FF2B5EF4-FFF2-40B4-BE49-F238E27FC236}">
                <a16:creationId xmlns:a16="http://schemas.microsoft.com/office/drawing/2014/main" id="{36B7182B-D5AC-324F-9D48-4BF66FFE1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9776" y="4571999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1" name="Text Box 40">
            <a:extLst>
              <a:ext uri="{FF2B5EF4-FFF2-40B4-BE49-F238E27FC236}">
                <a16:creationId xmlns:a16="http://schemas.microsoft.com/office/drawing/2014/main" id="{916B0409-2457-094E-8D4A-A93FBEF17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1160" y="3318844"/>
            <a:ext cx="1752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2000" b="1" dirty="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24" name="AutoShape 11">
            <a:extLst>
              <a:ext uri="{FF2B5EF4-FFF2-40B4-BE49-F238E27FC236}">
                <a16:creationId xmlns:a16="http://schemas.microsoft.com/office/drawing/2014/main" id="{A8CA9C42-54FA-2B43-B2D8-4B087D0221A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955572" y="3112112"/>
            <a:ext cx="307776" cy="1409700"/>
          </a:xfrm>
          <a:prstGeom prst="upDownArrow">
            <a:avLst>
              <a:gd name="adj1" fmla="val 50000"/>
              <a:gd name="adj2" fmla="val 7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97131A02-2D2E-BC4D-AAFF-14C1CCC2288B}"/>
              </a:ext>
            </a:extLst>
          </p:cNvPr>
          <p:cNvSpPr/>
          <p:nvPr/>
        </p:nvSpPr>
        <p:spPr bwMode="auto">
          <a:xfrm rot="5400000">
            <a:off x="5317633" y="2681478"/>
            <a:ext cx="733832" cy="7620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H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64" charset="-128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5E9C823-FDF4-314F-B557-A582F8A097D1}"/>
              </a:ext>
            </a:extLst>
          </p:cNvPr>
          <p:cNvCxnSpPr>
            <a:stCxn id="25" idx="5"/>
          </p:cNvCxnSpPr>
          <p:nvPr/>
        </p:nvCxnSpPr>
        <p:spPr bwMode="auto">
          <a:xfrm>
            <a:off x="5684549" y="3245936"/>
            <a:ext cx="0" cy="44022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A7AF27D-3D68-E240-8B61-9E5D1074E284}"/>
              </a:ext>
            </a:extLst>
          </p:cNvPr>
          <p:cNvCxnSpPr>
            <a:cxnSpLocks/>
          </p:cNvCxnSpPr>
          <p:nvPr/>
        </p:nvCxnSpPr>
        <p:spPr bwMode="auto">
          <a:xfrm flipH="1">
            <a:off x="5379747" y="3686162"/>
            <a:ext cx="30480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8D0632D8-50AC-714D-AE33-72F7FB5E0A4A}"/>
              </a:ext>
            </a:extLst>
          </p:cNvPr>
          <p:cNvCxnSpPr>
            <a:stCxn id="25" idx="0"/>
            <a:endCxn id="24" idx="4"/>
          </p:cNvCxnSpPr>
          <p:nvPr/>
        </p:nvCxnSpPr>
        <p:spPr bwMode="auto">
          <a:xfrm>
            <a:off x="6065549" y="3062478"/>
            <a:ext cx="339061" cy="75448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B7907DE1-7A92-E24D-831D-E95131B84702}"/>
              </a:ext>
            </a:extLst>
          </p:cNvPr>
          <p:cNvCxnSpPr/>
          <p:nvPr/>
        </p:nvCxnSpPr>
        <p:spPr bwMode="auto">
          <a:xfrm rot="10800000" flipV="1">
            <a:off x="5867400" y="3816962"/>
            <a:ext cx="533400" cy="526438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312716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Implementation - 4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Mahdi Aminian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33400" y="1219199"/>
            <a:ext cx="6629400" cy="2513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762000" indent="-7620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4000" b="1">
                <a:solidFill>
                  <a:srgbClr val="FF5050"/>
                </a:solidFill>
                <a:latin typeface="+mn-lt"/>
                <a:ea typeface="+mn-ea"/>
                <a:cs typeface="+mn-cs"/>
              </a:defRPr>
            </a:lvl1pPr>
            <a:lvl2pPr marL="1066800" indent="-609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3200">
                <a:solidFill>
                  <a:srgbClr val="0000FF"/>
                </a:solidFill>
                <a:latin typeface="+mn-lt"/>
                <a:cs typeface="+mn-cs"/>
              </a:defRPr>
            </a:lvl2pPr>
            <a:lvl3pPr marL="1562100" indent="-5334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800">
                <a:solidFill>
                  <a:schemeClr val="tx1"/>
                </a:solidFill>
                <a:latin typeface="+mn-lt"/>
                <a:cs typeface="+mn-cs"/>
              </a:defRPr>
            </a:lvl3pPr>
            <a:lvl4pPr marL="19177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344738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8019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32591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7163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41735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762000" marR="0" lvl="0" indent="-762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Zar"/>
              </a:rPr>
              <a:t>InOut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/>
                <a:cs typeface="Zar"/>
              </a:rPr>
              <a:t>  Data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1A82D505-509C-FF4B-A456-CC187A03E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905000"/>
            <a:ext cx="5638800" cy="3754874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Library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IEEE;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use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IEEE.Std_Logic_1164.all;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use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IEEE.numeric_std.all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entity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Memory1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generic(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AddrWidth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: integer := 8;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        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DataWidth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: Integer := 8 );</a:t>
            </a:r>
          </a:p>
          <a:p>
            <a:pPr eaLnBrk="1" hangingPunct="1"/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port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(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CLK</a:t>
            </a:r>
            <a:r>
              <a:rPr lang="en-US" altLang="en-US" sz="1400" b="0" dirty="0">
                <a:solidFill>
                  <a:srgbClr val="0000CC"/>
                </a:solidFill>
              </a:rPr>
              <a:t>	   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in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     CS,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WrEn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,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RdEn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: in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    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Addr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   : in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std_logic_vector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(AddrWidth-1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downto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0);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     Data    : </a:t>
            </a:r>
            <a:r>
              <a:rPr lang="en-US" altLang="en-US" sz="1400" i="1" dirty="0" err="1">
                <a:solidFill>
                  <a:srgbClr val="0000CC"/>
                </a:solidFill>
                <a:latin typeface="Helvetica"/>
              </a:rPr>
              <a:t>inout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std_logic_vector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(DataWidth-1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downto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0);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);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COUNTER;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0621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Implementation - 4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Mahdi Aminian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33400" y="1219199"/>
            <a:ext cx="6629400" cy="2513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>
            <a:lvl1pPr marL="762000" indent="-7620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4000" b="1">
                <a:solidFill>
                  <a:srgbClr val="FF5050"/>
                </a:solidFill>
                <a:latin typeface="+mn-lt"/>
                <a:ea typeface="+mn-ea"/>
                <a:cs typeface="+mn-cs"/>
              </a:defRPr>
            </a:lvl1pPr>
            <a:lvl2pPr marL="1066800" indent="-609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3200">
                <a:solidFill>
                  <a:srgbClr val="0000FF"/>
                </a:solidFill>
                <a:latin typeface="+mn-lt"/>
                <a:cs typeface="+mn-cs"/>
              </a:defRPr>
            </a:lvl2pPr>
            <a:lvl3pPr marL="1562100" indent="-5334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800">
                <a:solidFill>
                  <a:schemeClr val="tx1"/>
                </a:solidFill>
                <a:latin typeface="+mn-lt"/>
                <a:cs typeface="+mn-cs"/>
              </a:defRPr>
            </a:lvl3pPr>
            <a:lvl4pPr marL="19177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344738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8019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32591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7163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4173538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0" eaLnBrk="1" hangingPunct="1">
              <a:defRPr/>
            </a:pPr>
            <a:r>
              <a:rPr lang="en-US" altLang="en-US" sz="2800" b="0" kern="0" dirty="0" err="1">
                <a:solidFill>
                  <a:schemeClr val="accent6">
                    <a:lumMod val="75000"/>
                  </a:schemeClr>
                </a:solidFill>
                <a:cs typeface="Zar"/>
              </a:rPr>
              <a:t>InOut</a:t>
            </a:r>
            <a:r>
              <a:rPr lang="en-US" altLang="en-US" sz="2800" b="0" kern="0" dirty="0">
                <a:solidFill>
                  <a:schemeClr val="accent6">
                    <a:lumMod val="75000"/>
                  </a:schemeClr>
                </a:solidFill>
                <a:cs typeface="Zar"/>
              </a:rPr>
              <a:t>  Data</a:t>
            </a: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1621973C-5154-5343-AA21-D77EEE380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876097"/>
            <a:ext cx="8077200" cy="452431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architecture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RTL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of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Memory1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   Type </a:t>
            </a:r>
            <a:r>
              <a:rPr lang="en-US" altLang="en-US" sz="1400" b="0" i="1" dirty="0" err="1">
                <a:solidFill>
                  <a:srgbClr val="0000CC"/>
                </a:solidFill>
                <a:latin typeface="Helvetica"/>
              </a:rPr>
              <a:t>MyMem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 is array (2**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AddrWidth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-1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downto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0) of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std_logic_vector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(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DataWidth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-1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downto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0);</a:t>
            </a:r>
            <a:endParaRPr lang="en-US" altLang="en-US" sz="1400" b="0" i="1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    signal</a:t>
            </a:r>
            <a:r>
              <a:rPr lang="en-US" altLang="en-US" sz="1400" b="0" i="1" dirty="0">
                <a:solidFill>
                  <a:srgbClr val="0000CC"/>
                </a:solidFill>
              </a:rPr>
              <a:t> 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Mem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MyMem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(CLK)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</a:p>
          <a:p>
            <a:pPr algn="l" rtl="0"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   i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f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CLK`event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CLK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=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`1`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then</a:t>
            </a:r>
          </a:p>
          <a:p>
            <a:pPr algn="l" rtl="0"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if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(CS = ‘1’ and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WrEn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= ‘1’)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then</a:t>
            </a:r>
            <a:br>
              <a:rPr lang="en-US" altLang="en-US" sz="1400" b="0" dirty="0">
                <a:solidFill>
                  <a:srgbClr val="FF0000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	    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Mem(</a:t>
            </a:r>
            <a:r>
              <a:rPr lang="en-US" altLang="en-US" sz="1400" b="0" i="1" dirty="0" err="1">
                <a:solidFill>
                  <a:schemeClr val="accent2"/>
                </a:solidFill>
                <a:latin typeface="Helvetica"/>
              </a:rPr>
              <a:t>to_integer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(unsigned(</a:t>
            </a:r>
            <a:r>
              <a:rPr lang="en-US" altLang="en-US" sz="1400" b="0" i="1" dirty="0" err="1">
                <a:solidFill>
                  <a:schemeClr val="accent2"/>
                </a:solidFill>
                <a:latin typeface="Helvetica"/>
              </a:rPr>
              <a:t>Addr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))) &lt;=</a:t>
            </a:r>
            <a:r>
              <a:rPr lang="en-US" altLang="en-US" sz="1400" b="0" i="1" dirty="0">
                <a:solidFill>
                  <a:schemeClr val="accent2"/>
                </a:solidFill>
              </a:rPr>
              <a:t> </a:t>
            </a:r>
            <a:r>
              <a:rPr lang="en-US" altLang="en-US" sz="1800" i="1" dirty="0">
                <a:solidFill>
                  <a:schemeClr val="accent2"/>
                </a:solidFill>
                <a:latin typeface="Helvetica"/>
              </a:rPr>
              <a:t>Data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;</a:t>
            </a:r>
            <a:br>
              <a:rPr lang="en-US" altLang="en-US" sz="1400" b="0" i="1" dirty="0">
                <a:solidFill>
                  <a:schemeClr val="accent2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	end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if;</a:t>
            </a:r>
          </a:p>
          <a:p>
            <a:pPr eaLnBrk="1" hangingPunct="1"/>
            <a:endParaRPr lang="en-US" altLang="en-US" sz="1400" b="0" dirty="0">
              <a:solidFill>
                <a:srgbClr val="FF0000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if;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process;</a:t>
            </a:r>
            <a:endParaRPr lang="en-US" altLang="en-US" sz="1400" b="0" dirty="0">
              <a:solidFill>
                <a:srgbClr val="FF0000"/>
              </a:solidFill>
              <a:latin typeface="Helvetica"/>
            </a:endParaRPr>
          </a:p>
          <a:p>
            <a:pPr eaLnBrk="1" hangingPunct="1"/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	</a:t>
            </a:r>
            <a:r>
              <a:rPr lang="en-US" altLang="en-US" sz="1800" i="1" dirty="0">
                <a:solidFill>
                  <a:schemeClr val="accent2"/>
                </a:solidFill>
                <a:latin typeface="Helvetica"/>
              </a:rPr>
              <a:t>Data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 &lt;= Mem(</a:t>
            </a:r>
            <a:r>
              <a:rPr lang="en-US" altLang="en-US" sz="1400" b="0" i="1" dirty="0" err="1">
                <a:solidFill>
                  <a:schemeClr val="accent2"/>
                </a:solidFill>
                <a:latin typeface="Helvetica"/>
              </a:rPr>
              <a:t>to_integer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(unsigned(</a:t>
            </a:r>
            <a:r>
              <a:rPr lang="en-US" altLang="en-US" sz="1400" b="0" i="1" dirty="0" err="1">
                <a:solidFill>
                  <a:schemeClr val="accent2"/>
                </a:solidFill>
                <a:latin typeface="Helvetica"/>
              </a:rPr>
              <a:t>Addr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))) </a:t>
            </a:r>
            <a:r>
              <a:rPr lang="en-US" altLang="en-US" sz="1400" b="0" i="1" dirty="0">
                <a:solidFill>
                  <a:srgbClr val="FF0000"/>
                </a:solidFill>
                <a:latin typeface="Helvetica"/>
              </a:rPr>
              <a:t>when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 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(CS = ‘1’ and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RdEn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= ‘1’)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</a:p>
          <a:p>
            <a:pPr eaLnBrk="1" hangingPunct="1"/>
            <a:r>
              <a:rPr lang="en-US" altLang="en-US" sz="1400" b="0" i="1" dirty="0">
                <a:solidFill>
                  <a:srgbClr val="FF0000"/>
                </a:solidFill>
                <a:latin typeface="Helvetica"/>
              </a:rPr>
              <a:t>		else (others =&gt; ‘Z’)</a:t>
            </a:r>
            <a:r>
              <a:rPr lang="en-US" altLang="en-US" sz="1400" b="0" i="1" dirty="0">
                <a:solidFill>
                  <a:schemeClr val="accent2"/>
                </a:solidFill>
                <a:latin typeface="Helvetica"/>
              </a:rPr>
              <a:t>;</a:t>
            </a:r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A;</a:t>
            </a:r>
          </a:p>
        </p:txBody>
      </p:sp>
    </p:spTree>
    <p:extLst>
      <p:ext uri="{BB962C8B-B14F-4D97-AF65-F5344CB8AC3E}">
        <p14:creationId xmlns:p14="http://schemas.microsoft.com/office/powerpoint/2010/main" val="378860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13320-F14D-F24B-93D1-BAEC7252C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133600"/>
            <a:ext cx="7772400" cy="2514600"/>
          </a:xfrm>
        </p:spPr>
        <p:txBody>
          <a:bodyPr/>
          <a:lstStyle/>
          <a:p>
            <a:r>
              <a:rPr lang="en-CH" sz="4800" i="1" dirty="0">
                <a:solidFill>
                  <a:schemeClr val="tx1"/>
                </a:solidFill>
              </a:rPr>
              <a:t>Case Study</a:t>
            </a:r>
            <a:br>
              <a:rPr lang="en-CH" sz="4800" i="1" dirty="0">
                <a:solidFill>
                  <a:schemeClr val="accent2"/>
                </a:solidFill>
              </a:rPr>
            </a:br>
            <a:br>
              <a:rPr lang="en-CH" sz="4800" i="1" dirty="0">
                <a:solidFill>
                  <a:schemeClr val="accent2"/>
                </a:solidFill>
              </a:rPr>
            </a:br>
            <a:r>
              <a:rPr lang="en-CH" sz="4800" i="1" dirty="0">
                <a:solidFill>
                  <a:schemeClr val="accent2"/>
                </a:solidFill>
              </a:rPr>
              <a:t>Memory Controller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C1ACD-3C91-1847-B987-219FC118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3A753-AC91-BA46-8E63-254FC4502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C6B078-E125-4DAE-82C9-FB5092426F6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14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Controller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>
                <a:solidFill>
                  <a:srgbClr val="000000"/>
                </a:solidFill>
              </a:rPr>
              <a:pPr/>
              <a:t>13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477000" y="29718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172200" y="27432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5867400" y="25146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209800" y="2286001"/>
            <a:ext cx="1371600" cy="29718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209800" y="3276601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</a:rPr>
              <a:t>FSM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5562600" y="22860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486400" y="3276601"/>
            <a:ext cx="1219200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SRAM</a:t>
            </a:r>
          </a:p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Memory</a:t>
            </a:r>
          </a:p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 Array</a:t>
            </a:r>
          </a:p>
        </p:txBody>
      </p:sp>
      <p:sp>
        <p:nvSpPr>
          <p:cNvPr id="13" name="AutoShape 11"/>
          <p:cNvSpPr>
            <a:spLocks noChangeArrowheads="1"/>
          </p:cNvSpPr>
          <p:nvPr/>
        </p:nvSpPr>
        <p:spPr bwMode="auto">
          <a:xfrm>
            <a:off x="6477000" y="1752601"/>
            <a:ext cx="152400" cy="533400"/>
          </a:xfrm>
          <a:prstGeom prst="upDownArrow">
            <a:avLst>
              <a:gd name="adj1" fmla="val 50000"/>
              <a:gd name="adj2" fmla="val 7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4" name="AutoShape 12"/>
          <p:cNvSpPr>
            <a:spLocks noChangeArrowheads="1"/>
          </p:cNvSpPr>
          <p:nvPr/>
        </p:nvSpPr>
        <p:spPr bwMode="auto">
          <a:xfrm>
            <a:off x="5715000" y="1752601"/>
            <a:ext cx="152400" cy="533400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4648200" y="18288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6477000" y="18288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3581400" y="28956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3657600" y="26352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OE</a:t>
            </a:r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3581400" y="32766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3657600" y="30162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WE</a:t>
            </a:r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>
            <a:off x="3581400" y="38862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3657600" y="36258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ADDR1</a:t>
            </a:r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>
            <a:off x="3581400" y="41148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3657600" y="38544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ADDR0</a:t>
            </a:r>
          </a:p>
        </p:txBody>
      </p:sp>
      <p:sp>
        <p:nvSpPr>
          <p:cNvPr id="25" name="AutoShape 23"/>
          <p:cNvSpPr>
            <a:spLocks noChangeArrowheads="1"/>
          </p:cNvSpPr>
          <p:nvPr/>
        </p:nvSpPr>
        <p:spPr bwMode="auto">
          <a:xfrm>
            <a:off x="457200" y="1524001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6" name="AutoShape 24"/>
          <p:cNvSpPr>
            <a:spLocks noChangeArrowheads="1"/>
          </p:cNvSpPr>
          <p:nvPr/>
        </p:nvSpPr>
        <p:spPr bwMode="auto">
          <a:xfrm rot="10800000">
            <a:off x="6858000" y="1524001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" name="Rectangle 25"/>
          <p:cNvSpPr>
            <a:spLocks noChangeArrowheads="1"/>
          </p:cNvSpPr>
          <p:nvPr/>
        </p:nvSpPr>
        <p:spPr bwMode="auto">
          <a:xfrm>
            <a:off x="1905000" y="1600201"/>
            <a:ext cx="4953000" cy="152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" name="Rectangle 26"/>
          <p:cNvSpPr>
            <a:spLocks noChangeArrowheads="1"/>
          </p:cNvSpPr>
          <p:nvPr/>
        </p:nvSpPr>
        <p:spPr bwMode="auto">
          <a:xfrm>
            <a:off x="1828800" y="1614489"/>
            <a:ext cx="160338" cy="1254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9" name="Rectangle 27"/>
          <p:cNvSpPr>
            <a:spLocks noChangeArrowheads="1"/>
          </p:cNvSpPr>
          <p:nvPr/>
        </p:nvSpPr>
        <p:spPr bwMode="auto">
          <a:xfrm>
            <a:off x="6781800" y="1614489"/>
            <a:ext cx="160338" cy="1254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" name="AutoShape 28"/>
          <p:cNvSpPr>
            <a:spLocks noChangeArrowheads="1"/>
          </p:cNvSpPr>
          <p:nvPr/>
        </p:nvSpPr>
        <p:spPr bwMode="auto">
          <a:xfrm rot="5400000">
            <a:off x="1905000" y="2286001"/>
            <a:ext cx="304800" cy="304800"/>
          </a:xfrm>
          <a:custGeom>
            <a:avLst/>
            <a:gdLst>
              <a:gd name="T0" fmla="*/ 217720 w 21600"/>
              <a:gd name="T1" fmla="*/ 0 h 21600"/>
              <a:gd name="T2" fmla="*/ 130627 w 21600"/>
              <a:gd name="T3" fmla="*/ 101600 h 21600"/>
              <a:gd name="T4" fmla="*/ 0 w 21600"/>
              <a:gd name="T5" fmla="*/ 254014 h 21600"/>
              <a:gd name="T6" fmla="*/ 130627 w 21600"/>
              <a:gd name="T7" fmla="*/ 304800 h 21600"/>
              <a:gd name="T8" fmla="*/ 261253 w 21600"/>
              <a:gd name="T9" fmla="*/ 211667 h 21600"/>
              <a:gd name="T10" fmla="*/ 304800 w 21600"/>
              <a:gd name="T11" fmla="*/ 1016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1" name="Rectangle 29"/>
          <p:cNvSpPr>
            <a:spLocks noChangeArrowheads="1"/>
          </p:cNvSpPr>
          <p:nvPr/>
        </p:nvSpPr>
        <p:spPr bwMode="auto">
          <a:xfrm>
            <a:off x="1905000" y="1752601"/>
            <a:ext cx="103188" cy="533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2" name="Rectangle 30"/>
          <p:cNvSpPr>
            <a:spLocks noChangeArrowheads="1"/>
          </p:cNvSpPr>
          <p:nvPr/>
        </p:nvSpPr>
        <p:spPr bwMode="auto">
          <a:xfrm>
            <a:off x="1914525" y="2133601"/>
            <a:ext cx="76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1981200" y="17526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000000"/>
                </a:solidFill>
              </a:rPr>
              <a:t>BUS_ID</a:t>
            </a:r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1752600" y="1752601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>
            <a:off x="1600200" y="1752601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Line 34"/>
          <p:cNvSpPr>
            <a:spLocks noChangeShapeType="1"/>
          </p:cNvSpPr>
          <p:nvPr/>
        </p:nvSpPr>
        <p:spPr bwMode="auto">
          <a:xfrm>
            <a:off x="1752600" y="2971801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1143000" y="2667001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Reset</a:t>
            </a:r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>
            <a:off x="1600200" y="3352801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9" name="Text Box 37"/>
          <p:cNvSpPr txBox="1">
            <a:spLocks noChangeArrowheads="1"/>
          </p:cNvSpPr>
          <p:nvPr/>
        </p:nvSpPr>
        <p:spPr bwMode="auto">
          <a:xfrm>
            <a:off x="1143000" y="3048001"/>
            <a:ext cx="1066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</a:rPr>
              <a:t>READY</a:t>
            </a:r>
          </a:p>
        </p:txBody>
      </p:sp>
      <p:sp>
        <p:nvSpPr>
          <p:cNvPr id="40" name="Line 38"/>
          <p:cNvSpPr>
            <a:spLocks noChangeShapeType="1"/>
          </p:cNvSpPr>
          <p:nvPr/>
        </p:nvSpPr>
        <p:spPr bwMode="auto">
          <a:xfrm>
            <a:off x="1447800" y="1752601"/>
            <a:ext cx="0" cy="190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>
            <a:off x="1447800" y="3657601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1143000" y="3352801"/>
            <a:ext cx="1066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</a:rPr>
              <a:t>BURST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914400" y="3810001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READ_WRITE</a:t>
            </a:r>
          </a:p>
        </p:txBody>
      </p:sp>
      <p:sp>
        <p:nvSpPr>
          <p:cNvPr id="44" name="Line 42"/>
          <p:cNvSpPr>
            <a:spLocks noChangeShapeType="1"/>
          </p:cNvSpPr>
          <p:nvPr/>
        </p:nvSpPr>
        <p:spPr bwMode="auto">
          <a:xfrm>
            <a:off x="914400" y="1752601"/>
            <a:ext cx="0" cy="2362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914400" y="4114801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Line 44"/>
          <p:cNvSpPr>
            <a:spLocks noChangeShapeType="1"/>
          </p:cNvSpPr>
          <p:nvPr/>
        </p:nvSpPr>
        <p:spPr bwMode="auto">
          <a:xfrm>
            <a:off x="838200" y="1752601"/>
            <a:ext cx="0" cy="297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" name="Text Box 45"/>
          <p:cNvSpPr txBox="1">
            <a:spLocks noChangeArrowheads="1"/>
          </p:cNvSpPr>
          <p:nvPr/>
        </p:nvSpPr>
        <p:spPr bwMode="auto">
          <a:xfrm>
            <a:off x="1447800" y="4419601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CLK</a:t>
            </a:r>
          </a:p>
        </p:txBody>
      </p:sp>
      <p:sp>
        <p:nvSpPr>
          <p:cNvPr id="48" name="Line 46"/>
          <p:cNvSpPr>
            <a:spLocks noChangeShapeType="1"/>
          </p:cNvSpPr>
          <p:nvPr/>
        </p:nvSpPr>
        <p:spPr bwMode="auto">
          <a:xfrm>
            <a:off x="838200" y="4724401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9" name="Rectangle 47"/>
          <p:cNvSpPr>
            <a:spLocks noChangeArrowheads="1"/>
          </p:cNvSpPr>
          <p:nvPr/>
        </p:nvSpPr>
        <p:spPr bwMode="auto">
          <a:xfrm>
            <a:off x="609600" y="5318126"/>
            <a:ext cx="5410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buFontTx/>
              <a:buChar char="•"/>
            </a:pPr>
            <a:r>
              <a:rPr lang="fa-IR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 </a:t>
            </a:r>
            <a:r>
              <a:rPr lang="ar-SA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دستگاههاي روي باس با اعلان </a:t>
            </a:r>
            <a:r>
              <a:rPr lang="en-US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bus id</a:t>
            </a:r>
            <a:r>
              <a:rPr lang="ar-SA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ي </a:t>
            </a:r>
            <a:r>
              <a:rPr lang="en-US" altLang="en-US" sz="2000" b="1" dirty="0" err="1">
                <a:solidFill>
                  <a:srgbClr val="000000"/>
                </a:solidFill>
                <a:cs typeface="B Mitra" panose="00000400000000000000" pitchFamily="2" charset="-78"/>
              </a:rPr>
              <a:t>mem_buffer</a:t>
            </a:r>
            <a:r>
              <a:rPr lang="en-US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 </a:t>
            </a:r>
            <a:r>
              <a:rPr lang="ar-SA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 (</a:t>
            </a:r>
            <a:r>
              <a:rPr lang="en-US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F3</a:t>
            </a:r>
            <a:r>
              <a:rPr lang="ar-SA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) دسترسي به باس را آغاز مي كنند.</a:t>
            </a:r>
          </a:p>
        </p:txBody>
      </p:sp>
    </p:spTree>
    <p:extLst>
      <p:ext uri="{BB962C8B-B14F-4D97-AF65-F5344CB8AC3E}">
        <p14:creationId xmlns:p14="http://schemas.microsoft.com/office/powerpoint/2010/main" val="74487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Controller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>
                <a:solidFill>
                  <a:srgbClr val="000000"/>
                </a:solidFill>
              </a:rPr>
              <a:pPr/>
              <a:t>14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477000" y="29718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172200" y="27432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5867400" y="25146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209800" y="2286001"/>
            <a:ext cx="1371600" cy="29718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2209800" y="3276601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</a:rPr>
              <a:t>FSM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5562600" y="22860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5486400" y="3276601"/>
            <a:ext cx="1219200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SRAM</a:t>
            </a:r>
          </a:p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Memory</a:t>
            </a:r>
          </a:p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 Array</a:t>
            </a:r>
          </a:p>
        </p:txBody>
      </p:sp>
      <p:sp>
        <p:nvSpPr>
          <p:cNvPr id="14" name="AutoShape 11"/>
          <p:cNvSpPr>
            <a:spLocks noChangeArrowheads="1"/>
          </p:cNvSpPr>
          <p:nvPr/>
        </p:nvSpPr>
        <p:spPr bwMode="auto">
          <a:xfrm>
            <a:off x="6477000" y="1752601"/>
            <a:ext cx="152400" cy="533400"/>
          </a:xfrm>
          <a:prstGeom prst="upDownArrow">
            <a:avLst>
              <a:gd name="adj1" fmla="val 50000"/>
              <a:gd name="adj2" fmla="val 7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auto">
          <a:xfrm>
            <a:off x="5715000" y="1752601"/>
            <a:ext cx="152400" cy="533400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4648200" y="18288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6477000" y="18288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3581400" y="28956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3657600" y="26352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OE</a:t>
            </a: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3581400" y="32766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3657600" y="30162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WE</a:t>
            </a: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3581400" y="38862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3657600" y="36258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ADDR1</a:t>
            </a: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3581400" y="41148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3657600" y="38544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ADDR0</a:t>
            </a:r>
          </a:p>
        </p:txBody>
      </p:sp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457200" y="1524001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" name="AutoShape 24"/>
          <p:cNvSpPr>
            <a:spLocks noChangeArrowheads="1"/>
          </p:cNvSpPr>
          <p:nvPr/>
        </p:nvSpPr>
        <p:spPr bwMode="auto">
          <a:xfrm rot="10800000">
            <a:off x="6858000" y="1524001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1905000" y="1600201"/>
            <a:ext cx="4953000" cy="152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1828800" y="1614489"/>
            <a:ext cx="160338" cy="1254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6781800" y="1614489"/>
            <a:ext cx="160338" cy="1254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1" name="AutoShape 28"/>
          <p:cNvSpPr>
            <a:spLocks noChangeArrowheads="1"/>
          </p:cNvSpPr>
          <p:nvPr/>
        </p:nvSpPr>
        <p:spPr bwMode="auto">
          <a:xfrm rot="5400000">
            <a:off x="1905000" y="2286001"/>
            <a:ext cx="304800" cy="304800"/>
          </a:xfrm>
          <a:custGeom>
            <a:avLst/>
            <a:gdLst>
              <a:gd name="T0" fmla="*/ 217720 w 21600"/>
              <a:gd name="T1" fmla="*/ 0 h 21600"/>
              <a:gd name="T2" fmla="*/ 130627 w 21600"/>
              <a:gd name="T3" fmla="*/ 101600 h 21600"/>
              <a:gd name="T4" fmla="*/ 0 w 21600"/>
              <a:gd name="T5" fmla="*/ 254014 h 21600"/>
              <a:gd name="T6" fmla="*/ 130627 w 21600"/>
              <a:gd name="T7" fmla="*/ 304800 h 21600"/>
              <a:gd name="T8" fmla="*/ 261253 w 21600"/>
              <a:gd name="T9" fmla="*/ 211667 h 21600"/>
              <a:gd name="T10" fmla="*/ 304800 w 21600"/>
              <a:gd name="T11" fmla="*/ 1016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1905000" y="1752601"/>
            <a:ext cx="103188" cy="533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1914525" y="2133601"/>
            <a:ext cx="76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1981200" y="17526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000000"/>
                </a:solidFill>
              </a:rPr>
              <a:t>BUS_ID</a:t>
            </a:r>
          </a:p>
        </p:txBody>
      </p:sp>
      <p:sp>
        <p:nvSpPr>
          <p:cNvPr id="35" name="Line 32"/>
          <p:cNvSpPr>
            <a:spLocks noChangeShapeType="1"/>
          </p:cNvSpPr>
          <p:nvPr/>
        </p:nvSpPr>
        <p:spPr bwMode="auto">
          <a:xfrm>
            <a:off x="1752600" y="1752601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Line 33"/>
          <p:cNvSpPr>
            <a:spLocks noChangeShapeType="1"/>
          </p:cNvSpPr>
          <p:nvPr/>
        </p:nvSpPr>
        <p:spPr bwMode="auto">
          <a:xfrm>
            <a:off x="1600200" y="1752601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1752600" y="2971801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8" name="Text Box 35"/>
          <p:cNvSpPr txBox="1">
            <a:spLocks noChangeArrowheads="1"/>
          </p:cNvSpPr>
          <p:nvPr/>
        </p:nvSpPr>
        <p:spPr bwMode="auto">
          <a:xfrm>
            <a:off x="1143000" y="2667001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Reset</a:t>
            </a:r>
          </a:p>
        </p:txBody>
      </p:sp>
      <p:sp>
        <p:nvSpPr>
          <p:cNvPr id="39" name="Line 36"/>
          <p:cNvSpPr>
            <a:spLocks noChangeShapeType="1"/>
          </p:cNvSpPr>
          <p:nvPr/>
        </p:nvSpPr>
        <p:spPr bwMode="auto">
          <a:xfrm>
            <a:off x="1600200" y="3352801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>
            <a:off x="1143000" y="3048001"/>
            <a:ext cx="1066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</a:rPr>
              <a:t>READY</a:t>
            </a:r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1447800" y="1752601"/>
            <a:ext cx="0" cy="190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Line 39"/>
          <p:cNvSpPr>
            <a:spLocks noChangeShapeType="1"/>
          </p:cNvSpPr>
          <p:nvPr/>
        </p:nvSpPr>
        <p:spPr bwMode="auto">
          <a:xfrm>
            <a:off x="1447800" y="3657601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3" name="Text Box 40"/>
          <p:cNvSpPr txBox="1">
            <a:spLocks noChangeArrowheads="1"/>
          </p:cNvSpPr>
          <p:nvPr/>
        </p:nvSpPr>
        <p:spPr bwMode="auto">
          <a:xfrm>
            <a:off x="1143000" y="3352801"/>
            <a:ext cx="1066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</a:rPr>
              <a:t>BURST</a:t>
            </a:r>
          </a:p>
        </p:txBody>
      </p:sp>
      <p:sp>
        <p:nvSpPr>
          <p:cNvPr id="44" name="Text Box 41"/>
          <p:cNvSpPr txBox="1">
            <a:spLocks noChangeArrowheads="1"/>
          </p:cNvSpPr>
          <p:nvPr/>
        </p:nvSpPr>
        <p:spPr bwMode="auto">
          <a:xfrm>
            <a:off x="914400" y="3810001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READ_WRITE</a:t>
            </a:r>
          </a:p>
        </p:txBody>
      </p:sp>
      <p:sp>
        <p:nvSpPr>
          <p:cNvPr id="45" name="Line 42"/>
          <p:cNvSpPr>
            <a:spLocks noChangeShapeType="1"/>
          </p:cNvSpPr>
          <p:nvPr/>
        </p:nvSpPr>
        <p:spPr bwMode="auto">
          <a:xfrm>
            <a:off x="914400" y="1752601"/>
            <a:ext cx="0" cy="2362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914400" y="4114801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" name="Line 44"/>
          <p:cNvSpPr>
            <a:spLocks noChangeShapeType="1"/>
          </p:cNvSpPr>
          <p:nvPr/>
        </p:nvSpPr>
        <p:spPr bwMode="auto">
          <a:xfrm>
            <a:off x="838200" y="1752601"/>
            <a:ext cx="0" cy="297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8" name="Text Box 45"/>
          <p:cNvSpPr txBox="1">
            <a:spLocks noChangeArrowheads="1"/>
          </p:cNvSpPr>
          <p:nvPr/>
        </p:nvSpPr>
        <p:spPr bwMode="auto">
          <a:xfrm>
            <a:off x="1447800" y="4419601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CLK</a:t>
            </a:r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>
            <a:off x="838200" y="4724401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Rectangle 48"/>
          <p:cNvSpPr>
            <a:spLocks noChangeArrowheads="1"/>
          </p:cNvSpPr>
          <p:nvPr/>
        </p:nvSpPr>
        <p:spPr bwMode="auto">
          <a:xfrm>
            <a:off x="381000" y="5334000"/>
            <a:ext cx="5486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buFontTx/>
              <a:buChar char="•"/>
            </a:pPr>
            <a:r>
              <a:rPr lang="fa-IR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 </a:t>
            </a:r>
            <a:r>
              <a:rPr lang="ar-SA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يك سيكل بعد, </a:t>
            </a:r>
            <a:r>
              <a:rPr lang="en-US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READ_WRITE = ‘1’</a:t>
            </a:r>
            <a:r>
              <a:rPr lang="ar-SA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 مي شود تا بگويد كه يك خواندن مي خواهد انجام شود (يا </a:t>
            </a:r>
            <a:r>
              <a:rPr lang="en-US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‘0’</a:t>
            </a:r>
            <a:r>
              <a:rPr lang="ar-SA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 براي نوشتن).</a:t>
            </a:r>
          </a:p>
        </p:txBody>
      </p:sp>
    </p:spTree>
    <p:extLst>
      <p:ext uri="{BB962C8B-B14F-4D97-AF65-F5344CB8AC3E}">
        <p14:creationId xmlns:p14="http://schemas.microsoft.com/office/powerpoint/2010/main" val="1064285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Controller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477000" y="29718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172200" y="27432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5867400" y="25146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209800" y="2286001"/>
            <a:ext cx="1371600" cy="29718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2209800" y="3276601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</a:rPr>
              <a:t>FSM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5562600" y="22860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5486400" y="3276601"/>
            <a:ext cx="1219200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SRAM</a:t>
            </a:r>
          </a:p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Memory</a:t>
            </a:r>
          </a:p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 Array</a:t>
            </a:r>
          </a:p>
        </p:txBody>
      </p:sp>
      <p:sp>
        <p:nvSpPr>
          <p:cNvPr id="14" name="AutoShape 11"/>
          <p:cNvSpPr>
            <a:spLocks noChangeArrowheads="1"/>
          </p:cNvSpPr>
          <p:nvPr/>
        </p:nvSpPr>
        <p:spPr bwMode="auto">
          <a:xfrm>
            <a:off x="6477000" y="1752601"/>
            <a:ext cx="152400" cy="533400"/>
          </a:xfrm>
          <a:prstGeom prst="upDownArrow">
            <a:avLst>
              <a:gd name="adj1" fmla="val 50000"/>
              <a:gd name="adj2" fmla="val 7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auto">
          <a:xfrm>
            <a:off x="5715000" y="1752601"/>
            <a:ext cx="152400" cy="533400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4648200" y="18288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6477000" y="18288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3581400" y="28956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3657600" y="26352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OE</a:t>
            </a: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3581400" y="32766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3657600" y="30162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WE</a:t>
            </a: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3581400" y="38862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3657600" y="36258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ADDR1</a:t>
            </a: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3581400" y="41148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3657600" y="38544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ADDR0</a:t>
            </a:r>
          </a:p>
        </p:txBody>
      </p:sp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457200" y="1524001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" name="AutoShape 24"/>
          <p:cNvSpPr>
            <a:spLocks noChangeArrowheads="1"/>
          </p:cNvSpPr>
          <p:nvPr/>
        </p:nvSpPr>
        <p:spPr bwMode="auto">
          <a:xfrm rot="10800000">
            <a:off x="6858000" y="1524001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1905000" y="1600201"/>
            <a:ext cx="4953000" cy="152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1828800" y="1614489"/>
            <a:ext cx="160338" cy="1254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6781800" y="1614489"/>
            <a:ext cx="160338" cy="1254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1" name="AutoShape 28"/>
          <p:cNvSpPr>
            <a:spLocks noChangeArrowheads="1"/>
          </p:cNvSpPr>
          <p:nvPr/>
        </p:nvSpPr>
        <p:spPr bwMode="auto">
          <a:xfrm rot="5400000">
            <a:off x="1905000" y="2286001"/>
            <a:ext cx="304800" cy="304800"/>
          </a:xfrm>
          <a:custGeom>
            <a:avLst/>
            <a:gdLst>
              <a:gd name="T0" fmla="*/ 217720 w 21600"/>
              <a:gd name="T1" fmla="*/ 0 h 21600"/>
              <a:gd name="T2" fmla="*/ 130627 w 21600"/>
              <a:gd name="T3" fmla="*/ 101600 h 21600"/>
              <a:gd name="T4" fmla="*/ 0 w 21600"/>
              <a:gd name="T5" fmla="*/ 254014 h 21600"/>
              <a:gd name="T6" fmla="*/ 130627 w 21600"/>
              <a:gd name="T7" fmla="*/ 304800 h 21600"/>
              <a:gd name="T8" fmla="*/ 261253 w 21600"/>
              <a:gd name="T9" fmla="*/ 211667 h 21600"/>
              <a:gd name="T10" fmla="*/ 304800 w 21600"/>
              <a:gd name="T11" fmla="*/ 1016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1905000" y="1752601"/>
            <a:ext cx="103188" cy="533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1914525" y="2133601"/>
            <a:ext cx="76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1981200" y="17526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000000"/>
                </a:solidFill>
              </a:rPr>
              <a:t>BUS_ID</a:t>
            </a:r>
          </a:p>
        </p:txBody>
      </p:sp>
      <p:sp>
        <p:nvSpPr>
          <p:cNvPr id="35" name="Line 32"/>
          <p:cNvSpPr>
            <a:spLocks noChangeShapeType="1"/>
          </p:cNvSpPr>
          <p:nvPr/>
        </p:nvSpPr>
        <p:spPr bwMode="auto">
          <a:xfrm>
            <a:off x="1752600" y="1752601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Line 33"/>
          <p:cNvSpPr>
            <a:spLocks noChangeShapeType="1"/>
          </p:cNvSpPr>
          <p:nvPr/>
        </p:nvSpPr>
        <p:spPr bwMode="auto">
          <a:xfrm>
            <a:off x="1600200" y="1752601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1752600" y="2971801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8" name="Text Box 35"/>
          <p:cNvSpPr txBox="1">
            <a:spLocks noChangeArrowheads="1"/>
          </p:cNvSpPr>
          <p:nvPr/>
        </p:nvSpPr>
        <p:spPr bwMode="auto">
          <a:xfrm>
            <a:off x="1143000" y="2667001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Reset</a:t>
            </a:r>
          </a:p>
        </p:txBody>
      </p:sp>
      <p:sp>
        <p:nvSpPr>
          <p:cNvPr id="39" name="Line 36"/>
          <p:cNvSpPr>
            <a:spLocks noChangeShapeType="1"/>
          </p:cNvSpPr>
          <p:nvPr/>
        </p:nvSpPr>
        <p:spPr bwMode="auto">
          <a:xfrm>
            <a:off x="1600200" y="3352801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>
            <a:off x="1143000" y="3048001"/>
            <a:ext cx="1066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</a:rPr>
              <a:t>READY</a:t>
            </a:r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1447800" y="1752601"/>
            <a:ext cx="0" cy="190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Line 39"/>
          <p:cNvSpPr>
            <a:spLocks noChangeShapeType="1"/>
          </p:cNvSpPr>
          <p:nvPr/>
        </p:nvSpPr>
        <p:spPr bwMode="auto">
          <a:xfrm>
            <a:off x="1447800" y="3657601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3" name="Text Box 40"/>
          <p:cNvSpPr txBox="1">
            <a:spLocks noChangeArrowheads="1"/>
          </p:cNvSpPr>
          <p:nvPr/>
        </p:nvSpPr>
        <p:spPr bwMode="auto">
          <a:xfrm>
            <a:off x="1143000" y="3352801"/>
            <a:ext cx="1066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</a:rPr>
              <a:t>BURST</a:t>
            </a:r>
          </a:p>
        </p:txBody>
      </p:sp>
      <p:sp>
        <p:nvSpPr>
          <p:cNvPr id="44" name="Text Box 41"/>
          <p:cNvSpPr txBox="1">
            <a:spLocks noChangeArrowheads="1"/>
          </p:cNvSpPr>
          <p:nvPr/>
        </p:nvSpPr>
        <p:spPr bwMode="auto">
          <a:xfrm>
            <a:off x="914400" y="3810001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READ_WRITE</a:t>
            </a:r>
          </a:p>
        </p:txBody>
      </p:sp>
      <p:sp>
        <p:nvSpPr>
          <p:cNvPr id="45" name="Line 42"/>
          <p:cNvSpPr>
            <a:spLocks noChangeShapeType="1"/>
          </p:cNvSpPr>
          <p:nvPr/>
        </p:nvSpPr>
        <p:spPr bwMode="auto">
          <a:xfrm>
            <a:off x="914400" y="1752601"/>
            <a:ext cx="0" cy="2362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914400" y="4114801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" name="Line 44"/>
          <p:cNvSpPr>
            <a:spLocks noChangeShapeType="1"/>
          </p:cNvSpPr>
          <p:nvPr/>
        </p:nvSpPr>
        <p:spPr bwMode="auto">
          <a:xfrm>
            <a:off x="838200" y="1752601"/>
            <a:ext cx="0" cy="297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8" name="Text Box 45"/>
          <p:cNvSpPr txBox="1">
            <a:spLocks noChangeArrowheads="1"/>
          </p:cNvSpPr>
          <p:nvPr/>
        </p:nvSpPr>
        <p:spPr bwMode="auto">
          <a:xfrm>
            <a:off x="1447800" y="4419601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CLK</a:t>
            </a:r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>
            <a:off x="838200" y="4724401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441325" y="5410200"/>
            <a:ext cx="534987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buFontTx/>
              <a:buChar char="•"/>
            </a:pPr>
            <a:r>
              <a:rPr lang="ar-SA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براي خواندن ممكن است 4كلمه اي (</a:t>
            </a:r>
            <a:r>
              <a:rPr lang="en-US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burst read</a:t>
            </a:r>
            <a:r>
              <a:rPr lang="ar-SA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)باشد: بايد در مدت اولين سيكل, </a:t>
            </a:r>
            <a:r>
              <a:rPr lang="en-US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burst</a:t>
            </a:r>
            <a:r>
              <a:rPr lang="ar-SA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 فعال باشد.</a:t>
            </a:r>
          </a:p>
        </p:txBody>
      </p:sp>
    </p:spTree>
    <p:extLst>
      <p:ext uri="{BB962C8B-B14F-4D97-AF65-F5344CB8AC3E}">
        <p14:creationId xmlns:p14="http://schemas.microsoft.com/office/powerpoint/2010/main" val="776524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Controller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>
                <a:solidFill>
                  <a:srgbClr val="000000"/>
                </a:solidFill>
              </a:rPr>
              <a:pPr/>
              <a:t>16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477000" y="29718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172200" y="27432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5867400" y="25146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209800" y="2286001"/>
            <a:ext cx="1371600" cy="29718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2209800" y="3276601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</a:rPr>
              <a:t>FSM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5562600" y="22860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5486400" y="3276601"/>
            <a:ext cx="1219200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SRAM</a:t>
            </a:r>
          </a:p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Memory</a:t>
            </a:r>
          </a:p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 Array</a:t>
            </a:r>
          </a:p>
        </p:txBody>
      </p:sp>
      <p:sp>
        <p:nvSpPr>
          <p:cNvPr id="14" name="AutoShape 11"/>
          <p:cNvSpPr>
            <a:spLocks noChangeArrowheads="1"/>
          </p:cNvSpPr>
          <p:nvPr/>
        </p:nvSpPr>
        <p:spPr bwMode="auto">
          <a:xfrm>
            <a:off x="6477000" y="1752601"/>
            <a:ext cx="152400" cy="533400"/>
          </a:xfrm>
          <a:prstGeom prst="upDownArrow">
            <a:avLst>
              <a:gd name="adj1" fmla="val 50000"/>
              <a:gd name="adj2" fmla="val 7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auto">
          <a:xfrm>
            <a:off x="5715000" y="1752601"/>
            <a:ext cx="152400" cy="533400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4648200" y="18288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6477000" y="18288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3581400" y="28956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3657600" y="26352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OE</a:t>
            </a: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3581400" y="32766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3657600" y="30162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WE</a:t>
            </a: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3581400" y="38862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3657600" y="36258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ADDR1</a:t>
            </a: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3581400" y="41148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3657600" y="38544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ADDR0</a:t>
            </a:r>
          </a:p>
        </p:txBody>
      </p:sp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457200" y="1524001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" name="AutoShape 24"/>
          <p:cNvSpPr>
            <a:spLocks noChangeArrowheads="1"/>
          </p:cNvSpPr>
          <p:nvPr/>
        </p:nvSpPr>
        <p:spPr bwMode="auto">
          <a:xfrm rot="10800000">
            <a:off x="6858000" y="1524001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1905000" y="1600201"/>
            <a:ext cx="4953000" cy="152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1828800" y="1614489"/>
            <a:ext cx="160338" cy="1254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6781800" y="1614489"/>
            <a:ext cx="160338" cy="1254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1" name="AutoShape 28"/>
          <p:cNvSpPr>
            <a:spLocks noChangeArrowheads="1"/>
          </p:cNvSpPr>
          <p:nvPr/>
        </p:nvSpPr>
        <p:spPr bwMode="auto">
          <a:xfrm rot="5400000">
            <a:off x="1905000" y="2286001"/>
            <a:ext cx="304800" cy="304800"/>
          </a:xfrm>
          <a:custGeom>
            <a:avLst/>
            <a:gdLst>
              <a:gd name="T0" fmla="*/ 217720 w 21600"/>
              <a:gd name="T1" fmla="*/ 0 h 21600"/>
              <a:gd name="T2" fmla="*/ 130627 w 21600"/>
              <a:gd name="T3" fmla="*/ 101600 h 21600"/>
              <a:gd name="T4" fmla="*/ 0 w 21600"/>
              <a:gd name="T5" fmla="*/ 254014 h 21600"/>
              <a:gd name="T6" fmla="*/ 130627 w 21600"/>
              <a:gd name="T7" fmla="*/ 304800 h 21600"/>
              <a:gd name="T8" fmla="*/ 261253 w 21600"/>
              <a:gd name="T9" fmla="*/ 211667 h 21600"/>
              <a:gd name="T10" fmla="*/ 304800 w 21600"/>
              <a:gd name="T11" fmla="*/ 1016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1905000" y="1752601"/>
            <a:ext cx="103188" cy="533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1914525" y="2133601"/>
            <a:ext cx="76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1981200" y="17526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000000"/>
                </a:solidFill>
              </a:rPr>
              <a:t>BUS_ID</a:t>
            </a:r>
          </a:p>
        </p:txBody>
      </p:sp>
      <p:sp>
        <p:nvSpPr>
          <p:cNvPr id="35" name="Line 32"/>
          <p:cNvSpPr>
            <a:spLocks noChangeShapeType="1"/>
          </p:cNvSpPr>
          <p:nvPr/>
        </p:nvSpPr>
        <p:spPr bwMode="auto">
          <a:xfrm>
            <a:off x="1752600" y="1752601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Line 33"/>
          <p:cNvSpPr>
            <a:spLocks noChangeShapeType="1"/>
          </p:cNvSpPr>
          <p:nvPr/>
        </p:nvSpPr>
        <p:spPr bwMode="auto">
          <a:xfrm>
            <a:off x="1600200" y="1752601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1752600" y="2971801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8" name="Text Box 35"/>
          <p:cNvSpPr txBox="1">
            <a:spLocks noChangeArrowheads="1"/>
          </p:cNvSpPr>
          <p:nvPr/>
        </p:nvSpPr>
        <p:spPr bwMode="auto">
          <a:xfrm>
            <a:off x="1143000" y="2667001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Reset</a:t>
            </a:r>
          </a:p>
        </p:txBody>
      </p:sp>
      <p:sp>
        <p:nvSpPr>
          <p:cNvPr id="39" name="Line 36"/>
          <p:cNvSpPr>
            <a:spLocks noChangeShapeType="1"/>
          </p:cNvSpPr>
          <p:nvPr/>
        </p:nvSpPr>
        <p:spPr bwMode="auto">
          <a:xfrm>
            <a:off x="1600200" y="3352801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>
            <a:off x="1143000" y="3048001"/>
            <a:ext cx="1066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</a:rPr>
              <a:t>READY</a:t>
            </a:r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1447800" y="1752601"/>
            <a:ext cx="0" cy="190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Line 39"/>
          <p:cNvSpPr>
            <a:spLocks noChangeShapeType="1"/>
          </p:cNvSpPr>
          <p:nvPr/>
        </p:nvSpPr>
        <p:spPr bwMode="auto">
          <a:xfrm>
            <a:off x="1447800" y="3657601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3" name="Text Box 40"/>
          <p:cNvSpPr txBox="1">
            <a:spLocks noChangeArrowheads="1"/>
          </p:cNvSpPr>
          <p:nvPr/>
        </p:nvSpPr>
        <p:spPr bwMode="auto">
          <a:xfrm>
            <a:off x="1143000" y="3352801"/>
            <a:ext cx="1066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</a:rPr>
              <a:t>BURST</a:t>
            </a:r>
          </a:p>
        </p:txBody>
      </p:sp>
      <p:sp>
        <p:nvSpPr>
          <p:cNvPr id="44" name="Text Box 41"/>
          <p:cNvSpPr txBox="1">
            <a:spLocks noChangeArrowheads="1"/>
          </p:cNvSpPr>
          <p:nvPr/>
        </p:nvSpPr>
        <p:spPr bwMode="auto">
          <a:xfrm>
            <a:off x="914400" y="3810001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READ_WRITE</a:t>
            </a:r>
          </a:p>
        </p:txBody>
      </p:sp>
      <p:sp>
        <p:nvSpPr>
          <p:cNvPr id="45" name="Line 42"/>
          <p:cNvSpPr>
            <a:spLocks noChangeShapeType="1"/>
          </p:cNvSpPr>
          <p:nvPr/>
        </p:nvSpPr>
        <p:spPr bwMode="auto">
          <a:xfrm>
            <a:off x="914400" y="1752601"/>
            <a:ext cx="0" cy="2362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914400" y="4114801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" name="Line 44"/>
          <p:cNvSpPr>
            <a:spLocks noChangeShapeType="1"/>
          </p:cNvSpPr>
          <p:nvPr/>
        </p:nvSpPr>
        <p:spPr bwMode="auto">
          <a:xfrm>
            <a:off x="838200" y="1752601"/>
            <a:ext cx="0" cy="297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8" name="Text Box 45"/>
          <p:cNvSpPr txBox="1">
            <a:spLocks noChangeArrowheads="1"/>
          </p:cNvSpPr>
          <p:nvPr/>
        </p:nvSpPr>
        <p:spPr bwMode="auto">
          <a:xfrm>
            <a:off x="1447800" y="4419601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CLK</a:t>
            </a:r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>
            <a:off x="838200" y="4724401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Rectangle 50"/>
          <p:cNvSpPr>
            <a:spLocks noChangeArrowheads="1"/>
          </p:cNvSpPr>
          <p:nvPr/>
        </p:nvSpPr>
        <p:spPr bwMode="auto">
          <a:xfrm>
            <a:off x="228600" y="5410200"/>
            <a:ext cx="5486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buFontTx/>
              <a:buChar char="•"/>
            </a:pPr>
            <a:r>
              <a:rPr lang="ar-SA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كنترلر به 4 محل از بافر دسترسي مي يابد (به محلهاي بعدي بعد از فعال كردنهاي متوالي </a:t>
            </a:r>
            <a:r>
              <a:rPr lang="en-US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ready</a:t>
            </a:r>
            <a:r>
              <a:rPr lang="ar-SA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 دسترسي مي يابد).</a:t>
            </a:r>
            <a:endParaRPr lang="en-US" altLang="en-US" sz="2000" b="1" dirty="0">
              <a:solidFill>
                <a:srgbClr val="000000"/>
              </a:solidFill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52871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Controller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>
                <a:solidFill>
                  <a:srgbClr val="000000"/>
                </a:solidFill>
              </a:rPr>
              <a:pPr/>
              <a:t>17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477000" y="29718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172200" y="27432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5867400" y="25146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209800" y="2286001"/>
            <a:ext cx="1371600" cy="29718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2209800" y="3276601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</a:rPr>
              <a:t>FSM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5562600" y="22860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5486400" y="3276601"/>
            <a:ext cx="1219200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SRAM</a:t>
            </a:r>
          </a:p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Memory</a:t>
            </a:r>
          </a:p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 Array</a:t>
            </a:r>
          </a:p>
        </p:txBody>
      </p:sp>
      <p:sp>
        <p:nvSpPr>
          <p:cNvPr id="14" name="AutoShape 11"/>
          <p:cNvSpPr>
            <a:spLocks noChangeArrowheads="1"/>
          </p:cNvSpPr>
          <p:nvPr/>
        </p:nvSpPr>
        <p:spPr bwMode="auto">
          <a:xfrm>
            <a:off x="6477000" y="1752601"/>
            <a:ext cx="152400" cy="533400"/>
          </a:xfrm>
          <a:prstGeom prst="upDownArrow">
            <a:avLst>
              <a:gd name="adj1" fmla="val 50000"/>
              <a:gd name="adj2" fmla="val 7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auto">
          <a:xfrm>
            <a:off x="5715000" y="1752601"/>
            <a:ext cx="152400" cy="533400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4648200" y="18288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6477000" y="18288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3581400" y="28956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3657600" y="26352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OE</a:t>
            </a: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3581400" y="32766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3657600" y="30162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WE</a:t>
            </a: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3581400" y="38862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3657600" y="36258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ADDR1</a:t>
            </a: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3581400" y="41148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3657600" y="38544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ADDR0</a:t>
            </a:r>
          </a:p>
        </p:txBody>
      </p:sp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457200" y="1524001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" name="AutoShape 24"/>
          <p:cNvSpPr>
            <a:spLocks noChangeArrowheads="1"/>
          </p:cNvSpPr>
          <p:nvPr/>
        </p:nvSpPr>
        <p:spPr bwMode="auto">
          <a:xfrm rot="10800000">
            <a:off x="6858000" y="1524001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1905000" y="1600201"/>
            <a:ext cx="4953000" cy="152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1828800" y="1614489"/>
            <a:ext cx="160338" cy="1254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6781800" y="1614489"/>
            <a:ext cx="160338" cy="1254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1" name="AutoShape 28"/>
          <p:cNvSpPr>
            <a:spLocks noChangeArrowheads="1"/>
          </p:cNvSpPr>
          <p:nvPr/>
        </p:nvSpPr>
        <p:spPr bwMode="auto">
          <a:xfrm rot="5400000">
            <a:off x="1905000" y="2286001"/>
            <a:ext cx="304800" cy="304800"/>
          </a:xfrm>
          <a:custGeom>
            <a:avLst/>
            <a:gdLst>
              <a:gd name="T0" fmla="*/ 217720 w 21600"/>
              <a:gd name="T1" fmla="*/ 0 h 21600"/>
              <a:gd name="T2" fmla="*/ 130627 w 21600"/>
              <a:gd name="T3" fmla="*/ 101600 h 21600"/>
              <a:gd name="T4" fmla="*/ 0 w 21600"/>
              <a:gd name="T5" fmla="*/ 254014 h 21600"/>
              <a:gd name="T6" fmla="*/ 130627 w 21600"/>
              <a:gd name="T7" fmla="*/ 304800 h 21600"/>
              <a:gd name="T8" fmla="*/ 261253 w 21600"/>
              <a:gd name="T9" fmla="*/ 211667 h 21600"/>
              <a:gd name="T10" fmla="*/ 304800 w 21600"/>
              <a:gd name="T11" fmla="*/ 1016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1905000" y="1752601"/>
            <a:ext cx="103188" cy="533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1914525" y="2133601"/>
            <a:ext cx="76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1981200" y="17526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000000"/>
                </a:solidFill>
              </a:rPr>
              <a:t>BUS_ID</a:t>
            </a:r>
          </a:p>
        </p:txBody>
      </p:sp>
      <p:sp>
        <p:nvSpPr>
          <p:cNvPr id="35" name="Line 32"/>
          <p:cNvSpPr>
            <a:spLocks noChangeShapeType="1"/>
          </p:cNvSpPr>
          <p:nvPr/>
        </p:nvSpPr>
        <p:spPr bwMode="auto">
          <a:xfrm>
            <a:off x="1752600" y="1752601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Line 33"/>
          <p:cNvSpPr>
            <a:spLocks noChangeShapeType="1"/>
          </p:cNvSpPr>
          <p:nvPr/>
        </p:nvSpPr>
        <p:spPr bwMode="auto">
          <a:xfrm>
            <a:off x="1600200" y="1752601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1752600" y="2971801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8" name="Text Box 35"/>
          <p:cNvSpPr txBox="1">
            <a:spLocks noChangeArrowheads="1"/>
          </p:cNvSpPr>
          <p:nvPr/>
        </p:nvSpPr>
        <p:spPr bwMode="auto">
          <a:xfrm>
            <a:off x="1143000" y="2667001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Reset</a:t>
            </a:r>
          </a:p>
        </p:txBody>
      </p:sp>
      <p:sp>
        <p:nvSpPr>
          <p:cNvPr id="39" name="Line 36"/>
          <p:cNvSpPr>
            <a:spLocks noChangeShapeType="1"/>
          </p:cNvSpPr>
          <p:nvPr/>
        </p:nvSpPr>
        <p:spPr bwMode="auto">
          <a:xfrm>
            <a:off x="1600200" y="3352801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>
            <a:off x="1143000" y="3048001"/>
            <a:ext cx="1066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</a:rPr>
              <a:t>READY</a:t>
            </a:r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1447800" y="1752601"/>
            <a:ext cx="0" cy="190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Line 39"/>
          <p:cNvSpPr>
            <a:spLocks noChangeShapeType="1"/>
          </p:cNvSpPr>
          <p:nvPr/>
        </p:nvSpPr>
        <p:spPr bwMode="auto">
          <a:xfrm>
            <a:off x="1447800" y="3657601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3" name="Text Box 40"/>
          <p:cNvSpPr txBox="1">
            <a:spLocks noChangeArrowheads="1"/>
          </p:cNvSpPr>
          <p:nvPr/>
        </p:nvSpPr>
        <p:spPr bwMode="auto">
          <a:xfrm>
            <a:off x="1143000" y="3352801"/>
            <a:ext cx="1066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</a:rPr>
              <a:t>BURST</a:t>
            </a:r>
          </a:p>
        </p:txBody>
      </p:sp>
      <p:sp>
        <p:nvSpPr>
          <p:cNvPr id="44" name="Text Box 41"/>
          <p:cNvSpPr txBox="1">
            <a:spLocks noChangeArrowheads="1"/>
          </p:cNvSpPr>
          <p:nvPr/>
        </p:nvSpPr>
        <p:spPr bwMode="auto">
          <a:xfrm>
            <a:off x="914400" y="3810001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READ_WRITE</a:t>
            </a:r>
          </a:p>
        </p:txBody>
      </p:sp>
      <p:sp>
        <p:nvSpPr>
          <p:cNvPr id="45" name="Line 42"/>
          <p:cNvSpPr>
            <a:spLocks noChangeShapeType="1"/>
          </p:cNvSpPr>
          <p:nvPr/>
        </p:nvSpPr>
        <p:spPr bwMode="auto">
          <a:xfrm>
            <a:off x="914400" y="1752601"/>
            <a:ext cx="0" cy="2362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914400" y="4114801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" name="Line 44"/>
          <p:cNvSpPr>
            <a:spLocks noChangeShapeType="1"/>
          </p:cNvSpPr>
          <p:nvPr/>
        </p:nvSpPr>
        <p:spPr bwMode="auto">
          <a:xfrm>
            <a:off x="838200" y="1752601"/>
            <a:ext cx="0" cy="297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8" name="Text Box 45"/>
          <p:cNvSpPr txBox="1">
            <a:spLocks noChangeArrowheads="1"/>
          </p:cNvSpPr>
          <p:nvPr/>
        </p:nvSpPr>
        <p:spPr bwMode="auto">
          <a:xfrm>
            <a:off x="1447800" y="4419601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CLK</a:t>
            </a:r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>
            <a:off x="838200" y="4724401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Rectangle 47"/>
          <p:cNvSpPr>
            <a:spLocks noChangeArrowheads="1"/>
          </p:cNvSpPr>
          <p:nvPr/>
        </p:nvSpPr>
        <p:spPr bwMode="auto">
          <a:xfrm>
            <a:off x="609600" y="5334000"/>
            <a:ext cx="5105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buFontTx/>
              <a:buChar char="•"/>
            </a:pPr>
            <a:r>
              <a:rPr lang="fa-IR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 </a:t>
            </a:r>
            <a:r>
              <a:rPr lang="ar-SA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كنترلر </a:t>
            </a:r>
            <a:r>
              <a:rPr lang="en-US" altLang="en-US" sz="2000" b="1" dirty="0" err="1">
                <a:solidFill>
                  <a:srgbClr val="000000"/>
                </a:solidFill>
                <a:cs typeface="B Mitra" panose="00000400000000000000" pitchFamily="2" charset="-78"/>
              </a:rPr>
              <a:t>oe</a:t>
            </a:r>
            <a:r>
              <a:rPr lang="ar-SA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 را براي </a:t>
            </a:r>
            <a:r>
              <a:rPr lang="en-US" altLang="en-US" sz="2000" b="1" dirty="0" err="1">
                <a:solidFill>
                  <a:srgbClr val="000000"/>
                </a:solidFill>
                <a:cs typeface="B Mitra" panose="00000400000000000000" pitchFamily="2" charset="-78"/>
              </a:rPr>
              <a:t>mem_buffer</a:t>
            </a:r>
            <a:r>
              <a:rPr lang="ar-SA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 در طول خواندن فعال مي كند و دو بايت پايين آدرس را در حالت </a:t>
            </a:r>
            <a:r>
              <a:rPr lang="en-US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burst</a:t>
            </a:r>
            <a:r>
              <a:rPr lang="ar-SA" altLang="en-US" sz="2000" b="1" dirty="0">
                <a:solidFill>
                  <a:srgbClr val="000000"/>
                </a:solidFill>
                <a:cs typeface="B Mitra" panose="00000400000000000000" pitchFamily="2" charset="-78"/>
              </a:rPr>
              <a:t> افزايش مي دهد.</a:t>
            </a:r>
          </a:p>
        </p:txBody>
      </p:sp>
    </p:spTree>
    <p:extLst>
      <p:ext uri="{BB962C8B-B14F-4D97-AF65-F5344CB8AC3E}">
        <p14:creationId xmlns:p14="http://schemas.microsoft.com/office/powerpoint/2010/main" val="1371284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Controller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>
                <a:solidFill>
                  <a:srgbClr val="000000"/>
                </a:solidFill>
              </a:rPr>
              <a:pPr/>
              <a:t>18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7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6477000" y="29718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172200" y="27432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5867400" y="25146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2209800" y="2286001"/>
            <a:ext cx="1371600" cy="29718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2209800" y="3276601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</a:rPr>
              <a:t>FSM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5562600" y="22860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5486400" y="3276601"/>
            <a:ext cx="1219200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SRAM</a:t>
            </a:r>
          </a:p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Memory</a:t>
            </a:r>
          </a:p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 Array</a:t>
            </a:r>
          </a:p>
        </p:txBody>
      </p:sp>
      <p:sp>
        <p:nvSpPr>
          <p:cNvPr id="15" name="AutoShape 11"/>
          <p:cNvSpPr>
            <a:spLocks noChangeArrowheads="1"/>
          </p:cNvSpPr>
          <p:nvPr/>
        </p:nvSpPr>
        <p:spPr bwMode="auto">
          <a:xfrm>
            <a:off x="6477000" y="1752601"/>
            <a:ext cx="152400" cy="533400"/>
          </a:xfrm>
          <a:prstGeom prst="upDownArrow">
            <a:avLst>
              <a:gd name="adj1" fmla="val 50000"/>
              <a:gd name="adj2" fmla="val 7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6" name="AutoShape 12"/>
          <p:cNvSpPr>
            <a:spLocks noChangeArrowheads="1"/>
          </p:cNvSpPr>
          <p:nvPr/>
        </p:nvSpPr>
        <p:spPr bwMode="auto">
          <a:xfrm>
            <a:off x="5715000" y="1752601"/>
            <a:ext cx="152400" cy="533400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4648200" y="18288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6477000" y="18288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19" name="Line 15"/>
          <p:cNvSpPr>
            <a:spLocks noChangeShapeType="1"/>
          </p:cNvSpPr>
          <p:nvPr/>
        </p:nvSpPr>
        <p:spPr bwMode="auto">
          <a:xfrm>
            <a:off x="3581400" y="28956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3657600" y="26352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OE</a:t>
            </a:r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>
            <a:off x="3581400" y="32766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3657600" y="30162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WE</a:t>
            </a:r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3581400" y="38862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3657600" y="36258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ADDR1</a:t>
            </a:r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>
            <a:off x="3581400" y="41148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>
            <a:off x="3657600" y="38544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ADDR0</a:t>
            </a:r>
          </a:p>
        </p:txBody>
      </p:sp>
      <p:sp>
        <p:nvSpPr>
          <p:cNvPr id="27" name="AutoShape 23"/>
          <p:cNvSpPr>
            <a:spLocks noChangeArrowheads="1"/>
          </p:cNvSpPr>
          <p:nvPr/>
        </p:nvSpPr>
        <p:spPr bwMode="auto">
          <a:xfrm>
            <a:off x="457200" y="1524001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" name="AutoShape 24"/>
          <p:cNvSpPr>
            <a:spLocks noChangeArrowheads="1"/>
          </p:cNvSpPr>
          <p:nvPr/>
        </p:nvSpPr>
        <p:spPr bwMode="auto">
          <a:xfrm rot="10800000">
            <a:off x="6858000" y="1524001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9" name="Rectangle 25"/>
          <p:cNvSpPr>
            <a:spLocks noChangeArrowheads="1"/>
          </p:cNvSpPr>
          <p:nvPr/>
        </p:nvSpPr>
        <p:spPr bwMode="auto">
          <a:xfrm>
            <a:off x="1905000" y="1600201"/>
            <a:ext cx="4953000" cy="152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" name="Rectangle 26"/>
          <p:cNvSpPr>
            <a:spLocks noChangeArrowheads="1"/>
          </p:cNvSpPr>
          <p:nvPr/>
        </p:nvSpPr>
        <p:spPr bwMode="auto">
          <a:xfrm>
            <a:off x="1828800" y="1614489"/>
            <a:ext cx="160338" cy="1254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6781800" y="1614489"/>
            <a:ext cx="160338" cy="1254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2" name="AutoShape 28"/>
          <p:cNvSpPr>
            <a:spLocks noChangeArrowheads="1"/>
          </p:cNvSpPr>
          <p:nvPr/>
        </p:nvSpPr>
        <p:spPr bwMode="auto">
          <a:xfrm rot="5400000">
            <a:off x="1905000" y="2286001"/>
            <a:ext cx="304800" cy="304800"/>
          </a:xfrm>
          <a:custGeom>
            <a:avLst/>
            <a:gdLst>
              <a:gd name="T0" fmla="*/ 217720 w 21600"/>
              <a:gd name="T1" fmla="*/ 0 h 21600"/>
              <a:gd name="T2" fmla="*/ 130627 w 21600"/>
              <a:gd name="T3" fmla="*/ 101600 h 21600"/>
              <a:gd name="T4" fmla="*/ 0 w 21600"/>
              <a:gd name="T5" fmla="*/ 254014 h 21600"/>
              <a:gd name="T6" fmla="*/ 130627 w 21600"/>
              <a:gd name="T7" fmla="*/ 304800 h 21600"/>
              <a:gd name="T8" fmla="*/ 261253 w 21600"/>
              <a:gd name="T9" fmla="*/ 211667 h 21600"/>
              <a:gd name="T10" fmla="*/ 304800 w 21600"/>
              <a:gd name="T11" fmla="*/ 1016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3" name="Rectangle 29"/>
          <p:cNvSpPr>
            <a:spLocks noChangeArrowheads="1"/>
          </p:cNvSpPr>
          <p:nvPr/>
        </p:nvSpPr>
        <p:spPr bwMode="auto">
          <a:xfrm>
            <a:off x="1905000" y="1752601"/>
            <a:ext cx="103188" cy="533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4" name="Rectangle 30"/>
          <p:cNvSpPr>
            <a:spLocks noChangeArrowheads="1"/>
          </p:cNvSpPr>
          <p:nvPr/>
        </p:nvSpPr>
        <p:spPr bwMode="auto">
          <a:xfrm>
            <a:off x="1914525" y="2133601"/>
            <a:ext cx="76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5" name="Text Box 31"/>
          <p:cNvSpPr txBox="1">
            <a:spLocks noChangeArrowheads="1"/>
          </p:cNvSpPr>
          <p:nvPr/>
        </p:nvSpPr>
        <p:spPr bwMode="auto">
          <a:xfrm>
            <a:off x="1981200" y="17526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000000"/>
                </a:solidFill>
              </a:rPr>
              <a:t>BUS_ID</a:t>
            </a:r>
          </a:p>
        </p:txBody>
      </p:sp>
      <p:sp>
        <p:nvSpPr>
          <p:cNvPr id="36" name="Line 32"/>
          <p:cNvSpPr>
            <a:spLocks noChangeShapeType="1"/>
          </p:cNvSpPr>
          <p:nvPr/>
        </p:nvSpPr>
        <p:spPr bwMode="auto">
          <a:xfrm>
            <a:off x="1752600" y="1752601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7" name="Line 33"/>
          <p:cNvSpPr>
            <a:spLocks noChangeShapeType="1"/>
          </p:cNvSpPr>
          <p:nvPr/>
        </p:nvSpPr>
        <p:spPr bwMode="auto">
          <a:xfrm>
            <a:off x="1600200" y="1752601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8" name="Line 34"/>
          <p:cNvSpPr>
            <a:spLocks noChangeShapeType="1"/>
          </p:cNvSpPr>
          <p:nvPr/>
        </p:nvSpPr>
        <p:spPr bwMode="auto">
          <a:xfrm>
            <a:off x="1752600" y="2971801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9" name="Text Box 35"/>
          <p:cNvSpPr txBox="1">
            <a:spLocks noChangeArrowheads="1"/>
          </p:cNvSpPr>
          <p:nvPr/>
        </p:nvSpPr>
        <p:spPr bwMode="auto">
          <a:xfrm>
            <a:off x="1143000" y="2667001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Reset</a:t>
            </a:r>
          </a:p>
        </p:txBody>
      </p:sp>
      <p:sp>
        <p:nvSpPr>
          <p:cNvPr id="40" name="Line 36"/>
          <p:cNvSpPr>
            <a:spLocks noChangeShapeType="1"/>
          </p:cNvSpPr>
          <p:nvPr/>
        </p:nvSpPr>
        <p:spPr bwMode="auto">
          <a:xfrm>
            <a:off x="1600200" y="3352801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1" name="Text Box 37"/>
          <p:cNvSpPr txBox="1">
            <a:spLocks noChangeArrowheads="1"/>
          </p:cNvSpPr>
          <p:nvPr/>
        </p:nvSpPr>
        <p:spPr bwMode="auto">
          <a:xfrm>
            <a:off x="1143000" y="3048001"/>
            <a:ext cx="1066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</a:rPr>
              <a:t>READY</a:t>
            </a:r>
          </a:p>
        </p:txBody>
      </p:sp>
      <p:sp>
        <p:nvSpPr>
          <p:cNvPr id="42" name="Line 38"/>
          <p:cNvSpPr>
            <a:spLocks noChangeShapeType="1"/>
          </p:cNvSpPr>
          <p:nvPr/>
        </p:nvSpPr>
        <p:spPr bwMode="auto">
          <a:xfrm>
            <a:off x="1447800" y="1752601"/>
            <a:ext cx="0" cy="190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3" name="Line 39"/>
          <p:cNvSpPr>
            <a:spLocks noChangeShapeType="1"/>
          </p:cNvSpPr>
          <p:nvPr/>
        </p:nvSpPr>
        <p:spPr bwMode="auto">
          <a:xfrm>
            <a:off x="1447800" y="3657601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4" name="Text Box 40"/>
          <p:cNvSpPr txBox="1">
            <a:spLocks noChangeArrowheads="1"/>
          </p:cNvSpPr>
          <p:nvPr/>
        </p:nvSpPr>
        <p:spPr bwMode="auto">
          <a:xfrm>
            <a:off x="1143000" y="3352801"/>
            <a:ext cx="1066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</a:rPr>
              <a:t>BURST</a:t>
            </a:r>
          </a:p>
        </p:txBody>
      </p:sp>
      <p:sp>
        <p:nvSpPr>
          <p:cNvPr id="45" name="Text Box 41"/>
          <p:cNvSpPr txBox="1">
            <a:spLocks noChangeArrowheads="1"/>
          </p:cNvSpPr>
          <p:nvPr/>
        </p:nvSpPr>
        <p:spPr bwMode="auto">
          <a:xfrm>
            <a:off x="914400" y="3810001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READ_WRITE</a:t>
            </a:r>
          </a:p>
        </p:txBody>
      </p:sp>
      <p:sp>
        <p:nvSpPr>
          <p:cNvPr id="46" name="Line 42"/>
          <p:cNvSpPr>
            <a:spLocks noChangeShapeType="1"/>
          </p:cNvSpPr>
          <p:nvPr/>
        </p:nvSpPr>
        <p:spPr bwMode="auto">
          <a:xfrm>
            <a:off x="914400" y="1752601"/>
            <a:ext cx="0" cy="2362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" name="Line 43"/>
          <p:cNvSpPr>
            <a:spLocks noChangeShapeType="1"/>
          </p:cNvSpPr>
          <p:nvPr/>
        </p:nvSpPr>
        <p:spPr bwMode="auto">
          <a:xfrm>
            <a:off x="914400" y="4114801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8" name="Line 44"/>
          <p:cNvSpPr>
            <a:spLocks noChangeShapeType="1"/>
          </p:cNvSpPr>
          <p:nvPr/>
        </p:nvSpPr>
        <p:spPr bwMode="auto">
          <a:xfrm>
            <a:off x="838200" y="1752601"/>
            <a:ext cx="0" cy="297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9" name="Text Box 45"/>
          <p:cNvSpPr txBox="1">
            <a:spLocks noChangeArrowheads="1"/>
          </p:cNvSpPr>
          <p:nvPr/>
        </p:nvSpPr>
        <p:spPr bwMode="auto">
          <a:xfrm>
            <a:off x="1447800" y="4419601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CLK</a:t>
            </a:r>
          </a:p>
        </p:txBody>
      </p:sp>
      <p:sp>
        <p:nvSpPr>
          <p:cNvPr id="50" name="Line 46"/>
          <p:cNvSpPr>
            <a:spLocks noChangeShapeType="1"/>
          </p:cNvSpPr>
          <p:nvPr/>
        </p:nvSpPr>
        <p:spPr bwMode="auto">
          <a:xfrm>
            <a:off x="838200" y="4724401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" name="Rectangle 48"/>
          <p:cNvSpPr>
            <a:spLocks noChangeArrowheads="1"/>
          </p:cNvSpPr>
          <p:nvPr/>
        </p:nvSpPr>
        <p:spPr bwMode="auto">
          <a:xfrm>
            <a:off x="1317302" y="5638800"/>
            <a:ext cx="361188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buFontTx/>
              <a:buChar char="•"/>
            </a:pPr>
            <a:r>
              <a:rPr lang="ar-SA" altLang="en-US" sz="2000" b="1">
                <a:solidFill>
                  <a:srgbClr val="000000"/>
                </a:solidFill>
                <a:cs typeface="B Mitra" panose="00000400000000000000" pitchFamily="2" charset="-78"/>
              </a:rPr>
              <a:t>نوشتن هميشه يك كلمه اي است.</a:t>
            </a:r>
          </a:p>
        </p:txBody>
      </p:sp>
    </p:spTree>
    <p:extLst>
      <p:ext uri="{BB962C8B-B14F-4D97-AF65-F5344CB8AC3E}">
        <p14:creationId xmlns:p14="http://schemas.microsoft.com/office/powerpoint/2010/main" val="3505060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Controller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>
                <a:solidFill>
                  <a:srgbClr val="000000"/>
                </a:solidFill>
              </a:rPr>
              <a:pPr/>
              <a:t>19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477000" y="29718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172200" y="27432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5867400" y="25146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209800" y="2286001"/>
            <a:ext cx="1371600" cy="29718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2209800" y="3276601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00"/>
                </a:solidFill>
              </a:rPr>
              <a:t>FSM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5562600" y="2286001"/>
            <a:ext cx="1371600" cy="2971800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5486400" y="3276601"/>
            <a:ext cx="1219200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SRAM</a:t>
            </a:r>
          </a:p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Memory</a:t>
            </a:r>
          </a:p>
          <a:p>
            <a:pPr eaLnBrk="1" hangingPunct="1"/>
            <a:r>
              <a:rPr lang="en-US" altLang="en-US" sz="1800" b="1">
                <a:solidFill>
                  <a:srgbClr val="000000"/>
                </a:solidFill>
              </a:rPr>
              <a:t> Array</a:t>
            </a:r>
          </a:p>
        </p:txBody>
      </p:sp>
      <p:sp>
        <p:nvSpPr>
          <p:cNvPr id="14" name="AutoShape 11"/>
          <p:cNvSpPr>
            <a:spLocks noChangeArrowheads="1"/>
          </p:cNvSpPr>
          <p:nvPr/>
        </p:nvSpPr>
        <p:spPr bwMode="auto">
          <a:xfrm>
            <a:off x="6477000" y="1752601"/>
            <a:ext cx="152400" cy="533400"/>
          </a:xfrm>
          <a:prstGeom prst="upDownArrow">
            <a:avLst>
              <a:gd name="adj1" fmla="val 50000"/>
              <a:gd name="adj2" fmla="val 7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auto">
          <a:xfrm>
            <a:off x="5715000" y="1752601"/>
            <a:ext cx="152400" cy="533400"/>
          </a:xfrm>
          <a:prstGeom prst="downArrow">
            <a:avLst>
              <a:gd name="adj1" fmla="val 50000"/>
              <a:gd name="adj2" fmla="val 875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4648200" y="18288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6477000" y="18288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3581400" y="28956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3657600" y="26352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OE</a:t>
            </a: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3581400" y="32766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3657600" y="30162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WE</a:t>
            </a: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3581400" y="38862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3657600" y="36258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ADDR1</a:t>
            </a: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3581400" y="4114801"/>
            <a:ext cx="1981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3657600" y="385445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ADDR0</a:t>
            </a:r>
          </a:p>
        </p:txBody>
      </p:sp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457200" y="1524001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7" name="AutoShape 24"/>
          <p:cNvSpPr>
            <a:spLocks noChangeArrowheads="1"/>
          </p:cNvSpPr>
          <p:nvPr/>
        </p:nvSpPr>
        <p:spPr bwMode="auto">
          <a:xfrm rot="10800000">
            <a:off x="6858000" y="1524001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1905000" y="1600201"/>
            <a:ext cx="4953000" cy="152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1828800" y="1614489"/>
            <a:ext cx="160338" cy="1254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6781800" y="1614489"/>
            <a:ext cx="160338" cy="1254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1" name="AutoShape 28"/>
          <p:cNvSpPr>
            <a:spLocks noChangeArrowheads="1"/>
          </p:cNvSpPr>
          <p:nvPr/>
        </p:nvSpPr>
        <p:spPr bwMode="auto">
          <a:xfrm rot="5400000">
            <a:off x="1905000" y="2286001"/>
            <a:ext cx="304800" cy="304800"/>
          </a:xfrm>
          <a:custGeom>
            <a:avLst/>
            <a:gdLst>
              <a:gd name="T0" fmla="*/ 217720 w 21600"/>
              <a:gd name="T1" fmla="*/ 0 h 21600"/>
              <a:gd name="T2" fmla="*/ 130627 w 21600"/>
              <a:gd name="T3" fmla="*/ 101600 h 21600"/>
              <a:gd name="T4" fmla="*/ 0 w 21600"/>
              <a:gd name="T5" fmla="*/ 254014 h 21600"/>
              <a:gd name="T6" fmla="*/ 130627 w 21600"/>
              <a:gd name="T7" fmla="*/ 304800 h 21600"/>
              <a:gd name="T8" fmla="*/ 261253 w 21600"/>
              <a:gd name="T9" fmla="*/ 211667 h 21600"/>
              <a:gd name="T10" fmla="*/ 304800 w 21600"/>
              <a:gd name="T11" fmla="*/ 1016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1905000" y="1752601"/>
            <a:ext cx="103188" cy="533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1914525" y="2133601"/>
            <a:ext cx="762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1981200" y="1752601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000000"/>
                </a:solidFill>
              </a:rPr>
              <a:t>BUS_ID</a:t>
            </a:r>
          </a:p>
        </p:txBody>
      </p:sp>
      <p:sp>
        <p:nvSpPr>
          <p:cNvPr id="35" name="Line 32"/>
          <p:cNvSpPr>
            <a:spLocks noChangeShapeType="1"/>
          </p:cNvSpPr>
          <p:nvPr/>
        </p:nvSpPr>
        <p:spPr bwMode="auto">
          <a:xfrm>
            <a:off x="1752600" y="1752601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Line 33"/>
          <p:cNvSpPr>
            <a:spLocks noChangeShapeType="1"/>
          </p:cNvSpPr>
          <p:nvPr/>
        </p:nvSpPr>
        <p:spPr bwMode="auto">
          <a:xfrm>
            <a:off x="1600200" y="1752601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7" name="Line 34"/>
          <p:cNvSpPr>
            <a:spLocks noChangeShapeType="1"/>
          </p:cNvSpPr>
          <p:nvPr/>
        </p:nvSpPr>
        <p:spPr bwMode="auto">
          <a:xfrm>
            <a:off x="1752600" y="2971801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8" name="Text Box 35"/>
          <p:cNvSpPr txBox="1">
            <a:spLocks noChangeArrowheads="1"/>
          </p:cNvSpPr>
          <p:nvPr/>
        </p:nvSpPr>
        <p:spPr bwMode="auto">
          <a:xfrm>
            <a:off x="1143000" y="2667001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Reset</a:t>
            </a:r>
          </a:p>
        </p:txBody>
      </p:sp>
      <p:sp>
        <p:nvSpPr>
          <p:cNvPr id="39" name="Line 36"/>
          <p:cNvSpPr>
            <a:spLocks noChangeShapeType="1"/>
          </p:cNvSpPr>
          <p:nvPr/>
        </p:nvSpPr>
        <p:spPr bwMode="auto">
          <a:xfrm>
            <a:off x="1600200" y="3352801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>
            <a:off x="1143000" y="3048001"/>
            <a:ext cx="1066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</a:rPr>
              <a:t>READY</a:t>
            </a:r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1447800" y="1752601"/>
            <a:ext cx="0" cy="1905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Line 39"/>
          <p:cNvSpPr>
            <a:spLocks noChangeShapeType="1"/>
          </p:cNvSpPr>
          <p:nvPr/>
        </p:nvSpPr>
        <p:spPr bwMode="auto">
          <a:xfrm>
            <a:off x="1447800" y="3657601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3" name="Text Box 40"/>
          <p:cNvSpPr txBox="1">
            <a:spLocks noChangeArrowheads="1"/>
          </p:cNvSpPr>
          <p:nvPr/>
        </p:nvSpPr>
        <p:spPr bwMode="auto">
          <a:xfrm>
            <a:off x="1143000" y="3352801"/>
            <a:ext cx="1066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200" b="1" dirty="0">
                <a:solidFill>
                  <a:srgbClr val="000000"/>
                </a:solidFill>
              </a:rPr>
              <a:t>BURST</a:t>
            </a:r>
          </a:p>
        </p:txBody>
      </p:sp>
      <p:sp>
        <p:nvSpPr>
          <p:cNvPr id="44" name="Text Box 41"/>
          <p:cNvSpPr txBox="1">
            <a:spLocks noChangeArrowheads="1"/>
          </p:cNvSpPr>
          <p:nvPr/>
        </p:nvSpPr>
        <p:spPr bwMode="auto">
          <a:xfrm>
            <a:off x="914400" y="3810001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READ_WRITE</a:t>
            </a:r>
          </a:p>
        </p:txBody>
      </p:sp>
      <p:sp>
        <p:nvSpPr>
          <p:cNvPr id="45" name="Line 42"/>
          <p:cNvSpPr>
            <a:spLocks noChangeShapeType="1"/>
          </p:cNvSpPr>
          <p:nvPr/>
        </p:nvSpPr>
        <p:spPr bwMode="auto">
          <a:xfrm>
            <a:off x="914400" y="1752601"/>
            <a:ext cx="0" cy="2362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914400" y="4114801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" name="Line 44"/>
          <p:cNvSpPr>
            <a:spLocks noChangeShapeType="1"/>
          </p:cNvSpPr>
          <p:nvPr/>
        </p:nvSpPr>
        <p:spPr bwMode="auto">
          <a:xfrm>
            <a:off x="838200" y="1752601"/>
            <a:ext cx="0" cy="297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8" name="Text Box 45"/>
          <p:cNvSpPr txBox="1">
            <a:spLocks noChangeArrowheads="1"/>
          </p:cNvSpPr>
          <p:nvPr/>
        </p:nvSpPr>
        <p:spPr bwMode="auto">
          <a:xfrm>
            <a:off x="1447800" y="4419601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CLK</a:t>
            </a:r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>
            <a:off x="838200" y="4724401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" name="Rectangle 49"/>
          <p:cNvSpPr>
            <a:spLocks noChangeArrowheads="1"/>
          </p:cNvSpPr>
          <p:nvPr/>
        </p:nvSpPr>
        <p:spPr bwMode="auto">
          <a:xfrm>
            <a:off x="304800" y="5334000"/>
            <a:ext cx="5156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buFontTx/>
              <a:buChar char="•"/>
            </a:pPr>
            <a:r>
              <a:rPr lang="ar-SA" altLang="en-US" sz="2000" b="1" dirty="0">
                <a:solidFill>
                  <a:srgbClr val="000000"/>
                </a:solidFill>
              </a:rPr>
              <a:t>هنگام نوشتن </a:t>
            </a:r>
            <a:r>
              <a:rPr lang="en-US" altLang="en-US" sz="2000" b="1" dirty="0">
                <a:solidFill>
                  <a:srgbClr val="000000"/>
                </a:solidFill>
              </a:rPr>
              <a:t>we</a:t>
            </a:r>
            <a:r>
              <a:rPr lang="ar-SA" altLang="en-US" sz="2000" b="1" dirty="0">
                <a:solidFill>
                  <a:srgbClr val="000000"/>
                </a:solidFill>
              </a:rPr>
              <a:t> فعال مي شود و </a:t>
            </a:r>
            <a:r>
              <a:rPr lang="en-US" altLang="en-US" sz="2000" b="1" dirty="0">
                <a:solidFill>
                  <a:srgbClr val="000000"/>
                </a:solidFill>
              </a:rPr>
              <a:t>data</a:t>
            </a:r>
            <a:r>
              <a:rPr lang="ar-SA" altLang="en-US" sz="2000" b="1" dirty="0">
                <a:solidFill>
                  <a:srgbClr val="000000"/>
                </a:solidFill>
              </a:rPr>
              <a:t> در محل</a:t>
            </a:r>
            <a:r>
              <a:rPr lang="en-US" altLang="en-US" sz="2000" b="1" dirty="0">
                <a:solidFill>
                  <a:srgbClr val="000000"/>
                </a:solidFill>
              </a:rPr>
              <a:t>address </a:t>
            </a:r>
            <a:r>
              <a:rPr lang="ar-SA" altLang="en-US" sz="2000" b="1" dirty="0">
                <a:solidFill>
                  <a:srgbClr val="000000"/>
                </a:solidFill>
              </a:rPr>
              <a:t> نوشته مي شود.</a:t>
            </a:r>
          </a:p>
        </p:txBody>
      </p:sp>
      <p:sp>
        <p:nvSpPr>
          <p:cNvPr id="52" name="Rectangle 50"/>
          <p:cNvSpPr>
            <a:spLocks noChangeArrowheads="1"/>
          </p:cNvSpPr>
          <p:nvPr/>
        </p:nvSpPr>
        <p:spPr bwMode="auto">
          <a:xfrm>
            <a:off x="1053584" y="6019800"/>
            <a:ext cx="44328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buFontTx/>
              <a:buChar char="•"/>
            </a:pPr>
            <a:r>
              <a:rPr lang="en-US" altLang="en-US" sz="2000" b="1">
                <a:solidFill>
                  <a:srgbClr val="000000"/>
                </a:solidFill>
              </a:rPr>
              <a:t> </a:t>
            </a:r>
            <a:r>
              <a:rPr lang="ar-SA" altLang="en-US" sz="2000" b="1">
                <a:solidFill>
                  <a:srgbClr val="000000"/>
                </a:solidFill>
              </a:rPr>
              <a:t>خواندن و نوشتن با اعلان </a:t>
            </a:r>
            <a:r>
              <a:rPr lang="en-US" altLang="en-US" sz="2000" b="1">
                <a:solidFill>
                  <a:srgbClr val="000000"/>
                </a:solidFill>
              </a:rPr>
              <a:t>ready</a:t>
            </a:r>
            <a:r>
              <a:rPr lang="ar-SA" altLang="en-US" sz="2000" b="1">
                <a:solidFill>
                  <a:srgbClr val="000000"/>
                </a:solidFill>
              </a:rPr>
              <a:t> خاتمه مي يابد.</a:t>
            </a:r>
            <a:endParaRPr lang="en-US" altLang="en-US" sz="20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19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Controller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>
                <a:solidFill>
                  <a:srgbClr val="000000"/>
                </a:solidFill>
              </a:rPr>
              <a:pPr/>
              <a:t>20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6" name="Oval 3"/>
          <p:cNvSpPr>
            <a:spLocks noChangeArrowheads="1"/>
          </p:cNvSpPr>
          <p:nvPr/>
        </p:nvSpPr>
        <p:spPr bwMode="auto">
          <a:xfrm>
            <a:off x="1524000" y="1752600"/>
            <a:ext cx="838200" cy="914400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676400" y="2025650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000000"/>
                </a:solidFill>
              </a:rPr>
              <a:t>idle</a:t>
            </a:r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1524000" y="3124200"/>
            <a:ext cx="838200" cy="914400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447800" y="3352800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Decision</a:t>
            </a:r>
          </a:p>
        </p:txBody>
      </p:sp>
      <p:sp>
        <p:nvSpPr>
          <p:cNvPr id="10" name="Oval 7"/>
          <p:cNvSpPr>
            <a:spLocks noChangeArrowheads="1"/>
          </p:cNvSpPr>
          <p:nvPr/>
        </p:nvSpPr>
        <p:spPr bwMode="auto">
          <a:xfrm>
            <a:off x="381000" y="4267200"/>
            <a:ext cx="838200" cy="914400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457200" y="4495800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Write</a:t>
            </a:r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2590800" y="4267200"/>
            <a:ext cx="838200" cy="914400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2667000" y="4540250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read1</a:t>
            </a:r>
          </a:p>
        </p:txBody>
      </p:sp>
      <p:sp>
        <p:nvSpPr>
          <p:cNvPr id="14" name="Oval 11"/>
          <p:cNvSpPr>
            <a:spLocks noChangeArrowheads="1"/>
          </p:cNvSpPr>
          <p:nvPr/>
        </p:nvSpPr>
        <p:spPr bwMode="auto">
          <a:xfrm>
            <a:off x="4343400" y="4267200"/>
            <a:ext cx="838200" cy="914400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4419600" y="4540250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read2</a:t>
            </a:r>
          </a:p>
        </p:txBody>
      </p:sp>
      <p:sp>
        <p:nvSpPr>
          <p:cNvPr id="16" name="Oval 13"/>
          <p:cNvSpPr>
            <a:spLocks noChangeArrowheads="1"/>
          </p:cNvSpPr>
          <p:nvPr/>
        </p:nvSpPr>
        <p:spPr bwMode="auto">
          <a:xfrm>
            <a:off x="5867400" y="4267200"/>
            <a:ext cx="838200" cy="914400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5943600" y="4540250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read3</a:t>
            </a:r>
          </a:p>
        </p:txBody>
      </p:sp>
      <p:sp>
        <p:nvSpPr>
          <p:cNvPr id="18" name="Oval 15"/>
          <p:cNvSpPr>
            <a:spLocks noChangeArrowheads="1"/>
          </p:cNvSpPr>
          <p:nvPr/>
        </p:nvSpPr>
        <p:spPr bwMode="auto">
          <a:xfrm>
            <a:off x="6781800" y="3124200"/>
            <a:ext cx="838200" cy="914400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6858000" y="3397250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read4</a:t>
            </a: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1905000" y="26670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 flipH="1">
            <a:off x="1143000" y="3886200"/>
            <a:ext cx="5334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2209800" y="3886200"/>
            <a:ext cx="5334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3429000" y="47244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5181600" y="47244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 flipV="1">
            <a:off x="6553200" y="3962400"/>
            <a:ext cx="381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Freeform 23"/>
          <p:cNvSpPr>
            <a:spLocks/>
          </p:cNvSpPr>
          <p:nvPr/>
        </p:nvSpPr>
        <p:spPr bwMode="auto">
          <a:xfrm>
            <a:off x="2362200" y="1803400"/>
            <a:ext cx="4495800" cy="1473200"/>
          </a:xfrm>
          <a:custGeom>
            <a:avLst/>
            <a:gdLst>
              <a:gd name="T0" fmla="*/ 4495800 w 2832"/>
              <a:gd name="T1" fmla="*/ 1473200 h 880"/>
              <a:gd name="T2" fmla="*/ 2514600 w 2832"/>
              <a:gd name="T3" fmla="*/ 187498 h 880"/>
              <a:gd name="T4" fmla="*/ 0 w 2832"/>
              <a:gd name="T5" fmla="*/ 348211 h 8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32" h="880">
                <a:moveTo>
                  <a:pt x="2832" y="880"/>
                </a:moveTo>
                <a:cubicBezTo>
                  <a:pt x="2444" y="552"/>
                  <a:pt x="2056" y="224"/>
                  <a:pt x="1584" y="112"/>
                </a:cubicBezTo>
                <a:cubicBezTo>
                  <a:pt x="1112" y="0"/>
                  <a:pt x="556" y="104"/>
                  <a:pt x="0" y="208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7" name="Freeform 24"/>
          <p:cNvSpPr>
            <a:spLocks/>
          </p:cNvSpPr>
          <p:nvPr/>
        </p:nvSpPr>
        <p:spPr bwMode="auto">
          <a:xfrm>
            <a:off x="2362200" y="2362200"/>
            <a:ext cx="1295400" cy="1981200"/>
          </a:xfrm>
          <a:custGeom>
            <a:avLst/>
            <a:gdLst>
              <a:gd name="T0" fmla="*/ 863600 w 864"/>
              <a:gd name="T1" fmla="*/ 1981200 h 1248"/>
              <a:gd name="T2" fmla="*/ 1151467 w 864"/>
              <a:gd name="T3" fmla="*/ 457200 h 1248"/>
              <a:gd name="T4" fmla="*/ 0 w 864"/>
              <a:gd name="T5" fmla="*/ 0 h 12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64" h="1248">
                <a:moveTo>
                  <a:pt x="576" y="1248"/>
                </a:moveTo>
                <a:cubicBezTo>
                  <a:pt x="720" y="872"/>
                  <a:pt x="864" y="496"/>
                  <a:pt x="768" y="288"/>
                </a:cubicBezTo>
                <a:cubicBezTo>
                  <a:pt x="672" y="80"/>
                  <a:pt x="336" y="40"/>
                  <a:pt x="0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Freeform 25"/>
          <p:cNvSpPr>
            <a:spLocks noChangeAspect="1"/>
          </p:cNvSpPr>
          <p:nvPr/>
        </p:nvSpPr>
        <p:spPr bwMode="auto">
          <a:xfrm flipH="1">
            <a:off x="76200" y="2362200"/>
            <a:ext cx="1371600" cy="1981200"/>
          </a:xfrm>
          <a:custGeom>
            <a:avLst/>
            <a:gdLst>
              <a:gd name="T0" fmla="*/ 914400 w 864"/>
              <a:gd name="T1" fmla="*/ 1981200 h 1248"/>
              <a:gd name="T2" fmla="*/ 1219200 w 864"/>
              <a:gd name="T3" fmla="*/ 457200 h 1248"/>
              <a:gd name="T4" fmla="*/ 0 w 864"/>
              <a:gd name="T5" fmla="*/ 0 h 12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64" h="1248">
                <a:moveTo>
                  <a:pt x="576" y="1248"/>
                </a:moveTo>
                <a:cubicBezTo>
                  <a:pt x="720" y="872"/>
                  <a:pt x="864" y="496"/>
                  <a:pt x="768" y="288"/>
                </a:cubicBezTo>
                <a:cubicBezTo>
                  <a:pt x="672" y="80"/>
                  <a:pt x="336" y="40"/>
                  <a:pt x="0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Line 26"/>
          <p:cNvSpPr>
            <a:spLocks noChangeShapeType="1"/>
          </p:cNvSpPr>
          <p:nvPr/>
        </p:nvSpPr>
        <p:spPr bwMode="auto">
          <a:xfrm>
            <a:off x="762000" y="1600200"/>
            <a:ext cx="8382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0" name="Text Box 27"/>
          <p:cNvSpPr txBox="1">
            <a:spLocks noChangeArrowheads="1"/>
          </p:cNvSpPr>
          <p:nvPr/>
        </p:nvSpPr>
        <p:spPr bwMode="auto">
          <a:xfrm>
            <a:off x="1905000" y="2667000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ready</a:t>
            </a:r>
          </a:p>
        </p:txBody>
      </p:sp>
      <p:sp>
        <p:nvSpPr>
          <p:cNvPr id="31" name="Text Box 28"/>
          <p:cNvSpPr txBox="1">
            <a:spLocks noChangeArrowheads="1"/>
          </p:cNvSpPr>
          <p:nvPr/>
        </p:nvSpPr>
        <p:spPr bwMode="auto">
          <a:xfrm>
            <a:off x="2209800" y="3733800"/>
            <a:ext cx="1295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Read_write</a:t>
            </a:r>
          </a:p>
        </p:txBody>
      </p:sp>
      <p:sp>
        <p:nvSpPr>
          <p:cNvPr id="32" name="Text Box 29"/>
          <p:cNvSpPr txBox="1">
            <a:spLocks noChangeArrowheads="1"/>
          </p:cNvSpPr>
          <p:nvPr/>
        </p:nvSpPr>
        <p:spPr bwMode="auto">
          <a:xfrm>
            <a:off x="533400" y="3733800"/>
            <a:ext cx="1295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Read_write</a:t>
            </a:r>
          </a:p>
        </p:txBody>
      </p:sp>
      <p:sp>
        <p:nvSpPr>
          <p:cNvPr id="33" name="Line 30"/>
          <p:cNvSpPr>
            <a:spLocks noChangeShapeType="1"/>
          </p:cNvSpPr>
          <p:nvPr/>
        </p:nvSpPr>
        <p:spPr bwMode="auto">
          <a:xfrm>
            <a:off x="685800" y="3810000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5943600" y="2209800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ready</a:t>
            </a:r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3505200" y="4191000"/>
            <a:ext cx="1066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ready</a:t>
            </a:r>
          </a:p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. burst</a:t>
            </a: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5105400" y="4343400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ready</a:t>
            </a:r>
          </a:p>
        </p:txBody>
      </p:sp>
      <p:sp>
        <p:nvSpPr>
          <p:cNvPr id="37" name="Text Box 34"/>
          <p:cNvSpPr txBox="1">
            <a:spLocks noChangeArrowheads="1"/>
          </p:cNvSpPr>
          <p:nvPr/>
        </p:nvSpPr>
        <p:spPr bwMode="auto">
          <a:xfrm>
            <a:off x="6172200" y="3854450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ready</a:t>
            </a:r>
          </a:p>
        </p:txBody>
      </p:sp>
      <p:sp>
        <p:nvSpPr>
          <p:cNvPr id="38" name="Text Box 35"/>
          <p:cNvSpPr txBox="1">
            <a:spLocks noChangeArrowheads="1"/>
          </p:cNvSpPr>
          <p:nvPr/>
        </p:nvSpPr>
        <p:spPr bwMode="auto">
          <a:xfrm>
            <a:off x="3581400" y="2590800"/>
            <a:ext cx="1066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000000"/>
                </a:solidFill>
              </a:rPr>
              <a:t>ready</a:t>
            </a:r>
          </a:p>
          <a:p>
            <a:pPr eaLnBrk="1" hangingPunct="1"/>
            <a:r>
              <a:rPr lang="en-US" altLang="en-US" sz="1600" b="1" dirty="0">
                <a:solidFill>
                  <a:srgbClr val="000000"/>
                </a:solidFill>
              </a:rPr>
              <a:t>. burst</a:t>
            </a:r>
          </a:p>
        </p:txBody>
      </p:sp>
      <p:sp>
        <p:nvSpPr>
          <p:cNvPr id="39" name="Line 36"/>
          <p:cNvSpPr>
            <a:spLocks noChangeShapeType="1"/>
          </p:cNvSpPr>
          <p:nvPr/>
        </p:nvSpPr>
        <p:spPr bwMode="auto">
          <a:xfrm>
            <a:off x="3810000" y="28956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>
            <a:off x="152400" y="2819400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ready</a:t>
            </a:r>
          </a:p>
        </p:txBody>
      </p:sp>
      <p:sp>
        <p:nvSpPr>
          <p:cNvPr id="41" name="Text Box 38"/>
          <p:cNvSpPr txBox="1">
            <a:spLocks noChangeArrowheads="1"/>
          </p:cNvSpPr>
          <p:nvPr/>
        </p:nvSpPr>
        <p:spPr bwMode="auto">
          <a:xfrm>
            <a:off x="762000" y="1143000"/>
            <a:ext cx="1066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synch reset</a:t>
            </a:r>
          </a:p>
        </p:txBody>
      </p:sp>
      <p:sp>
        <p:nvSpPr>
          <p:cNvPr id="42" name="Oval 5"/>
          <p:cNvSpPr>
            <a:spLocks noChangeArrowheads="1"/>
          </p:cNvSpPr>
          <p:nvPr/>
        </p:nvSpPr>
        <p:spPr bwMode="auto">
          <a:xfrm>
            <a:off x="7086600" y="5867400"/>
            <a:ext cx="838200" cy="914400"/>
          </a:xfrm>
          <a:prstGeom prst="ellipse">
            <a:avLst/>
          </a:prstGeom>
          <a:solidFill>
            <a:srgbClr val="FFFF00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3" name="Text Box 6"/>
          <p:cNvSpPr txBox="1">
            <a:spLocks noChangeArrowheads="1"/>
          </p:cNvSpPr>
          <p:nvPr/>
        </p:nvSpPr>
        <p:spPr bwMode="auto">
          <a:xfrm>
            <a:off x="7162800" y="6096000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state</a:t>
            </a:r>
          </a:p>
        </p:txBody>
      </p:sp>
      <p:sp>
        <p:nvSpPr>
          <p:cNvPr id="44" name="Text Box 7"/>
          <p:cNvSpPr txBox="1">
            <a:spLocks noChangeArrowheads="1"/>
          </p:cNvSpPr>
          <p:nvPr/>
        </p:nvSpPr>
        <p:spPr bwMode="auto">
          <a:xfrm>
            <a:off x="6264891" y="5588000"/>
            <a:ext cx="1066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ready</a:t>
            </a:r>
          </a:p>
        </p:txBody>
      </p:sp>
      <p:sp>
        <p:nvSpPr>
          <p:cNvPr id="45" name="Line 8"/>
          <p:cNvSpPr>
            <a:spLocks noChangeShapeType="1"/>
          </p:cNvSpPr>
          <p:nvPr/>
        </p:nvSpPr>
        <p:spPr bwMode="auto">
          <a:xfrm>
            <a:off x="6341091" y="56642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Freeform 9"/>
          <p:cNvSpPr>
            <a:spLocks/>
          </p:cNvSpPr>
          <p:nvPr/>
        </p:nvSpPr>
        <p:spPr bwMode="auto">
          <a:xfrm>
            <a:off x="6845300" y="5080000"/>
            <a:ext cx="584200" cy="1016000"/>
          </a:xfrm>
          <a:custGeom>
            <a:avLst/>
            <a:gdLst>
              <a:gd name="T0" fmla="*/ 317500 w 368"/>
              <a:gd name="T1" fmla="*/ 1016000 h 640"/>
              <a:gd name="T2" fmla="*/ 12700 w 368"/>
              <a:gd name="T3" fmla="*/ 406400 h 640"/>
              <a:gd name="T4" fmla="*/ 241300 w 368"/>
              <a:gd name="T5" fmla="*/ 25400 h 640"/>
              <a:gd name="T6" fmla="*/ 546100 w 368"/>
              <a:gd name="T7" fmla="*/ 254000 h 640"/>
              <a:gd name="T8" fmla="*/ 469900 w 368"/>
              <a:gd name="T9" fmla="*/ 863600 h 6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8" h="640">
                <a:moveTo>
                  <a:pt x="200" y="640"/>
                </a:moveTo>
                <a:cubicBezTo>
                  <a:pt x="108" y="500"/>
                  <a:pt x="16" y="360"/>
                  <a:pt x="8" y="256"/>
                </a:cubicBezTo>
                <a:cubicBezTo>
                  <a:pt x="0" y="152"/>
                  <a:pt x="96" y="32"/>
                  <a:pt x="152" y="16"/>
                </a:cubicBezTo>
                <a:cubicBezTo>
                  <a:pt x="208" y="0"/>
                  <a:pt x="320" y="72"/>
                  <a:pt x="344" y="160"/>
                </a:cubicBezTo>
                <a:cubicBezTo>
                  <a:pt x="368" y="248"/>
                  <a:pt x="332" y="396"/>
                  <a:pt x="296" y="544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2362201" y="6035675"/>
            <a:ext cx="45048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85750" indent="-285750"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62000" indent="-28575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952500" indent="-2286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ar-SA" altLang="en-US" sz="2400" dirty="0">
                <a:solidFill>
                  <a:srgbClr val="000000"/>
                </a:solidFill>
                <a:cs typeface="B Mitra" panose="00000400000000000000" pitchFamily="2" charset="-78"/>
              </a:rPr>
              <a:t>براي همة حالتها مفروض است</a:t>
            </a:r>
            <a:endParaRPr lang="en-US" altLang="en-US" sz="2400" dirty="0">
              <a:solidFill>
                <a:srgbClr val="000000"/>
              </a:solidFill>
              <a:cs typeface="B Mitra" panose="00000400000000000000" pitchFamily="2" charset="-7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7D3646-3013-BE4B-8B74-A5A7B016C14C}"/>
                  </a:ext>
                </a:extLst>
              </p14:cNvPr>
              <p14:cNvContentPartPr/>
              <p14:nvPr/>
            </p14:nvContentPartPr>
            <p14:xfrm>
              <a:off x="1330920" y="2603520"/>
              <a:ext cx="1159560" cy="598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7D3646-3013-BE4B-8B74-A5A7B016C1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1560" y="2594160"/>
                <a:ext cx="1178280" cy="61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212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VHDL Code (2-process)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>
                <a:solidFill>
                  <a:srgbClr val="000000"/>
                </a:solidFill>
              </a:rPr>
              <a:pPr/>
              <a:t>21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28600" y="1778000"/>
            <a:ext cx="7620000" cy="3693319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library </a:t>
            </a:r>
            <a:r>
              <a:rPr lang="en-US" altLang="en-US" sz="1800" dirty="0" err="1">
                <a:solidFill>
                  <a:srgbClr val="0000CC"/>
                </a:solidFill>
              </a:rPr>
              <a:t>ieee</a:t>
            </a:r>
            <a:r>
              <a:rPr lang="en-US" altLang="en-US" sz="1800" dirty="0">
                <a:solidFill>
                  <a:srgbClr val="0000CC"/>
                </a:solidFill>
              </a:rPr>
              <a:t>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use ieee.std_logic_1164.all;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entity </a:t>
            </a:r>
            <a:r>
              <a:rPr lang="en-US" altLang="en-US" sz="1800" dirty="0" err="1">
                <a:solidFill>
                  <a:srgbClr val="0000CC"/>
                </a:solidFill>
              </a:rPr>
              <a:t>memory_controller</a:t>
            </a:r>
            <a:r>
              <a:rPr lang="en-US" altLang="en-US" sz="1800" dirty="0">
                <a:solidFill>
                  <a:srgbClr val="0000CC"/>
                </a:solidFill>
              </a:rPr>
              <a:t> is 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port (</a:t>
            </a:r>
          </a:p>
          <a:p>
            <a:pPr eaLnBrk="1" hangingPunct="1"/>
            <a:r>
              <a:rPr lang="ar-SA" altLang="en-US" sz="1800" dirty="0">
                <a:solidFill>
                  <a:srgbClr val="0000CC"/>
                </a:solidFill>
              </a:rPr>
              <a:t>     </a:t>
            </a:r>
            <a:r>
              <a:rPr lang="en-US" altLang="en-US" sz="1800" dirty="0">
                <a:solidFill>
                  <a:srgbClr val="0000CC"/>
                </a:solidFill>
              </a:rPr>
              <a:t>   reset, </a:t>
            </a:r>
            <a:r>
              <a:rPr lang="en-US" altLang="en-US" sz="1800" dirty="0" err="1">
                <a:solidFill>
                  <a:srgbClr val="0000CC"/>
                </a:solidFill>
              </a:rPr>
              <a:t>read_write</a:t>
            </a:r>
            <a:r>
              <a:rPr lang="en-US" altLang="en-US" sz="1800" dirty="0">
                <a:solidFill>
                  <a:srgbClr val="0000CC"/>
                </a:solidFill>
              </a:rPr>
              <a:t>, ready, burst, </a:t>
            </a:r>
            <a:r>
              <a:rPr lang="en-US" altLang="en-US" sz="1800" dirty="0" err="1">
                <a:solidFill>
                  <a:srgbClr val="0000CC"/>
                </a:solidFill>
              </a:rPr>
              <a:t>clk</a:t>
            </a:r>
            <a:r>
              <a:rPr lang="en-US" altLang="en-US" sz="1800" dirty="0">
                <a:solidFill>
                  <a:srgbClr val="0000CC"/>
                </a:solidFill>
              </a:rPr>
              <a:t>    : in </a:t>
            </a:r>
            <a:r>
              <a:rPr lang="en-US" altLang="en-US" sz="1800" dirty="0" err="1">
                <a:solidFill>
                  <a:srgbClr val="0000CC"/>
                </a:solidFill>
              </a:rPr>
              <a:t>std_logic</a:t>
            </a:r>
            <a:r>
              <a:rPr lang="en-US" altLang="en-US" sz="1800" dirty="0">
                <a:solidFill>
                  <a:srgbClr val="0000CC"/>
                </a:solidFill>
              </a:rPr>
              <a:t>;</a:t>
            </a:r>
          </a:p>
          <a:p>
            <a:pPr eaLnBrk="1" hangingPunct="1"/>
            <a:r>
              <a:rPr lang="ar-SA" altLang="en-US" sz="1800" dirty="0">
                <a:solidFill>
                  <a:srgbClr val="0000CC"/>
                </a:solidFill>
              </a:rPr>
              <a:t>     </a:t>
            </a:r>
            <a:r>
              <a:rPr lang="en-US" altLang="en-US" sz="1800" dirty="0">
                <a:solidFill>
                  <a:srgbClr val="0000CC"/>
                </a:solidFill>
              </a:rPr>
              <a:t>   </a:t>
            </a:r>
            <a:r>
              <a:rPr lang="en-US" altLang="en-US" sz="1800" dirty="0" err="1">
                <a:solidFill>
                  <a:srgbClr val="0000CC"/>
                </a:solidFill>
              </a:rPr>
              <a:t>bus_id</a:t>
            </a:r>
            <a:r>
              <a:rPr lang="en-US" altLang="en-US" sz="1800" dirty="0">
                <a:solidFill>
                  <a:srgbClr val="0000CC"/>
                </a:solidFill>
              </a:rPr>
              <a:t>                                                : in </a:t>
            </a:r>
            <a:r>
              <a:rPr lang="en-US" altLang="en-US" sz="1800" dirty="0" err="1">
                <a:solidFill>
                  <a:srgbClr val="0000CC"/>
                </a:solidFill>
              </a:rPr>
              <a:t>std_logic_vector</a:t>
            </a:r>
            <a:r>
              <a:rPr lang="en-US" altLang="en-US" sz="1800" dirty="0">
                <a:solidFill>
                  <a:srgbClr val="0000CC"/>
                </a:solidFill>
              </a:rPr>
              <a:t>(7 </a:t>
            </a:r>
            <a:r>
              <a:rPr lang="en-US" altLang="en-US" sz="1800" dirty="0" err="1">
                <a:solidFill>
                  <a:srgbClr val="0000CC"/>
                </a:solidFill>
              </a:rPr>
              <a:t>downto</a:t>
            </a:r>
            <a:r>
              <a:rPr lang="en-US" altLang="en-US" sz="1800" dirty="0">
                <a:solidFill>
                  <a:srgbClr val="0000CC"/>
                </a:solidFill>
              </a:rPr>
              <a:t> 0);</a:t>
            </a:r>
          </a:p>
          <a:p>
            <a:pPr eaLnBrk="1" hangingPunct="1"/>
            <a:r>
              <a:rPr lang="ar-SA" altLang="en-US" sz="1800" dirty="0">
                <a:solidFill>
                  <a:srgbClr val="0000CC"/>
                </a:solidFill>
              </a:rPr>
              <a:t>     </a:t>
            </a:r>
            <a:r>
              <a:rPr lang="en-US" altLang="en-US" sz="1800" dirty="0">
                <a:solidFill>
                  <a:srgbClr val="0000CC"/>
                </a:solidFill>
              </a:rPr>
              <a:t>   </a:t>
            </a:r>
            <a:r>
              <a:rPr lang="en-US" altLang="en-US" sz="1800" dirty="0" err="1">
                <a:solidFill>
                  <a:srgbClr val="0000CC"/>
                </a:solidFill>
              </a:rPr>
              <a:t>oe</a:t>
            </a:r>
            <a:r>
              <a:rPr lang="en-US" altLang="en-US" sz="1800" dirty="0">
                <a:solidFill>
                  <a:srgbClr val="0000CC"/>
                </a:solidFill>
              </a:rPr>
              <a:t>, we                                                : out </a:t>
            </a:r>
            <a:r>
              <a:rPr lang="en-US" altLang="en-US" sz="1800" dirty="0" err="1">
                <a:solidFill>
                  <a:srgbClr val="0000CC"/>
                </a:solidFill>
              </a:rPr>
              <a:t>std_logic</a:t>
            </a:r>
            <a:r>
              <a:rPr lang="en-US" altLang="en-US" sz="1800" dirty="0">
                <a:solidFill>
                  <a:srgbClr val="0000CC"/>
                </a:solidFill>
              </a:rPr>
              <a:t>;</a:t>
            </a:r>
          </a:p>
          <a:p>
            <a:pPr eaLnBrk="1" hangingPunct="1"/>
            <a:r>
              <a:rPr lang="ar-SA" altLang="en-US" sz="1800" dirty="0">
                <a:solidFill>
                  <a:srgbClr val="0000CC"/>
                </a:solidFill>
              </a:rPr>
              <a:t>     </a:t>
            </a:r>
            <a:r>
              <a:rPr lang="en-US" altLang="en-US" sz="1800" dirty="0">
                <a:solidFill>
                  <a:srgbClr val="0000CC"/>
                </a:solidFill>
              </a:rPr>
              <a:t>   </a:t>
            </a:r>
            <a:r>
              <a:rPr lang="en-US" altLang="en-US" sz="1800" dirty="0" err="1">
                <a:solidFill>
                  <a:srgbClr val="0000CC"/>
                </a:solidFill>
              </a:rPr>
              <a:t>addr</a:t>
            </a:r>
            <a:r>
              <a:rPr lang="en-US" altLang="en-US" sz="1800" dirty="0">
                <a:solidFill>
                  <a:srgbClr val="0000CC"/>
                </a:solidFill>
              </a:rPr>
              <a:t>                                                   : out </a:t>
            </a:r>
            <a:r>
              <a:rPr lang="en-US" altLang="en-US" sz="1800" dirty="0" err="1">
                <a:solidFill>
                  <a:srgbClr val="0000CC"/>
                </a:solidFill>
              </a:rPr>
              <a:t>std_logic_vector</a:t>
            </a:r>
            <a:r>
              <a:rPr lang="en-US" altLang="en-US" sz="1800" dirty="0">
                <a:solidFill>
                  <a:srgbClr val="0000CC"/>
                </a:solidFill>
              </a:rPr>
              <a:t>(1 </a:t>
            </a:r>
            <a:r>
              <a:rPr lang="en-US" altLang="en-US" sz="1800" dirty="0" err="1">
                <a:solidFill>
                  <a:srgbClr val="0000CC"/>
                </a:solidFill>
              </a:rPr>
              <a:t>downto</a:t>
            </a:r>
            <a:r>
              <a:rPr lang="en-US" altLang="en-US" sz="1800" dirty="0">
                <a:solidFill>
                  <a:srgbClr val="0000CC"/>
                </a:solidFill>
              </a:rPr>
              <a:t> 0));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end </a:t>
            </a:r>
            <a:r>
              <a:rPr lang="en-US" altLang="en-US" sz="1800" dirty="0" err="1">
                <a:solidFill>
                  <a:srgbClr val="0000CC"/>
                </a:solidFill>
              </a:rPr>
              <a:t>memory_controller</a:t>
            </a:r>
            <a:r>
              <a:rPr lang="en-US" altLang="en-US" sz="1800" dirty="0">
                <a:solidFill>
                  <a:srgbClr val="0000CC"/>
                </a:solidFill>
              </a:rPr>
              <a:t>;</a:t>
            </a:r>
          </a:p>
          <a:p>
            <a:pPr eaLnBrk="1" hangingPunct="1"/>
            <a:endParaRPr lang="en-US" altLang="en-US" sz="1800" dirty="0">
              <a:solidFill>
                <a:srgbClr val="0000CC"/>
              </a:solidFill>
            </a:endParaRP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architecture </a:t>
            </a:r>
            <a:r>
              <a:rPr lang="en-US" altLang="en-US" sz="1800" dirty="0" err="1">
                <a:solidFill>
                  <a:srgbClr val="0000CC"/>
                </a:solidFill>
              </a:rPr>
              <a:t>state_machine</a:t>
            </a:r>
            <a:r>
              <a:rPr lang="en-US" altLang="en-US" sz="1800" dirty="0">
                <a:solidFill>
                  <a:srgbClr val="0000CC"/>
                </a:solidFill>
              </a:rPr>
              <a:t> of </a:t>
            </a:r>
            <a:r>
              <a:rPr lang="en-US" altLang="en-US" sz="1800" dirty="0" err="1">
                <a:solidFill>
                  <a:srgbClr val="0000CC"/>
                </a:solidFill>
              </a:rPr>
              <a:t>memory_controller</a:t>
            </a:r>
            <a:r>
              <a:rPr lang="en-US" altLang="en-US" sz="1800" dirty="0">
                <a:solidFill>
                  <a:srgbClr val="0000CC"/>
                </a:solidFill>
              </a:rPr>
              <a:t> is</a:t>
            </a:r>
          </a:p>
          <a:p>
            <a:pPr eaLnBrk="1" hangingPunct="1"/>
            <a:r>
              <a:rPr lang="ar-SA" altLang="en-US" sz="1800" dirty="0">
                <a:solidFill>
                  <a:srgbClr val="0000CC"/>
                </a:solidFill>
              </a:rPr>
              <a:t>	</a:t>
            </a:r>
            <a:r>
              <a:rPr lang="en-US" altLang="en-US" sz="1800" dirty="0">
                <a:solidFill>
                  <a:srgbClr val="0000CC"/>
                </a:solidFill>
              </a:rPr>
              <a:t>type </a:t>
            </a:r>
            <a:r>
              <a:rPr lang="en-US" altLang="en-US" sz="1800" dirty="0" err="1">
                <a:solidFill>
                  <a:srgbClr val="0000CC"/>
                </a:solidFill>
              </a:rPr>
              <a:t>StateType</a:t>
            </a:r>
            <a:r>
              <a:rPr lang="en-US" altLang="en-US" sz="1800" dirty="0">
                <a:solidFill>
                  <a:srgbClr val="0000CC"/>
                </a:solidFill>
              </a:rPr>
              <a:t> is (idle, decision, read1, read2, read3, read4, write);</a:t>
            </a:r>
          </a:p>
          <a:p>
            <a:pPr eaLnBrk="1" hangingPunct="1"/>
            <a:r>
              <a:rPr lang="ar-SA" altLang="en-US" sz="1800" dirty="0">
                <a:solidFill>
                  <a:srgbClr val="0000CC"/>
                </a:solidFill>
              </a:rPr>
              <a:t>	</a:t>
            </a:r>
            <a:r>
              <a:rPr lang="en-US" altLang="en-US" sz="1800" dirty="0">
                <a:solidFill>
                  <a:srgbClr val="0000CC"/>
                </a:solidFill>
              </a:rPr>
              <a:t>signal </a:t>
            </a:r>
            <a:r>
              <a:rPr lang="en-US" altLang="en-US" sz="1800" dirty="0" err="1">
                <a:solidFill>
                  <a:srgbClr val="0000CC"/>
                </a:solidFill>
              </a:rPr>
              <a:t>present_state</a:t>
            </a:r>
            <a:r>
              <a:rPr lang="en-US" altLang="en-US" sz="1800" dirty="0">
                <a:solidFill>
                  <a:srgbClr val="0000CC"/>
                </a:solidFill>
              </a:rPr>
              <a:t>, </a:t>
            </a:r>
            <a:r>
              <a:rPr lang="en-US" altLang="en-US" sz="1800" dirty="0" err="1">
                <a:solidFill>
                  <a:srgbClr val="0000CC"/>
                </a:solidFill>
              </a:rPr>
              <a:t>next_state</a:t>
            </a:r>
            <a:r>
              <a:rPr lang="en-US" altLang="en-US" sz="1800" dirty="0">
                <a:solidFill>
                  <a:srgbClr val="0000CC"/>
                </a:solidFill>
              </a:rPr>
              <a:t> : </a:t>
            </a:r>
            <a:r>
              <a:rPr lang="en-US" altLang="en-US" sz="1800" dirty="0" err="1">
                <a:solidFill>
                  <a:srgbClr val="0000CC"/>
                </a:solidFill>
              </a:rPr>
              <a:t>StateType</a:t>
            </a:r>
            <a:r>
              <a:rPr lang="en-US" altLang="en-US" sz="1800" dirty="0">
                <a:solidFill>
                  <a:srgbClr val="0000CC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65552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VHDL Code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>
                <a:solidFill>
                  <a:srgbClr val="000000"/>
                </a:solidFill>
              </a:rPr>
              <a:pPr/>
              <a:t>22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57200" y="1168400"/>
            <a:ext cx="7315200" cy="5355312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begin</a:t>
            </a:r>
          </a:p>
          <a:p>
            <a:pPr eaLnBrk="1" hangingPunct="1"/>
            <a:r>
              <a:rPr lang="en-US" altLang="en-US" sz="1800" dirty="0" err="1">
                <a:solidFill>
                  <a:srgbClr val="0000CC"/>
                </a:solidFill>
              </a:rPr>
              <a:t>state_comb:process</a:t>
            </a:r>
            <a:r>
              <a:rPr lang="en-US" altLang="en-US" sz="1800" dirty="0">
                <a:solidFill>
                  <a:srgbClr val="0000CC"/>
                </a:solidFill>
              </a:rPr>
              <a:t>(</a:t>
            </a:r>
            <a:r>
              <a:rPr lang="en-US" altLang="en-US" sz="1800" dirty="0" err="1">
                <a:solidFill>
                  <a:srgbClr val="0000CC"/>
                </a:solidFill>
              </a:rPr>
              <a:t>bus_id</a:t>
            </a:r>
            <a:r>
              <a:rPr lang="en-US" altLang="en-US" sz="1800" dirty="0">
                <a:solidFill>
                  <a:srgbClr val="0000CC"/>
                </a:solidFill>
              </a:rPr>
              <a:t>, </a:t>
            </a:r>
            <a:r>
              <a:rPr lang="en-US" altLang="en-US" sz="1800" dirty="0" err="1">
                <a:solidFill>
                  <a:srgbClr val="0000CC"/>
                </a:solidFill>
              </a:rPr>
              <a:t>present_state</a:t>
            </a:r>
            <a:r>
              <a:rPr lang="en-US" altLang="en-US" sz="1800" dirty="0">
                <a:solidFill>
                  <a:srgbClr val="0000CC"/>
                </a:solidFill>
              </a:rPr>
              <a:t>, burst, </a:t>
            </a:r>
            <a:r>
              <a:rPr lang="en-US" altLang="en-US" sz="1800" dirty="0" err="1">
                <a:solidFill>
                  <a:srgbClr val="0000CC"/>
                </a:solidFill>
              </a:rPr>
              <a:t>read_write</a:t>
            </a:r>
            <a:r>
              <a:rPr lang="en-US" altLang="en-US" sz="1800" dirty="0">
                <a:solidFill>
                  <a:srgbClr val="0000CC"/>
                </a:solidFill>
              </a:rPr>
              <a:t>, ready) 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begin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</a:t>
            </a:r>
            <a:r>
              <a:rPr lang="en-US" altLang="en-US" sz="1800" dirty="0" err="1">
                <a:solidFill>
                  <a:srgbClr val="0000CC"/>
                </a:solidFill>
              </a:rPr>
              <a:t>oe</a:t>
            </a:r>
            <a:r>
              <a:rPr lang="en-US" altLang="en-US" sz="1800" dirty="0">
                <a:solidFill>
                  <a:srgbClr val="0000CC"/>
                </a:solidFill>
              </a:rPr>
              <a:t> &lt;= ‘0’; we &lt;= ‘0’; </a:t>
            </a:r>
            <a:r>
              <a:rPr lang="en-US" altLang="en-US" sz="1800" dirty="0" err="1">
                <a:solidFill>
                  <a:srgbClr val="0000CC"/>
                </a:solidFill>
              </a:rPr>
              <a:t>addr</a:t>
            </a:r>
            <a:r>
              <a:rPr lang="en-US" altLang="en-US" sz="1800" dirty="0">
                <a:solidFill>
                  <a:srgbClr val="0000CC"/>
                </a:solidFill>
              </a:rPr>
              <a:t> &lt;= “00”;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</a:t>
            </a:r>
            <a:r>
              <a:rPr lang="en-US" altLang="en-US" sz="1800" dirty="0" err="1">
                <a:solidFill>
                  <a:srgbClr val="0000CC"/>
                </a:solidFill>
              </a:rPr>
              <a:t>next_state</a:t>
            </a:r>
            <a:r>
              <a:rPr lang="en-US" altLang="en-US" sz="1800" dirty="0">
                <a:solidFill>
                  <a:srgbClr val="0000CC"/>
                </a:solidFill>
              </a:rPr>
              <a:t> &lt;= </a:t>
            </a:r>
            <a:r>
              <a:rPr lang="en-US" altLang="en-US" sz="1800" dirty="0" err="1">
                <a:solidFill>
                  <a:srgbClr val="0000CC"/>
                </a:solidFill>
              </a:rPr>
              <a:t>present_state</a:t>
            </a:r>
            <a:r>
              <a:rPr lang="en-US" altLang="en-US" sz="1800" dirty="0">
                <a:solidFill>
                  <a:srgbClr val="0000CC"/>
                </a:solidFill>
              </a:rPr>
              <a:t>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if (ready = ‘0’) then 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</a:t>
            </a:r>
            <a:r>
              <a:rPr lang="en-US" altLang="en-US" sz="1800" dirty="0" err="1">
                <a:solidFill>
                  <a:srgbClr val="0000CC"/>
                </a:solidFill>
              </a:rPr>
              <a:t>next_state</a:t>
            </a:r>
            <a:r>
              <a:rPr lang="en-US" altLang="en-US" sz="1800" dirty="0">
                <a:solidFill>
                  <a:srgbClr val="0000CC"/>
                </a:solidFill>
              </a:rPr>
              <a:t> &lt;= </a:t>
            </a:r>
            <a:r>
              <a:rPr lang="en-US" altLang="en-US" sz="1800" dirty="0" err="1">
                <a:solidFill>
                  <a:srgbClr val="0000CC"/>
                </a:solidFill>
              </a:rPr>
              <a:t>present_state</a:t>
            </a:r>
            <a:r>
              <a:rPr lang="en-US" altLang="en-US" sz="1800" dirty="0">
                <a:solidFill>
                  <a:srgbClr val="0000CC"/>
                </a:solidFill>
              </a:rPr>
              <a:t>;</a:t>
            </a:r>
          </a:p>
          <a:p>
            <a:pPr eaLnBrk="1" hangingPunct="1"/>
            <a:r>
              <a:rPr lang="en-US" altLang="en-US" sz="1800">
                <a:solidFill>
                  <a:srgbClr val="0000CC"/>
                </a:solidFill>
              </a:rPr>
              <a:t>  else</a:t>
            </a:r>
            <a:endParaRPr lang="en-US" altLang="en-US" sz="1800" dirty="0">
              <a:solidFill>
                <a:srgbClr val="0000CC"/>
              </a:solidFill>
            </a:endParaRP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case </a:t>
            </a:r>
            <a:r>
              <a:rPr lang="en-US" altLang="en-US" sz="1800" dirty="0" err="1">
                <a:solidFill>
                  <a:srgbClr val="FF0000"/>
                </a:solidFill>
              </a:rPr>
              <a:t>present_state</a:t>
            </a:r>
            <a:r>
              <a:rPr lang="en-US" altLang="en-US" sz="1800" dirty="0">
                <a:solidFill>
                  <a:srgbClr val="0000CC"/>
                </a:solidFill>
              </a:rPr>
              <a:t> is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when </a:t>
            </a:r>
            <a:r>
              <a:rPr lang="en-US" altLang="en-US" sz="1800" dirty="0">
                <a:solidFill>
                  <a:srgbClr val="FF0000"/>
                </a:solidFill>
              </a:rPr>
              <a:t>idle</a:t>
            </a:r>
            <a:r>
              <a:rPr lang="en-US" altLang="en-US" sz="1800" dirty="0">
                <a:solidFill>
                  <a:srgbClr val="0000CC"/>
                </a:solidFill>
              </a:rPr>
              <a:t>    =&gt; </a:t>
            </a:r>
            <a:r>
              <a:rPr lang="en-US" altLang="en-US" sz="1800" b="1" dirty="0">
                <a:solidFill>
                  <a:srgbClr val="0000CC"/>
                </a:solidFill>
              </a:rPr>
              <a:t>	  </a:t>
            </a:r>
            <a:r>
              <a:rPr lang="en-US" altLang="en-US" sz="1800" b="1" dirty="0" err="1">
                <a:solidFill>
                  <a:srgbClr val="008000"/>
                </a:solidFill>
              </a:rPr>
              <a:t>oe</a:t>
            </a:r>
            <a:r>
              <a:rPr lang="en-US" altLang="en-US" sz="1800" b="1" dirty="0">
                <a:solidFill>
                  <a:srgbClr val="008000"/>
                </a:solidFill>
              </a:rPr>
              <a:t> &lt;= '0'; we &lt;= '0'; </a:t>
            </a:r>
            <a:r>
              <a:rPr lang="en-US" altLang="en-US" sz="1800" b="1" dirty="0" err="1">
                <a:solidFill>
                  <a:srgbClr val="008000"/>
                </a:solidFill>
              </a:rPr>
              <a:t>addr</a:t>
            </a:r>
            <a:r>
              <a:rPr lang="en-US" altLang="en-US" sz="1800" b="1" dirty="0">
                <a:solidFill>
                  <a:srgbClr val="008000"/>
                </a:solidFill>
              </a:rPr>
              <a:t> &lt;= "00";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if (</a:t>
            </a:r>
            <a:r>
              <a:rPr lang="en-US" altLang="en-US" sz="1800" dirty="0" err="1">
                <a:solidFill>
                  <a:srgbClr val="0000CC"/>
                </a:solidFill>
              </a:rPr>
              <a:t>bus_id</a:t>
            </a:r>
            <a:r>
              <a:rPr lang="en-US" altLang="en-US" sz="1800" dirty="0">
                <a:solidFill>
                  <a:srgbClr val="0000CC"/>
                </a:solidFill>
              </a:rPr>
              <a:t> = “11110011”) then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  </a:t>
            </a:r>
            <a:r>
              <a:rPr lang="en-US" altLang="en-US" sz="1800" dirty="0" err="1">
                <a:solidFill>
                  <a:srgbClr val="0000CC"/>
                </a:solidFill>
              </a:rPr>
              <a:t>next_state</a:t>
            </a:r>
            <a:r>
              <a:rPr lang="en-US" altLang="en-US" sz="1800" dirty="0">
                <a:solidFill>
                  <a:srgbClr val="0000CC"/>
                </a:solidFill>
              </a:rPr>
              <a:t> &lt;= decision;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end if;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when </a:t>
            </a:r>
            <a:r>
              <a:rPr lang="en-US" altLang="en-US" sz="1800" dirty="0">
                <a:solidFill>
                  <a:srgbClr val="FF0000"/>
                </a:solidFill>
              </a:rPr>
              <a:t>decision</a:t>
            </a:r>
            <a:r>
              <a:rPr lang="en-US" altLang="en-US" sz="1800" dirty="0">
                <a:solidFill>
                  <a:srgbClr val="0000CC"/>
                </a:solidFill>
              </a:rPr>
              <a:t>=&gt;      </a:t>
            </a:r>
            <a:r>
              <a:rPr lang="en-US" altLang="en-US" sz="1800" b="1" dirty="0" err="1">
                <a:solidFill>
                  <a:srgbClr val="008000"/>
                </a:solidFill>
              </a:rPr>
              <a:t>oe</a:t>
            </a:r>
            <a:r>
              <a:rPr lang="en-US" altLang="en-US" sz="1800" b="1" dirty="0">
                <a:solidFill>
                  <a:srgbClr val="008000"/>
                </a:solidFill>
              </a:rPr>
              <a:t> &lt;= '0'; we &lt;= '0'; </a:t>
            </a:r>
            <a:r>
              <a:rPr lang="en-US" altLang="en-US" sz="1800" b="1" dirty="0" err="1">
                <a:solidFill>
                  <a:srgbClr val="008000"/>
                </a:solidFill>
              </a:rPr>
              <a:t>addr</a:t>
            </a:r>
            <a:r>
              <a:rPr lang="en-US" altLang="en-US" sz="1800" b="1" dirty="0">
                <a:solidFill>
                  <a:srgbClr val="008000"/>
                </a:solidFill>
              </a:rPr>
              <a:t> &lt;= "00";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if (</a:t>
            </a:r>
            <a:r>
              <a:rPr lang="en-US" altLang="en-US" sz="1800" dirty="0" err="1">
                <a:solidFill>
                  <a:srgbClr val="0000CC"/>
                </a:solidFill>
              </a:rPr>
              <a:t>read_write</a:t>
            </a:r>
            <a:r>
              <a:rPr lang="en-US" altLang="en-US" sz="1800" dirty="0">
                <a:solidFill>
                  <a:srgbClr val="0000CC"/>
                </a:solidFill>
              </a:rPr>
              <a:t> = '1') then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  </a:t>
            </a:r>
            <a:r>
              <a:rPr lang="en-US" altLang="en-US" sz="1800" dirty="0" err="1">
                <a:solidFill>
                  <a:srgbClr val="0000CC"/>
                </a:solidFill>
              </a:rPr>
              <a:t>next_state</a:t>
            </a:r>
            <a:r>
              <a:rPr lang="en-US" altLang="en-US" sz="1800" dirty="0">
                <a:solidFill>
                  <a:srgbClr val="0000CC"/>
                </a:solidFill>
              </a:rPr>
              <a:t> &lt;= read1;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else                    --</a:t>
            </a:r>
            <a:r>
              <a:rPr lang="en-US" altLang="en-US" sz="1800" dirty="0" err="1">
                <a:solidFill>
                  <a:srgbClr val="0000CC"/>
                </a:solidFill>
              </a:rPr>
              <a:t>read_write</a:t>
            </a:r>
            <a:r>
              <a:rPr lang="en-US" altLang="en-US" sz="1800" dirty="0">
                <a:solidFill>
                  <a:srgbClr val="0000CC"/>
                </a:solidFill>
              </a:rPr>
              <a:t>='0'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  </a:t>
            </a:r>
            <a:r>
              <a:rPr lang="en-US" altLang="en-US" sz="1800" dirty="0" err="1">
                <a:solidFill>
                  <a:srgbClr val="0000CC"/>
                </a:solidFill>
              </a:rPr>
              <a:t>next_state</a:t>
            </a:r>
            <a:r>
              <a:rPr lang="en-US" altLang="en-US" sz="1800" dirty="0">
                <a:solidFill>
                  <a:srgbClr val="0000CC"/>
                </a:solidFill>
              </a:rPr>
              <a:t> &lt;= write;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end if; </a:t>
            </a:r>
            <a:endParaRPr lang="en-US" altLang="en-US" sz="1200" dirty="0">
              <a:solidFill>
                <a:srgbClr val="0000CC"/>
              </a:solidFill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572000" y="2009775"/>
            <a:ext cx="44196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000000"/>
                </a:solidFill>
                <a:sym typeface="Wingdings" pitchFamily="2" charset="2"/>
              </a:rPr>
              <a:t>In every  case, a signal must be assigned to the outputs; otherwise, unwanted latches.</a:t>
            </a:r>
          </a:p>
        </p:txBody>
      </p:sp>
    </p:spTree>
    <p:extLst>
      <p:ext uri="{BB962C8B-B14F-4D97-AF65-F5344CB8AC3E}">
        <p14:creationId xmlns:p14="http://schemas.microsoft.com/office/powerpoint/2010/main" val="292963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VHDL Code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>
                <a:solidFill>
                  <a:srgbClr val="000000"/>
                </a:solidFill>
              </a:rPr>
              <a:pPr/>
              <a:t>23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57200" y="1122363"/>
            <a:ext cx="7315200" cy="5632311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when </a:t>
            </a:r>
            <a:r>
              <a:rPr lang="en-US" altLang="en-US" sz="1800" dirty="0">
                <a:solidFill>
                  <a:srgbClr val="FF0000"/>
                </a:solidFill>
              </a:rPr>
              <a:t>read1</a:t>
            </a:r>
            <a:r>
              <a:rPr lang="en-US" altLang="en-US" sz="1800" dirty="0">
                <a:solidFill>
                  <a:srgbClr val="0000CC"/>
                </a:solidFill>
              </a:rPr>
              <a:t>   =&gt;      </a:t>
            </a:r>
            <a:r>
              <a:rPr lang="en-US" altLang="en-US" sz="1800" b="1" dirty="0" err="1">
                <a:solidFill>
                  <a:srgbClr val="008000"/>
                </a:solidFill>
              </a:rPr>
              <a:t>oe</a:t>
            </a:r>
            <a:r>
              <a:rPr lang="en-US" altLang="en-US" sz="1800" b="1" dirty="0">
                <a:solidFill>
                  <a:srgbClr val="008000"/>
                </a:solidFill>
              </a:rPr>
              <a:t> &lt;= '1'; we &lt;= '0'; </a:t>
            </a:r>
            <a:r>
              <a:rPr lang="en-US" altLang="en-US" sz="1800" b="1" dirty="0" err="1">
                <a:solidFill>
                  <a:srgbClr val="008000"/>
                </a:solidFill>
              </a:rPr>
              <a:t>addr</a:t>
            </a:r>
            <a:r>
              <a:rPr lang="en-US" altLang="en-US" sz="1800" b="1" dirty="0">
                <a:solidFill>
                  <a:srgbClr val="008000"/>
                </a:solidFill>
              </a:rPr>
              <a:t> &lt;= "00";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if (burst = '0') then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  </a:t>
            </a:r>
            <a:r>
              <a:rPr lang="en-US" altLang="en-US" sz="1800" dirty="0" err="1">
                <a:solidFill>
                  <a:srgbClr val="0000CC"/>
                </a:solidFill>
              </a:rPr>
              <a:t>next_state</a:t>
            </a:r>
            <a:r>
              <a:rPr lang="en-US" altLang="en-US" sz="1800" dirty="0">
                <a:solidFill>
                  <a:srgbClr val="0000CC"/>
                </a:solidFill>
              </a:rPr>
              <a:t> &lt;= idle;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else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  </a:t>
            </a:r>
            <a:r>
              <a:rPr lang="en-US" altLang="en-US" sz="1800" dirty="0" err="1">
                <a:solidFill>
                  <a:srgbClr val="0000CC"/>
                </a:solidFill>
              </a:rPr>
              <a:t>next_state</a:t>
            </a:r>
            <a:r>
              <a:rPr lang="en-US" altLang="en-US" sz="1800" dirty="0">
                <a:solidFill>
                  <a:srgbClr val="0000CC"/>
                </a:solidFill>
              </a:rPr>
              <a:t> &lt;= read2;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end if;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when </a:t>
            </a:r>
            <a:r>
              <a:rPr lang="en-US" altLang="en-US" sz="1800" dirty="0">
                <a:solidFill>
                  <a:srgbClr val="FF0000"/>
                </a:solidFill>
              </a:rPr>
              <a:t>read2</a:t>
            </a:r>
            <a:r>
              <a:rPr lang="en-US" altLang="en-US" sz="1800" dirty="0">
                <a:solidFill>
                  <a:srgbClr val="0000CC"/>
                </a:solidFill>
              </a:rPr>
              <a:t>   =&gt;      </a:t>
            </a:r>
            <a:r>
              <a:rPr lang="en-US" altLang="en-US" sz="1800" b="1" dirty="0" err="1">
                <a:solidFill>
                  <a:srgbClr val="008000"/>
                </a:solidFill>
              </a:rPr>
              <a:t>oe</a:t>
            </a:r>
            <a:r>
              <a:rPr lang="en-US" altLang="en-US" sz="1800" b="1" dirty="0">
                <a:solidFill>
                  <a:srgbClr val="008000"/>
                </a:solidFill>
              </a:rPr>
              <a:t> &lt;= '1'; we &lt;= '0'; </a:t>
            </a:r>
            <a:r>
              <a:rPr lang="en-US" altLang="en-US" sz="1800" b="1" dirty="0" err="1">
                <a:solidFill>
                  <a:srgbClr val="008000"/>
                </a:solidFill>
              </a:rPr>
              <a:t>addr</a:t>
            </a:r>
            <a:r>
              <a:rPr lang="en-US" altLang="en-US" sz="1800" b="1" dirty="0">
                <a:solidFill>
                  <a:srgbClr val="008000"/>
                </a:solidFill>
              </a:rPr>
              <a:t> &lt;= "01";</a:t>
            </a:r>
            <a:endParaRPr lang="en-US" altLang="en-US" sz="1800" dirty="0">
              <a:solidFill>
                <a:srgbClr val="0000CC"/>
              </a:solidFill>
            </a:endParaRP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  </a:t>
            </a:r>
            <a:r>
              <a:rPr lang="en-US" altLang="en-US" sz="1800" dirty="0" err="1">
                <a:solidFill>
                  <a:srgbClr val="0000CC"/>
                </a:solidFill>
              </a:rPr>
              <a:t>next_state</a:t>
            </a:r>
            <a:r>
              <a:rPr lang="en-US" altLang="en-US" sz="1800" dirty="0">
                <a:solidFill>
                  <a:srgbClr val="0000CC"/>
                </a:solidFill>
              </a:rPr>
              <a:t> &lt;= read3;</a:t>
            </a:r>
          </a:p>
          <a:p>
            <a:pPr eaLnBrk="1" hangingPunct="1"/>
            <a:endParaRPr lang="en-US" altLang="en-US" sz="1800" dirty="0">
              <a:solidFill>
                <a:srgbClr val="0000CC"/>
              </a:solidFill>
            </a:endParaRP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when </a:t>
            </a:r>
            <a:r>
              <a:rPr lang="en-US" altLang="en-US" sz="1800" dirty="0">
                <a:solidFill>
                  <a:srgbClr val="FF0000"/>
                </a:solidFill>
              </a:rPr>
              <a:t>read3</a:t>
            </a:r>
            <a:r>
              <a:rPr lang="en-US" altLang="en-US" sz="1800" dirty="0">
                <a:solidFill>
                  <a:srgbClr val="0000CC"/>
                </a:solidFill>
              </a:rPr>
              <a:t>   =&gt;      </a:t>
            </a:r>
            <a:r>
              <a:rPr lang="en-US" altLang="en-US" sz="1800" b="1" dirty="0" err="1">
                <a:solidFill>
                  <a:srgbClr val="008000"/>
                </a:solidFill>
              </a:rPr>
              <a:t>oe</a:t>
            </a:r>
            <a:r>
              <a:rPr lang="en-US" altLang="en-US" sz="1800" b="1" dirty="0">
                <a:solidFill>
                  <a:srgbClr val="008000"/>
                </a:solidFill>
              </a:rPr>
              <a:t> &lt;= '1'; we &lt;= '0'; </a:t>
            </a:r>
            <a:r>
              <a:rPr lang="en-US" altLang="en-US" sz="1800" b="1" dirty="0" err="1">
                <a:solidFill>
                  <a:srgbClr val="008000"/>
                </a:solidFill>
              </a:rPr>
              <a:t>addr</a:t>
            </a:r>
            <a:r>
              <a:rPr lang="en-US" altLang="en-US" sz="1800" b="1" dirty="0">
                <a:solidFill>
                  <a:srgbClr val="008000"/>
                </a:solidFill>
              </a:rPr>
              <a:t> &lt;= "10";</a:t>
            </a:r>
            <a:endParaRPr lang="en-US" altLang="en-US" sz="1800" dirty="0">
              <a:solidFill>
                <a:srgbClr val="0000CC"/>
              </a:solidFill>
            </a:endParaRP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  </a:t>
            </a:r>
            <a:r>
              <a:rPr lang="en-US" altLang="en-US" sz="1800" dirty="0" err="1">
                <a:solidFill>
                  <a:srgbClr val="0000CC"/>
                </a:solidFill>
              </a:rPr>
              <a:t>next_state</a:t>
            </a:r>
            <a:r>
              <a:rPr lang="en-US" altLang="en-US" sz="1800" dirty="0">
                <a:solidFill>
                  <a:srgbClr val="0000CC"/>
                </a:solidFill>
              </a:rPr>
              <a:t> &lt;= read4;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when </a:t>
            </a:r>
            <a:r>
              <a:rPr lang="en-US" altLang="en-US" sz="1800" dirty="0">
                <a:solidFill>
                  <a:srgbClr val="FF0000"/>
                </a:solidFill>
              </a:rPr>
              <a:t>read4</a:t>
            </a:r>
            <a:r>
              <a:rPr lang="en-US" altLang="en-US" sz="1800" dirty="0">
                <a:solidFill>
                  <a:srgbClr val="0000CC"/>
                </a:solidFill>
              </a:rPr>
              <a:t>   =&gt;      </a:t>
            </a:r>
            <a:r>
              <a:rPr lang="en-US" altLang="en-US" sz="1800" b="1" dirty="0" err="1">
                <a:solidFill>
                  <a:srgbClr val="008000"/>
                </a:solidFill>
              </a:rPr>
              <a:t>oe</a:t>
            </a:r>
            <a:r>
              <a:rPr lang="en-US" altLang="en-US" sz="1800" b="1" dirty="0">
                <a:solidFill>
                  <a:srgbClr val="008000"/>
                </a:solidFill>
              </a:rPr>
              <a:t> &lt;= '1'; we &lt;= '0'; </a:t>
            </a:r>
            <a:r>
              <a:rPr lang="en-US" altLang="en-US" sz="1800" b="1" dirty="0" err="1">
                <a:solidFill>
                  <a:srgbClr val="008000"/>
                </a:solidFill>
              </a:rPr>
              <a:t>addr</a:t>
            </a:r>
            <a:r>
              <a:rPr lang="en-US" altLang="en-US" sz="1800" b="1" dirty="0">
                <a:solidFill>
                  <a:srgbClr val="008000"/>
                </a:solidFill>
              </a:rPr>
              <a:t> &lt;= "11";</a:t>
            </a:r>
            <a:endParaRPr lang="en-US" altLang="en-US" sz="1800" dirty="0">
              <a:solidFill>
                <a:srgbClr val="0000CC"/>
              </a:solidFill>
            </a:endParaRP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  </a:t>
            </a:r>
            <a:r>
              <a:rPr lang="en-US" altLang="en-US" sz="1800" dirty="0" err="1">
                <a:solidFill>
                  <a:srgbClr val="0000CC"/>
                </a:solidFill>
              </a:rPr>
              <a:t>next_state</a:t>
            </a:r>
            <a:r>
              <a:rPr lang="en-US" altLang="en-US" sz="1800" dirty="0">
                <a:solidFill>
                  <a:srgbClr val="0000CC"/>
                </a:solidFill>
              </a:rPr>
              <a:t> &lt;= idle;</a:t>
            </a:r>
          </a:p>
          <a:p>
            <a:pPr eaLnBrk="1" hangingPunct="1"/>
            <a:endParaRPr lang="en-US" altLang="en-US" sz="1800" dirty="0">
              <a:solidFill>
                <a:srgbClr val="0000CC"/>
              </a:solidFill>
            </a:endParaRP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when </a:t>
            </a:r>
            <a:r>
              <a:rPr lang="en-US" altLang="en-US" sz="1800" dirty="0">
                <a:solidFill>
                  <a:srgbClr val="FF0000"/>
                </a:solidFill>
              </a:rPr>
              <a:t>write</a:t>
            </a:r>
            <a:r>
              <a:rPr lang="en-US" altLang="en-US" sz="1800" dirty="0">
                <a:solidFill>
                  <a:srgbClr val="0000CC"/>
                </a:solidFill>
              </a:rPr>
              <a:t>   =&gt;      </a:t>
            </a:r>
            <a:r>
              <a:rPr lang="en-US" altLang="en-US" sz="1800" b="1" dirty="0" err="1">
                <a:solidFill>
                  <a:srgbClr val="008000"/>
                </a:solidFill>
              </a:rPr>
              <a:t>oe</a:t>
            </a:r>
            <a:r>
              <a:rPr lang="en-US" altLang="en-US" sz="1800" b="1" dirty="0">
                <a:solidFill>
                  <a:srgbClr val="008000"/>
                </a:solidFill>
              </a:rPr>
              <a:t> &lt;= '0'; we &lt;= '1'; </a:t>
            </a:r>
            <a:r>
              <a:rPr lang="en-US" altLang="en-US" sz="1800" b="1" dirty="0" err="1">
                <a:solidFill>
                  <a:srgbClr val="008000"/>
                </a:solidFill>
              </a:rPr>
              <a:t>addr</a:t>
            </a:r>
            <a:r>
              <a:rPr lang="en-US" altLang="en-US" sz="1800" b="1" dirty="0">
                <a:solidFill>
                  <a:srgbClr val="008000"/>
                </a:solidFill>
              </a:rPr>
              <a:t> &lt;= "00";</a:t>
            </a:r>
            <a:endParaRPr lang="en-US" altLang="en-US" sz="1800" dirty="0">
              <a:solidFill>
                <a:srgbClr val="0000CC"/>
              </a:solidFill>
            </a:endParaRP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  </a:t>
            </a:r>
            <a:r>
              <a:rPr lang="en-US" altLang="en-US" sz="1800" dirty="0" err="1">
                <a:solidFill>
                  <a:srgbClr val="0000CC"/>
                </a:solidFill>
              </a:rPr>
              <a:t>next_state</a:t>
            </a:r>
            <a:r>
              <a:rPr lang="en-US" altLang="en-US" sz="1800" dirty="0">
                <a:solidFill>
                  <a:srgbClr val="0000CC"/>
                </a:solidFill>
              </a:rPr>
              <a:t> &lt;= idle;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end case;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end if;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end process </a:t>
            </a:r>
            <a:r>
              <a:rPr lang="en-US" altLang="en-US" sz="1800" dirty="0" err="1">
                <a:solidFill>
                  <a:srgbClr val="0000CC"/>
                </a:solidFill>
              </a:rPr>
              <a:t>state_comb</a:t>
            </a:r>
            <a:r>
              <a:rPr lang="en-US" altLang="en-US" sz="1800" dirty="0">
                <a:solidFill>
                  <a:srgbClr val="0000CC"/>
                </a:solidFill>
              </a:rPr>
              <a:t>;     </a:t>
            </a:r>
          </a:p>
        </p:txBody>
      </p:sp>
    </p:spTree>
    <p:extLst>
      <p:ext uri="{BB962C8B-B14F-4D97-AF65-F5344CB8AC3E}">
        <p14:creationId xmlns:p14="http://schemas.microsoft.com/office/powerpoint/2010/main" val="1556182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VHDL Code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>
                <a:solidFill>
                  <a:srgbClr val="000000"/>
                </a:solidFill>
              </a:rPr>
              <a:pPr/>
              <a:t>24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09600" y="1763713"/>
            <a:ext cx="7315200" cy="2862322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800" dirty="0" err="1">
                <a:solidFill>
                  <a:srgbClr val="0000CC"/>
                </a:solidFill>
              </a:rPr>
              <a:t>state_clocked</a:t>
            </a:r>
            <a:r>
              <a:rPr lang="en-US" altLang="en-US" sz="1800" dirty="0">
                <a:solidFill>
                  <a:srgbClr val="0000CC"/>
                </a:solidFill>
              </a:rPr>
              <a:t>: process(</a:t>
            </a:r>
            <a:r>
              <a:rPr lang="en-US" altLang="en-US" sz="1800" dirty="0" err="1">
                <a:solidFill>
                  <a:srgbClr val="0000CC"/>
                </a:solidFill>
              </a:rPr>
              <a:t>clk</a:t>
            </a:r>
            <a:r>
              <a:rPr lang="en-US" altLang="en-US" sz="1800" dirty="0">
                <a:solidFill>
                  <a:srgbClr val="0000CC"/>
                </a:solidFill>
              </a:rPr>
              <a:t>, reset) 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begin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if (reset = '1') then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</a:t>
            </a:r>
            <a:r>
              <a:rPr lang="en-US" altLang="en-US" sz="1800" dirty="0" err="1">
                <a:solidFill>
                  <a:srgbClr val="0000CC"/>
                </a:solidFill>
              </a:rPr>
              <a:t>present_state</a:t>
            </a:r>
            <a:r>
              <a:rPr lang="en-US" altLang="en-US" sz="1800" dirty="0">
                <a:solidFill>
                  <a:srgbClr val="0000CC"/>
                </a:solidFill>
              </a:rPr>
              <a:t> &lt;= idle;  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</a:t>
            </a:r>
            <a:r>
              <a:rPr lang="en-US" altLang="en-US" sz="1800" dirty="0" err="1">
                <a:solidFill>
                  <a:srgbClr val="0000CC"/>
                </a:solidFill>
              </a:rPr>
              <a:t>elsif</a:t>
            </a:r>
            <a:r>
              <a:rPr lang="en-US" altLang="en-US" sz="1800" dirty="0">
                <a:solidFill>
                  <a:srgbClr val="0000CC"/>
                </a:solidFill>
              </a:rPr>
              <a:t> </a:t>
            </a:r>
            <a:r>
              <a:rPr lang="en-US" altLang="en-US" sz="1800" dirty="0" err="1">
                <a:solidFill>
                  <a:srgbClr val="0000CC"/>
                </a:solidFill>
              </a:rPr>
              <a:t>rising_edge</a:t>
            </a:r>
            <a:r>
              <a:rPr lang="en-US" altLang="en-US" sz="1800" dirty="0">
                <a:solidFill>
                  <a:srgbClr val="0000CC"/>
                </a:solidFill>
              </a:rPr>
              <a:t>(</a:t>
            </a:r>
            <a:r>
              <a:rPr lang="en-US" altLang="en-US" sz="1800" dirty="0" err="1">
                <a:solidFill>
                  <a:srgbClr val="0000CC"/>
                </a:solidFill>
              </a:rPr>
              <a:t>clk</a:t>
            </a:r>
            <a:r>
              <a:rPr lang="en-US" altLang="en-US" sz="1800" dirty="0">
                <a:solidFill>
                  <a:srgbClr val="0000CC"/>
                </a:solidFill>
              </a:rPr>
              <a:t>) then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    </a:t>
            </a:r>
            <a:r>
              <a:rPr lang="en-US" altLang="en-US" sz="1800" dirty="0" err="1">
                <a:solidFill>
                  <a:srgbClr val="0000CC"/>
                </a:solidFill>
              </a:rPr>
              <a:t>present_state</a:t>
            </a:r>
            <a:r>
              <a:rPr lang="en-US" altLang="en-US" sz="1800" dirty="0">
                <a:solidFill>
                  <a:srgbClr val="0000CC"/>
                </a:solidFill>
              </a:rPr>
              <a:t> &lt;= </a:t>
            </a:r>
            <a:r>
              <a:rPr lang="en-US" altLang="en-US" sz="1800" dirty="0" err="1">
                <a:solidFill>
                  <a:srgbClr val="0000CC"/>
                </a:solidFill>
              </a:rPr>
              <a:t>next_state</a:t>
            </a:r>
            <a:r>
              <a:rPr lang="en-US" altLang="en-US" sz="1800" dirty="0">
                <a:solidFill>
                  <a:srgbClr val="0000CC"/>
                </a:solidFill>
              </a:rPr>
              <a:t>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 end if;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end process </a:t>
            </a:r>
            <a:r>
              <a:rPr lang="en-US" altLang="en-US" sz="1800" dirty="0" err="1">
                <a:solidFill>
                  <a:srgbClr val="0000CC"/>
                </a:solidFill>
              </a:rPr>
              <a:t>state_clocked</a:t>
            </a:r>
            <a:r>
              <a:rPr lang="en-US" altLang="en-US" sz="1800" dirty="0">
                <a:solidFill>
                  <a:srgbClr val="0000CC"/>
                </a:solidFill>
              </a:rPr>
              <a:t>;</a:t>
            </a:r>
          </a:p>
          <a:p>
            <a:pPr eaLnBrk="1" hangingPunct="1"/>
            <a:endParaRPr lang="en-US" altLang="en-US" sz="1800" dirty="0">
              <a:solidFill>
                <a:srgbClr val="0000CC"/>
              </a:solidFill>
            </a:endParaRP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2809325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FB8A8B68-E5C0-4C93-9FF5-A906C56224F8}" type="slidenum">
              <a:rPr lang="en-US" altLang="en-US" sz="1400">
                <a:solidFill>
                  <a:srgbClr val="000000"/>
                </a:solidFill>
                <a:cs typeface="Times New Roman" pitchFamily="18" charset="0"/>
              </a:rPr>
              <a:pPr eaLnBrk="1" hangingPunct="1"/>
              <a:t>25</a:t>
            </a:fld>
            <a:endParaRPr lang="en-US" altLang="en-US" sz="140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24580" name="Oval 2"/>
          <p:cNvSpPr>
            <a:spLocks noChangeArrowheads="1"/>
          </p:cNvSpPr>
          <p:nvPr/>
        </p:nvSpPr>
        <p:spPr bwMode="auto">
          <a:xfrm>
            <a:off x="685800" y="2590800"/>
            <a:ext cx="1905000" cy="1371600"/>
          </a:xfrm>
          <a:prstGeom prst="ellipse">
            <a:avLst/>
          </a:prstGeom>
          <a:solidFill>
            <a:srgbClr val="66FF66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 eaLnBrk="1" hangingPunct="1"/>
            <a:r>
              <a:rPr lang="ar-SA" altLang="en-US" dirty="0">
                <a:cs typeface="B Mitra" panose="00000400000000000000" pitchFamily="2" charset="-78"/>
              </a:rPr>
              <a:t>توليد خروجيها در ماشينهاي </a:t>
            </a:r>
            <a:r>
              <a:rPr lang="en-US" altLang="en-US" dirty="0">
                <a:cs typeface="B Mitra" panose="00000400000000000000" pitchFamily="2" charset="-78"/>
              </a:rPr>
              <a:t>Moore</a:t>
            </a:r>
          </a:p>
        </p:txBody>
      </p:sp>
      <p:sp>
        <p:nvSpPr>
          <p:cNvPr id="24582" name="Rectangle 4"/>
          <p:cNvSpPr>
            <a:spLocks noChangeArrowheads="1"/>
          </p:cNvSpPr>
          <p:nvPr/>
        </p:nvSpPr>
        <p:spPr bwMode="auto">
          <a:xfrm>
            <a:off x="0" y="361950"/>
            <a:ext cx="9144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ctr" eaLnBrk="1" hangingPunct="1"/>
            <a:r>
              <a:rPr lang="fa-IR" altLang="en-US" sz="700">
                <a:solidFill>
                  <a:srgbClr val="000000"/>
                </a:solidFill>
                <a:cs typeface="Times New Roman" pitchFamily="18" charset="0"/>
              </a:rPr>
              <a:t> </a:t>
            </a:r>
            <a:r>
              <a:rPr lang="fa-IR" altLang="en-US" sz="1800">
                <a:solidFill>
                  <a:srgbClr val="000000"/>
                </a:solidFill>
                <a:cs typeface="Times New Roman" pitchFamily="18" charset="0"/>
              </a:rPr>
              <a:t> </a:t>
            </a:r>
            <a:endParaRPr lang="fa-IR" altLang="en-US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24583" name="Text Box 5"/>
          <p:cNvSpPr txBox="1">
            <a:spLocks noChangeArrowheads="1"/>
          </p:cNvSpPr>
          <p:nvPr/>
        </p:nvSpPr>
        <p:spPr bwMode="auto">
          <a:xfrm>
            <a:off x="228600" y="1752600"/>
            <a:ext cx="78486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33450" indent="-45720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409700" indent="-4572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828800" indent="-4572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286000" indent="-4572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spcBef>
                <a:spcPct val="50000"/>
              </a:spcBef>
              <a:buFontTx/>
              <a:buNone/>
            </a:pPr>
            <a:r>
              <a:rPr lang="ar-SA" altLang="en-US" sz="2400" dirty="0">
                <a:solidFill>
                  <a:srgbClr val="000000"/>
                </a:solidFill>
                <a:cs typeface="B Mitra" panose="00000400000000000000" pitchFamily="2" charset="-78"/>
              </a:rPr>
              <a:t>3) خروجيهايي كه مستقيماً در بيتهاي حالت انكد شده اند (</a:t>
            </a:r>
            <a:r>
              <a:rPr lang="en-US" altLang="en-US" sz="2400" dirty="0">
                <a:solidFill>
                  <a:srgbClr val="000000"/>
                </a:solidFill>
                <a:cs typeface="B Mitra" panose="00000400000000000000" pitchFamily="2" charset="-78"/>
              </a:rPr>
              <a:t>Medvedev</a:t>
            </a:r>
            <a:r>
              <a:rPr lang="fa-IR" altLang="en-US" sz="2400" dirty="0">
                <a:solidFill>
                  <a:srgbClr val="000000"/>
                </a:solidFill>
                <a:cs typeface="B Mitra" panose="00000400000000000000" pitchFamily="2" charset="-78"/>
              </a:rPr>
              <a:t>)</a:t>
            </a:r>
            <a:endParaRPr lang="ar-SA" altLang="en-US" sz="2400" dirty="0">
              <a:solidFill>
                <a:srgbClr val="000000"/>
              </a:solidFill>
              <a:cs typeface="B Mitra" panose="00000400000000000000" pitchFamily="2" charset="-78"/>
            </a:endParaRPr>
          </a:p>
          <a:p>
            <a:pPr lvl="1" algn="r" rtl="1" eaLnBrk="1" hangingPunct="1">
              <a:spcBef>
                <a:spcPct val="50000"/>
              </a:spcBef>
              <a:buFontTx/>
              <a:buNone/>
            </a:pPr>
            <a:r>
              <a:rPr lang="ar-SA" altLang="en-US" sz="2400" dirty="0">
                <a:solidFill>
                  <a:srgbClr val="000000"/>
                </a:solidFill>
                <a:cs typeface="B Mitra" panose="00000400000000000000" pitchFamily="2" charset="-78"/>
              </a:rPr>
              <a:t> (مانند شمارنده ها):</a:t>
            </a:r>
            <a:endParaRPr lang="en-US" altLang="en-US" sz="2400" dirty="0">
              <a:solidFill>
                <a:srgbClr val="000000"/>
              </a:solidFill>
              <a:cs typeface="B Mitra" panose="00000400000000000000" pitchFamily="2" charset="-78"/>
            </a:endParaRPr>
          </a:p>
        </p:txBody>
      </p:sp>
      <p:sp>
        <p:nvSpPr>
          <p:cNvPr id="24584" name="Text Box 6"/>
          <p:cNvSpPr txBox="1">
            <a:spLocks noChangeArrowheads="1"/>
          </p:cNvSpPr>
          <p:nvPr/>
        </p:nvSpPr>
        <p:spPr bwMode="auto">
          <a:xfrm>
            <a:off x="1143000" y="2924175"/>
            <a:ext cx="1295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Next-State Logic</a:t>
            </a:r>
          </a:p>
        </p:txBody>
      </p:sp>
      <p:sp>
        <p:nvSpPr>
          <p:cNvPr id="24585" name="Rectangle 7"/>
          <p:cNvSpPr>
            <a:spLocks noChangeArrowheads="1"/>
          </p:cNvSpPr>
          <p:nvPr/>
        </p:nvSpPr>
        <p:spPr bwMode="auto">
          <a:xfrm>
            <a:off x="3124200" y="2362200"/>
            <a:ext cx="1143000" cy="1752600"/>
          </a:xfrm>
          <a:prstGeom prst="rect">
            <a:avLst/>
          </a:prstGeom>
          <a:solidFill>
            <a:srgbClr val="00FF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4586" name="Text Box 8"/>
          <p:cNvSpPr txBox="1">
            <a:spLocks noChangeArrowheads="1"/>
          </p:cNvSpPr>
          <p:nvPr/>
        </p:nvSpPr>
        <p:spPr bwMode="auto">
          <a:xfrm>
            <a:off x="3200400" y="2819400"/>
            <a:ext cx="1295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State Registers</a:t>
            </a:r>
          </a:p>
        </p:txBody>
      </p:sp>
      <p:sp>
        <p:nvSpPr>
          <p:cNvPr id="24587" name="Line 9"/>
          <p:cNvSpPr>
            <a:spLocks noChangeShapeType="1"/>
          </p:cNvSpPr>
          <p:nvPr/>
        </p:nvSpPr>
        <p:spPr bwMode="auto">
          <a:xfrm>
            <a:off x="304800" y="28956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4588" name="Text Box 10"/>
          <p:cNvSpPr txBox="1">
            <a:spLocks noChangeArrowheads="1"/>
          </p:cNvSpPr>
          <p:nvPr/>
        </p:nvSpPr>
        <p:spPr bwMode="auto">
          <a:xfrm>
            <a:off x="76200" y="2482850"/>
            <a:ext cx="1295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Inputs</a:t>
            </a:r>
          </a:p>
        </p:txBody>
      </p:sp>
      <p:sp>
        <p:nvSpPr>
          <p:cNvPr id="24589" name="Line 11"/>
          <p:cNvSpPr>
            <a:spLocks noChangeShapeType="1"/>
          </p:cNvSpPr>
          <p:nvPr/>
        </p:nvSpPr>
        <p:spPr bwMode="auto">
          <a:xfrm flipV="1">
            <a:off x="2590800" y="32766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4590" name="Text Box 12"/>
          <p:cNvSpPr txBox="1">
            <a:spLocks noChangeArrowheads="1"/>
          </p:cNvSpPr>
          <p:nvPr/>
        </p:nvSpPr>
        <p:spPr bwMode="auto">
          <a:xfrm>
            <a:off x="2514600" y="2743200"/>
            <a:ext cx="1066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Next-State</a:t>
            </a:r>
          </a:p>
        </p:txBody>
      </p:sp>
      <p:sp>
        <p:nvSpPr>
          <p:cNvPr id="24591" name="Text Box 13"/>
          <p:cNvSpPr txBox="1">
            <a:spLocks noChangeArrowheads="1"/>
          </p:cNvSpPr>
          <p:nvPr/>
        </p:nvSpPr>
        <p:spPr bwMode="auto">
          <a:xfrm>
            <a:off x="4267200" y="2771775"/>
            <a:ext cx="1295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Current-State</a:t>
            </a:r>
          </a:p>
        </p:txBody>
      </p:sp>
      <p:sp>
        <p:nvSpPr>
          <p:cNvPr id="24592" name="Line 14"/>
          <p:cNvSpPr>
            <a:spLocks noChangeShapeType="1"/>
          </p:cNvSpPr>
          <p:nvPr/>
        </p:nvSpPr>
        <p:spPr bwMode="auto">
          <a:xfrm>
            <a:off x="4267200" y="3276600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4593" name="Line 15"/>
          <p:cNvSpPr>
            <a:spLocks noChangeShapeType="1"/>
          </p:cNvSpPr>
          <p:nvPr/>
        </p:nvSpPr>
        <p:spPr bwMode="auto">
          <a:xfrm>
            <a:off x="4267200" y="26670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4594" name="Text Box 16"/>
          <p:cNvSpPr txBox="1">
            <a:spLocks noChangeArrowheads="1"/>
          </p:cNvSpPr>
          <p:nvPr/>
        </p:nvSpPr>
        <p:spPr bwMode="auto">
          <a:xfrm>
            <a:off x="4191000" y="2254250"/>
            <a:ext cx="1295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00"/>
                </a:solidFill>
              </a:rPr>
              <a:t>outputs</a:t>
            </a:r>
          </a:p>
        </p:txBody>
      </p:sp>
      <p:sp>
        <p:nvSpPr>
          <p:cNvPr id="24595" name="Line 17"/>
          <p:cNvSpPr>
            <a:spLocks noChangeShapeType="1"/>
          </p:cNvSpPr>
          <p:nvPr/>
        </p:nvSpPr>
        <p:spPr bwMode="auto">
          <a:xfrm>
            <a:off x="4648200" y="32766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4596" name="Line 18"/>
          <p:cNvSpPr>
            <a:spLocks noChangeShapeType="1"/>
          </p:cNvSpPr>
          <p:nvPr/>
        </p:nvSpPr>
        <p:spPr bwMode="auto">
          <a:xfrm flipH="1">
            <a:off x="381000" y="4419600"/>
            <a:ext cx="426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4597" name="Line 19"/>
          <p:cNvSpPr>
            <a:spLocks noChangeShapeType="1"/>
          </p:cNvSpPr>
          <p:nvPr/>
        </p:nvSpPr>
        <p:spPr bwMode="auto">
          <a:xfrm flipV="1">
            <a:off x="381000" y="3733800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4598" name="Line 20"/>
          <p:cNvSpPr>
            <a:spLocks noChangeShapeType="1"/>
          </p:cNvSpPr>
          <p:nvPr/>
        </p:nvSpPr>
        <p:spPr bwMode="auto">
          <a:xfrm>
            <a:off x="381000" y="37338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4599" name="Text Box 21"/>
          <p:cNvSpPr txBox="1">
            <a:spLocks noChangeArrowheads="1"/>
          </p:cNvSpPr>
          <p:nvPr/>
        </p:nvSpPr>
        <p:spPr bwMode="auto">
          <a:xfrm>
            <a:off x="609600" y="4724400"/>
            <a:ext cx="7162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33450" indent="-45720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409700" indent="-4572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828800" indent="-4572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286000" indent="-4572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dirty="0">
                <a:solidFill>
                  <a:srgbClr val="000000"/>
                </a:solidFill>
                <a:cs typeface="B Mitra" panose="00000400000000000000" pitchFamily="2" charset="-78"/>
              </a:rPr>
              <a:t>State encoding</a:t>
            </a:r>
            <a:r>
              <a:rPr lang="ar-SA" altLang="en-US" sz="2400" dirty="0">
                <a:solidFill>
                  <a:srgbClr val="000000"/>
                </a:solidFill>
                <a:cs typeface="B Mitra" panose="00000400000000000000" pitchFamily="2" charset="-78"/>
              </a:rPr>
              <a:t> بايد به دقت انجام شود.</a:t>
            </a:r>
            <a:endParaRPr lang="en-US" altLang="en-US" sz="2400" dirty="0">
              <a:solidFill>
                <a:srgbClr val="000000"/>
              </a:solidFill>
              <a:cs typeface="B Mitra" panose="00000400000000000000" pitchFamily="2" charset="-78"/>
            </a:endParaRP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dirty="0">
                <a:solidFill>
                  <a:srgbClr val="000000"/>
                </a:solidFill>
                <a:cs typeface="B Mitra" panose="00000400000000000000" pitchFamily="2" charset="-78"/>
              </a:rPr>
              <a:t>FF</a:t>
            </a:r>
            <a:r>
              <a:rPr lang="fa-IR" altLang="en-US" sz="2400" dirty="0">
                <a:solidFill>
                  <a:srgbClr val="000000"/>
                </a:solidFill>
                <a:cs typeface="B Mitra" panose="00000400000000000000" pitchFamily="2" charset="-78"/>
              </a:rPr>
              <a:t>هاي بيشتري لازم دارد.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2400" dirty="0">
                <a:solidFill>
                  <a:srgbClr val="000000"/>
                </a:solidFill>
                <a:cs typeface="B Mitra" panose="00000400000000000000" pitchFamily="2" charset="-78"/>
              </a:rPr>
              <a:t>براي خروجي  به مدار ترکيبي نياز ندارد (سرعت بيشتر).</a:t>
            </a:r>
            <a:endParaRPr lang="en-US" altLang="en-US" sz="2400" dirty="0">
              <a:solidFill>
                <a:srgbClr val="000000"/>
              </a:solidFill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33893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9E59AA89-EB60-4845-932C-685174523BD9}" type="slidenum">
              <a:rPr lang="en-US" altLang="en-US" sz="1400">
                <a:solidFill>
                  <a:srgbClr val="000000"/>
                </a:solidFill>
                <a:cs typeface="Times New Roman" pitchFamily="18" charset="0"/>
              </a:rPr>
              <a:pPr eaLnBrk="1" hangingPunct="1"/>
              <a:t>26</a:t>
            </a:fld>
            <a:endParaRPr lang="en-US" altLang="en-US" sz="140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State Encoding</a:t>
            </a:r>
          </a:p>
        </p:txBody>
      </p:sp>
      <p:graphicFrame>
        <p:nvGraphicFramePr>
          <p:cNvPr id="715257" name="Group 505"/>
          <p:cNvGraphicFramePr>
            <a:graphicFrameLocks noGrp="1"/>
          </p:cNvGraphicFramePr>
          <p:nvPr/>
        </p:nvGraphicFramePr>
        <p:xfrm>
          <a:off x="914400" y="2286000"/>
          <a:ext cx="3581400" cy="4073593"/>
        </p:xfrm>
        <a:graphic>
          <a:graphicData uri="http://schemas.openxmlformats.org/drawingml/2006/table">
            <a:tbl>
              <a:tblPr rtl="1"/>
              <a:tblGrid>
                <a:gridCol w="11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079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Addr(0)</a:t>
                      </a: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Lotus" pitchFamily="2" charset="-78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Addr(1)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Lotus" pitchFamily="2" charset="-78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921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Idle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921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decision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921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Read1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921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Read2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921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Read3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921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Read4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921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Write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15402" name="Group 650"/>
          <p:cNvGraphicFramePr>
            <a:graphicFrameLocks noGrp="1"/>
          </p:cNvGraphicFramePr>
          <p:nvPr/>
        </p:nvGraphicFramePr>
        <p:xfrm>
          <a:off x="4495800" y="2286000"/>
          <a:ext cx="2057400" cy="4073528"/>
        </p:xfrm>
        <a:graphic>
          <a:graphicData uri="http://schemas.openxmlformats.org/drawingml/2006/table">
            <a:tbl>
              <a:tblPr rtl="1"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463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s2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s1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238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238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238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463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3238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14926" name="Rectangle 174"/>
          <p:cNvSpPr>
            <a:spLocks noChangeArrowheads="1"/>
          </p:cNvSpPr>
          <p:nvPr/>
        </p:nvSpPr>
        <p:spPr bwMode="auto">
          <a:xfrm>
            <a:off x="4495800" y="4302125"/>
            <a:ext cx="1981200" cy="152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grpSp>
        <p:nvGrpSpPr>
          <p:cNvPr id="714927" name="Group 175"/>
          <p:cNvGrpSpPr>
            <a:grpSpLocks/>
          </p:cNvGrpSpPr>
          <p:nvPr/>
        </p:nvGrpSpPr>
        <p:grpSpPr bwMode="auto">
          <a:xfrm>
            <a:off x="4495800" y="4302125"/>
            <a:ext cx="2057400" cy="1554163"/>
            <a:chOff x="3216" y="2400"/>
            <a:chExt cx="1296" cy="979"/>
          </a:xfrm>
        </p:grpSpPr>
        <p:sp>
          <p:nvSpPr>
            <p:cNvPr id="25675" name="Rectangle 146"/>
            <p:cNvSpPr>
              <a:spLocks noChangeArrowheads="1"/>
            </p:cNvSpPr>
            <p:nvPr/>
          </p:nvSpPr>
          <p:spPr bwMode="auto">
            <a:xfrm>
              <a:off x="3864" y="3048"/>
              <a:ext cx="648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 rtl="0" eaLnBrk="0" hangingPunct="0"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algn="l" rtl="0" eaLnBrk="0" hangingPunct="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algn="l" rtl="0" eaLnBrk="0" hangingPunct="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algn="l" rtl="0" eaLnBrk="0" hangingPunct="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algn="l" rtl="0" eaLnBrk="0" hangingPunct="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25676" name="Rectangle 147"/>
            <p:cNvSpPr>
              <a:spLocks noChangeArrowheads="1"/>
            </p:cNvSpPr>
            <p:nvPr/>
          </p:nvSpPr>
          <p:spPr bwMode="auto">
            <a:xfrm>
              <a:off x="3216" y="3048"/>
              <a:ext cx="648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 rtl="0" eaLnBrk="0" hangingPunct="0"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algn="l" rtl="0" eaLnBrk="0" hangingPunct="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algn="l" rtl="0" eaLnBrk="0" hangingPunct="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algn="l" rtl="0" eaLnBrk="0" hangingPunct="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algn="l" rtl="0" eaLnBrk="0" hangingPunct="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25677" name="Rectangle 148"/>
            <p:cNvSpPr>
              <a:spLocks noChangeArrowheads="1"/>
            </p:cNvSpPr>
            <p:nvPr/>
          </p:nvSpPr>
          <p:spPr bwMode="auto">
            <a:xfrm>
              <a:off x="3864" y="2730"/>
              <a:ext cx="648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 rtl="0" eaLnBrk="0" hangingPunct="0"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algn="l" rtl="0" eaLnBrk="0" hangingPunct="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algn="l" rtl="0" eaLnBrk="0" hangingPunct="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algn="l" rtl="0" eaLnBrk="0" hangingPunct="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algn="l" rtl="0" eaLnBrk="0" hangingPunct="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25678" name="Rectangle 149"/>
            <p:cNvSpPr>
              <a:spLocks noChangeArrowheads="1"/>
            </p:cNvSpPr>
            <p:nvPr/>
          </p:nvSpPr>
          <p:spPr bwMode="auto">
            <a:xfrm>
              <a:off x="3216" y="2730"/>
              <a:ext cx="648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 rtl="0" eaLnBrk="0" hangingPunct="0"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algn="l" rtl="0" eaLnBrk="0" hangingPunct="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algn="l" rtl="0" eaLnBrk="0" hangingPunct="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algn="l" rtl="0" eaLnBrk="0" hangingPunct="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algn="l" rtl="0" eaLnBrk="0" hangingPunct="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25679" name="Rectangle 150"/>
            <p:cNvSpPr>
              <a:spLocks noChangeArrowheads="1"/>
            </p:cNvSpPr>
            <p:nvPr/>
          </p:nvSpPr>
          <p:spPr bwMode="auto">
            <a:xfrm>
              <a:off x="3864" y="2413"/>
              <a:ext cx="648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 rtl="0" eaLnBrk="0" hangingPunct="0"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algn="l" rtl="0" eaLnBrk="0" hangingPunct="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algn="l" rtl="0" eaLnBrk="0" hangingPunct="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algn="l" rtl="0" eaLnBrk="0" hangingPunct="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algn="l" rtl="0" eaLnBrk="0" hangingPunct="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25680" name="Rectangle 151"/>
            <p:cNvSpPr>
              <a:spLocks noChangeArrowheads="1"/>
            </p:cNvSpPr>
            <p:nvPr/>
          </p:nvSpPr>
          <p:spPr bwMode="auto">
            <a:xfrm>
              <a:off x="3216" y="2413"/>
              <a:ext cx="648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l" rtl="0" eaLnBrk="0" hangingPunct="0"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algn="l" rtl="0" eaLnBrk="0" hangingPunct="0">
                <a:spcBef>
                  <a:spcPct val="20000"/>
                </a:spcBef>
                <a:buChar char="–"/>
                <a:defRPr sz="28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algn="l" rtl="0" eaLnBrk="0" hangingPunct="0"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algn="l" rtl="0" eaLnBrk="0" hangingPunct="0">
                <a:spcBef>
                  <a:spcPct val="20000"/>
                </a:spcBef>
                <a:buChar char="–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algn="l" rtl="0" eaLnBrk="0" hangingPunct="0">
                <a:spcBef>
                  <a:spcPct val="20000"/>
                </a:spcBef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25681" name="Line 163"/>
            <p:cNvSpPr>
              <a:spLocks noChangeShapeType="1"/>
            </p:cNvSpPr>
            <p:nvPr/>
          </p:nvSpPr>
          <p:spPr bwMode="auto">
            <a:xfrm>
              <a:off x="3216" y="2413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82" name="Line 164"/>
            <p:cNvSpPr>
              <a:spLocks noChangeShapeType="1"/>
            </p:cNvSpPr>
            <p:nvPr/>
          </p:nvSpPr>
          <p:spPr bwMode="auto">
            <a:xfrm>
              <a:off x="3216" y="2730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83" name="Line 165"/>
            <p:cNvSpPr>
              <a:spLocks noChangeShapeType="1"/>
            </p:cNvSpPr>
            <p:nvPr/>
          </p:nvSpPr>
          <p:spPr bwMode="auto">
            <a:xfrm>
              <a:off x="3216" y="3048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84" name="Line 166"/>
            <p:cNvSpPr>
              <a:spLocks noChangeShapeType="1"/>
            </p:cNvSpPr>
            <p:nvPr/>
          </p:nvSpPr>
          <p:spPr bwMode="auto">
            <a:xfrm>
              <a:off x="3216" y="3379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85" name="Line 168"/>
            <p:cNvSpPr>
              <a:spLocks noChangeShapeType="1"/>
            </p:cNvSpPr>
            <p:nvPr/>
          </p:nvSpPr>
          <p:spPr bwMode="auto">
            <a:xfrm>
              <a:off x="3216" y="2400"/>
              <a:ext cx="0" cy="9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86" name="Line 169"/>
            <p:cNvSpPr>
              <a:spLocks noChangeShapeType="1"/>
            </p:cNvSpPr>
            <p:nvPr/>
          </p:nvSpPr>
          <p:spPr bwMode="auto">
            <a:xfrm>
              <a:off x="3873" y="2411"/>
              <a:ext cx="0" cy="9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687" name="Line 170"/>
            <p:cNvSpPr>
              <a:spLocks noChangeShapeType="1"/>
            </p:cNvSpPr>
            <p:nvPr/>
          </p:nvSpPr>
          <p:spPr bwMode="auto">
            <a:xfrm>
              <a:off x="4512" y="2400"/>
              <a:ext cx="0" cy="9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5674" name="Text Box 176"/>
          <p:cNvSpPr txBox="1">
            <a:spLocks noChangeArrowheads="1"/>
          </p:cNvSpPr>
          <p:nvPr/>
        </p:nvSpPr>
        <p:spPr bwMode="auto">
          <a:xfrm>
            <a:off x="228600" y="1644650"/>
            <a:ext cx="7543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03188" indent="-103188"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571500" indent="-19050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608138" indent="-4572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2255838" indent="-4572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903538" indent="-4572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33607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38179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42751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47323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ar-SA" altLang="en-US" sz="1800" dirty="0">
                <a:solidFill>
                  <a:srgbClr val="000000"/>
                </a:solidFill>
                <a:cs typeface="B Mitra" panose="00000400000000000000" pitchFamily="2" charset="-78"/>
              </a:rPr>
              <a:t>فرض: فقط براي </a:t>
            </a:r>
            <a:r>
              <a:rPr lang="en-US" altLang="en-US" sz="1800" dirty="0" err="1">
                <a:solidFill>
                  <a:srgbClr val="000000"/>
                </a:solidFill>
                <a:cs typeface="B Mitra" panose="00000400000000000000" pitchFamily="2" charset="-78"/>
              </a:rPr>
              <a:t>addr</a:t>
            </a:r>
            <a:r>
              <a:rPr lang="ar-SA" altLang="en-US" sz="1800" dirty="0">
                <a:solidFill>
                  <a:srgbClr val="000000"/>
                </a:solidFill>
                <a:cs typeface="B Mitra" panose="00000400000000000000" pitchFamily="2" charset="-78"/>
              </a:rPr>
              <a:t> اين كار را انجام مي دهيم (براي </a:t>
            </a:r>
            <a:r>
              <a:rPr lang="en-US" altLang="en-US" sz="1800" dirty="0">
                <a:solidFill>
                  <a:srgbClr val="000000"/>
                </a:solidFill>
                <a:cs typeface="B Mitra" panose="00000400000000000000" pitchFamily="2" charset="-78"/>
              </a:rPr>
              <a:t>we</a:t>
            </a:r>
            <a:r>
              <a:rPr lang="ar-SA" altLang="en-US" sz="1800" dirty="0">
                <a:solidFill>
                  <a:srgbClr val="000000"/>
                </a:solidFill>
                <a:cs typeface="B Mitra" panose="00000400000000000000" pitchFamily="2" charset="-78"/>
              </a:rPr>
              <a:t> و </a:t>
            </a:r>
            <a:r>
              <a:rPr lang="en-US" altLang="en-US" sz="1800" dirty="0" err="1">
                <a:solidFill>
                  <a:srgbClr val="000000"/>
                </a:solidFill>
                <a:cs typeface="B Mitra" panose="00000400000000000000" pitchFamily="2" charset="-78"/>
              </a:rPr>
              <a:t>oe</a:t>
            </a:r>
            <a:r>
              <a:rPr lang="ar-SA" altLang="en-US" sz="1800" dirty="0">
                <a:solidFill>
                  <a:srgbClr val="000000"/>
                </a:solidFill>
                <a:cs typeface="B Mitra" panose="00000400000000000000" pitchFamily="2" charset="-78"/>
              </a:rPr>
              <a:t> مشكل زماني نداريم)</a:t>
            </a:r>
            <a:r>
              <a:rPr lang="en-US" altLang="en-US" sz="1800" dirty="0">
                <a:solidFill>
                  <a:srgbClr val="000000"/>
                </a:solidFill>
                <a:cs typeface="B Mitra" panose="00000400000000000000" pitchFamily="2" charset="-78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84897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4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4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9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C07C3984-6481-4432-8F17-81433B1B0923}" type="slidenum">
              <a:rPr lang="en-US" altLang="en-US" sz="1400">
                <a:solidFill>
                  <a:srgbClr val="000000"/>
                </a:solidFill>
                <a:cs typeface="Times New Roman" pitchFamily="18" charset="0"/>
              </a:rPr>
              <a:pPr eaLnBrk="1" hangingPunct="1"/>
              <a:t>27</a:t>
            </a:fld>
            <a:endParaRPr lang="en-US" altLang="en-US" sz="140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State Encoding</a:t>
            </a:r>
          </a:p>
        </p:txBody>
      </p:sp>
      <p:graphicFrame>
        <p:nvGraphicFramePr>
          <p:cNvPr id="732163" name="Group 3"/>
          <p:cNvGraphicFramePr>
            <a:graphicFrameLocks noGrp="1"/>
          </p:cNvGraphicFramePr>
          <p:nvPr/>
        </p:nvGraphicFramePr>
        <p:xfrm>
          <a:off x="228600" y="2286000"/>
          <a:ext cx="3581400" cy="4073593"/>
        </p:xfrm>
        <a:graphic>
          <a:graphicData uri="http://schemas.openxmlformats.org/drawingml/2006/table">
            <a:tbl>
              <a:tblPr rtl="1"/>
              <a:tblGrid>
                <a:gridCol w="11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079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Addr(0)</a:t>
                      </a: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Lotus" pitchFamily="2" charset="-78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Addr(1)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Lotus" pitchFamily="2" charset="-78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921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Idle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921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decision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921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Read1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921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Read2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921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Read3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921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Read4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921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Write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669" name="Text Box 88"/>
          <p:cNvSpPr txBox="1">
            <a:spLocks noChangeArrowheads="1"/>
          </p:cNvSpPr>
          <p:nvPr/>
        </p:nvSpPr>
        <p:spPr bwMode="auto">
          <a:xfrm>
            <a:off x="228600" y="1644650"/>
            <a:ext cx="7543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03188" indent="-103188" algn="l" rtl="0" eaLnBrk="0" hangingPunct="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571500" indent="-190500" algn="l" rtl="0" eaLnBrk="0" hangingPunct="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608138" indent="-457200" algn="l" rtl="0" eaLnBrk="0" hangingPunct="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2255838" indent="-457200" algn="l" rtl="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903538" indent="-457200" algn="l" rtl="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33607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38179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42751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4732338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ar-SA" altLang="en-US" sz="1800" dirty="0">
                <a:solidFill>
                  <a:srgbClr val="000000"/>
                </a:solidFill>
                <a:cs typeface="B Mitra" panose="00000400000000000000" pitchFamily="2" charset="-78"/>
              </a:rPr>
              <a:t>اگر براي </a:t>
            </a:r>
            <a:r>
              <a:rPr lang="en-US" altLang="en-US" sz="1800" dirty="0">
                <a:solidFill>
                  <a:srgbClr val="000000"/>
                </a:solidFill>
                <a:cs typeface="B Mitra" panose="00000400000000000000" pitchFamily="2" charset="-78"/>
              </a:rPr>
              <a:t>we</a:t>
            </a:r>
            <a:r>
              <a:rPr lang="ar-SA" altLang="en-US" sz="1800" dirty="0">
                <a:solidFill>
                  <a:srgbClr val="000000"/>
                </a:solidFill>
                <a:cs typeface="B Mitra" panose="00000400000000000000" pitchFamily="2" charset="-78"/>
              </a:rPr>
              <a:t> و </a:t>
            </a:r>
            <a:r>
              <a:rPr lang="en-US" altLang="en-US" sz="1800" dirty="0" err="1">
                <a:solidFill>
                  <a:srgbClr val="000000"/>
                </a:solidFill>
                <a:cs typeface="B Mitra" panose="00000400000000000000" pitchFamily="2" charset="-78"/>
              </a:rPr>
              <a:t>oe</a:t>
            </a:r>
            <a:r>
              <a:rPr lang="ar-SA" altLang="en-US" sz="1800" dirty="0">
                <a:solidFill>
                  <a:srgbClr val="000000"/>
                </a:solidFill>
                <a:cs typeface="B Mitra" panose="00000400000000000000" pitchFamily="2" charset="-78"/>
              </a:rPr>
              <a:t> هم بخواهيم به همين صورت </a:t>
            </a:r>
            <a:r>
              <a:rPr lang="en-US" altLang="en-US" sz="1800" dirty="0">
                <a:solidFill>
                  <a:srgbClr val="000000"/>
                </a:solidFill>
                <a:cs typeface="B Mitra" panose="00000400000000000000" pitchFamily="2" charset="-78"/>
              </a:rPr>
              <a:t>encode</a:t>
            </a:r>
            <a:r>
              <a:rPr lang="fa-IR" altLang="en-US" sz="1800" dirty="0">
                <a:solidFill>
                  <a:srgbClr val="000000"/>
                </a:solidFill>
                <a:cs typeface="B Mitra" panose="00000400000000000000" pitchFamily="2" charset="-78"/>
              </a:rPr>
              <a:t> کنيم:</a:t>
            </a:r>
            <a:endParaRPr lang="en-US" altLang="en-US" sz="1800" dirty="0">
              <a:solidFill>
                <a:srgbClr val="000000"/>
              </a:solidFill>
              <a:cs typeface="B Mitra" panose="00000400000000000000" pitchFamily="2" charset="-78"/>
            </a:endParaRPr>
          </a:p>
        </p:txBody>
      </p:sp>
      <p:graphicFrame>
        <p:nvGraphicFramePr>
          <p:cNvPr id="732289" name="Group 129"/>
          <p:cNvGraphicFramePr>
            <a:graphicFrameLocks noGrp="1"/>
          </p:cNvGraphicFramePr>
          <p:nvPr/>
        </p:nvGraphicFramePr>
        <p:xfrm>
          <a:off x="3810000" y="2286000"/>
          <a:ext cx="2057400" cy="4073525"/>
        </p:xfrm>
        <a:graphic>
          <a:graphicData uri="http://schemas.openxmlformats.org/drawingml/2006/table">
            <a:tbl>
              <a:tblPr rtl="1"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we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oe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32371" name="Group 211"/>
          <p:cNvGraphicFramePr>
            <a:graphicFrameLocks noGrp="1"/>
          </p:cNvGraphicFramePr>
          <p:nvPr/>
        </p:nvGraphicFramePr>
        <p:xfrm>
          <a:off x="5867400" y="2286000"/>
          <a:ext cx="1143000" cy="4064000"/>
        </p:xfrm>
        <a:graphic>
          <a:graphicData uri="http://schemas.openxmlformats.org/drawingml/2006/table">
            <a:tbl>
              <a:tblPr rtl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s0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>
                      <a:lvl1pPr algn="l" rtl="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1pPr>
                      <a:lvl2pPr algn="l" rtl="0">
                        <a:spcBef>
                          <a:spcPct val="20000"/>
                        </a:spcBef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2pPr>
                      <a:lvl3pPr algn="l" rtl="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3pPr>
                      <a:lvl4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4pPr>
                      <a:lvl5pPr algn="l" rtl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Times New Roman" pitchFamily="18" charset="0"/>
                          <a:cs typeface="Lotus" pitchFamily="2" charset="-7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Lotus" pitchFamily="2" charset="-7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19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fld id="{8C49C440-7CA7-46B6-86FC-24C59AF4D4C2}" type="slidenum">
              <a:rPr lang="en-US" altLang="en-US" sz="1400">
                <a:solidFill>
                  <a:srgbClr val="000000"/>
                </a:solidFill>
                <a:cs typeface="Times New Roman" pitchFamily="18" charset="0"/>
              </a:rPr>
              <a:pPr eaLnBrk="1" hangingPunct="1"/>
              <a:t>28</a:t>
            </a:fld>
            <a:endParaRPr lang="en-US" altLang="en-US" sz="140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VHDL Code</a:t>
            </a:r>
          </a:p>
        </p:txBody>
      </p:sp>
      <p:sp>
        <p:nvSpPr>
          <p:cNvPr id="27653" name="Rectangle 3"/>
          <p:cNvSpPr>
            <a:spLocks noChangeArrowheads="1"/>
          </p:cNvSpPr>
          <p:nvPr/>
        </p:nvSpPr>
        <p:spPr bwMode="auto">
          <a:xfrm>
            <a:off x="533400" y="685800"/>
            <a:ext cx="7315200" cy="590931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architecture </a:t>
            </a:r>
            <a:r>
              <a:rPr lang="en-US" altLang="en-US" sz="1800" dirty="0" err="1">
                <a:solidFill>
                  <a:srgbClr val="0000CC"/>
                </a:solidFill>
              </a:rPr>
              <a:t>state_machine</a:t>
            </a:r>
            <a:r>
              <a:rPr lang="en-US" altLang="en-US" sz="1800" dirty="0">
                <a:solidFill>
                  <a:srgbClr val="0000CC"/>
                </a:solidFill>
              </a:rPr>
              <a:t> of </a:t>
            </a:r>
            <a:r>
              <a:rPr lang="en-US" altLang="en-US" sz="1800" dirty="0" err="1">
                <a:solidFill>
                  <a:srgbClr val="0000CC"/>
                </a:solidFill>
              </a:rPr>
              <a:t>memory_controller</a:t>
            </a:r>
            <a:r>
              <a:rPr lang="en-US" altLang="en-US" sz="1800" dirty="0">
                <a:solidFill>
                  <a:srgbClr val="0000CC"/>
                </a:solidFill>
              </a:rPr>
              <a:t> is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-- state signal is a </a:t>
            </a:r>
            <a:r>
              <a:rPr lang="en-US" altLang="en-US" sz="1800" dirty="0" err="1">
                <a:solidFill>
                  <a:srgbClr val="0000CC"/>
                </a:solidFill>
              </a:rPr>
              <a:t>std_logic_vector</a:t>
            </a:r>
            <a:r>
              <a:rPr lang="en-US" altLang="en-US" sz="1800" dirty="0">
                <a:solidFill>
                  <a:srgbClr val="0000CC"/>
                </a:solidFill>
              </a:rPr>
              <a:t> rather than an enumeration type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 </a:t>
            </a:r>
            <a:r>
              <a:rPr lang="en-US" altLang="en-US" sz="1800" dirty="0">
                <a:solidFill>
                  <a:srgbClr val="FF0000"/>
                </a:solidFill>
              </a:rPr>
              <a:t>signal state : </a:t>
            </a:r>
            <a:r>
              <a:rPr lang="en-US" altLang="en-US" sz="1800" dirty="0" err="1">
                <a:solidFill>
                  <a:srgbClr val="FF0000"/>
                </a:solidFill>
              </a:rPr>
              <a:t>std_logic_vector</a:t>
            </a:r>
            <a:r>
              <a:rPr lang="en-US" altLang="en-US" sz="1800" dirty="0">
                <a:solidFill>
                  <a:srgbClr val="FF0000"/>
                </a:solidFill>
              </a:rPr>
              <a:t>(4 </a:t>
            </a:r>
            <a:r>
              <a:rPr lang="en-US" altLang="en-US" sz="1800" dirty="0" err="1">
                <a:solidFill>
                  <a:srgbClr val="FF0000"/>
                </a:solidFill>
              </a:rPr>
              <a:t>downto</a:t>
            </a:r>
            <a:r>
              <a:rPr lang="en-US" altLang="en-US" sz="1800" dirty="0">
                <a:solidFill>
                  <a:srgbClr val="FF0000"/>
                </a:solidFill>
              </a:rPr>
              <a:t> 0);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</a:rPr>
              <a:t>   constant idle    : </a:t>
            </a:r>
            <a:r>
              <a:rPr lang="en-US" altLang="en-US" sz="1800" dirty="0" err="1">
                <a:solidFill>
                  <a:srgbClr val="FF0000"/>
                </a:solidFill>
              </a:rPr>
              <a:t>std_logic_vector</a:t>
            </a:r>
            <a:r>
              <a:rPr lang="en-US" altLang="en-US" sz="1800" dirty="0">
                <a:solidFill>
                  <a:srgbClr val="FF0000"/>
                </a:solidFill>
              </a:rPr>
              <a:t>(4 </a:t>
            </a:r>
            <a:r>
              <a:rPr lang="en-US" altLang="en-US" sz="1800" dirty="0" err="1">
                <a:solidFill>
                  <a:srgbClr val="FF0000"/>
                </a:solidFill>
              </a:rPr>
              <a:t>downto</a:t>
            </a:r>
            <a:r>
              <a:rPr lang="en-US" altLang="en-US" sz="1800" dirty="0">
                <a:solidFill>
                  <a:srgbClr val="FF0000"/>
                </a:solidFill>
              </a:rPr>
              <a:t> 0) := "00000";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</a:rPr>
              <a:t>   constant decision: </a:t>
            </a:r>
            <a:r>
              <a:rPr lang="en-US" altLang="en-US" sz="1800" dirty="0" err="1">
                <a:solidFill>
                  <a:srgbClr val="FF0000"/>
                </a:solidFill>
              </a:rPr>
              <a:t>std_logic_vector</a:t>
            </a:r>
            <a:r>
              <a:rPr lang="en-US" altLang="en-US" sz="1800" dirty="0">
                <a:solidFill>
                  <a:srgbClr val="FF0000"/>
                </a:solidFill>
              </a:rPr>
              <a:t>(4 </a:t>
            </a:r>
            <a:r>
              <a:rPr lang="en-US" altLang="en-US" sz="1800" dirty="0" err="1">
                <a:solidFill>
                  <a:srgbClr val="FF0000"/>
                </a:solidFill>
              </a:rPr>
              <a:t>downto</a:t>
            </a:r>
            <a:r>
              <a:rPr lang="en-US" altLang="en-US" sz="1800" dirty="0">
                <a:solidFill>
                  <a:srgbClr val="FF0000"/>
                </a:solidFill>
              </a:rPr>
              <a:t> 0) := "00001";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</a:rPr>
              <a:t>   constant read1   : </a:t>
            </a:r>
            <a:r>
              <a:rPr lang="en-US" altLang="en-US" sz="1800" dirty="0" err="1">
                <a:solidFill>
                  <a:srgbClr val="FF0000"/>
                </a:solidFill>
              </a:rPr>
              <a:t>std_logic_vector</a:t>
            </a:r>
            <a:r>
              <a:rPr lang="en-US" altLang="en-US" sz="1800" dirty="0">
                <a:solidFill>
                  <a:srgbClr val="FF0000"/>
                </a:solidFill>
              </a:rPr>
              <a:t>(4 </a:t>
            </a:r>
            <a:r>
              <a:rPr lang="en-US" altLang="en-US" sz="1800" dirty="0" err="1">
                <a:solidFill>
                  <a:srgbClr val="FF0000"/>
                </a:solidFill>
              </a:rPr>
              <a:t>downto</a:t>
            </a:r>
            <a:r>
              <a:rPr lang="en-US" altLang="en-US" sz="1800" dirty="0">
                <a:solidFill>
                  <a:srgbClr val="FF0000"/>
                </a:solidFill>
              </a:rPr>
              <a:t> 0) := "00100";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</a:rPr>
              <a:t>   constant read2   : </a:t>
            </a:r>
            <a:r>
              <a:rPr lang="en-US" altLang="en-US" sz="1800" dirty="0" err="1">
                <a:solidFill>
                  <a:srgbClr val="FF0000"/>
                </a:solidFill>
              </a:rPr>
              <a:t>std_logic_vector</a:t>
            </a:r>
            <a:r>
              <a:rPr lang="en-US" altLang="en-US" sz="1800" dirty="0">
                <a:solidFill>
                  <a:srgbClr val="FF0000"/>
                </a:solidFill>
              </a:rPr>
              <a:t>(4 </a:t>
            </a:r>
            <a:r>
              <a:rPr lang="en-US" altLang="en-US" sz="1800" dirty="0" err="1">
                <a:solidFill>
                  <a:srgbClr val="FF0000"/>
                </a:solidFill>
              </a:rPr>
              <a:t>downto</a:t>
            </a:r>
            <a:r>
              <a:rPr lang="en-US" altLang="en-US" sz="1800" dirty="0">
                <a:solidFill>
                  <a:srgbClr val="FF0000"/>
                </a:solidFill>
              </a:rPr>
              <a:t> 0) := "01100";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</a:rPr>
              <a:t>   constant read3   : </a:t>
            </a:r>
            <a:r>
              <a:rPr lang="en-US" altLang="en-US" sz="1800" dirty="0" err="1">
                <a:solidFill>
                  <a:srgbClr val="FF0000"/>
                </a:solidFill>
              </a:rPr>
              <a:t>std_logic_vector</a:t>
            </a:r>
            <a:r>
              <a:rPr lang="en-US" altLang="en-US" sz="1800" dirty="0">
                <a:solidFill>
                  <a:srgbClr val="FF0000"/>
                </a:solidFill>
              </a:rPr>
              <a:t>(4 </a:t>
            </a:r>
            <a:r>
              <a:rPr lang="en-US" altLang="en-US" sz="1800" dirty="0" err="1">
                <a:solidFill>
                  <a:srgbClr val="FF0000"/>
                </a:solidFill>
              </a:rPr>
              <a:t>downto</a:t>
            </a:r>
            <a:r>
              <a:rPr lang="en-US" altLang="en-US" sz="1800" dirty="0">
                <a:solidFill>
                  <a:srgbClr val="FF0000"/>
                </a:solidFill>
              </a:rPr>
              <a:t> 0) := "10100";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</a:rPr>
              <a:t>   constant read4   : </a:t>
            </a:r>
            <a:r>
              <a:rPr lang="en-US" altLang="en-US" sz="1800" dirty="0" err="1">
                <a:solidFill>
                  <a:srgbClr val="FF0000"/>
                </a:solidFill>
              </a:rPr>
              <a:t>std_logic_vector</a:t>
            </a:r>
            <a:r>
              <a:rPr lang="en-US" altLang="en-US" sz="1800" dirty="0">
                <a:solidFill>
                  <a:srgbClr val="FF0000"/>
                </a:solidFill>
              </a:rPr>
              <a:t>(4 </a:t>
            </a:r>
            <a:r>
              <a:rPr lang="en-US" altLang="en-US" sz="1800" dirty="0" err="1">
                <a:solidFill>
                  <a:srgbClr val="FF0000"/>
                </a:solidFill>
              </a:rPr>
              <a:t>downto</a:t>
            </a:r>
            <a:r>
              <a:rPr lang="en-US" altLang="en-US" sz="1800" dirty="0">
                <a:solidFill>
                  <a:srgbClr val="FF0000"/>
                </a:solidFill>
              </a:rPr>
              <a:t> 0) := "11100";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</a:rPr>
              <a:t>   constant write   : </a:t>
            </a:r>
            <a:r>
              <a:rPr lang="en-US" altLang="en-US" sz="1800" dirty="0" err="1">
                <a:solidFill>
                  <a:srgbClr val="FF0000"/>
                </a:solidFill>
              </a:rPr>
              <a:t>std_logic_vector</a:t>
            </a:r>
            <a:r>
              <a:rPr lang="en-US" altLang="en-US" sz="1800" dirty="0">
                <a:solidFill>
                  <a:srgbClr val="FF0000"/>
                </a:solidFill>
              </a:rPr>
              <a:t>(4 </a:t>
            </a:r>
            <a:r>
              <a:rPr lang="en-US" altLang="en-US" sz="1800" dirty="0" err="1">
                <a:solidFill>
                  <a:srgbClr val="FF0000"/>
                </a:solidFill>
              </a:rPr>
              <a:t>downto</a:t>
            </a:r>
            <a:r>
              <a:rPr lang="en-US" altLang="en-US" sz="1800" dirty="0">
                <a:solidFill>
                  <a:srgbClr val="FF0000"/>
                </a:solidFill>
              </a:rPr>
              <a:t> 0) := "00010";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begin</a:t>
            </a:r>
          </a:p>
          <a:p>
            <a:pPr eaLnBrk="1" hangingPunct="1"/>
            <a:endParaRPr lang="en-US" altLang="en-US" sz="1800" dirty="0">
              <a:solidFill>
                <a:srgbClr val="0000CC"/>
              </a:solidFill>
            </a:endParaRPr>
          </a:p>
          <a:p>
            <a:pPr eaLnBrk="1" hangingPunct="1"/>
            <a:r>
              <a:rPr lang="en-US" altLang="en-US" sz="1800" dirty="0" err="1">
                <a:solidFill>
                  <a:srgbClr val="0000CC"/>
                </a:solidFill>
              </a:rPr>
              <a:t>state_comb:process</a:t>
            </a:r>
            <a:r>
              <a:rPr lang="en-US" altLang="en-US" sz="1800" dirty="0">
                <a:solidFill>
                  <a:srgbClr val="0000CC"/>
                </a:solidFill>
              </a:rPr>
              <a:t>(</a:t>
            </a:r>
            <a:r>
              <a:rPr lang="en-US" altLang="en-US" sz="1800" dirty="0" err="1">
                <a:solidFill>
                  <a:srgbClr val="0000CC"/>
                </a:solidFill>
              </a:rPr>
              <a:t>bus_id</a:t>
            </a:r>
            <a:r>
              <a:rPr lang="en-US" altLang="en-US" sz="1800" dirty="0">
                <a:solidFill>
                  <a:srgbClr val="0000CC"/>
                </a:solidFill>
              </a:rPr>
              <a:t>, </a:t>
            </a:r>
            <a:r>
              <a:rPr lang="en-US" altLang="en-US" sz="1800" dirty="0" err="1">
                <a:solidFill>
                  <a:srgbClr val="0000CC"/>
                </a:solidFill>
              </a:rPr>
              <a:t>present_state</a:t>
            </a:r>
            <a:r>
              <a:rPr lang="en-US" altLang="en-US" sz="1800" dirty="0">
                <a:solidFill>
                  <a:srgbClr val="0000CC"/>
                </a:solidFill>
              </a:rPr>
              <a:t>, burst, </a:t>
            </a:r>
            <a:r>
              <a:rPr lang="en-US" altLang="en-US" sz="1800" dirty="0" err="1">
                <a:solidFill>
                  <a:srgbClr val="0000CC"/>
                </a:solidFill>
              </a:rPr>
              <a:t>read_write</a:t>
            </a:r>
            <a:r>
              <a:rPr lang="en-US" altLang="en-US" sz="1800" dirty="0">
                <a:solidFill>
                  <a:srgbClr val="0000CC"/>
                </a:solidFill>
              </a:rPr>
              <a:t>, ready) …….</a:t>
            </a:r>
          </a:p>
          <a:p>
            <a:pPr eaLnBrk="1" hangingPunct="1"/>
            <a:endParaRPr lang="en-US" altLang="en-US" sz="1800" dirty="0">
              <a:solidFill>
                <a:srgbClr val="0000CC"/>
              </a:solidFill>
            </a:endParaRPr>
          </a:p>
          <a:p>
            <a:pPr eaLnBrk="1" hangingPunct="1"/>
            <a:r>
              <a:rPr lang="en-US" altLang="en-US" sz="1800" dirty="0" err="1">
                <a:solidFill>
                  <a:srgbClr val="0000CC"/>
                </a:solidFill>
              </a:rPr>
              <a:t>state_clocked</a:t>
            </a:r>
            <a:r>
              <a:rPr lang="en-US" altLang="en-US" sz="1800" dirty="0">
                <a:solidFill>
                  <a:srgbClr val="0000CC"/>
                </a:solidFill>
              </a:rPr>
              <a:t>: process(</a:t>
            </a:r>
            <a:r>
              <a:rPr lang="en-US" altLang="en-US" sz="1800" dirty="0" err="1">
                <a:solidFill>
                  <a:srgbClr val="0000CC"/>
                </a:solidFill>
              </a:rPr>
              <a:t>clk</a:t>
            </a:r>
            <a:r>
              <a:rPr lang="en-US" altLang="en-US" sz="1800" dirty="0">
                <a:solidFill>
                  <a:srgbClr val="0000CC"/>
                </a:solidFill>
              </a:rPr>
              <a:t>, reset)  …….</a:t>
            </a:r>
          </a:p>
          <a:p>
            <a:pPr eaLnBrk="1" hangingPunct="1"/>
            <a:endParaRPr lang="en-US" altLang="en-US" sz="1800" dirty="0">
              <a:solidFill>
                <a:srgbClr val="0000CC"/>
              </a:solidFill>
            </a:endParaRP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-- outputs associated with register values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  </a:t>
            </a:r>
            <a:r>
              <a:rPr lang="en-US" altLang="en-US" sz="1800" dirty="0">
                <a:solidFill>
                  <a:srgbClr val="FF0000"/>
                </a:solidFill>
              </a:rPr>
              <a:t>we &lt;= state(1);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</a:rPr>
              <a:t>  </a:t>
            </a:r>
            <a:r>
              <a:rPr lang="en-US" altLang="en-US" sz="1800" dirty="0" err="1">
                <a:solidFill>
                  <a:srgbClr val="FF0000"/>
                </a:solidFill>
              </a:rPr>
              <a:t>oe</a:t>
            </a:r>
            <a:r>
              <a:rPr lang="en-US" altLang="en-US" sz="1800" dirty="0">
                <a:solidFill>
                  <a:srgbClr val="FF0000"/>
                </a:solidFill>
              </a:rPr>
              <a:t> &lt;= state(2);</a:t>
            </a:r>
          </a:p>
          <a:p>
            <a:pPr eaLnBrk="1" hangingPunct="1"/>
            <a:r>
              <a:rPr lang="en-US" altLang="en-US" sz="1800" dirty="0">
                <a:solidFill>
                  <a:srgbClr val="FF0000"/>
                </a:solidFill>
              </a:rPr>
              <a:t>  </a:t>
            </a:r>
            <a:r>
              <a:rPr lang="en-US" altLang="en-US" sz="1800" dirty="0" err="1">
                <a:solidFill>
                  <a:srgbClr val="FF0000"/>
                </a:solidFill>
              </a:rPr>
              <a:t>addr</a:t>
            </a:r>
            <a:r>
              <a:rPr lang="en-US" altLang="en-US" sz="1800" dirty="0">
                <a:solidFill>
                  <a:srgbClr val="FF0000"/>
                </a:solidFill>
              </a:rPr>
              <a:t> &lt;= state(4 </a:t>
            </a:r>
            <a:r>
              <a:rPr lang="en-US" altLang="en-US" sz="1800" dirty="0" err="1">
                <a:solidFill>
                  <a:srgbClr val="FF0000"/>
                </a:solidFill>
              </a:rPr>
              <a:t>downto</a:t>
            </a:r>
            <a:r>
              <a:rPr lang="en-US" altLang="en-US" sz="1800" dirty="0">
                <a:solidFill>
                  <a:srgbClr val="FF0000"/>
                </a:solidFill>
              </a:rPr>
              <a:t> 3);</a:t>
            </a:r>
          </a:p>
          <a:p>
            <a:pPr eaLnBrk="1" hangingPunct="1"/>
            <a:r>
              <a:rPr lang="en-US" altLang="en-US" sz="1800" dirty="0">
                <a:solidFill>
                  <a:srgbClr val="0000CC"/>
                </a:solidFill>
              </a:rPr>
              <a:t>end </a:t>
            </a:r>
            <a:r>
              <a:rPr lang="en-US" altLang="en-US" sz="1800" dirty="0" err="1">
                <a:solidFill>
                  <a:srgbClr val="0000CC"/>
                </a:solidFill>
              </a:rPr>
              <a:t>state_machine</a:t>
            </a:r>
            <a:r>
              <a:rPr lang="en-US" altLang="en-US" sz="1800" dirty="0">
                <a:solidFill>
                  <a:srgbClr val="0000CC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48583795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16004</TotalTime>
  <Words>2338</Words>
  <Application>Microsoft Office PowerPoint</Application>
  <PresentationFormat>On-screen Show (4:3)</PresentationFormat>
  <Paragraphs>532</Paragraphs>
  <Slides>28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Helvetica</vt:lpstr>
      <vt:lpstr>Times New Roman</vt:lpstr>
      <vt:lpstr>Blank Presentation</vt:lpstr>
      <vt:lpstr>Computer-Aided Design    Memory</vt:lpstr>
      <vt:lpstr>Memory</vt:lpstr>
      <vt:lpstr>Memory Implementation - 1</vt:lpstr>
      <vt:lpstr>Memory Implementation - 1</vt:lpstr>
      <vt:lpstr>Memory - 2</vt:lpstr>
      <vt:lpstr>Memory Implementation - 2</vt:lpstr>
      <vt:lpstr>Memory - 3</vt:lpstr>
      <vt:lpstr>Memory Implementation - 3</vt:lpstr>
      <vt:lpstr>Memory - 4</vt:lpstr>
      <vt:lpstr>Memory Implementation - 4</vt:lpstr>
      <vt:lpstr>Memory Implementation - 4</vt:lpstr>
      <vt:lpstr>Case Study  Memory Controller</vt:lpstr>
      <vt:lpstr>Memory Controller</vt:lpstr>
      <vt:lpstr>Memory Controller</vt:lpstr>
      <vt:lpstr>Memory Controller</vt:lpstr>
      <vt:lpstr>Memory Controller</vt:lpstr>
      <vt:lpstr>Memory Controller</vt:lpstr>
      <vt:lpstr>Memory Controller</vt:lpstr>
      <vt:lpstr>Memory Controller</vt:lpstr>
      <vt:lpstr>Memory Controller</vt:lpstr>
      <vt:lpstr>VHDL Code (2-process)</vt:lpstr>
      <vt:lpstr>VHDL Code</vt:lpstr>
      <vt:lpstr>VHDL Code</vt:lpstr>
      <vt:lpstr>VHDL Code</vt:lpstr>
      <vt:lpstr>توليد خروجيها در ماشينهاي Moore</vt:lpstr>
      <vt:lpstr>State Encoding</vt:lpstr>
      <vt:lpstr>State Encoding</vt:lpstr>
      <vt:lpstr>VHDL Code</vt:lpstr>
    </vt:vector>
  </TitlesOfParts>
  <Company>EPFL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MEGAFRAME Chip</dc:title>
  <dc:creator>Mahdi</dc:creator>
  <cp:lastModifiedBy>Mahdi Aminian</cp:lastModifiedBy>
  <cp:revision>709</cp:revision>
  <cp:lastPrinted>2017-12-09T20:04:48Z</cp:lastPrinted>
  <dcterms:created xsi:type="dcterms:W3CDTF">2009-11-03T19:03:43Z</dcterms:created>
  <dcterms:modified xsi:type="dcterms:W3CDTF">2024-12-21T22:43:03Z</dcterms:modified>
</cp:coreProperties>
</file>