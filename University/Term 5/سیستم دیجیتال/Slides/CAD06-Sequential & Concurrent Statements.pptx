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671" r:id="rId2"/>
    <p:sldId id="653" r:id="rId3"/>
    <p:sldId id="634" r:id="rId4"/>
    <p:sldId id="655" r:id="rId5"/>
    <p:sldId id="656" r:id="rId6"/>
    <p:sldId id="657" r:id="rId7"/>
    <p:sldId id="658" r:id="rId8"/>
    <p:sldId id="659" r:id="rId9"/>
    <p:sldId id="660" r:id="rId10"/>
    <p:sldId id="714" r:id="rId11"/>
    <p:sldId id="711" r:id="rId12"/>
    <p:sldId id="699" r:id="rId13"/>
    <p:sldId id="700" r:id="rId14"/>
    <p:sldId id="701" r:id="rId15"/>
    <p:sldId id="702" r:id="rId16"/>
    <p:sldId id="712" r:id="rId17"/>
    <p:sldId id="703" r:id="rId18"/>
    <p:sldId id="704" r:id="rId19"/>
    <p:sldId id="713" r:id="rId20"/>
    <p:sldId id="661" r:id="rId21"/>
    <p:sldId id="662" r:id="rId22"/>
    <p:sldId id="663" r:id="rId23"/>
    <p:sldId id="670" r:id="rId24"/>
    <p:sldId id="654" r:id="rId25"/>
    <p:sldId id="664" r:id="rId26"/>
    <p:sldId id="665" r:id="rId27"/>
    <p:sldId id="666" r:id="rId28"/>
    <p:sldId id="667" r:id="rId29"/>
    <p:sldId id="668" r:id="rId30"/>
    <p:sldId id="669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4/10/20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625C36B-DCF2-41AB-BDDD-ED904C9A1423}" type="slidenum">
              <a:rPr lang="en-US" sz="1200" smtClean="0"/>
              <a:pPr eaLnBrk="1" hangingPunct="1"/>
              <a:t>2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4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96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1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0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65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42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46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26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16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05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94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74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8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1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90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10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5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8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A0F3D5C-D594-4A24-B6AC-6C49E275A5C6}" type="slidenum">
              <a:rPr lang="en-US" altLang="en-US" sz="1200" smtClean="0"/>
              <a:pPr eaLnBrk="1" hangingPunct="1"/>
              <a:t>24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080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587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25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70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54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3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4887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838200"/>
            <a:ext cx="9144000" cy="3733800"/>
          </a:xfrm>
        </p:spPr>
        <p:txBody>
          <a:bodyPr/>
          <a:lstStyle/>
          <a:p>
            <a:pPr lvl="1" eaLnBrk="1" hangingPunct="1"/>
            <a:br>
              <a:rPr lang="en-US" sz="4800" b="1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>
                <a:solidFill>
                  <a:schemeClr val="bg1"/>
                </a:solidFill>
                <a:cs typeface="Times New Roman" pitchFamily="18" charset="0"/>
              </a:rPr>
              <a:t>Computer-Aided </a:t>
            </a: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Design</a:t>
            </a:r>
            <a:br>
              <a:rPr lang="en-US" sz="4800" b="1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Sequential &amp; Concurrent 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statements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7840340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601275E8-E663-4DF3-B0DE-E558553D42AD}" type="slidenum">
              <a:rPr lang="en-US" sz="1400" b="0" smtClean="0">
                <a:cs typeface="Times New Roman" pitchFamily="18" charset="0"/>
              </a:rPr>
              <a:pPr eaLnBrk="1" hangingPunct="1"/>
              <a:t>2</a:t>
            </a:fld>
            <a:endParaRPr lang="en-US" sz="1400" b="0">
              <a:cs typeface="Times New Roman" pitchFamily="18" charset="0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Sequential Statements</a:t>
            </a:r>
          </a:p>
        </p:txBody>
      </p:sp>
    </p:spTree>
    <p:extLst>
      <p:ext uri="{BB962C8B-B14F-4D97-AF65-F5344CB8AC3E}">
        <p14:creationId xmlns:p14="http://schemas.microsoft.com/office/powerpoint/2010/main" val="88283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Statements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09600" y="2209800"/>
            <a:ext cx="5562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b="0" dirty="0"/>
              <a:t>Executed according to the order in which they appear </a:t>
            </a:r>
          </a:p>
          <a:p>
            <a:pPr algn="l" rtl="0" eaLnBrk="1" hangingPunct="1">
              <a:buFontTx/>
              <a:buChar char="•"/>
            </a:pPr>
            <a:r>
              <a:rPr lang="en-US" b="0" dirty="0"/>
              <a:t>Permitted only within processes and subprograms </a:t>
            </a:r>
          </a:p>
          <a:p>
            <a:pPr algn="l" rtl="0" eaLnBrk="1" hangingPunct="1">
              <a:buFontTx/>
              <a:buChar char="•"/>
            </a:pPr>
            <a:r>
              <a:rPr lang="en-US" b="0" dirty="0"/>
              <a:t>Used to describe algorithms </a:t>
            </a:r>
          </a:p>
        </p:txBody>
      </p:sp>
      <p:pic>
        <p:nvPicPr>
          <p:cNvPr id="7" name="Picture 10" descr="t_1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81200"/>
            <a:ext cx="2035175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032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86200" y="1752600"/>
            <a:ext cx="42672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 dirty="0"/>
              <a:t>Condition is a </a:t>
            </a:r>
            <a:r>
              <a:rPr lang="en-US" sz="2000" dirty="0" err="1"/>
              <a:t>boolean</a:t>
            </a:r>
            <a:r>
              <a:rPr lang="en-US" sz="2000" dirty="0"/>
              <a:t> expression </a:t>
            </a:r>
          </a:p>
          <a:p>
            <a:pPr algn="l" rtl="0" eaLnBrk="1" hangingPunct="1">
              <a:buFontTx/>
              <a:buChar char="•"/>
            </a:pPr>
            <a:r>
              <a:rPr lang="en-US" sz="2000" dirty="0"/>
              <a:t>Optional </a:t>
            </a:r>
            <a:r>
              <a:rPr lang="en-US" sz="2000" dirty="0" err="1"/>
              <a:t>elsif</a:t>
            </a:r>
            <a:r>
              <a:rPr lang="en-US" sz="2000" dirty="0"/>
              <a:t> sequence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conditions may overlap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priority</a:t>
            </a:r>
            <a:r>
              <a:rPr lang="en-US" sz="2000" dirty="0"/>
              <a:t> </a:t>
            </a:r>
          </a:p>
          <a:p>
            <a:pPr algn="l" rtl="0" eaLnBrk="1" hangingPunct="1">
              <a:buFontTx/>
              <a:buChar char="•"/>
            </a:pPr>
            <a:r>
              <a:rPr lang="en-US" sz="2000" dirty="0"/>
              <a:t>Optional else path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executed, if all conditions evaluate to false 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33400" y="1482725"/>
            <a:ext cx="3200400" cy="45275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	if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CONDITION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then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if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CONDITION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then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else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if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CONDITION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then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 err="1">
                <a:solidFill>
                  <a:schemeClr val="accent2"/>
                </a:solidFill>
                <a:latin typeface="Helvetica" pitchFamily="34" charset="0"/>
              </a:rPr>
              <a:t>elsif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CONDITION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then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·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chemeClr val="accent2"/>
                </a:solidFill>
              </a:rPr>
              <a:t>·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chemeClr val="accent2"/>
                </a:solidFill>
              </a:rPr>
              <a:t>·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else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74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71600" y="1482725"/>
            <a:ext cx="5181600" cy="122713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entity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IF_STATEMENT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port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bit_vector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(3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downto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0);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 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bit_vector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(3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downto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0);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endParaRPr lang="en-US" sz="1600" b="0">
              <a:solidFill>
                <a:schemeClr val="accent2"/>
              </a:solidFill>
              <a:latin typeface="Helvetica" pitchFamily="34" charset="0"/>
            </a:endParaRPr>
          </a:p>
          <a:p>
            <a:pPr algn="l" rtl="0" eaLnBrk="1" hangingPunct="1"/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IF_STATEMENT;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" y="3117850"/>
            <a:ext cx="4191000" cy="26797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EXAMPLE1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IF_STATEMENT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A;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if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"1111")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elsif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&gt;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"1000")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40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if;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EXAMPLE1;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4343400" y="3130550"/>
            <a:ext cx="4267200" cy="31051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EXAMPLE2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IF_STATEMENT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if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"1111")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elsif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&gt;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"1000")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else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 &lt;= A;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40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if;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EXAMPLE2;</a:t>
            </a:r>
          </a:p>
        </p:txBody>
      </p:sp>
    </p:spTree>
    <p:extLst>
      <p:ext uri="{BB962C8B-B14F-4D97-AF65-F5344CB8AC3E}">
        <p14:creationId xmlns:p14="http://schemas.microsoft.com/office/powerpoint/2010/main" val="384092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Statement: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4800" y="3117850"/>
            <a:ext cx="4191000" cy="26797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EXAMPLE1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IF_STATEMENT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if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"1111")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dirty="0" err="1">
                <a:solidFill>
                  <a:schemeClr val="accent2"/>
                </a:solidFill>
                <a:latin typeface="Helvetica" pitchFamily="34" charset="0"/>
              </a:rPr>
              <a:t>elsif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&gt;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"1000")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if;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EXAMPLE1;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572000" y="3130550"/>
            <a:ext cx="4267200" cy="31051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EXAMPLE2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IF_STATEMENT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if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"1111")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dirty="0" err="1">
                <a:solidFill>
                  <a:schemeClr val="accent2"/>
                </a:solidFill>
                <a:latin typeface="Helvetica" pitchFamily="34" charset="0"/>
              </a:rPr>
              <a:t>elsif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&gt;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"1000")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then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else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 &lt;= A;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if;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EXAMPLE2;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09600" y="1752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sz="2000" dirty="0">
                <a:cs typeface="B Mitra" panose="00000400000000000000" pitchFamily="2" charset="-78"/>
              </a:rPr>
              <a:t>  شرط </a:t>
            </a:r>
            <a:r>
              <a:rPr lang="en-US" sz="2000" dirty="0">
                <a:cs typeface="B Mitra" panose="00000400000000000000" pitchFamily="2" charset="-78"/>
              </a:rPr>
              <a:t>IF</a:t>
            </a:r>
            <a:r>
              <a:rPr lang="fa-IR" sz="2000" dirty="0">
                <a:cs typeface="B Mitra" panose="00000400000000000000" pitchFamily="2" charset="-78"/>
              </a:rPr>
              <a:t> اول داراي بيشترين اولويت است (اگر شرط برقرار باشد بقية دستورات تا آخر</a:t>
            </a:r>
            <a:r>
              <a:rPr lang="en-US" sz="2000" dirty="0">
                <a:cs typeface="B Mitra" panose="00000400000000000000" pitchFamily="2" charset="-78"/>
              </a:rPr>
              <a:t> skip</a:t>
            </a:r>
            <a:r>
              <a:rPr lang="fa-IR" sz="2000" dirty="0">
                <a:cs typeface="B Mitra" panose="00000400000000000000" pitchFamily="2" charset="-78"/>
              </a:rPr>
              <a:t> مي شوند)</a:t>
            </a:r>
            <a:endParaRPr lang="en-US" sz="2000" dirty="0">
              <a:cs typeface="B Mitra" panose="00000400000000000000" pitchFamily="2" charset="-78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09600" y="2422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sz="2000" dirty="0">
                <a:cs typeface="B Mitra" panose="00000400000000000000" pitchFamily="2" charset="-78"/>
              </a:rPr>
              <a:t>  دو شرط </a:t>
            </a:r>
            <a:r>
              <a:rPr lang="en-US" sz="2000" dirty="0">
                <a:cs typeface="B Mitra" panose="00000400000000000000" pitchFamily="2" charset="-78"/>
              </a:rPr>
              <a:t>if</a:t>
            </a:r>
            <a:r>
              <a:rPr lang="fa-IR" sz="2000" dirty="0">
                <a:cs typeface="B Mitra" panose="00000400000000000000" pitchFamily="2" charset="-78"/>
              </a:rPr>
              <a:t> و </a:t>
            </a:r>
            <a:r>
              <a:rPr lang="en-US" sz="2000" dirty="0" err="1">
                <a:cs typeface="B Mitra" panose="00000400000000000000" pitchFamily="2" charset="-78"/>
              </a:rPr>
              <a:t>elsif</a:t>
            </a:r>
            <a:r>
              <a:rPr lang="fa-IR" sz="2000" dirty="0">
                <a:cs typeface="B Mitra" panose="00000400000000000000" pitchFamily="2" charset="-78"/>
              </a:rPr>
              <a:t> همپوشاني دارند اما به دليل اولويت اولي </a:t>
            </a:r>
            <a:r>
              <a:rPr lang="en-US" sz="2000" dirty="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sz="2000" dirty="0">
                <a:cs typeface="B Mitra" panose="00000400000000000000" pitchFamily="2" charset="-78"/>
                <a:sym typeface="Wingdings" pitchFamily="2" charset="2"/>
              </a:rPr>
              <a:t>    </a:t>
            </a:r>
            <a:r>
              <a:rPr lang="en-US" sz="2000" dirty="0">
                <a:cs typeface="B Mitra" panose="00000400000000000000" pitchFamily="2" charset="-78"/>
                <a:sym typeface="Wingdings" pitchFamily="2" charset="2"/>
              </a:rPr>
              <a:t> Z &lt;= B</a:t>
            </a:r>
            <a:endParaRPr 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26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524000"/>
            <a:ext cx="3505200" cy="37941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case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EXPRESSION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is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VALUE_1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--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sequential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statements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VALUE_2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|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VALUE_3</a:t>
            </a:r>
            <a:r>
              <a:rPr lang="en-US" sz="1600" b="0">
                <a:solidFill>
                  <a:schemeClr val="accent2"/>
                </a:solidFill>
              </a:rPr>
              <a:t>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--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sequential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statements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VALUE_4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VALUE_N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--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sequential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statements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others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--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sequential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statements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case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;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191000" y="1524000"/>
            <a:ext cx="426720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 dirty="0"/>
              <a:t>Choice options must not overlap </a:t>
            </a:r>
          </a:p>
          <a:p>
            <a:pPr algn="l" rtl="0" eaLnBrk="1" hangingPunct="1">
              <a:buFontTx/>
              <a:buChar char="•"/>
            </a:pPr>
            <a:r>
              <a:rPr lang="en-US" sz="2000" dirty="0"/>
              <a:t>All choice options have to be covered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single values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selection of values</a:t>
            </a:r>
            <a:br>
              <a:rPr lang="en-US" sz="2000" b="0" dirty="0"/>
            </a:br>
            <a:r>
              <a:rPr lang="en-US" sz="2000" b="0" dirty="0"/>
              <a:t>("|" means "or")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value range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"when others" covers all remaining choice options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914400" y="5486400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sz="2000" dirty="0">
                <a:cs typeface="B Mitra" panose="00000400000000000000" pitchFamily="2" charset="-78"/>
              </a:rPr>
              <a:t>  </a:t>
            </a:r>
            <a:r>
              <a:rPr lang="en-US" sz="2000" dirty="0">
                <a:cs typeface="B Mitra" panose="00000400000000000000" pitchFamily="2" charset="-78"/>
              </a:rPr>
              <a:t>type</a:t>
            </a:r>
            <a:r>
              <a:rPr lang="fa-IR" sz="2000" dirty="0">
                <a:cs typeface="B Mitra" panose="00000400000000000000" pitchFamily="2" charset="-78"/>
              </a:rPr>
              <a:t> عبارت </a:t>
            </a:r>
            <a:r>
              <a:rPr lang="en-US" sz="2000" dirty="0">
                <a:cs typeface="B Mitra" panose="00000400000000000000" pitchFamily="2" charset="-78"/>
              </a:rPr>
              <a:t>case header</a:t>
            </a:r>
            <a:r>
              <a:rPr lang="fa-IR" sz="2000" dirty="0">
                <a:cs typeface="B Mitra" panose="00000400000000000000" pitchFamily="2" charset="-78"/>
              </a:rPr>
              <a:t> بايد مطابق </a:t>
            </a:r>
            <a:r>
              <a:rPr lang="en-US" sz="2000" dirty="0">
                <a:cs typeface="B Mitra" panose="00000400000000000000" pitchFamily="2" charset="-78"/>
              </a:rPr>
              <a:t>type </a:t>
            </a:r>
            <a:r>
              <a:rPr lang="fa-IR" sz="2000" dirty="0">
                <a:cs typeface="B Mitra" panose="00000400000000000000" pitchFamily="2" charset="-78"/>
              </a:rPr>
              <a:t> مقادير باشد.</a:t>
            </a:r>
            <a:endParaRPr 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26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Statement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33600" y="1219200"/>
            <a:ext cx="4572000" cy="52609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entity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CASE_STATEMENT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port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integer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range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15;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 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integer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range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15;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CASE_STATEMENT;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EXAMPLE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CASE_STATEMENT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case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is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A;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7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|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9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1 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 5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others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   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0;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  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600">
                <a:solidFill>
                  <a:schemeClr val="accent2"/>
                </a:solidFill>
              </a:rPr>
              <a:t> </a:t>
            </a:r>
            <a:r>
              <a:rPr lang="en-US" sz="1600">
                <a:solidFill>
                  <a:schemeClr val="accent2"/>
                </a:solidFill>
                <a:latin typeface="Helvetica" pitchFamily="34" charset="0"/>
              </a:rPr>
              <a:t>case;</a:t>
            </a:r>
            <a:r>
              <a:rPr lang="en-US" sz="1600">
                <a:solidFill>
                  <a:schemeClr val="accent2"/>
                </a:solidFill>
              </a:rPr>
              <a:t>        </a:t>
            </a:r>
            <a:br>
              <a:rPr lang="en-US" sz="16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</a:rPr>
              <a:t>  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6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chemeClr val="accent2"/>
                </a:solidFill>
              </a:rPr>
              <a:t> </a:t>
            </a:r>
            <a:r>
              <a:rPr lang="en-US" sz="1600" b="0">
                <a:solidFill>
                  <a:schemeClr val="accent2"/>
                </a:solidFill>
                <a:latin typeface="Helvetica" pitchFamily="34" charset="0"/>
              </a:rPr>
              <a:t>EXAMPLE;</a:t>
            </a:r>
          </a:p>
        </p:txBody>
      </p:sp>
    </p:spTree>
    <p:extLst>
      <p:ext uri="{BB962C8B-B14F-4D97-AF65-F5344CB8AC3E}">
        <p14:creationId xmlns:p14="http://schemas.microsoft.com/office/powerpoint/2010/main" val="130265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Ranges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3810000" cy="45942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entity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RANGE_1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port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integer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range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0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to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15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    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integer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range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0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to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15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RANGE_1;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RANGE_1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case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0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A;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7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|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rgbClr val="663300"/>
                </a:solidFill>
                <a:latin typeface="Helvetica" pitchFamily="34" charset="0"/>
              </a:rPr>
              <a:t>9</a:t>
            </a:r>
            <a:r>
              <a:rPr lang="en-US" sz="1400" b="0">
                <a:solidFill>
                  <a:srgbClr val="663300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when</a:t>
            </a:r>
            <a:r>
              <a:rPr lang="en-US" sz="140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1 to 5</a:t>
            </a:r>
            <a:r>
              <a:rPr lang="en-US" sz="1400">
                <a:solidFill>
                  <a:schemeClr val="accent2"/>
                </a:solidFill>
              </a:rPr>
              <a:t>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others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0;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case;</a:t>
            </a:r>
            <a:r>
              <a:rPr lang="en-US" sz="1400" b="0">
                <a:solidFill>
                  <a:schemeClr val="accent2"/>
                </a:solidFill>
              </a:rPr>
              <a:t>        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</a:rPr>
              <a:t>  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chemeClr val="accent2"/>
                </a:solidFill>
              </a:rPr>
              <a:t> </a:t>
            </a:r>
            <a:r>
              <a:rPr lang="en-US" sz="1400" b="0">
                <a:solidFill>
                  <a:schemeClr val="accent2"/>
                </a:solidFill>
                <a:latin typeface="Helvetica" pitchFamily="34" charset="0"/>
              </a:rPr>
              <a:t>EXAMPLE;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419600" y="1447800"/>
            <a:ext cx="4191000" cy="45942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entity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RANGE_2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port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400" b="0" dirty="0">
                <a:solidFill>
                  <a:schemeClr val="accent2"/>
                </a:solidFill>
              </a:rPr>
              <a:t>    </a:t>
            </a:r>
            <a:r>
              <a:rPr lang="en-US" sz="1400" b="0" dirty="0" err="1">
                <a:solidFill>
                  <a:srgbClr val="663300"/>
                </a:solidFill>
                <a:latin typeface="Helvetica" pitchFamily="34" charset="0"/>
              </a:rPr>
              <a:t>std_logic_vector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(3 </a:t>
            </a:r>
            <a:r>
              <a:rPr lang="en-US" sz="1400" b="0" dirty="0" err="1">
                <a:solidFill>
                  <a:srgbClr val="663300"/>
                </a:solidFill>
                <a:latin typeface="Helvetica" pitchFamily="34" charset="0"/>
              </a:rPr>
              <a:t>downto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 0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);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    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sz="1400" b="0" dirty="0">
                <a:solidFill>
                  <a:schemeClr val="accent2"/>
                </a:solidFill>
              </a:rPr>
              <a:t>  </a:t>
            </a:r>
            <a:r>
              <a:rPr lang="en-US" sz="1400" b="0" dirty="0" err="1">
                <a:solidFill>
                  <a:srgbClr val="663300"/>
                </a:solidFill>
                <a:latin typeface="Helvetica" pitchFamily="34" charset="0"/>
              </a:rPr>
              <a:t>std_logic_vector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(3 </a:t>
            </a:r>
            <a:r>
              <a:rPr lang="en-US" sz="1400" b="0" dirty="0" err="1">
                <a:solidFill>
                  <a:srgbClr val="663300"/>
                </a:solidFill>
                <a:latin typeface="Helvetica" pitchFamily="34" charset="0"/>
              </a:rPr>
              <a:t>downto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 0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);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RANGE_2;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RANGE_2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(A,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X)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case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X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"0000"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=&gt;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"0111"</a:t>
            </a:r>
            <a:r>
              <a:rPr lang="en-US" sz="1400" b="0" dirty="0">
                <a:solidFill>
                  <a:srgbClr val="663300"/>
                </a:solidFill>
              </a:rPr>
              <a:t> 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|</a:t>
            </a:r>
            <a:r>
              <a:rPr lang="en-US" sz="1400" b="0" dirty="0">
                <a:solidFill>
                  <a:srgbClr val="663300"/>
                </a:solidFill>
              </a:rPr>
              <a:t> 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"1001"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rgbClr val="663300"/>
                </a:solidFill>
                <a:latin typeface="Helvetica" pitchFamily="34" charset="0"/>
              </a:rPr>
              <a:t>"0001" to "0101"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=&gt; </a:t>
            </a: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rgbClr val="FF0000"/>
                </a:solidFill>
                <a:latin typeface="Helvetica" pitchFamily="34" charset="0"/>
              </a:rPr>
              <a:t>-- wrong</a:t>
            </a:r>
            <a:br>
              <a:rPr lang="en-US" sz="1400" b="0" dirty="0">
                <a:solidFill>
                  <a:srgbClr val="FF0000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when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others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=&gt;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0;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case;</a:t>
            </a:r>
            <a:r>
              <a:rPr lang="en-US" sz="1400" b="0" dirty="0">
                <a:solidFill>
                  <a:schemeClr val="accent2"/>
                </a:solidFill>
              </a:rPr>
              <a:t>        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EXAMPLE;</a:t>
            </a:r>
          </a:p>
        </p:txBody>
      </p:sp>
    </p:spTree>
    <p:extLst>
      <p:ext uri="{BB962C8B-B14F-4D97-AF65-F5344CB8AC3E}">
        <p14:creationId xmlns:p14="http://schemas.microsoft.com/office/powerpoint/2010/main" val="13026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Mistakes in 1-Bit Full Adder: </a:t>
            </a:r>
            <a:br>
              <a:rPr lang="en-US" sz="3600" dirty="0"/>
            </a:br>
            <a:r>
              <a:rPr lang="en-US" sz="3600" dirty="0"/>
              <a:t>Algorithmic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E980659E-1519-F64B-BFED-62209A97D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2120444"/>
            <a:ext cx="3810000" cy="353943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endParaRPr lang="en-US" sz="1400" b="0" dirty="0">
              <a:solidFill>
                <a:schemeClr val="accent2"/>
              </a:solidFill>
              <a:latin typeface="Helvetica" pitchFamily="34" charset="0"/>
            </a:endParaRPr>
          </a:p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algo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fadd1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</a:p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    signal temp : 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std_logic_vector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(1 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downto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 0);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</a:p>
          <a:p>
            <a:pPr algn="l" rtl="0" eaLnBrk="1" hangingPunct="1"/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(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opa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opb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,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opc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)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</a:p>
          <a:p>
            <a:pPr algn="l" rtl="0" eaLnBrk="1" hangingPunct="1"/>
            <a:endParaRPr lang="en-US" sz="1400" b="0" dirty="0">
              <a:solidFill>
                <a:schemeClr val="accent2"/>
              </a:solidFill>
              <a:latin typeface="Helvetica" pitchFamily="34" charset="0"/>
            </a:endParaRPr>
          </a:p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      temp &lt;= “00”;</a:t>
            </a:r>
          </a:p>
          <a:p>
            <a:pPr algn="l" rtl="0"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      if 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opa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=‘1’ then 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temp &lt;= temp +1; 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</a:p>
          <a:p>
            <a:pPr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      if 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opb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=‘1’ then 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temp &lt;= temp +1; 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</a:p>
          <a:p>
            <a:pPr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      if </a:t>
            </a:r>
            <a:r>
              <a:rPr lang="en-US" sz="1400" b="0" dirty="0" err="1">
                <a:solidFill>
                  <a:schemeClr val="accent2"/>
                </a:solidFill>
                <a:latin typeface="Helvetica" pitchFamily="34" charset="0"/>
              </a:rPr>
              <a:t>opc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=‘1’ then </a:t>
            </a:r>
            <a:r>
              <a:rPr lang="en-US" sz="1400" b="0" dirty="0">
                <a:solidFill>
                  <a:srgbClr val="663300"/>
                </a:solidFill>
                <a:latin typeface="Helvetica" pitchFamily="34" charset="0"/>
              </a:rPr>
              <a:t>temp &lt;= temp +1; 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 if;</a:t>
            </a:r>
          </a:p>
          <a:p>
            <a:pPr eaLnBrk="1" hangingPunct="1"/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2"/>
                </a:solidFill>
              </a:rPr>
              <a:t>  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</a:br>
            <a:endParaRPr lang="en-US" sz="1400" b="0" dirty="0">
              <a:solidFill>
                <a:schemeClr val="accent2"/>
              </a:solidFill>
              <a:latin typeface="Helvetica" pitchFamily="34" charset="0"/>
            </a:endParaRPr>
          </a:p>
          <a:p>
            <a:pPr eaLnBrk="1" hangingPunct="1"/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	end</a:t>
            </a:r>
            <a:r>
              <a:rPr lang="en-US" sz="1400" b="0" dirty="0">
                <a:solidFill>
                  <a:schemeClr val="accent2"/>
                </a:solidFill>
              </a:rPr>
              <a:t> </a:t>
            </a:r>
            <a:r>
              <a:rPr lang="en-US" sz="1400" b="0" dirty="0">
                <a:solidFill>
                  <a:schemeClr val="accent2"/>
                </a:solidFill>
                <a:latin typeface="Helvetica" pitchFamily="34" charset="0"/>
              </a:rPr>
              <a:t>EXAMPLE;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D457152-F3FB-C646-9BBD-03B782B89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05000"/>
            <a:ext cx="44958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1800" b="0" dirty="0">
                <a:solidFill>
                  <a:srgbClr val="FF0000"/>
                </a:solidFill>
              </a:rPr>
              <a:t>Mistake 1:</a:t>
            </a:r>
            <a:r>
              <a:rPr lang="en-US" sz="1800" b="0" dirty="0"/>
              <a:t> operator “+” is not defined for </a:t>
            </a:r>
            <a:r>
              <a:rPr lang="en-US" sz="1800" b="0" dirty="0" err="1"/>
              <a:t>std_logic_vector</a:t>
            </a:r>
            <a:endParaRPr lang="en-US" sz="1800" b="0" dirty="0"/>
          </a:p>
          <a:p>
            <a:pPr eaLnBrk="1" hangingPunct="1">
              <a:buFontTx/>
              <a:buChar char="•"/>
            </a:pPr>
            <a:r>
              <a:rPr lang="en-US" sz="1800" b="0" dirty="0">
                <a:solidFill>
                  <a:srgbClr val="FF0000"/>
                </a:solidFill>
              </a:rPr>
              <a:t>Mistake 2:</a:t>
            </a:r>
            <a:r>
              <a:rPr lang="en-US" sz="1800" b="0" dirty="0"/>
              <a:t> signal assignment will be actually executed when the process suspends</a:t>
            </a:r>
          </a:p>
          <a:p>
            <a:pPr eaLnBrk="1" hangingPunct="1">
              <a:buFontTx/>
              <a:buChar char="•"/>
            </a:pPr>
            <a:r>
              <a:rPr lang="en-US" sz="1800" b="0" dirty="0"/>
              <a:t>If all inputs are “1”, just the last statement will be executed</a:t>
            </a:r>
          </a:p>
          <a:p>
            <a:pPr eaLnBrk="1" hangingPunct="1">
              <a:buFontTx/>
              <a:buChar char="•"/>
            </a:pPr>
            <a:r>
              <a:rPr lang="en-US" sz="1800" b="0" dirty="0">
                <a:solidFill>
                  <a:srgbClr val="FF0000"/>
                </a:solidFill>
              </a:rPr>
              <a:t>Mistake 3:</a:t>
            </a:r>
            <a:r>
              <a:rPr lang="en-US" sz="1800" b="0" dirty="0"/>
              <a:t> signal “temp” is in both side of assignment -&gt; </a:t>
            </a:r>
            <a:r>
              <a:rPr lang="en-US" sz="1800" b="0" dirty="0">
                <a:solidFill>
                  <a:srgbClr val="FF0000"/>
                </a:solidFill>
                <a:highlight>
                  <a:srgbClr val="FFFF00"/>
                </a:highlight>
              </a:rPr>
              <a:t>Combinational Loop (WRONG!)</a:t>
            </a:r>
            <a:r>
              <a:rPr lang="en-US" sz="1800" b="0" dirty="0"/>
              <a:t> </a:t>
            </a:r>
          </a:p>
          <a:p>
            <a:pPr eaLnBrk="1" hangingPunct="1">
              <a:buFontTx/>
              <a:buChar char="•"/>
            </a:pPr>
            <a:r>
              <a:rPr lang="en-US" sz="1800" b="0" dirty="0">
                <a:solidFill>
                  <a:srgbClr val="FF0000"/>
                </a:solidFill>
              </a:rPr>
              <a:t>Mistake 4:</a:t>
            </a:r>
            <a:r>
              <a:rPr lang="en-US" sz="1800" b="0" dirty="0"/>
              <a:t> Because the value of ”temp” is not determined when it’s reading -&gt; inferred LATCH </a:t>
            </a:r>
            <a:r>
              <a:rPr lang="en-US" sz="1800" b="0" dirty="0">
                <a:solidFill>
                  <a:srgbClr val="FF0000"/>
                </a:solidFill>
                <a:highlight>
                  <a:srgbClr val="FFFF00"/>
                </a:highlight>
              </a:rPr>
              <a:t>(WRONG!)</a:t>
            </a:r>
            <a:r>
              <a:rPr lang="en-US" sz="1800" b="0" dirty="0"/>
              <a:t>  </a:t>
            </a:r>
          </a:p>
          <a:p>
            <a:pPr eaLnBrk="1" hangingPunct="1">
              <a:buFontTx/>
              <a:buChar char="•"/>
            </a:pP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25802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Signed / Unsigned Numbers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6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200" dirty="0"/>
              <a:t>Bit-Based Numerical Data Representation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7391061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95700"/>
            <a:ext cx="8469539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16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6" name="Picture 8" descr="t_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296361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066800" y="2819400"/>
            <a:ext cx="6858000" cy="838200"/>
            <a:chOff x="192" y="2016"/>
            <a:chExt cx="4320" cy="528"/>
          </a:xfrm>
        </p:grpSpPr>
        <p:pic>
          <p:nvPicPr>
            <p:cNvPr id="8" name="Picture 10" descr="t_8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3" y="2208"/>
              <a:ext cx="1829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18"/>
            <p:cNvGrpSpPr>
              <a:grpSpLocks/>
            </p:cNvGrpSpPr>
            <p:nvPr/>
          </p:nvGrpSpPr>
          <p:grpSpPr bwMode="auto">
            <a:xfrm>
              <a:off x="192" y="2016"/>
              <a:ext cx="2057" cy="528"/>
              <a:chOff x="192" y="2016"/>
              <a:chExt cx="2057" cy="528"/>
            </a:xfrm>
          </p:grpSpPr>
          <p:pic>
            <p:nvPicPr>
              <p:cNvPr id="10" name="Picture 9" descr="t_8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2220"/>
                <a:ext cx="2009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 Box 15"/>
              <p:cNvSpPr txBox="1">
                <a:spLocks noChangeArrowheads="1"/>
              </p:cNvSpPr>
              <p:nvPr/>
            </p:nvSpPr>
            <p:spPr bwMode="auto">
              <a:xfrm>
                <a:off x="192" y="2016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l" rtl="0" eaLnBrk="0" hangingPunct="0"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algn="l" rtl="0" eaLnBrk="0" hangingPunct="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algn="l" rtl="0" eaLnBrk="0" hangingPunct="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algn="l" rtl="0" eaLnBrk="0" hangingPunct="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algn="l" rtl="0" eaLnBrk="0" hangingPunct="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solidFill>
                      <a:srgbClr val="000000"/>
                    </a:solidFill>
                    <a:latin typeface="Helvetica" pitchFamily="34" charset="0"/>
                  </a:rPr>
                  <a:t>Logical Shift</a:t>
                </a:r>
              </a:p>
            </p:txBody>
          </p:sp>
        </p:grpSp>
      </p:grpSp>
      <p:grpSp>
        <p:nvGrpSpPr>
          <p:cNvPr id="12" name="Group 22"/>
          <p:cNvGrpSpPr>
            <a:grpSpLocks/>
          </p:cNvGrpSpPr>
          <p:nvPr/>
        </p:nvGrpSpPr>
        <p:grpSpPr bwMode="auto">
          <a:xfrm>
            <a:off x="1066800" y="3733800"/>
            <a:ext cx="6934200" cy="990600"/>
            <a:chOff x="192" y="2592"/>
            <a:chExt cx="4368" cy="624"/>
          </a:xfrm>
        </p:grpSpPr>
        <p:pic>
          <p:nvPicPr>
            <p:cNvPr id="13" name="Picture 12" descr="t_8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2844"/>
              <a:ext cx="1872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9"/>
            <p:cNvGrpSpPr>
              <a:grpSpLocks/>
            </p:cNvGrpSpPr>
            <p:nvPr/>
          </p:nvGrpSpPr>
          <p:grpSpPr bwMode="auto">
            <a:xfrm>
              <a:off x="192" y="2592"/>
              <a:ext cx="2016" cy="624"/>
              <a:chOff x="192" y="2592"/>
              <a:chExt cx="2016" cy="624"/>
            </a:xfrm>
          </p:grpSpPr>
          <p:pic>
            <p:nvPicPr>
              <p:cNvPr id="15" name="Picture 11" descr="t_86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2791"/>
                <a:ext cx="201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Text Box 16"/>
              <p:cNvSpPr txBox="1">
                <a:spLocks noChangeArrowheads="1"/>
              </p:cNvSpPr>
              <p:nvPr/>
            </p:nvSpPr>
            <p:spPr bwMode="auto">
              <a:xfrm>
                <a:off x="192" y="2592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l" rtl="0" eaLnBrk="0" hangingPunct="0"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algn="l" rtl="0" eaLnBrk="0" hangingPunct="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algn="l" rtl="0" eaLnBrk="0" hangingPunct="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algn="l" rtl="0" eaLnBrk="0" hangingPunct="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algn="l" rtl="0" eaLnBrk="0" hangingPunct="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solidFill>
                      <a:srgbClr val="000000"/>
                    </a:solidFill>
                    <a:latin typeface="Helvetica" pitchFamily="34" charset="0"/>
                  </a:rPr>
                  <a:t>Arithmetic Shift</a:t>
                </a:r>
              </a:p>
            </p:txBody>
          </p:sp>
        </p:grpSp>
      </p:grp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1066800" y="4708525"/>
            <a:ext cx="7010400" cy="1223963"/>
            <a:chOff x="192" y="3206"/>
            <a:chExt cx="4416" cy="771"/>
          </a:xfrm>
        </p:grpSpPr>
        <p:pic>
          <p:nvPicPr>
            <p:cNvPr id="18" name="Picture 14" descr="t_8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2" y="3504"/>
              <a:ext cx="1966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" name="Group 20"/>
            <p:cNvGrpSpPr>
              <a:grpSpLocks/>
            </p:cNvGrpSpPr>
            <p:nvPr/>
          </p:nvGrpSpPr>
          <p:grpSpPr bwMode="auto">
            <a:xfrm>
              <a:off x="192" y="3206"/>
              <a:ext cx="2038" cy="771"/>
              <a:chOff x="192" y="3206"/>
              <a:chExt cx="2038" cy="771"/>
            </a:xfrm>
          </p:grpSpPr>
          <p:pic>
            <p:nvPicPr>
              <p:cNvPr id="20" name="Picture 13" descr="t_88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3552"/>
                <a:ext cx="2038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192" y="3206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l" rtl="0" eaLnBrk="0" hangingPunct="0"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1pPr>
                <a:lvl2pPr marL="742950" indent="-285750" algn="l" rtl="0" eaLnBrk="0" hangingPunct="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2pPr>
                <a:lvl3pPr marL="1143000" indent="-228600" algn="l" rtl="0" eaLnBrk="0" hangingPunct="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3pPr>
                <a:lvl4pPr marL="1600200" indent="-228600" algn="l" rtl="0" eaLnBrk="0" hangingPunct="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4pPr>
                <a:lvl5pPr marL="2057400" indent="-228600" algn="l" rtl="0" eaLnBrk="0" hangingPunct="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Times New Roman" pitchFamily="18" charset="0"/>
                    <a:cs typeface="Lotus" pitchFamily="2" charset="-7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solidFill>
                      <a:srgbClr val="000000"/>
                    </a:solidFill>
                    <a:latin typeface="Helvetica" pitchFamily="34" charset="0"/>
                  </a:rPr>
                  <a:t>Rotation</a:t>
                </a:r>
              </a:p>
            </p:txBody>
          </p:sp>
        </p:grpSp>
      </p:grp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914400" y="1676400"/>
            <a:ext cx="533400" cy="685800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44001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Working with </a:t>
            </a:r>
            <a:r>
              <a:rPr lang="en-US" sz="3600" dirty="0" err="1"/>
              <a:t>std</a:t>
            </a:r>
            <a:r>
              <a:rPr lang="en-US" sz="3600" dirty="0"/>
              <a:t>_(u)logic(_vector) </a:t>
            </a:r>
            <a:br>
              <a:rPr lang="en-US" sz="3600" dirty="0"/>
            </a:br>
            <a:r>
              <a:rPr lang="en-US" sz="3600" dirty="0"/>
              <a:t>and (un)signed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807751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76675"/>
            <a:ext cx="7007302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469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Working with (un)signed and integer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4" y="1300163"/>
            <a:ext cx="7592966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2590800"/>
            <a:ext cx="47529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86200"/>
            <a:ext cx="5867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4495800"/>
            <a:ext cx="458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5324475"/>
            <a:ext cx="36480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1718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348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1-Bit Full Adder: </a:t>
            </a:r>
            <a:br>
              <a:rPr lang="en-US" sz="3600" dirty="0"/>
            </a:br>
            <a:r>
              <a:rPr lang="en-US" sz="3600" dirty="0"/>
              <a:t>Algorithmic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3" y="1266825"/>
            <a:ext cx="4891087" cy="5250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3810000" cy="122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638425"/>
            <a:ext cx="394231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09999"/>
            <a:ext cx="3810000" cy="1580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38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or Variables?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" y="1295400"/>
            <a:ext cx="727660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7448550" cy="445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4" y="2774603"/>
            <a:ext cx="7458076" cy="349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3246120"/>
            <a:ext cx="7543801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59408"/>
            <a:ext cx="7772400" cy="58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76738"/>
            <a:ext cx="7772400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5257800"/>
            <a:ext cx="819614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71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For … Loop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67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3810000" cy="42830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entity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FOR_LOOP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port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(A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600" b="0" dirty="0">
                <a:solidFill>
                  <a:schemeClr val="accent2"/>
                </a:solidFill>
              </a:rPr>
              <a:t>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integer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range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0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3;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 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 dirty="0">
                <a:solidFill>
                  <a:schemeClr val="accent2"/>
                </a:solidFill>
              </a:rPr>
              <a:t>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: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out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 err="1">
                <a:solidFill>
                  <a:schemeClr val="accent2"/>
                </a:solidFill>
                <a:latin typeface="Helvetica" pitchFamily="34" charset="0"/>
              </a:rPr>
              <a:t>bit_vector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(3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 err="1">
                <a:solidFill>
                  <a:schemeClr val="accent2"/>
                </a:solidFill>
                <a:latin typeface="Helvetica" pitchFamily="34" charset="0"/>
              </a:rPr>
              <a:t>downto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0));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FOR_LOOP;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architecture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EXAMPLE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of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FOR_LOOP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r>
              <a:rPr lang="en-US" sz="1600" b="0" dirty="0">
                <a:solidFill>
                  <a:schemeClr val="accent2"/>
                </a:solidFill>
              </a:rPr>
              <a:t>   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process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(A)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Z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"0000";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for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in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0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to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3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loop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if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(A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=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I)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then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  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Z(I)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&lt;=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`1`;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if;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  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end</a:t>
            </a:r>
            <a:r>
              <a:rPr lang="en-US" sz="1600" dirty="0">
                <a:solidFill>
                  <a:schemeClr val="accent2"/>
                </a:solidFill>
              </a:rPr>
              <a:t> 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loop;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chemeClr val="accent2"/>
                </a:solidFill>
              </a:rPr>
              <a:t>     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process;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chemeClr val="accent2"/>
                </a:solidFill>
              </a:rPr>
              <a:t>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EXAMPLE;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114800" y="1463675"/>
            <a:ext cx="403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1135063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1800" dirty="0"/>
              <a:t>Loop parameter is implicitly declared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cannot be declared externally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read only access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not visible outside the loop</a:t>
            </a:r>
            <a:r>
              <a:rPr lang="en-US" sz="1800" dirty="0"/>
              <a:t> </a:t>
            </a:r>
            <a:endParaRPr lang="en-US" sz="1800" b="0" dirty="0"/>
          </a:p>
          <a:p>
            <a:pPr algn="l" rtl="0" eaLnBrk="1" hangingPunct="1">
              <a:buFontTx/>
              <a:buChar char="•"/>
            </a:pPr>
            <a:r>
              <a:rPr lang="en-US" sz="1800" dirty="0"/>
              <a:t>The loop parameter adopts all values from the range definition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integer ranges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enumerated types 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8600" y="5247868"/>
            <a:ext cx="4572000" cy="10926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algn="l" rtl="0"/>
            <a:r>
              <a:rPr lang="en-US" sz="1300" dirty="0">
                <a:solidFill>
                  <a:srgbClr val="FF0000"/>
                </a:solidFill>
                <a:latin typeface="Helvetica" pitchFamily="34" charset="0"/>
              </a:rPr>
              <a:t>type T_STATE is (START, EXECUTE, FINISH);</a:t>
            </a:r>
            <a:br>
              <a:rPr lang="en-US" sz="1300" dirty="0">
                <a:solidFill>
                  <a:srgbClr val="FF0000"/>
                </a:solidFill>
                <a:latin typeface="Helvetica" pitchFamily="34" charset="0"/>
              </a:rPr>
            </a:br>
            <a:r>
              <a:rPr lang="en-US" sz="1300" dirty="0">
                <a:solidFill>
                  <a:srgbClr val="FF0000"/>
                </a:solidFill>
                <a:latin typeface="Helvetica" pitchFamily="34" charset="0"/>
              </a:rPr>
              <a:t>…</a:t>
            </a:r>
          </a:p>
          <a:p>
            <a:pPr algn="l" rtl="0"/>
            <a:r>
              <a:rPr lang="en-US" sz="1300" dirty="0">
                <a:solidFill>
                  <a:srgbClr val="3333CC"/>
                </a:solidFill>
                <a:latin typeface="Helvetica" pitchFamily="34" charset="0"/>
              </a:rPr>
              <a:t>signal CURRENT_STATE, NEXT_STATE : </a:t>
            </a:r>
            <a:r>
              <a:rPr lang="en-US" sz="1300" dirty="0">
                <a:solidFill>
                  <a:srgbClr val="FF0000"/>
                </a:solidFill>
                <a:latin typeface="Helvetica" pitchFamily="34" charset="0"/>
              </a:rPr>
              <a:t>T_STATE ;</a:t>
            </a:r>
            <a:endParaRPr lang="en-US" sz="1300" dirty="0">
              <a:solidFill>
                <a:srgbClr val="3333CC"/>
              </a:solidFill>
              <a:latin typeface="Helvetica" pitchFamily="34" charset="0"/>
            </a:endParaRPr>
          </a:p>
          <a:p>
            <a:pPr algn="l" rtl="0"/>
            <a:endParaRPr lang="en-US" sz="1300" dirty="0">
              <a:solidFill>
                <a:srgbClr val="3333CC"/>
              </a:solidFill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7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Syntax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000" y="1654076"/>
            <a:ext cx="4419600" cy="2308324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[LOOP_LABEL :]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for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IDENTIFIER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in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DISCRETE_RANGE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loop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loop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[LOOP_LABEL]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;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[LOOP_LABEL :]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while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CONDITION 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loop</a:t>
            </a:r>
            <a:br>
              <a:rPr lang="en-US" sz="16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chemeClr val="accent2"/>
                </a:solidFill>
              </a:rPr>
              <a:t>   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-- sequential statements</a:t>
            </a:r>
            <a:b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end loop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[LOOP_LABEL]</a:t>
            </a:r>
            <a:r>
              <a:rPr lang="en-US" sz="1600" dirty="0">
                <a:solidFill>
                  <a:schemeClr val="accent2"/>
                </a:solidFill>
                <a:latin typeface="Helvetica" pitchFamily="34" charset="0"/>
              </a:rPr>
              <a:t> ;</a:t>
            </a:r>
            <a:r>
              <a:rPr lang="en-US" sz="1600" b="0" dirty="0">
                <a:solidFill>
                  <a:schemeClr val="accent2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800600" y="1683315"/>
            <a:ext cx="38862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1135063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 dirty="0"/>
              <a:t>Optional label</a:t>
            </a:r>
          </a:p>
          <a:p>
            <a:pPr algn="l" rtl="0" eaLnBrk="1" hangingPunct="1">
              <a:buFontTx/>
              <a:buChar char="•"/>
            </a:pPr>
            <a:r>
              <a:rPr lang="en-US" sz="2000" dirty="0"/>
              <a:t>Use especially for nested loops</a:t>
            </a:r>
          </a:p>
          <a:p>
            <a:pPr algn="l" rtl="0" eaLnBrk="1" hangingPunct="1">
              <a:buFontTx/>
              <a:buChar char="•"/>
            </a:pPr>
            <a:r>
              <a:rPr lang="en-US" sz="2000" dirty="0"/>
              <a:t>Range attributes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‘low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‘high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 dirty="0"/>
              <a:t>‘range </a:t>
            </a:r>
          </a:p>
          <a:p>
            <a:pPr algn="l" rtl="0" eaLnBrk="1" hangingPunct="1">
              <a:buFontTx/>
              <a:buChar char="•"/>
            </a:pPr>
            <a:endParaRPr lang="en-US" sz="2000" b="0" dirty="0"/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762000" y="4800600"/>
            <a:ext cx="4191000" cy="1447800"/>
            <a:chOff x="192" y="3264"/>
            <a:chExt cx="2640" cy="912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80" y="3312"/>
              <a:ext cx="2352" cy="864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l" rtl="0">
                <a:spcBef>
                  <a:spcPct val="0"/>
                </a:spcBef>
              </a:pPr>
              <a:r>
                <a:rPr lang="en-US" sz="1800" dirty="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  <a:t>Synthesis requirements:</a:t>
              </a:r>
              <a:br>
                <a:rPr lang="en-US" sz="1800" dirty="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</a:br>
              <a:r>
                <a:rPr lang="en-US" sz="1800" dirty="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  <a:t>- Loops must have a fixed range</a:t>
              </a:r>
              <a:br>
                <a:rPr lang="en-US" sz="1800" dirty="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</a:br>
              <a:r>
                <a:rPr lang="en-US" sz="1800" i="1" dirty="0">
                  <a:solidFill>
                    <a:srgbClr val="FF0000"/>
                  </a:solidFill>
                  <a:latin typeface="Helvetica" pitchFamily="34" charset="0"/>
                  <a:cs typeface="Times New Roman" pitchFamily="18" charset="0"/>
                </a:rPr>
                <a:t>- 'while' constructs usually cannot be synthesized</a:t>
              </a:r>
              <a:r>
                <a:rPr lang="en-US" sz="1800" dirty="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  <a:t> </a:t>
              </a:r>
            </a:p>
            <a:p>
              <a:pPr algn="l" rtl="0">
                <a:spcBef>
                  <a:spcPct val="0"/>
                </a:spcBef>
              </a:pPr>
              <a:endParaRPr lang="fa-IR" b="0" dirty="0">
                <a:cs typeface="Times New Roman" pitchFamily="18" charset="0"/>
              </a:endParaRPr>
            </a:p>
          </p:txBody>
        </p:sp>
        <p:pic>
          <p:nvPicPr>
            <p:cNvPr id="10" name="Picture 7" descr="t_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264"/>
              <a:ext cx="3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7692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219200"/>
            <a:ext cx="7848600" cy="9779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entity CONV_INT is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port (VECTOR: in </a:t>
            </a:r>
            <a:r>
              <a:rPr lang="en-US" sz="1400" dirty="0">
                <a:solidFill>
                  <a:schemeClr val="accent2"/>
                </a:solidFill>
              </a:rPr>
              <a:t>  </a:t>
            </a:r>
            <a:r>
              <a:rPr lang="en-US" sz="1400" dirty="0" err="1">
                <a:solidFill>
                  <a:schemeClr val="accent2"/>
                </a:solidFill>
                <a:latin typeface="Helvetica" pitchFamily="34" charset="0"/>
              </a:rPr>
              <a:t>std_logic_vector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(7 </a:t>
            </a:r>
            <a:r>
              <a:rPr lang="en-US" sz="1400" dirty="0" err="1">
                <a:solidFill>
                  <a:schemeClr val="accent2"/>
                </a:solidFill>
                <a:latin typeface="Helvetica" pitchFamily="34" charset="0"/>
              </a:rPr>
              <a:t>downto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 0);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            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RESULT:</a:t>
            </a:r>
            <a:r>
              <a:rPr lang="en-US" sz="1400" dirty="0">
                <a:solidFill>
                  <a:schemeClr val="accent2"/>
                </a:solidFill>
              </a:rPr>
              <a:t> 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out integer);</a:t>
            </a:r>
            <a:br>
              <a:rPr lang="en-US" sz="1400" dirty="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 </a:t>
            </a:r>
            <a:r>
              <a:rPr lang="en-US" sz="1400" dirty="0">
                <a:solidFill>
                  <a:schemeClr val="accent2"/>
                </a:solidFill>
                <a:latin typeface="Helvetica" pitchFamily="34" charset="0"/>
              </a:rPr>
              <a:t>end CONV_INT;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3400" y="2273300"/>
            <a:ext cx="2590800" cy="39560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architecture A of CONV_INT is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process(VECTOR)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variable TMP: integer;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0;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for I in 7 downto 0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loop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if (VECTOR(I)='1')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TMP + 2**I;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if;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loop;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RESULT &lt;= TMP;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process;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A;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200400" y="2262188"/>
            <a:ext cx="2514600" cy="41687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architecture B of CONV_INT is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process(VECTOR)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variable TMP: integer;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0;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</a:t>
            </a:r>
            <a:r>
              <a:rPr lang="en-US" sz="1400">
                <a:solidFill>
                  <a:srgbClr val="663300"/>
                </a:solidFill>
              </a:rPr>
              <a:t>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for I in VECTOR'range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loop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if (VECTOR(I)='1')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TMP + 2**I;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if;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loop;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RESULT &lt;= TMP;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process;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B;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791200" y="2279650"/>
            <a:ext cx="2819400" cy="39560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architecture C of CONV_INT is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process(VECTOR)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variable TMP: integer;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</a:t>
            </a:r>
            <a:r>
              <a:rPr lang="en-US" sz="1400">
                <a:solidFill>
                  <a:srgbClr val="663300"/>
                </a:solidFill>
              </a:rPr>
              <a:t>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variable I</a:t>
            </a:r>
            <a:r>
              <a:rPr lang="en-US" sz="1400">
                <a:solidFill>
                  <a:srgbClr val="663300"/>
                </a:solidFill>
              </a:rPr>
              <a:t>      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: integer;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0;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</a:t>
            </a:r>
            <a:r>
              <a:rPr lang="en-US" sz="1400">
                <a:solidFill>
                  <a:srgbClr val="663300"/>
                </a:solidFill>
              </a:rPr>
              <a:t>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I := VECTOR'high;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while (I &gt;= VECTOR'low)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 loop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if (VECTOR(I)='1') then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TMP := TMP + 2**I;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if;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  </a:t>
            </a:r>
            <a:r>
              <a:rPr lang="en-US" sz="1400">
                <a:solidFill>
                  <a:srgbClr val="663300"/>
                </a:solidFill>
              </a:rPr>
              <a:t> </a:t>
            </a:r>
            <a:r>
              <a:rPr lang="en-US" sz="1400">
                <a:solidFill>
                  <a:srgbClr val="663300"/>
                </a:solidFill>
                <a:latin typeface="Helvetica" pitchFamily="34" charset="0"/>
              </a:rPr>
              <a:t>I := I - 1;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loop;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RESULT &lt;= TMP;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</a:rPr>
              <a:t>   </a:t>
            </a: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process;</a:t>
            </a:r>
            <a:br>
              <a:rPr lang="en-US" sz="14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400">
                <a:solidFill>
                  <a:schemeClr val="accent2"/>
                </a:solidFill>
                <a:latin typeface="Helvetica" pitchFamily="34" charset="0"/>
              </a:rPr>
              <a:t>end C;</a:t>
            </a:r>
          </a:p>
        </p:txBody>
      </p:sp>
    </p:spTree>
    <p:extLst>
      <p:ext uri="{BB962C8B-B14F-4D97-AF65-F5344CB8AC3E}">
        <p14:creationId xmlns:p14="http://schemas.microsoft.com/office/powerpoint/2010/main" val="85404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26131"/>
            <a:ext cx="7010400" cy="283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3886200"/>
            <a:ext cx="7162800" cy="299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 bwMode="auto">
          <a:xfrm>
            <a:off x="3276600" y="5105400"/>
            <a:ext cx="4648201" cy="1752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2661313" y="2265528"/>
            <a:ext cx="4681183" cy="1692323"/>
          </a:xfrm>
          <a:custGeom>
            <a:avLst/>
            <a:gdLst>
              <a:gd name="connsiteX0" fmla="*/ 1733266 w 4681183"/>
              <a:gd name="connsiteY0" fmla="*/ 0 h 1692323"/>
              <a:gd name="connsiteX1" fmla="*/ 1760562 w 4681183"/>
              <a:gd name="connsiteY1" fmla="*/ 791571 h 1692323"/>
              <a:gd name="connsiteX2" fmla="*/ 0 w 4681183"/>
              <a:gd name="connsiteY2" fmla="*/ 805218 h 1692323"/>
              <a:gd name="connsiteX3" fmla="*/ 13648 w 4681183"/>
              <a:gd name="connsiteY3" fmla="*/ 1665027 h 1692323"/>
              <a:gd name="connsiteX4" fmla="*/ 4681183 w 4681183"/>
              <a:gd name="connsiteY4" fmla="*/ 1692323 h 1692323"/>
              <a:gd name="connsiteX5" fmla="*/ 4667535 w 4681183"/>
              <a:gd name="connsiteY5" fmla="*/ 54591 h 1692323"/>
              <a:gd name="connsiteX6" fmla="*/ 1705971 w 4681183"/>
              <a:gd name="connsiteY6" fmla="*/ 54591 h 1692323"/>
              <a:gd name="connsiteX7" fmla="*/ 1746914 w 4681183"/>
              <a:gd name="connsiteY7" fmla="*/ 54591 h 169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1183" h="1692323">
                <a:moveTo>
                  <a:pt x="1733266" y="0"/>
                </a:moveTo>
                <a:lnTo>
                  <a:pt x="1760562" y="791571"/>
                </a:lnTo>
                <a:lnTo>
                  <a:pt x="0" y="805218"/>
                </a:lnTo>
                <a:lnTo>
                  <a:pt x="13648" y="1665027"/>
                </a:lnTo>
                <a:lnTo>
                  <a:pt x="4681183" y="1692323"/>
                </a:lnTo>
                <a:lnTo>
                  <a:pt x="4667535" y="54591"/>
                </a:lnTo>
                <a:lnTo>
                  <a:pt x="1705971" y="54591"/>
                </a:lnTo>
                <a:lnTo>
                  <a:pt x="1746914" y="54591"/>
                </a:lnTo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489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B4649707-6BA5-4BB2-A485-47EB396FE7FE}" type="slidenum">
              <a:rPr lang="en-US" altLang="en-US" sz="1400" b="0" smtClean="0">
                <a:cs typeface="Times New Roman" pitchFamily="18" charset="0"/>
              </a:rPr>
              <a:pPr eaLnBrk="1" hangingPunct="1"/>
              <a:t>24</a:t>
            </a:fld>
            <a:endParaRPr lang="en-US" altLang="en-US" sz="1400" b="0">
              <a:cs typeface="Times New Roman" pitchFamily="18" charset="0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Concurrent Statements</a:t>
            </a:r>
          </a:p>
        </p:txBody>
      </p:sp>
    </p:spTree>
    <p:extLst>
      <p:ext uri="{BB962C8B-B14F-4D97-AF65-F5344CB8AC3E}">
        <p14:creationId xmlns:p14="http://schemas.microsoft.com/office/powerpoint/2010/main" val="1720637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Concurrent Statements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09600" y="2971800"/>
            <a:ext cx="3810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b="0" dirty="0"/>
              <a:t>Concurrent statements are executed at the same time, independent of the order in</a:t>
            </a:r>
            <a:br>
              <a:rPr lang="en-US" altLang="en-US" sz="2000" b="0" dirty="0"/>
            </a:br>
            <a:r>
              <a:rPr lang="en-US" altLang="en-US" sz="2000" b="0" dirty="0"/>
              <a:t>which they appear </a:t>
            </a:r>
          </a:p>
        </p:txBody>
      </p:sp>
      <p:pic>
        <p:nvPicPr>
          <p:cNvPr id="7" name="Picture 11" descr="C:\Documents and Settings\Administrator\My Documents\My Pictures\t_123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57400"/>
            <a:ext cx="3581400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Signal Assignment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52600" y="2971800"/>
            <a:ext cx="55245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Condition is a Boolean expression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Mandatory else path, unless unconditional assignment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conditions may overlap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priority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Similar to if ..., </a:t>
            </a:r>
            <a:r>
              <a:rPr lang="en-US" altLang="en-US" sz="2000" dirty="0" err="1"/>
              <a:t>elsif</a:t>
            </a:r>
            <a:r>
              <a:rPr lang="en-US" altLang="en-US" sz="2000" dirty="0"/>
              <a:t> ..., else constructs 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62000" y="1408836"/>
            <a:ext cx="6324600" cy="147732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b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  <a:t>TARGET &lt;= VALUE_1 when CONDITION_1 else</a:t>
            </a:r>
            <a:b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800" b="0" dirty="0">
                <a:solidFill>
                  <a:srgbClr val="0000CC"/>
                </a:solidFill>
              </a:rPr>
              <a:t>                       </a:t>
            </a:r>
            <a: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  <a:t>VALUE_2 when CONDITION_2 else</a:t>
            </a:r>
            <a:b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800" b="0" dirty="0">
                <a:solidFill>
                  <a:srgbClr val="0000CC"/>
                </a:solidFill>
              </a:rPr>
              <a:t>                    	</a:t>
            </a:r>
            <a: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  <a:t>. . .</a:t>
            </a:r>
            <a:b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800" b="0" dirty="0">
                <a:solidFill>
                  <a:srgbClr val="0000CC"/>
                </a:solidFill>
              </a:rPr>
              <a:t>                    	</a:t>
            </a:r>
            <a:r>
              <a:rPr lang="en-US" altLang="en-US" sz="1800" b="0" dirty="0" err="1">
                <a:solidFill>
                  <a:srgbClr val="0000CC"/>
                </a:solidFill>
                <a:latin typeface="Helvetica" pitchFamily="34" charset="0"/>
              </a:rPr>
              <a:t>VALUE_n</a:t>
            </a:r>
            <a:r>
              <a:rPr lang="en-US" altLang="en-US" sz="1800" b="0" dirty="0">
                <a:solidFill>
                  <a:srgbClr val="0000CC"/>
                </a:solidFill>
                <a:latin typeface="Helvetica" pitchFamily="34" charset="0"/>
              </a:rPr>
              <a:t>;</a:t>
            </a: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1295400" y="51054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2000">
                <a:cs typeface="B Mitra" panose="00000400000000000000" pitchFamily="2" charset="-78"/>
              </a:rPr>
              <a:t>  </a:t>
            </a:r>
            <a:r>
              <a:rPr lang="fa-IR" altLang="en-US" sz="2000">
                <a:cs typeface="B Mitra" panose="00000400000000000000" pitchFamily="2" charset="-78"/>
              </a:rPr>
              <a:t>هرگاه تغييري روي </a:t>
            </a:r>
            <a:r>
              <a:rPr lang="fa-IR" altLang="en-US" sz="2000">
                <a:solidFill>
                  <a:srgbClr val="FF0000"/>
                </a:solidFill>
                <a:cs typeface="B Mitra" panose="00000400000000000000" pitchFamily="2" charset="-78"/>
              </a:rPr>
              <a:t>سيگنالهاي</a:t>
            </a:r>
            <a:r>
              <a:rPr lang="fa-IR" altLang="en-US" sz="2000">
                <a:cs typeface="B Mitra" panose="00000400000000000000" pitchFamily="2" charset="-78"/>
              </a:rPr>
              <a:t> سمت راست رخ دهد اين انتساب بار ديگر ارزيابي مي شود (هميشه فعال است)</a:t>
            </a:r>
            <a:endParaRPr lang="en-US" altLang="en-US" sz="200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Conditional Signal Assignment (Example)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1000" y="1184275"/>
            <a:ext cx="4953000" cy="54451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	entity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CONDITIONAL_ASSIGNMENT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(A,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X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in</a:t>
            </a: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(3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0);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Z_CONC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out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(3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0);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Z_SEQ</a:t>
            </a:r>
            <a:r>
              <a:rPr lang="en-US" altLang="en-US" sz="1400" b="0">
                <a:solidFill>
                  <a:srgbClr val="0000CC"/>
                </a:solidFill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out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bit_vector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(3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downto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0));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 CONDITIONAL_ASSIGNMENT;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EXAMPLE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of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CONDITIONAL_ASSIGNMENT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-- Concurrent version of conditional signal assignment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</a:rPr>
              <a:t>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Z_CONC &lt;= B when X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=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"1111" else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C when X &gt; "1000" else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A;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-- Equivalent sequential statements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process (A,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X)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 if 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(X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=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"1111")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 then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Z_SEQ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 elsif 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(X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&gt;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"1000")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 then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Z_SEQ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else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Z_SEQ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A;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 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if;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 process;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EXAMPLE;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715000" y="3251199"/>
            <a:ext cx="2362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2000" dirty="0">
                <a:cs typeface="B Mitra" panose="00000400000000000000" pitchFamily="2" charset="-78"/>
              </a:rPr>
              <a:t>  </a:t>
            </a:r>
            <a:r>
              <a:rPr lang="fa-IR" altLang="en-US" sz="2000" dirty="0">
                <a:cs typeface="B Mitra" panose="00000400000000000000" pitchFamily="2" charset="-78"/>
              </a:rPr>
              <a:t>توجه: در پروسس، همة سيگنالهاي سمت راست انتساب در ليست حساسيت آمده اند.</a:t>
            </a:r>
            <a:endParaRPr lang="en-US" alt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Selected Signal Assignment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679812" y="3810000"/>
            <a:ext cx="5943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571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Choice options must not overlap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All choice options have to be covered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single values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value range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selection of values</a:t>
            </a:r>
            <a:br>
              <a:rPr lang="en-US" altLang="en-US" sz="2000" b="0" dirty="0"/>
            </a:br>
            <a:r>
              <a:rPr lang="en-US" altLang="en-US" sz="2000" b="0" dirty="0"/>
              <a:t>("|" means "or")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"when others" covers all remaining choice options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dirty="0"/>
              <a:t>Similar to case ..., when ... constructs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81200" y="1295400"/>
            <a:ext cx="5638800" cy="2308324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with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EXPRESSION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select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TARGET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VALUE_1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when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CHOICE_1,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                     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VALUE_2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when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CHOICE_2 | CHOICE_3,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                     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VALUE_3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when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CHOICE_4 to CHOICE_5,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                     ·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altLang="en-US" sz="1600" b="0" dirty="0">
                <a:solidFill>
                  <a:srgbClr val="0000CC"/>
                </a:solidFill>
              </a:rPr>
              <a:t>·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altLang="en-US" sz="1600" b="0" dirty="0">
                <a:solidFill>
                  <a:srgbClr val="0000CC"/>
                </a:solidFill>
              </a:rPr>
              <a:t>·</a:t>
            </a:r>
            <a:b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                     </a:t>
            </a:r>
            <a:r>
              <a:rPr lang="en-US" altLang="en-US" sz="1600" b="0" dirty="0" err="1">
                <a:solidFill>
                  <a:srgbClr val="0000CC"/>
                </a:solidFill>
                <a:latin typeface="Helvetica" pitchFamily="34" charset="0"/>
              </a:rPr>
              <a:t>VALUE_n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Helvetica" pitchFamily="34" charset="0"/>
              </a:rPr>
              <a:t>when</a:t>
            </a:r>
            <a:r>
              <a:rPr lang="en-US" altLang="en-US" sz="1600" b="0" dirty="0">
                <a:solidFill>
                  <a:srgbClr val="0000CC"/>
                </a:solidFill>
                <a:latin typeface="Helvetica" pitchFamily="34" charset="0"/>
              </a:rPr>
              <a:t> others; </a:t>
            </a:r>
          </a:p>
        </p:txBody>
      </p:sp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Selected Signal Assignment : Example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24000" y="1143000"/>
            <a:ext cx="5562600" cy="547842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106363" indent="-106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entity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SELECTED_ASSIGNMENT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(A,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C,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X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in</a:t>
            </a: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integer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range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0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to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15;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Z_CONC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out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integer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range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0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to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15;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Z_SEQ</a:t>
            </a:r>
            <a:r>
              <a:rPr lang="en-US" altLang="en-US" sz="1400" b="0">
                <a:solidFill>
                  <a:srgbClr val="0000CC"/>
                </a:solidFill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: out integer range 0 to 15);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SELECTED_ASSIGNMENT;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EXAMPLE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of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SELECTED_ASSIGNMENT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-- Concurrent version of selected signal assignment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with X select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Z_CONC &lt;= A when 0,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B when 7 | 9,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C when 1 to 5,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>
                <a:solidFill>
                  <a:srgbClr val="0000CC"/>
                </a:solidFill>
              </a:rPr>
              <a:t>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  <a:t>0 when others;</a:t>
            </a:r>
            <a:br>
              <a:rPr lang="en-US" altLang="en-US" sz="140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-- Equivalent sequential statements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process (A, B, C, X)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case X is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when 0 </a:t>
            </a:r>
            <a:r>
              <a:rPr lang="en-US" altLang="en-US" sz="1400" b="0">
                <a:solidFill>
                  <a:srgbClr val="0000CC"/>
                </a:solidFill>
              </a:rPr>
              <a:t>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=&gt; Z_SEQ &lt;= A;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when 7 | 9 </a:t>
            </a: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=&gt; Z_SEQ &lt;= B;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when 1 to 5 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=&gt; Z_SEQ &lt;= C;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when others =&gt; Z_SEQ &lt;= 0;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 process;</a:t>
            </a:r>
            <a:b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 pitchFamily="34" charset="0"/>
              </a:rPr>
              <a:t>EXAMPLE;</a:t>
            </a:r>
          </a:p>
        </p:txBody>
      </p:sp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sz="4000" dirty="0"/>
              <a:t>Concurrent Statements: Summary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1752600"/>
            <a:ext cx="7543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dirty="0"/>
              <a:t>Modeling of multiplexers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conditional signal assignment: decision based upon several signals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selected signal assignment: decision based upon values of a single signal </a:t>
            </a:r>
          </a:p>
        </p:txBody>
      </p:sp>
    </p:spTree>
    <p:extLst>
      <p:ext uri="{BB962C8B-B14F-4D97-AF65-F5344CB8AC3E}">
        <p14:creationId xmlns:p14="http://schemas.microsoft.com/office/powerpoint/2010/main" val="16456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19019</TotalTime>
  <Words>3999</Words>
  <Application>Microsoft Macintosh PowerPoint</Application>
  <PresentationFormat>On-screen Show (4:3)</PresentationFormat>
  <Paragraphs>217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Helvetica</vt:lpstr>
      <vt:lpstr>Times New Roman</vt:lpstr>
      <vt:lpstr>Blank Presentation</vt:lpstr>
      <vt:lpstr> Computer-Aided Design   Sequential &amp; Concurrent  statements</vt:lpstr>
      <vt:lpstr>Sequential Statements</vt:lpstr>
      <vt:lpstr>Sequential Statements</vt:lpstr>
      <vt:lpstr>IF Statement</vt:lpstr>
      <vt:lpstr>IF Statement: Example</vt:lpstr>
      <vt:lpstr>IF Statement: Example</vt:lpstr>
      <vt:lpstr>CASE Statement</vt:lpstr>
      <vt:lpstr>CASE Statement Example</vt:lpstr>
      <vt:lpstr>Defining Ranges</vt:lpstr>
      <vt:lpstr>Mistakes in 1-Bit Full Adder:  Algorithmic Architecture</vt:lpstr>
      <vt:lpstr>PowerPoint Presentation</vt:lpstr>
      <vt:lpstr>Bit-Based Numerical Data Representation</vt:lpstr>
      <vt:lpstr>Shift Operators</vt:lpstr>
      <vt:lpstr>Working with std_(u)logic(_vector)  and (un)signed</vt:lpstr>
      <vt:lpstr>Working with (un)signed and integer</vt:lpstr>
      <vt:lpstr>PowerPoint Presentation</vt:lpstr>
      <vt:lpstr>1-Bit Full Adder:  Algorithmic Architecture</vt:lpstr>
      <vt:lpstr>Signals or Variables?</vt:lpstr>
      <vt:lpstr>PowerPoint Presentation</vt:lpstr>
      <vt:lpstr>FOR Loops</vt:lpstr>
      <vt:lpstr>Loop Syntax</vt:lpstr>
      <vt:lpstr>Loop Examples</vt:lpstr>
      <vt:lpstr>Loop Example</vt:lpstr>
      <vt:lpstr>Concurrent Statements</vt:lpstr>
      <vt:lpstr>Concurrent Statements</vt:lpstr>
      <vt:lpstr>Conditional Signal Assignment</vt:lpstr>
      <vt:lpstr>Conditional Signal Assignment (Example)</vt:lpstr>
      <vt:lpstr>Selected Signal Assignment</vt:lpstr>
      <vt:lpstr>Selected Signal Assignment : Example</vt:lpstr>
      <vt:lpstr>Concurrent Statements: Summary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722</cp:revision>
  <cp:lastPrinted>2019-10-13T12:37:45Z</cp:lastPrinted>
  <dcterms:created xsi:type="dcterms:W3CDTF">2009-11-03T19:03:43Z</dcterms:created>
  <dcterms:modified xsi:type="dcterms:W3CDTF">2020-04-10T17:33:40Z</dcterms:modified>
</cp:coreProperties>
</file>