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824" r:id="rId2"/>
    <p:sldId id="747" r:id="rId3"/>
    <p:sldId id="748" r:id="rId4"/>
    <p:sldId id="750" r:id="rId5"/>
    <p:sldId id="751" r:id="rId6"/>
    <p:sldId id="715" r:id="rId7"/>
    <p:sldId id="716" r:id="rId8"/>
    <p:sldId id="755" r:id="rId9"/>
    <p:sldId id="756" r:id="rId10"/>
    <p:sldId id="819" r:id="rId11"/>
    <p:sldId id="724" r:id="rId12"/>
    <p:sldId id="726" r:id="rId13"/>
    <p:sldId id="727" r:id="rId14"/>
    <p:sldId id="729" r:id="rId15"/>
    <p:sldId id="731" r:id="rId16"/>
    <p:sldId id="732" r:id="rId17"/>
    <p:sldId id="733" r:id="rId18"/>
    <p:sldId id="734" r:id="rId19"/>
    <p:sldId id="735" r:id="rId20"/>
    <p:sldId id="736" r:id="rId21"/>
    <p:sldId id="739" r:id="rId22"/>
    <p:sldId id="741" r:id="rId23"/>
    <p:sldId id="742" r:id="rId24"/>
    <p:sldId id="762" r:id="rId25"/>
    <p:sldId id="764" r:id="rId26"/>
    <p:sldId id="746" r:id="rId27"/>
    <p:sldId id="766" r:id="rId28"/>
    <p:sldId id="767" r:id="rId29"/>
    <p:sldId id="768" r:id="rId30"/>
    <p:sldId id="769" r:id="rId31"/>
    <p:sldId id="770" r:id="rId32"/>
    <p:sldId id="771" r:id="rId33"/>
    <p:sldId id="772" r:id="rId34"/>
    <p:sldId id="773" r:id="rId35"/>
    <p:sldId id="774" r:id="rId36"/>
    <p:sldId id="820" r:id="rId37"/>
    <p:sldId id="777" r:id="rId38"/>
    <p:sldId id="778" r:id="rId39"/>
    <p:sldId id="779" r:id="rId40"/>
    <p:sldId id="780" r:id="rId41"/>
    <p:sldId id="821" r:id="rId42"/>
    <p:sldId id="782" r:id="rId43"/>
    <p:sldId id="783" r:id="rId44"/>
    <p:sldId id="822" r:id="rId45"/>
    <p:sldId id="785" r:id="rId46"/>
    <p:sldId id="786" r:id="rId47"/>
    <p:sldId id="787" r:id="rId48"/>
    <p:sldId id="788" r:id="rId49"/>
    <p:sldId id="789" r:id="rId50"/>
    <p:sldId id="790" r:id="rId51"/>
    <p:sldId id="794" r:id="rId52"/>
    <p:sldId id="795" r:id="rId53"/>
    <p:sldId id="796" r:id="rId54"/>
    <p:sldId id="797" r:id="rId55"/>
    <p:sldId id="798" r:id="rId56"/>
    <p:sldId id="799" r:id="rId57"/>
    <p:sldId id="800" r:id="rId58"/>
    <p:sldId id="801" r:id="rId59"/>
    <p:sldId id="802" r:id="rId60"/>
    <p:sldId id="803" r:id="rId61"/>
    <p:sldId id="804" r:id="rId62"/>
    <p:sldId id="805" r:id="rId63"/>
    <p:sldId id="806" r:id="rId64"/>
    <p:sldId id="807" r:id="rId65"/>
    <p:sldId id="810" r:id="rId66"/>
    <p:sldId id="814" r:id="rId67"/>
    <p:sldId id="815" r:id="rId6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6619" autoAdjust="0"/>
  </p:normalViewPr>
  <p:slideViewPr>
    <p:cSldViewPr>
      <p:cViewPr>
        <p:scale>
          <a:sx n="70" d="100"/>
          <a:sy n="70" d="100"/>
        </p:scale>
        <p:origin x="-138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5/20/2019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8" tIns="43245" rIns="86488" bIns="43245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5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7DAABBF-C843-4120-89E3-757C099F11AD}" type="slidenum">
              <a:rPr lang="en-US" altLang="en-US" sz="1200" smtClean="0"/>
              <a:pPr eaLnBrk="1" hangingPunct="1"/>
              <a:t>6</a:t>
            </a:fld>
            <a:endParaRPr lang="en-US" altLang="en-US" sz="120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136456D-095C-4BB0-9A5A-BEF804CC5C08}" type="slidenum">
              <a:rPr lang="en-US" altLang="en-US" sz="1200" smtClean="0"/>
              <a:pPr eaLnBrk="1" hangingPunct="1"/>
              <a:t>7</a:t>
            </a:fld>
            <a:endParaRPr lang="en-US" altLang="en-US" sz="120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9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10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BD942E3F-30BE-4EDE-91D2-A327169A5075}" type="slidenum">
              <a:rPr lang="en-US" altLang="en-US" sz="1200" smtClean="0"/>
              <a:pPr eaLnBrk="1" hangingPunct="1"/>
              <a:t>11</a:t>
            </a:fld>
            <a:endParaRPr lang="en-US" altLang="en-US" sz="12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5E138AA-42BB-42E8-B487-F11229751D25}" type="slidenum">
              <a:rPr lang="en-US" altLang="en-US" sz="1200" smtClean="0"/>
              <a:pPr eaLnBrk="1" hangingPunct="1"/>
              <a:t>12</a:t>
            </a:fld>
            <a:endParaRPr lang="en-US" altLang="en-US" sz="120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5C632CD1-CFC2-466C-8BA2-0C983DFB1C47}" type="slidenum">
              <a:rPr lang="en-US" altLang="en-US" sz="1200" smtClean="0"/>
              <a:pPr eaLnBrk="1" hangingPunct="1"/>
              <a:t>13</a:t>
            </a:fld>
            <a:endParaRPr lang="en-US" altLang="en-US" sz="12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10F4E4F-C6D0-4D12-BE71-C97C1E38352F}" type="slidenum">
              <a:rPr lang="en-US" altLang="en-US" sz="1200" smtClean="0"/>
              <a:pPr eaLnBrk="1" hangingPunct="1"/>
              <a:t>14</a:t>
            </a:fld>
            <a:endParaRPr lang="en-US" altLang="en-US" sz="12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A0393F9-BFA1-46F0-8DB2-81A31910B8B4}" type="slidenum">
              <a:rPr lang="en-US" altLang="en-US" sz="1200" smtClean="0"/>
              <a:pPr eaLnBrk="1" hangingPunct="1"/>
              <a:t>15</a:t>
            </a:fld>
            <a:endParaRPr lang="en-US" altLang="en-US" sz="12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05B8910-521E-49AB-A89A-18E89FCD9BA7}" type="slidenum">
              <a:rPr lang="en-US" altLang="en-US" sz="1200" smtClean="0"/>
              <a:pPr eaLnBrk="1" hangingPunct="1"/>
              <a:t>16</a:t>
            </a:fld>
            <a:endParaRPr lang="en-US" altLang="en-US" sz="12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AC7D10F-CAD7-4BB4-961E-D194577AE9E0}" type="slidenum">
              <a:rPr lang="en-US" altLang="en-US" sz="1200" smtClean="0"/>
              <a:pPr eaLnBrk="1" hangingPunct="1"/>
              <a:t>17</a:t>
            </a:fld>
            <a:endParaRPr lang="en-US" altLang="en-US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FA1077D-49D9-4010-97EB-A80B0971263E}" type="slidenum">
              <a:rPr lang="en-US" altLang="en-US" sz="1200" smtClean="0"/>
              <a:pPr eaLnBrk="1" hangingPunct="1"/>
              <a:t>18</a:t>
            </a:fld>
            <a:endParaRPr lang="en-US" altLang="en-US" sz="12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6A996B3-AEB8-438D-9A25-A6CC65439054}" type="slidenum">
              <a:rPr lang="en-US" altLang="en-US" sz="1200" smtClean="0"/>
              <a:pPr eaLnBrk="1" hangingPunct="1"/>
              <a:t>19</a:t>
            </a:fld>
            <a:endParaRPr lang="en-US" altLang="en-US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349817D-01C4-45AD-8559-4DBE115680FE}" type="slidenum">
              <a:rPr lang="en-US" altLang="en-US" sz="1200" smtClean="0"/>
              <a:pPr eaLnBrk="1" hangingPunct="1"/>
              <a:t>20</a:t>
            </a:fld>
            <a:endParaRPr lang="en-US" altLang="en-US" sz="120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6B59F03-B365-4DB0-A191-03FF1D69A7B5}" type="slidenum">
              <a:rPr lang="en-US" altLang="en-US" sz="1200" smtClean="0"/>
              <a:pPr eaLnBrk="1" hangingPunct="1"/>
              <a:t>21</a:t>
            </a:fld>
            <a:endParaRPr lang="en-US" altLang="en-US" sz="12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7B9E5D1-30B2-4930-B8F0-D7D5DCC12C14}" type="slidenum">
              <a:rPr lang="en-US" altLang="en-US" sz="1200" smtClean="0"/>
              <a:pPr eaLnBrk="1" hangingPunct="1"/>
              <a:t>22</a:t>
            </a:fld>
            <a:endParaRPr lang="en-US" altLang="en-US" sz="120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48CA1E4-CF08-4CDA-B0E8-B05EF493257C}" type="slidenum">
              <a:rPr lang="en-US" altLang="en-US" sz="1200" smtClean="0"/>
              <a:pPr eaLnBrk="1" hangingPunct="1"/>
              <a:t>23</a:t>
            </a:fld>
            <a:endParaRPr lang="en-US" altLang="en-US" sz="120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24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25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1CAFFEE-5EE5-40F4-8CD0-F2F16F497F7B}" type="slidenum">
              <a:rPr lang="en-US" altLang="en-US" sz="1200" smtClean="0"/>
              <a:pPr eaLnBrk="1" hangingPunct="1"/>
              <a:t>26</a:t>
            </a:fld>
            <a:endParaRPr lang="en-US" altLang="en-US" sz="1200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1563C873-4C45-4EDA-AD8F-FFE8BFD88C76}" type="slidenum">
              <a:rPr lang="en-US" altLang="en-US" sz="1200" smtClean="0"/>
              <a:pPr eaLnBrk="1" hangingPunct="1"/>
              <a:t>27</a:t>
            </a:fld>
            <a:endParaRPr lang="en-US" altLang="en-US" sz="1200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AD1D9C7-656B-47B7-B1C8-A4011EDA8A8A}" type="slidenum">
              <a:rPr lang="en-US" altLang="en-US" sz="1200" smtClean="0"/>
              <a:pPr eaLnBrk="1" hangingPunct="1"/>
              <a:t>28</a:t>
            </a:fld>
            <a:endParaRPr lang="en-US" altLang="en-US" sz="120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78A06E2-C231-49E7-8313-A3F66E0F75DA}" type="slidenum">
              <a:rPr lang="en-US" altLang="en-US" sz="1200" smtClean="0"/>
              <a:pPr eaLnBrk="1" hangingPunct="1"/>
              <a:t>29</a:t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B552831F-0B38-44D2-BD1B-665F4CB95700}" type="slidenum">
              <a:rPr lang="en-US" altLang="en-US" sz="1200" smtClean="0"/>
              <a:pPr eaLnBrk="1" hangingPunct="1"/>
              <a:t>30</a:t>
            </a:fld>
            <a:endParaRPr lang="en-US" altLang="en-US" sz="120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B8CBC2A-7BA3-4D62-85BA-4A41040B9002}" type="slidenum">
              <a:rPr lang="en-US" altLang="en-US" sz="1200" smtClean="0"/>
              <a:pPr eaLnBrk="1" hangingPunct="1"/>
              <a:t>31</a:t>
            </a:fld>
            <a:endParaRPr lang="en-US" altLang="en-US" sz="1200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17F6D76-A0B8-433F-BC90-9B4F30CAA742}" type="slidenum">
              <a:rPr lang="en-US" altLang="en-US" sz="1200" smtClean="0"/>
              <a:pPr eaLnBrk="1" hangingPunct="1"/>
              <a:t>32</a:t>
            </a:fld>
            <a:endParaRPr lang="en-US" altLang="en-US" sz="1200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57D85E60-859A-4D4B-A73E-8AC2AC3409E1}" type="slidenum">
              <a:rPr lang="en-US" altLang="en-US" sz="1200" smtClean="0"/>
              <a:pPr eaLnBrk="1" hangingPunct="1"/>
              <a:t>33</a:t>
            </a:fld>
            <a:endParaRPr lang="en-US" altLang="en-US" sz="1200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C2DFAEB-6894-493E-AF53-8A0BE01F2CD8}" type="slidenum">
              <a:rPr lang="en-US" altLang="en-US" sz="1200" smtClean="0"/>
              <a:pPr eaLnBrk="1" hangingPunct="1"/>
              <a:t>34</a:t>
            </a:fld>
            <a:endParaRPr lang="en-US" altLang="en-US" sz="120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C285B48-39E3-469C-AB8D-D61AD640893A}" type="slidenum">
              <a:rPr lang="en-US" altLang="en-US" sz="1200" smtClean="0"/>
              <a:pPr eaLnBrk="1" hangingPunct="1"/>
              <a:t>35</a:t>
            </a:fld>
            <a:endParaRPr lang="en-US" altLang="en-US" sz="1200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36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CA59D0A-543F-4CC3-B25A-056CEC3B68AD}" type="slidenum">
              <a:rPr lang="en-US" altLang="en-US" sz="1200" smtClean="0"/>
              <a:pPr eaLnBrk="1" hangingPunct="1"/>
              <a:t>37</a:t>
            </a:fld>
            <a:endParaRPr lang="en-US" altLang="en-US" sz="120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C4FCCE8-C6CC-427B-8E7A-103688195FB9}" type="slidenum">
              <a:rPr lang="en-US" altLang="en-US" sz="1200" smtClean="0"/>
              <a:pPr eaLnBrk="1" hangingPunct="1"/>
              <a:t>38</a:t>
            </a:fld>
            <a:endParaRPr lang="en-US" altLang="en-US" sz="12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9A200BF-FCC2-4495-BA3C-80E930E29FF7}" type="slidenum">
              <a:rPr lang="en-US" altLang="en-US" sz="1200" smtClean="0"/>
              <a:pPr eaLnBrk="1" hangingPunct="1"/>
              <a:t>39</a:t>
            </a:fld>
            <a:endParaRPr lang="en-US" altLang="en-US" sz="1200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A9EDAAA-C8DD-42CC-94B0-CDC0AB441802}" type="slidenum">
              <a:rPr lang="en-US" altLang="en-US" sz="1200" smtClean="0"/>
              <a:pPr eaLnBrk="1" hangingPunct="1"/>
              <a:t>40</a:t>
            </a:fld>
            <a:endParaRPr lang="en-US" altLang="en-US" sz="120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CBE09DB-41AB-4372-995B-EA201D6BC393}" type="slidenum">
              <a:rPr lang="en-US" altLang="en-US" sz="1200" smtClean="0"/>
              <a:pPr eaLnBrk="1" hangingPunct="1"/>
              <a:t>42</a:t>
            </a:fld>
            <a:endParaRPr lang="en-US" altLang="en-US" sz="120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AEE1A3F-2BCA-4EC6-ABD3-B0FC87FEFD72}" type="slidenum">
              <a:rPr lang="en-US" altLang="en-US" sz="1200" smtClean="0"/>
              <a:pPr eaLnBrk="1" hangingPunct="1"/>
              <a:t>43</a:t>
            </a:fld>
            <a:endParaRPr lang="en-US" altLang="en-US" sz="1200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815CC47-FBFF-43AB-B08F-73BC7454080E}" type="slidenum">
              <a:rPr lang="en-US" altLang="en-US" sz="1200" smtClean="0"/>
              <a:pPr eaLnBrk="1" hangingPunct="1"/>
              <a:t>44</a:t>
            </a:fld>
            <a:endParaRPr lang="en-US" altLang="en-US" sz="120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815CC47-FBFF-43AB-B08F-73BC7454080E}" type="slidenum">
              <a:rPr lang="en-US" altLang="en-US" sz="1200" smtClean="0"/>
              <a:pPr eaLnBrk="1" hangingPunct="1"/>
              <a:t>45</a:t>
            </a:fld>
            <a:endParaRPr lang="en-US" altLang="en-US" sz="120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24214B3-48C8-4C47-9AEF-A208418C845A}" type="slidenum">
              <a:rPr lang="en-US" altLang="en-US" sz="1200" smtClean="0"/>
              <a:pPr eaLnBrk="1" hangingPunct="1"/>
              <a:t>46</a:t>
            </a:fld>
            <a:endParaRPr lang="en-US" altLang="en-US" sz="1200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1ED6780-F1A2-425A-9288-25693554AC66}" type="slidenum">
              <a:rPr lang="en-US" altLang="en-US" sz="1200" smtClean="0"/>
              <a:pPr eaLnBrk="1" hangingPunct="1"/>
              <a:t>47</a:t>
            </a:fld>
            <a:endParaRPr lang="en-US" altLang="en-US" sz="1200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136149D-DF0F-4AD2-BBCF-296010387739}" type="slidenum">
              <a:rPr lang="en-US" altLang="en-US" sz="1200" smtClean="0"/>
              <a:pPr eaLnBrk="1" hangingPunct="1"/>
              <a:t>48</a:t>
            </a:fld>
            <a:endParaRPr lang="en-US" altLang="en-US" sz="1200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86A1DFA-7BC7-4404-ACF4-C52E983878F1}" type="slidenum">
              <a:rPr lang="en-US" altLang="en-US" sz="1200" smtClean="0"/>
              <a:pPr eaLnBrk="1" hangingPunct="1"/>
              <a:t>49</a:t>
            </a:fld>
            <a:endParaRPr lang="en-US" altLang="en-US" sz="1200" smtClean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AEA3AED-A9EF-45BC-B731-6B4EC1535631}" type="slidenum">
              <a:rPr lang="en-US" altLang="en-US" sz="1200" smtClean="0"/>
              <a:pPr eaLnBrk="1" hangingPunct="1"/>
              <a:t>50</a:t>
            </a:fld>
            <a:endParaRPr lang="en-US" altLang="en-US" sz="1200" smtClean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DB7538C-C953-4BC1-8877-55C94DE41010}" type="slidenum">
              <a:rPr lang="en-US" altLang="en-US" sz="1200" smtClean="0"/>
              <a:pPr eaLnBrk="1" hangingPunct="1"/>
              <a:t>51</a:t>
            </a:fld>
            <a:endParaRPr lang="en-US" altLang="en-US" sz="120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B93B64A-C4C9-4ABE-B421-F03836EB877D}" type="slidenum">
              <a:rPr lang="en-US" altLang="en-US" sz="1200" smtClean="0"/>
              <a:pPr eaLnBrk="1" hangingPunct="1"/>
              <a:t>52</a:t>
            </a:fld>
            <a:endParaRPr lang="en-US" altLang="en-US" sz="120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FFF430A-02EC-49EE-8846-862EF7325A6D}" type="slidenum">
              <a:rPr lang="en-US" altLang="en-US" sz="1200" smtClean="0"/>
              <a:pPr eaLnBrk="1" hangingPunct="1"/>
              <a:t>53</a:t>
            </a:fld>
            <a:endParaRPr lang="en-US" altLang="en-US" sz="120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1A88B1A7-9E6C-415B-BEBC-8EB642A8B0DC}" type="slidenum">
              <a:rPr lang="en-US" altLang="en-US" sz="1200" smtClean="0"/>
              <a:pPr eaLnBrk="1" hangingPunct="1"/>
              <a:t>54</a:t>
            </a:fld>
            <a:endParaRPr lang="en-US" altLang="en-US" sz="120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DD8D84E-B193-425E-9FF6-A45537BF02CC}" type="slidenum">
              <a:rPr lang="en-US" altLang="en-US" sz="1200" smtClean="0"/>
              <a:pPr eaLnBrk="1" hangingPunct="1"/>
              <a:t>55</a:t>
            </a:fld>
            <a:endParaRPr lang="en-US" altLang="en-US" sz="120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F733398-7820-44D7-B289-2DD599EFAAC1}" type="slidenum">
              <a:rPr lang="en-US" altLang="en-US" sz="1200" smtClean="0"/>
              <a:pPr eaLnBrk="1" hangingPunct="1"/>
              <a:t>56</a:t>
            </a:fld>
            <a:endParaRPr lang="en-US" altLang="en-US" sz="120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28B068A-17D1-40E8-8086-63AD342ADEBD}" type="slidenum">
              <a:rPr lang="en-US" altLang="en-US" sz="1200" smtClean="0"/>
              <a:pPr eaLnBrk="1" hangingPunct="1"/>
              <a:t>57</a:t>
            </a:fld>
            <a:endParaRPr lang="en-US" altLang="en-US" sz="120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AC6CA5A-5392-4345-91C8-55D622A31D57}" type="slidenum">
              <a:rPr lang="en-US" altLang="en-US" sz="1200" smtClean="0"/>
              <a:pPr eaLnBrk="1" hangingPunct="1"/>
              <a:t>58</a:t>
            </a:fld>
            <a:endParaRPr lang="en-US" altLang="en-US" sz="120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BB5DCF6-9BB0-4DB5-94A5-87EEA9B98294}" type="slidenum">
              <a:rPr lang="en-US" altLang="en-US" sz="1200" smtClean="0"/>
              <a:pPr eaLnBrk="1" hangingPunct="1"/>
              <a:t>59</a:t>
            </a:fld>
            <a:endParaRPr lang="en-US" altLang="en-US" sz="120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D03AD14-B647-4B2B-8775-049B989873B8}" type="slidenum">
              <a:rPr lang="en-US" altLang="en-US" sz="1200" smtClean="0"/>
              <a:pPr eaLnBrk="1" hangingPunct="1"/>
              <a:t>60</a:t>
            </a:fld>
            <a:endParaRPr lang="en-US" altLang="en-US" sz="120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55F397EA-6DA1-4760-9263-1299D3D3FB27}" type="slidenum">
              <a:rPr lang="en-US" altLang="en-US" sz="1200" smtClean="0"/>
              <a:pPr eaLnBrk="1" hangingPunct="1"/>
              <a:t>61</a:t>
            </a:fld>
            <a:endParaRPr lang="en-US" altLang="en-US" sz="12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764DF3F-8389-4C1B-9D7B-DA37F9CB1565}" type="slidenum">
              <a:rPr lang="en-US" altLang="en-US" sz="1200" smtClean="0"/>
              <a:pPr eaLnBrk="1" hangingPunct="1"/>
              <a:t>62</a:t>
            </a:fld>
            <a:endParaRPr lang="en-US" altLang="en-US" sz="120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114B8E8-947B-43B4-BB20-97D33D5C6022}" type="slidenum">
              <a:rPr lang="en-US" altLang="en-US" sz="1200" smtClean="0"/>
              <a:pPr eaLnBrk="1" hangingPunct="1"/>
              <a:t>63</a:t>
            </a:fld>
            <a:endParaRPr lang="en-US" altLang="en-US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2A4A7F1-B0FC-4672-96B3-CB7855F478BC}" type="slidenum">
              <a:rPr lang="en-US" altLang="en-US" sz="1200" smtClean="0"/>
              <a:pPr eaLnBrk="1" hangingPunct="1"/>
              <a:t>64</a:t>
            </a:fld>
            <a:endParaRPr lang="en-US" altLang="en-US" sz="120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AABF922-9090-46C2-910F-7BDE692A4BE4}" type="slidenum">
              <a:rPr lang="en-US" altLang="en-US" sz="1200" smtClean="0"/>
              <a:pPr eaLnBrk="1" hangingPunct="1"/>
              <a:t>65</a:t>
            </a:fld>
            <a:endParaRPr lang="en-US" altLang="en-US" sz="12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0860E8D-6F46-45BD-875A-2FA18018B32D}" type="slidenum">
              <a:rPr lang="en-US" altLang="en-US" sz="1200" smtClean="0"/>
              <a:pPr eaLnBrk="1" hangingPunct="1"/>
              <a:t>66</a:t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DBB3905-EDF9-4266-BD9F-9115CF07D26E}" type="slidenum">
              <a:rPr lang="en-US" altLang="en-US" sz="1200" smtClean="0"/>
              <a:pPr eaLnBrk="1" hangingPunct="1"/>
              <a:t>67</a:t>
            </a:fld>
            <a:endParaRPr lang="en-US" altLang="en-US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 smtClean="0"/>
              <a:t>CAD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“Hardware Systems Modeling”, A. </a:t>
            </a:r>
            <a:r>
              <a:rPr lang="en-US" sz="1400" dirty="0" err="1" smtClean="0"/>
              <a:t>Vachoux</a:t>
            </a:r>
            <a:r>
              <a:rPr lang="en-US" sz="1400" dirty="0" smtClean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CAD slides from Dr. </a:t>
            </a:r>
            <a:r>
              <a:rPr lang="en-US" sz="1400" dirty="0" err="1" smtClean="0"/>
              <a:t>Saheb</a:t>
            </a:r>
            <a:r>
              <a:rPr lang="en-US" sz="1400" dirty="0" smtClean="0"/>
              <a:t> </a:t>
            </a:r>
            <a:r>
              <a:rPr lang="en-US" sz="1400" dirty="0" err="1" smtClean="0"/>
              <a:t>Zamani</a:t>
            </a:r>
            <a:endParaRPr lang="en-US" sz="1400" dirty="0" smtClean="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>Synthesis</a:t>
            </a:r>
            <a:endParaRPr lang="en-US" sz="4800" b="1" dirty="0" smtClean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3340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</p:spTree>
    <p:extLst>
      <p:ext uri="{BB962C8B-B14F-4D97-AF65-F5344CB8AC3E}">
        <p14:creationId xmlns:p14="http://schemas.microsoft.com/office/powerpoint/2010/main" val="1091708786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Synthesis?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724400" y="1765280"/>
            <a:ext cx="41148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dirty="0"/>
              <a:t>Transformation of an abstract description into a more detailed description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"+" operator is transformed into a gate </a:t>
            </a:r>
            <a:r>
              <a:rPr lang="en-US" altLang="en-US" sz="2000" b="0" dirty="0" err="1"/>
              <a:t>netlist</a:t>
            </a:r>
            <a:r>
              <a:rPr lang="en-US" altLang="en-US" sz="2000" b="0" dirty="0"/>
              <a:t>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"if (VEC_A = VEC_B) then"</a:t>
            </a:r>
            <a:br>
              <a:rPr lang="en-US" altLang="en-US" sz="2000" b="0" dirty="0"/>
            </a:br>
            <a:r>
              <a:rPr lang="en-US" altLang="en-US" sz="2000" b="0" dirty="0">
                <a:sym typeface="Wingdings" pitchFamily="2" charset="2"/>
              </a:rPr>
              <a:t> a </a:t>
            </a:r>
            <a:r>
              <a:rPr lang="en-US" altLang="en-US" sz="2000" b="0" dirty="0"/>
              <a:t> comparator which controls a multiplexer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dirty="0"/>
              <a:t>Transformation depends on several factors: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1600" dirty="0"/>
              <a:t>Algorithm, constraints, library</a:t>
            </a:r>
          </a:p>
        </p:txBody>
      </p:sp>
      <p:pic>
        <p:nvPicPr>
          <p:cNvPr id="7" name="Picture 4" descr="t_1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4495800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09600" y="5638800"/>
            <a:ext cx="7239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عملگرهاي ساده (مثل </a:t>
            </a:r>
            <a:r>
              <a:rPr lang="en-US" altLang="en-US" sz="1800" dirty="0">
                <a:cs typeface="B Mitra" panose="00000400000000000000" pitchFamily="2" charset="-78"/>
              </a:rPr>
              <a:t>AND</a:t>
            </a:r>
            <a:r>
              <a:rPr lang="fa-IR" altLang="en-US" sz="1800" dirty="0">
                <a:cs typeface="B Mitra" panose="00000400000000000000" pitchFamily="2" charset="-78"/>
              </a:rPr>
              <a:t>، </a:t>
            </a:r>
            <a:r>
              <a:rPr lang="en-US" altLang="en-US" sz="1800" dirty="0">
                <a:cs typeface="B Mitra" panose="00000400000000000000" pitchFamily="2" charset="-78"/>
              </a:rPr>
              <a:t>OR</a:t>
            </a:r>
            <a:r>
              <a:rPr lang="fa-IR" altLang="en-US" sz="1800" dirty="0">
                <a:cs typeface="B Mitra" panose="00000400000000000000" pitchFamily="2" charset="-78"/>
              </a:rPr>
              <a:t>، مقايسه) به گيتهاي مشخصي تبديل مي شوند اما عملگرهاي پيچيده تر مثل ضرب ابتدا به ماکروسلهاي خاص آن </a:t>
            </a:r>
            <a:r>
              <a:rPr lang="en-US" altLang="en-US" sz="1800" dirty="0">
                <a:cs typeface="B Mitra" panose="00000400000000000000" pitchFamily="2" charset="-78"/>
              </a:rPr>
              <a:t>tool</a:t>
            </a:r>
            <a:r>
              <a:rPr lang="fa-IR" altLang="en-US" sz="1800" dirty="0">
                <a:cs typeface="B Mitra" panose="00000400000000000000" pitchFamily="2" charset="-78"/>
              </a:rPr>
              <a:t> تبديل مي شوند.</a:t>
            </a:r>
            <a:endParaRPr lang="en-US" altLang="en-US" sz="18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Synthesizability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743200" y="1447800"/>
            <a:ext cx="5181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dirty="0"/>
              <a:t>Only a subset of VHDL is synthesizable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dirty="0"/>
              <a:t>Different Tools support different subsets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records?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arrays of integers?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clock edge detection?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sensitivity list?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... </a:t>
            </a:r>
            <a:endParaRPr lang="en-US" altLang="en-US" sz="2000" b="0" dirty="0" smtClean="0"/>
          </a:p>
          <a:p>
            <a:pPr eaLnBrk="1" hangingPunct="1">
              <a:buFontTx/>
              <a:buChar char="•"/>
            </a:pPr>
            <a:r>
              <a:rPr lang="en-US" altLang="en-US" sz="2000" dirty="0"/>
              <a:t>Different Language Support for Synthesis</a:t>
            </a:r>
            <a:endParaRPr lang="en-US" altLang="en-US" sz="2000" b="0" dirty="0"/>
          </a:p>
        </p:txBody>
      </p:sp>
      <p:pic>
        <p:nvPicPr>
          <p:cNvPr id="7" name="Picture 4" descr="t_1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1277937"/>
            <a:ext cx="161131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t_18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981375"/>
            <a:ext cx="5334000" cy="28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Do?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486400" y="1371600"/>
            <a:ext cx="2971800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/>
              <a:t>Macrocells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adder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comparator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bus interface</a:t>
            </a:r>
            <a:r>
              <a:rPr lang="en-US" altLang="en-US" sz="2000"/>
              <a:t>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counter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/>
              <a:t>Constraints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speed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area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power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/>
              <a:t>Optimizations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boolean: mathematic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 b="0"/>
              <a:t>LUTs: technological </a:t>
            </a:r>
          </a:p>
        </p:txBody>
      </p:sp>
      <p:pic>
        <p:nvPicPr>
          <p:cNvPr id="7" name="Picture 4" descr="t_1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65263"/>
            <a:ext cx="5105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Constraints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" y="1295400"/>
            <a:ext cx="8534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محدوديتهاي سخت: محدوديتهاي ثابتي که در سنتزکننده وجود دارد</a:t>
            </a:r>
            <a:r>
              <a:rPr lang="en-US" altLang="en-US" dirty="0">
                <a:cs typeface="B Mitra" panose="00000400000000000000" pitchFamily="2" charset="-78"/>
              </a:rPr>
              <a:t>:</a:t>
            </a:r>
          </a:p>
          <a:p>
            <a:pPr lvl="1" algn="r" rtl="1" eaLnBrk="1" hangingPunct="1"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مربوط به محدوديتهاي </a:t>
            </a:r>
            <a:r>
              <a:rPr lang="en-US" altLang="en-US" dirty="0">
                <a:cs typeface="B Mitra" panose="00000400000000000000" pitchFamily="2" charset="-78"/>
              </a:rPr>
              <a:t>target technology</a:t>
            </a:r>
            <a:r>
              <a:rPr lang="fa-IR" altLang="en-US" dirty="0">
                <a:cs typeface="B Mitra" panose="00000400000000000000" pitchFamily="2" charset="-78"/>
              </a:rPr>
              <a:t> (مثل محدوديت </a:t>
            </a:r>
            <a:r>
              <a:rPr lang="en-US" altLang="en-US" dirty="0" err="1">
                <a:cs typeface="B Mitra" panose="00000400000000000000" pitchFamily="2" charset="-78"/>
              </a:rPr>
              <a:t>fanout</a:t>
            </a:r>
            <a:r>
              <a:rPr lang="en-US" altLang="en-US" dirty="0">
                <a:cs typeface="B Mitra" panose="00000400000000000000" pitchFamily="2" charset="-78"/>
              </a:rPr>
              <a:t> </a:t>
            </a:r>
            <a:r>
              <a:rPr lang="fa-IR" altLang="en-US" dirty="0">
                <a:cs typeface="B Mitra" panose="00000400000000000000" pitchFamily="2" charset="-78"/>
              </a:rPr>
              <a:t> در </a:t>
            </a:r>
            <a:r>
              <a:rPr lang="en-US" altLang="en-US" dirty="0">
                <a:cs typeface="B Mitra" panose="00000400000000000000" pitchFamily="2" charset="-78"/>
              </a:rPr>
              <a:t>Logic Block</a:t>
            </a:r>
            <a:r>
              <a:rPr lang="fa-IR" altLang="en-US" dirty="0">
                <a:cs typeface="B Mitra" panose="00000400000000000000" pitchFamily="2" charset="-78"/>
              </a:rPr>
              <a:t>ها)</a:t>
            </a:r>
          </a:p>
          <a:p>
            <a:pPr lvl="1" algn="r" rtl="1" eaLnBrk="1" hangingPunct="1"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و مربوط به توانايي </a:t>
            </a:r>
            <a:r>
              <a:rPr lang="en-US" altLang="en-US" dirty="0">
                <a:cs typeface="B Mitra" panose="00000400000000000000" pitchFamily="2" charset="-78"/>
              </a:rPr>
              <a:t>tool</a:t>
            </a:r>
          </a:p>
          <a:p>
            <a:pPr algn="r" rtl="1" eaLnBrk="1" hangingPunct="1"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محدوديتهاي نرم: محدوديتهايي که کاربر مشخص مي کند:</a:t>
            </a:r>
          </a:p>
          <a:p>
            <a:pPr lvl="1" algn="r" rtl="1" eaLnBrk="1" hangingPunct="1"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مثل حداقل سرعت لازم</a:t>
            </a:r>
            <a:endParaRPr lang="en-US" altLang="en-US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847F766-2E83-4BC1-AC29-4CB050F05E07}" type="slidenum">
              <a:rPr lang="en-US" altLang="en-US" sz="1400" b="0" smtClean="0">
                <a:cs typeface="Times New Roman" pitchFamily="18" charset="0"/>
              </a:rPr>
              <a:pPr eaLnBrk="1" hangingPunct="1"/>
              <a:t>6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Non-functional requirements</a:t>
            </a:r>
          </a:p>
        </p:txBody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7772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Performance: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Clock speed is generally a primary requirement.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Usually expressed as a lower bound.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 smtClean="0"/>
              <a:t>Design cycle and Timing Closure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Size: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Determines manufacturing cost.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If your design doesn’t fit into one size FPGA, you must use the next larger FPGA.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For very large designs: multi-FPGAs.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Power/energy: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Power/Energy related to battery life and heat.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 smtClean="0"/>
              <a:t>May have more cost: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sz="1600" dirty="0" smtClean="0"/>
              <a:t>More expensive packaging to dissipate heat.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sz="1600" dirty="0" smtClean="0"/>
              <a:t>More extreme measures (e.g. cooling fans).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Many digital systems are power- or energy-limited.</a:t>
            </a:r>
          </a:p>
        </p:txBody>
      </p:sp>
    </p:spTree>
    <p:extLst>
      <p:ext uri="{BB962C8B-B14F-4D97-AF65-F5344CB8AC3E}">
        <p14:creationId xmlns:p14="http://schemas.microsoft.com/office/powerpoint/2010/main" val="3355948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8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78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78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78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787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787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787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787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5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77FB5D7-8AB8-4F8E-BDF1-ECE64B5D592D}" type="slidenum">
              <a:rPr lang="en-US" altLang="en-US" sz="1400" b="0" smtClean="0">
                <a:cs typeface="Times New Roman" pitchFamily="18" charset="0"/>
              </a:rPr>
              <a:pPr eaLnBrk="1" hangingPunct="1"/>
              <a:t>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Mapping into an FPGA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Must choose the FPGA:</a:t>
            </a:r>
          </a:p>
          <a:p>
            <a:pPr lvl="1" eaLnBrk="1" hangingPunct="1"/>
            <a:r>
              <a:rPr lang="en-US" altLang="en-US" dirty="0" smtClean="0"/>
              <a:t>Capacity.</a:t>
            </a:r>
          </a:p>
          <a:p>
            <a:pPr lvl="1" eaLnBrk="1" hangingPunct="1"/>
            <a:r>
              <a:rPr lang="en-US" altLang="en-US" dirty="0" smtClean="0"/>
              <a:t>Pinout/package type.</a:t>
            </a:r>
          </a:p>
          <a:p>
            <a:pPr lvl="1" eaLnBrk="1" hangingPunct="1"/>
            <a:r>
              <a:rPr lang="en-US" altLang="en-US" dirty="0" smtClean="0"/>
              <a:t>Maximum speed.</a:t>
            </a:r>
          </a:p>
          <a:p>
            <a:pPr eaLnBrk="1" hangingPunct="1"/>
            <a:r>
              <a:rPr lang="en-US" altLang="en-US" dirty="0"/>
              <a:t>Essential Information for Synthesis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Load values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Path delays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Driver strengths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Timing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Operating conditions (e.g. temperature</a:t>
            </a:r>
            <a:r>
              <a:rPr lang="en-US" alt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0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Synthesis Process in Practice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0" y="1447800"/>
            <a:ext cx="647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1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باوجود مکانيزمهاي بهينه سازي، ممکن است بعد از سنتز، همة محدوديتها برآورده نشده باشند </a:t>
            </a:r>
            <a:r>
              <a:rPr lang="en-US" altLang="en-US" sz="2000" dirty="0">
                <a:cs typeface="B Mitra" panose="00000400000000000000" pitchFamily="2" charset="-78"/>
                <a:sym typeface="Wingdings" pitchFamily="2" charset="2"/>
              </a:rPr>
              <a:t></a:t>
            </a:r>
            <a:r>
              <a:rPr lang="fa-IR" altLang="en-US" sz="2000" dirty="0">
                <a:cs typeface="B Mitra" panose="00000400000000000000" pitchFamily="2" charset="-78"/>
                <a:sym typeface="Wingdings" pitchFamily="2" charset="2"/>
              </a:rPr>
              <a:t> تکرار</a:t>
            </a:r>
            <a:endParaRPr lang="en-US" altLang="en-US" sz="2000" b="0" dirty="0">
              <a:cs typeface="B Mitra" panose="00000400000000000000" pitchFamily="2" charset="-78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86350" y="3352800"/>
            <a:ext cx="27813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91000" y="2743200"/>
            <a:ext cx="1371600" cy="395288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Synthesis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057400" y="2743200"/>
            <a:ext cx="1676400" cy="395288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Design Entry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3733800" y="2971800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019800" y="2743200"/>
            <a:ext cx="1828800" cy="395288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Results OK?</a:t>
            </a: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562600" y="2971800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7848600" y="2971800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924800" y="2590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/>
              <a:t>yes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086600" y="3200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/>
              <a:t>no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6858000" y="3124200"/>
            <a:ext cx="0" cy="2819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5638800" y="3733800"/>
            <a:ext cx="1219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267200" y="3429000"/>
            <a:ext cx="1371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Constraints</a:t>
            </a: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4038600" y="3733800"/>
            <a:ext cx="228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 flipV="1">
            <a:off x="4038600" y="2971800"/>
            <a:ext cx="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H="1">
            <a:off x="5638800" y="4800600"/>
            <a:ext cx="1219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4267200" y="4495800"/>
            <a:ext cx="1371600" cy="944563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VHDL Code</a:t>
            </a: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 flipH="1">
            <a:off x="4038600" y="4800600"/>
            <a:ext cx="228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H="1" flipV="1">
            <a:off x="4038600" y="3733800"/>
            <a:ext cx="0" cy="1066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609600" y="2667000"/>
            <a:ext cx="990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Arch’re Design</a:t>
            </a:r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 flipH="1">
            <a:off x="5638800" y="5913438"/>
            <a:ext cx="1219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4267200" y="5608638"/>
            <a:ext cx="1371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Arch’re</a:t>
            </a: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 flipH="1">
            <a:off x="1905000" y="5913438"/>
            <a:ext cx="2362200" cy="30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 flipH="1" flipV="1">
            <a:off x="1905000" y="2971800"/>
            <a:ext cx="0" cy="2971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Problems with Synthesis Tools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04800" y="1584325"/>
            <a:ext cx="75438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Timing issues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layout information is missing during the synthesis process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clock tree must be generated afterwards </a:t>
            </a:r>
          </a:p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Complex clocking schemes</a:t>
            </a:r>
            <a:br>
              <a:rPr lang="en-US" altLang="en-US" sz="2000" dirty="0"/>
            </a:br>
            <a:r>
              <a:rPr lang="en-US" altLang="en-US" sz="2000" dirty="0"/>
              <a:t>(inverted clocks, multiple clocks, gated clocks) </a:t>
            </a:r>
          </a:p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Memory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synthesis tools are not able to replace register arrays with memory macro cells </a:t>
            </a:r>
          </a:p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Macro cells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no standardized way for instantiation of existing technology macro cells</a:t>
            </a:r>
            <a:r>
              <a:rPr lang="en-US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Synthesis Strategy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7200" y="1371600"/>
            <a:ext cx="754380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/>
              <a:t>Consider the effects of different coding styles on the inferred hardware structures </a:t>
            </a:r>
          </a:p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/>
              <a:t>Appropriate design partitioning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b="0" dirty="0"/>
              <a:t>critical paths should not be distributed to several synthesis blocks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b="0" dirty="0"/>
              <a:t>different optimization constraints may be used for separate blocks </a:t>
            </a:r>
            <a:endParaRPr lang="en-US" altLang="en-US" b="0" dirty="0" smtClean="0"/>
          </a:p>
          <a:p>
            <a:pPr eaLnBrk="1" hangingPunct="1">
              <a:buFontTx/>
              <a:buChar char="•"/>
            </a:pPr>
            <a:r>
              <a:rPr lang="en-US" altLang="en-US" dirty="0"/>
              <a:t>Delay and Power </a:t>
            </a:r>
            <a:r>
              <a:rPr lang="en-US" altLang="en-US" dirty="0" smtClean="0"/>
              <a:t>Optimization</a:t>
            </a:r>
          </a:p>
          <a:p>
            <a:pPr lvl="1" eaLnBrk="1" hangingPunct="1">
              <a:buFontTx/>
              <a:buChar char="•"/>
            </a:pPr>
            <a:r>
              <a:rPr lang="en-US" altLang="en-US" b="0" dirty="0"/>
              <a:t>Combinational network </a:t>
            </a:r>
            <a:r>
              <a:rPr lang="en-US" altLang="en-US" b="0" dirty="0" smtClean="0"/>
              <a:t>delay</a:t>
            </a:r>
          </a:p>
          <a:p>
            <a:pPr lvl="1" eaLnBrk="1" hangingPunct="1">
              <a:buFontTx/>
              <a:buChar char="•"/>
            </a:pPr>
            <a:r>
              <a:rPr lang="en-US" altLang="en-US" b="0" dirty="0"/>
              <a:t>Combinational network energy/power</a:t>
            </a:r>
          </a:p>
        </p:txBody>
      </p:sp>
    </p:spTree>
    <p:extLst>
      <p:ext uri="{BB962C8B-B14F-4D97-AF65-F5344CB8AC3E}">
        <p14:creationId xmlns:p14="http://schemas.microsoft.com/office/powerpoint/2010/main" val="298483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4380379-0984-44D7-846A-E351A4BFC3D7}" type="slidenum">
              <a:rPr lang="en-US" altLang="en-US" sz="1400" b="0" smtClean="0">
                <a:cs typeface="Times New Roman" pitchFamily="18" charset="0"/>
              </a:rPr>
              <a:pPr eaLnBrk="1" hangingPunct="1"/>
              <a:t>11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79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Delay characteristics</a:t>
            </a:r>
          </a:p>
        </p:txBody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610600" cy="41148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Measured from change in inputs to change in outputs.</a:t>
            </a:r>
          </a:p>
          <a:p>
            <a:pPr eaLnBrk="1" hangingPunct="1"/>
            <a:r>
              <a:rPr lang="en-US" altLang="en-US" sz="2400" dirty="0" smtClean="0"/>
              <a:t>Data-dependent:</a:t>
            </a:r>
          </a:p>
          <a:p>
            <a:pPr lvl="1" eaLnBrk="1" hangingPunct="1"/>
            <a:r>
              <a:rPr lang="en-US" altLang="en-US" sz="2000" dirty="0" smtClean="0"/>
              <a:t>Some block delays depend on the value/waveform at the input (</a:t>
            </a:r>
            <a:r>
              <a:rPr lang="en-US" altLang="en-US" sz="2000" dirty="0" err="1" smtClean="0"/>
              <a:t>t</a:t>
            </a:r>
            <a:r>
              <a:rPr lang="en-US" altLang="en-US" sz="2000" baseline="-25000" dirty="0" err="1" smtClean="0"/>
              <a:t>pHL</a:t>
            </a:r>
            <a:r>
              <a:rPr lang="en-US" altLang="en-US" sz="2000" dirty="0" smtClean="0"/>
              <a:t> ≠ </a:t>
            </a:r>
            <a:r>
              <a:rPr lang="en-US" altLang="en-US" sz="2000" dirty="0" err="1" smtClean="0"/>
              <a:t>t</a:t>
            </a:r>
            <a:r>
              <a:rPr lang="en-US" altLang="en-US" sz="2000" baseline="-25000" dirty="0" err="1" smtClean="0"/>
              <a:t>pLH</a:t>
            </a:r>
            <a:r>
              <a:rPr lang="en-US" altLang="en-US" sz="2000" dirty="0" smtClean="0"/>
              <a:t>) (</a:t>
            </a:r>
            <a:r>
              <a:rPr lang="en-US" altLang="en-US" sz="2000" dirty="0" err="1" smtClean="0"/>
              <a:t>t</a:t>
            </a:r>
            <a:r>
              <a:rPr lang="en-US" altLang="en-US" sz="2000" baseline="-25000" dirty="0" err="1" smtClean="0"/>
              <a:t>r</a:t>
            </a:r>
            <a:r>
              <a:rPr lang="en-US" altLang="en-US" sz="2000" dirty="0" smtClean="0"/>
              <a:t> ≠ </a:t>
            </a:r>
            <a:r>
              <a:rPr lang="en-US" altLang="en-US" sz="2000" dirty="0" err="1" smtClean="0"/>
              <a:t>t</a:t>
            </a:r>
            <a:r>
              <a:rPr lang="en-US" altLang="en-US" sz="2000" baseline="-25000" dirty="0" err="1" smtClean="0"/>
              <a:t>f</a:t>
            </a:r>
            <a:r>
              <a:rPr lang="en-US" altLang="en-US" sz="2000" dirty="0" smtClean="0"/>
              <a:t>)</a:t>
            </a:r>
          </a:p>
          <a:p>
            <a:pPr eaLnBrk="1" hangingPunct="1"/>
            <a:r>
              <a:rPr lang="en-US" altLang="en-US" sz="2400" dirty="0" smtClean="0"/>
              <a:t>May need to observe different paths through the network.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685800" y="6338887"/>
            <a:ext cx="697314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685800" y="3290887"/>
            <a:ext cx="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025527" y="6371944"/>
            <a:ext cx="633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sz="2000" b="0" dirty="0">
                <a:cs typeface="Times New Roman" pitchFamily="18" charset="0"/>
              </a:rPr>
              <a:t>time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12788" y="3671887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A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30250" y="5195887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B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2362200" y="5272087"/>
            <a:ext cx="3048000" cy="685800"/>
          </a:xfrm>
          <a:prstGeom prst="hexagon">
            <a:avLst>
              <a:gd name="adj" fmla="val 111111"/>
              <a:gd name="vf" fmla="val 115470"/>
            </a:avLst>
          </a:prstGeom>
          <a:solidFill>
            <a:srgbClr val="FAFD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H="1">
            <a:off x="914400" y="5653087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410200" y="5576887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838200" y="4510087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V="1">
            <a:off x="1752600" y="3671887"/>
            <a:ext cx="228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1981200" y="3671887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038600" y="3671887"/>
            <a:ext cx="228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4267200" y="4510087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>
            <a:off x="4191000" y="3976687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" name="Group 24"/>
          <p:cNvGrpSpPr>
            <a:grpSpLocks/>
          </p:cNvGrpSpPr>
          <p:nvPr/>
        </p:nvGrpSpPr>
        <p:grpSpPr bwMode="auto">
          <a:xfrm>
            <a:off x="1981200" y="3124200"/>
            <a:ext cx="4435475" cy="2071687"/>
            <a:chOff x="1392" y="1335"/>
            <a:chExt cx="2794" cy="1305"/>
          </a:xfrm>
        </p:grpSpPr>
        <p:sp>
          <p:nvSpPr>
            <p:cNvPr id="21" name="Line 25"/>
            <p:cNvSpPr>
              <a:spLocks noChangeShapeType="1"/>
            </p:cNvSpPr>
            <p:nvPr/>
          </p:nvSpPr>
          <p:spPr bwMode="auto">
            <a:xfrm>
              <a:off x="1392" y="1920"/>
              <a:ext cx="672" cy="7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26"/>
            <p:cNvSpPr txBox="1">
              <a:spLocks noChangeArrowheads="1"/>
            </p:cNvSpPr>
            <p:nvPr/>
          </p:nvSpPr>
          <p:spPr bwMode="auto">
            <a:xfrm>
              <a:off x="4070" y="1335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 rtl="0">
                <a:spcBef>
                  <a:spcPct val="0"/>
                </a:spcBef>
              </a:pPr>
              <a:endParaRPr lang="en-US" altLang="en-US" b="0" baseline="-25000">
                <a:solidFill>
                  <a:schemeClr val="tx2"/>
                </a:solidFill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022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DDDA778-83B4-4B96-9CFA-FF83AF65BBCB}" type="slidenum">
              <a:rPr lang="en-US" altLang="en-US" sz="1400" b="0" smtClean="0">
                <a:cs typeface="Times New Roman" pitchFamily="18" charset="0"/>
              </a:rPr>
              <a:pPr eaLnBrk="1" hangingPunct="1"/>
              <a:t>12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Sources of Delay</a:t>
            </a:r>
          </a:p>
        </p:txBody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7772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Gate delay: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/>
              <a:t>Little we can do about it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>
                <a:sym typeface="Wingdings" pitchFamily="2" charset="2"/>
              </a:rPr>
              <a:t>E.g. select another FPGA with faster logic blocks (LBs) or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>
                <a:sym typeface="Wingdings" pitchFamily="2" charset="2"/>
              </a:rPr>
              <a:t>Minimize the number of LBs in the critical path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Wire delay: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/>
              <a:t>Much we can do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/>
              <a:t>E.g. select the proper path of the wire or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/>
              <a:t>Select buffered paths.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/>
              <a:t>Two types: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/>
              <a:t>lumped load (for short wires which are modeled by a single capacitance)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sz="1800" dirty="0" smtClean="0"/>
              <a:t>Little we can do.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/>
              <a:t>transmission line (for long wires).</a:t>
            </a:r>
          </a:p>
        </p:txBody>
      </p:sp>
    </p:spTree>
    <p:extLst>
      <p:ext uri="{BB962C8B-B14F-4D97-AF65-F5344CB8AC3E}">
        <p14:creationId xmlns:p14="http://schemas.microsoft.com/office/powerpoint/2010/main" val="89746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9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9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9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B868660F-26B1-4B56-B2A4-053373D2B90B}" type="slidenum">
              <a:rPr lang="en-US" altLang="en-US" sz="1400" b="0" smtClean="0">
                <a:cs typeface="Times New Roman" pitchFamily="18" charset="0"/>
              </a:rPr>
              <a:pPr eaLnBrk="1" hangingPunct="1"/>
              <a:t>13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err="1" smtClean="0"/>
              <a:t>Fanout</a:t>
            </a:r>
            <a:endParaRPr lang="en-US" altLang="en-US" dirty="0" smtClean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648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err="1" smtClean="0"/>
              <a:t>Fanout</a:t>
            </a:r>
            <a:r>
              <a:rPr lang="en-US" altLang="en-US" dirty="0" smtClean="0"/>
              <a:t> adds capacitance.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/>
              <a:t>Adding gates adds capacitance: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4992688" y="2286000"/>
            <a:ext cx="914400" cy="914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solidFill>
                  <a:schemeClr val="bg1"/>
                </a:solidFill>
                <a:cs typeface="Times New Roman" pitchFamily="18" charset="0"/>
              </a:rPr>
              <a:t>source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7735888" y="1219200"/>
            <a:ext cx="914400" cy="914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solidFill>
                  <a:schemeClr val="bg1"/>
                </a:solidFill>
                <a:cs typeface="Times New Roman" pitchFamily="18" charset="0"/>
              </a:rPr>
              <a:t>sink</a:t>
            </a:r>
          </a:p>
        </p:txBody>
      </p:sp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7735888" y="2286000"/>
            <a:ext cx="914400" cy="914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solidFill>
                  <a:schemeClr val="bg1"/>
                </a:solidFill>
                <a:cs typeface="Times New Roman" pitchFamily="18" charset="0"/>
              </a:rPr>
              <a:t>sink</a:t>
            </a:r>
          </a:p>
        </p:txBody>
      </p:sp>
      <p:sp>
        <p:nvSpPr>
          <p:cNvPr id="21513" name="Rectangle 7"/>
          <p:cNvSpPr>
            <a:spLocks noChangeArrowheads="1"/>
          </p:cNvSpPr>
          <p:nvPr/>
        </p:nvSpPr>
        <p:spPr bwMode="auto">
          <a:xfrm>
            <a:off x="7735888" y="3352800"/>
            <a:ext cx="914400" cy="914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solidFill>
                  <a:schemeClr val="bg1"/>
                </a:solidFill>
                <a:cs typeface="Times New Roman" pitchFamily="18" charset="0"/>
              </a:rPr>
              <a:t>sink</a:t>
            </a:r>
          </a:p>
        </p:txBody>
      </p:sp>
      <p:sp>
        <p:nvSpPr>
          <p:cNvPr id="21514" name="Line 8"/>
          <p:cNvSpPr>
            <a:spLocks noChangeShapeType="1"/>
          </p:cNvSpPr>
          <p:nvPr/>
        </p:nvSpPr>
        <p:spPr bwMode="auto">
          <a:xfrm>
            <a:off x="5945188" y="2743200"/>
            <a:ext cx="10287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Line 9"/>
          <p:cNvSpPr>
            <a:spLocks noChangeShapeType="1"/>
          </p:cNvSpPr>
          <p:nvPr/>
        </p:nvSpPr>
        <p:spPr bwMode="auto">
          <a:xfrm>
            <a:off x="6935788" y="2743200"/>
            <a:ext cx="7620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516" name="AutoShape 10"/>
          <p:cNvCxnSpPr>
            <a:cxnSpLocks noChangeShapeType="1"/>
            <a:stCxn id="21511" idx="1"/>
            <a:endCxn id="21513" idx="1"/>
          </p:cNvCxnSpPr>
          <p:nvPr/>
        </p:nvCxnSpPr>
        <p:spPr bwMode="auto">
          <a:xfrm rot="10800000" flipH="1" flipV="1">
            <a:off x="7735888" y="1676400"/>
            <a:ext cx="1588" cy="2133600"/>
          </a:xfrm>
          <a:prstGeom prst="bentConnector3">
            <a:avLst>
              <a:gd name="adj1" fmla="val -51800014"/>
            </a:avLst>
          </a:prstGeom>
          <a:noFill/>
          <a:ln w="571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2667000" y="5105400"/>
            <a:ext cx="762000" cy="76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3048000" y="5334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048000" y="5867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 flipV="1">
            <a:off x="2895600" y="63246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3048000" y="4876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3048000" y="48768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" name="Group 10"/>
          <p:cNvGrpSpPr>
            <a:grpSpLocks/>
          </p:cNvGrpSpPr>
          <p:nvPr/>
        </p:nvGrpSpPr>
        <p:grpSpPr bwMode="auto">
          <a:xfrm>
            <a:off x="4953000" y="4876800"/>
            <a:ext cx="609600" cy="1828800"/>
            <a:chOff x="2592" y="2208"/>
            <a:chExt cx="384" cy="1152"/>
          </a:xfrm>
        </p:grpSpPr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784" y="220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2592" y="249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2592" y="259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2784" y="2592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utoShape 15"/>
            <p:cNvSpPr>
              <a:spLocks noChangeArrowheads="1"/>
            </p:cNvSpPr>
            <p:nvPr/>
          </p:nvSpPr>
          <p:spPr bwMode="auto">
            <a:xfrm flipV="1">
              <a:off x="2688" y="3168"/>
              <a:ext cx="192" cy="19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5" name="Group 16"/>
          <p:cNvGrpSpPr>
            <a:grpSpLocks/>
          </p:cNvGrpSpPr>
          <p:nvPr/>
        </p:nvGrpSpPr>
        <p:grpSpPr bwMode="auto">
          <a:xfrm>
            <a:off x="5257800" y="4876800"/>
            <a:ext cx="1676400" cy="1828800"/>
            <a:chOff x="2784" y="2208"/>
            <a:chExt cx="1056" cy="1152"/>
          </a:xfrm>
        </p:grpSpPr>
        <p:grpSp>
          <p:nvGrpSpPr>
            <p:cNvPr id="26" name="Group 17"/>
            <p:cNvGrpSpPr>
              <a:grpSpLocks/>
            </p:cNvGrpSpPr>
            <p:nvPr/>
          </p:nvGrpSpPr>
          <p:grpSpPr bwMode="auto">
            <a:xfrm>
              <a:off x="3456" y="2208"/>
              <a:ext cx="384" cy="1152"/>
              <a:chOff x="2592" y="2208"/>
              <a:chExt cx="384" cy="1152"/>
            </a:xfrm>
          </p:grpSpPr>
          <p:sp>
            <p:nvSpPr>
              <p:cNvPr id="28" name="Line 18"/>
              <p:cNvSpPr>
                <a:spLocks noChangeShapeType="1"/>
              </p:cNvSpPr>
              <p:nvPr/>
            </p:nvSpPr>
            <p:spPr bwMode="auto">
              <a:xfrm>
                <a:off x="2784" y="2208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19"/>
              <p:cNvSpPr>
                <a:spLocks noChangeShapeType="1"/>
              </p:cNvSpPr>
              <p:nvPr/>
            </p:nvSpPr>
            <p:spPr bwMode="auto">
              <a:xfrm>
                <a:off x="2592" y="2496"/>
                <a:ext cx="3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20"/>
              <p:cNvSpPr>
                <a:spLocks noChangeShapeType="1"/>
              </p:cNvSpPr>
              <p:nvPr/>
            </p:nvSpPr>
            <p:spPr bwMode="auto">
              <a:xfrm>
                <a:off x="2592" y="2592"/>
                <a:ext cx="3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21"/>
              <p:cNvSpPr>
                <a:spLocks noChangeShapeType="1"/>
              </p:cNvSpPr>
              <p:nvPr/>
            </p:nvSpPr>
            <p:spPr bwMode="auto">
              <a:xfrm>
                <a:off x="2784" y="2592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AutoShape 22"/>
              <p:cNvSpPr>
                <a:spLocks noChangeArrowheads="1"/>
              </p:cNvSpPr>
              <p:nvPr/>
            </p:nvSpPr>
            <p:spPr bwMode="auto">
              <a:xfrm flipV="1">
                <a:off x="2688" y="3168"/>
                <a:ext cx="192" cy="192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algn="r" rtl="1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algn="r" rtl="1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algn="r" rtl="1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algn="r" rtl="1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2784" y="220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6519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9A8C128-4B91-4F4C-951E-5C6BEA85107D}" type="slidenum">
              <a:rPr lang="en-US" altLang="en-US" sz="1400" b="0" smtClean="0">
                <a:cs typeface="Times New Roman" pitchFamily="18" charset="0"/>
              </a:rPr>
              <a:pPr eaLnBrk="1" hangingPunct="1"/>
              <a:t>14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Path delay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648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 dirty="0" smtClean="0"/>
              <a:t>Combinational network delay is measured over paths through network.</a:t>
            </a:r>
          </a:p>
          <a:p>
            <a:pPr eaLnBrk="1" hangingPunct="1"/>
            <a:r>
              <a:rPr lang="en-US" altLang="en-US" sz="2800" dirty="0" smtClean="0"/>
              <a:t>Can trace a causality chain from inputs to worst-case output.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3200400"/>
            <a:ext cx="4775200" cy="17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00" y="4980668"/>
            <a:ext cx="4749800" cy="180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71513" y="3889375"/>
            <a:ext cx="11795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 dirty="0">
                <a:solidFill>
                  <a:schemeClr val="accent2"/>
                </a:solidFill>
                <a:cs typeface="Times New Roman" pitchFamily="18" charset="0"/>
              </a:rPr>
              <a:t>network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42913" y="5641975"/>
            <a:ext cx="17129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 dirty="0">
                <a:solidFill>
                  <a:schemeClr val="accent2"/>
                </a:solidFill>
                <a:cs typeface="Times New Roman" pitchFamily="18" charset="0"/>
              </a:rPr>
              <a:t>graph model</a:t>
            </a:r>
          </a:p>
        </p:txBody>
      </p:sp>
    </p:spTree>
    <p:extLst>
      <p:ext uri="{BB962C8B-B14F-4D97-AF65-F5344CB8AC3E}">
        <p14:creationId xmlns:p14="http://schemas.microsoft.com/office/powerpoint/2010/main" val="4090417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BD0FBB9-80DB-4FA7-84F0-E2DEECAE1119}" type="slidenum">
              <a:rPr lang="en-US" altLang="en-US" sz="1400" b="0" smtClean="0">
                <a:cs typeface="Times New Roman" pitchFamily="18" charset="0"/>
              </a:rPr>
              <a:pPr eaLnBrk="1" hangingPunct="1"/>
              <a:t>15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Critical path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>
                <a:solidFill>
                  <a:schemeClr val="accent2"/>
                </a:solidFill>
              </a:rPr>
              <a:t>Critical path </a:t>
            </a:r>
            <a:r>
              <a:rPr lang="en-US" altLang="en-US" dirty="0" smtClean="0"/>
              <a:t>= path which creates longest delay.</a:t>
            </a:r>
          </a:p>
          <a:p>
            <a:pPr eaLnBrk="1" hangingPunct="1"/>
            <a:r>
              <a:rPr lang="en-US" altLang="en-US" dirty="0" smtClean="0"/>
              <a:t>Can trace transitions which cause delays that are elements of the critical delay path.</a:t>
            </a:r>
          </a:p>
        </p:txBody>
      </p:sp>
    </p:spTree>
    <p:extLst>
      <p:ext uri="{BB962C8B-B14F-4D97-AF65-F5344CB8AC3E}">
        <p14:creationId xmlns:p14="http://schemas.microsoft.com/office/powerpoint/2010/main" val="19611345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2543073-3452-4EED-880F-541CEAA8207F}" type="slidenum">
              <a:rPr lang="en-US" altLang="en-US" sz="1400" b="0" smtClean="0">
                <a:cs typeface="Times New Roman" pitchFamily="18" charset="0"/>
              </a:rPr>
              <a:pPr eaLnBrk="1" hangingPunct="1"/>
              <a:t>16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Delay model</a:t>
            </a:r>
          </a:p>
        </p:txBody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Nodes represent gates.</a:t>
            </a:r>
          </a:p>
          <a:p>
            <a:pPr eaLnBrk="1" hangingPunct="1"/>
            <a:r>
              <a:rPr lang="en-US" altLang="en-US" smtClean="0"/>
              <a:t>Assign delays to edges—signal may have different delay to different sinks.</a:t>
            </a:r>
          </a:p>
          <a:p>
            <a:pPr eaLnBrk="1" hangingPunct="1"/>
            <a:r>
              <a:rPr lang="en-US" altLang="en-US" smtClean="0"/>
              <a:t>Lump gate and wire delay into a single value.</a:t>
            </a:r>
          </a:p>
        </p:txBody>
      </p:sp>
    </p:spTree>
    <p:extLst>
      <p:ext uri="{BB962C8B-B14F-4D97-AF65-F5344CB8AC3E}">
        <p14:creationId xmlns:p14="http://schemas.microsoft.com/office/powerpoint/2010/main" val="19370807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034" grpId="0"/>
      <p:bldP spid="81203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0ED9B55-E9CC-4922-97BF-739D6788B67B}" type="slidenum">
              <a:rPr lang="en-US" altLang="en-US" sz="1400" b="0" smtClean="0">
                <a:cs typeface="Times New Roman" pitchFamily="18" charset="0"/>
              </a:rPr>
              <a:pPr eaLnBrk="1" hangingPunct="1"/>
              <a:t>17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534400" cy="10668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Critical path through delay graph</a:t>
            </a:r>
          </a:p>
        </p:txBody>
      </p:sp>
      <p:pic>
        <p:nvPicPr>
          <p:cNvPr id="27653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524000"/>
            <a:ext cx="75311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5070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FCFF347-0CCD-40B8-B0DF-9546FEF87873}" type="slidenum">
              <a:rPr lang="en-US" altLang="en-US" sz="1400" b="0" smtClean="0">
                <a:cs typeface="Times New Roman" pitchFamily="18" charset="0"/>
              </a:rPr>
              <a:pPr eaLnBrk="1" hangingPunct="1"/>
              <a:t>18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81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Reducing critical path length</a:t>
            </a:r>
          </a:p>
        </p:txBody>
      </p:sp>
      <p:sp>
        <p:nvSpPr>
          <p:cNvPr id="81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dirty="0" smtClean="0"/>
              <a:t>Must speed up the critical path</a:t>
            </a:r>
          </a:p>
          <a:p>
            <a:pPr lvl="1" eaLnBrk="1" hangingPunct="1"/>
            <a:r>
              <a:rPr lang="en-US" altLang="en-US" sz="2000" dirty="0" smtClean="0"/>
              <a:t>Reducing delay off the path doesn’t help.</a:t>
            </a:r>
          </a:p>
          <a:p>
            <a:pPr eaLnBrk="1" hangingPunct="1"/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There may be more than one path of the same delay.</a:t>
            </a:r>
          </a:p>
          <a:p>
            <a:pPr lvl="1" eaLnBrk="1" hangingPunct="1"/>
            <a:r>
              <a:rPr lang="en-US" altLang="en-US" sz="2000" dirty="0" smtClean="0">
                <a:sym typeface="Wingdings" pitchFamily="2" charset="2"/>
              </a:rPr>
              <a:t> </a:t>
            </a:r>
            <a:r>
              <a:rPr lang="en-US" altLang="en-US" sz="2000" dirty="0" smtClean="0"/>
              <a:t>Must speed up all equivalent paths to speed up circuit.</a:t>
            </a:r>
          </a:p>
          <a:p>
            <a:pPr eaLnBrk="1" hangingPunct="1"/>
            <a:endParaRPr lang="en-US" altLang="en-US" sz="2400" dirty="0" smtClean="0"/>
          </a:p>
          <a:p>
            <a:pPr eaLnBrk="1" hangingPunct="1"/>
            <a:r>
              <a:rPr lang="en-US" altLang="en-US" sz="2400" dirty="0" err="1" smtClean="0"/>
              <a:t>Cutset</a:t>
            </a:r>
            <a:r>
              <a:rPr lang="en-US" altLang="en-US" sz="2400" dirty="0" smtClean="0"/>
              <a:t>: a set of edges that when removed, break the graph into two unconnected paths. (e.g. {(C,D), (B,D)}  or {(D,E} )</a:t>
            </a:r>
          </a:p>
          <a:p>
            <a:pPr lvl="1" eaLnBrk="1" hangingPunct="1"/>
            <a:r>
              <a:rPr lang="en-US" altLang="en-US" sz="2000" dirty="0" smtClean="0"/>
              <a:t>Must speed up </a:t>
            </a:r>
            <a:r>
              <a:rPr lang="en-US" altLang="en-US" sz="2000" dirty="0" err="1" smtClean="0"/>
              <a:t>cutset</a:t>
            </a:r>
            <a:r>
              <a:rPr lang="en-US" altLang="en-US" sz="2000" dirty="0" smtClean="0"/>
              <a:t> through critical path.</a:t>
            </a:r>
          </a:p>
        </p:txBody>
      </p:sp>
    </p:spTree>
    <p:extLst>
      <p:ext uri="{BB962C8B-B14F-4D97-AF65-F5344CB8AC3E}">
        <p14:creationId xmlns:p14="http://schemas.microsoft.com/office/powerpoint/2010/main" val="19603425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6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130" grpId="0"/>
      <p:bldP spid="8161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1C36EBD-4D42-4D9B-99B9-06A3FA85E779}" type="slidenum">
              <a:rPr lang="en-US" altLang="en-US" sz="1400" b="0" smtClean="0">
                <a:cs typeface="Times New Roman" pitchFamily="18" charset="0"/>
              </a:rPr>
              <a:pPr eaLnBrk="1" hangingPunct="1"/>
              <a:t>19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Delay Paths in a design</a:t>
            </a:r>
          </a:p>
        </p:txBody>
      </p:sp>
      <p:pic>
        <p:nvPicPr>
          <p:cNvPr id="9574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905000"/>
            <a:ext cx="7772400" cy="3003550"/>
          </a:xfrm>
          <a:noFill/>
        </p:spPr>
      </p:pic>
    </p:spTree>
    <p:extLst>
      <p:ext uri="{BB962C8B-B14F-4D97-AF65-F5344CB8AC3E}">
        <p14:creationId xmlns:p14="http://schemas.microsoft.com/office/powerpoint/2010/main" val="188791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A17D2A7-9F34-4D53-A133-4AFF35632E42}" type="slidenum">
              <a:rPr lang="en-US" altLang="en-US" sz="1400" b="0" smtClean="0">
                <a:cs typeface="Times New Roman" pitchFamily="18" charset="0"/>
              </a:rPr>
              <a:pPr eaLnBrk="1" hangingPunct="1"/>
              <a:t>20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818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False paths</a:t>
            </a:r>
          </a:p>
        </p:txBody>
      </p:sp>
      <p:sp>
        <p:nvSpPr>
          <p:cNvPr id="81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46482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Some input changes don’t cause output changes.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A </a:t>
            </a:r>
            <a:r>
              <a:rPr lang="en-US" altLang="en-US" sz="2800" dirty="0" smtClean="0">
                <a:solidFill>
                  <a:schemeClr val="accent2"/>
                </a:solidFill>
              </a:rPr>
              <a:t>false path </a:t>
            </a:r>
            <a:r>
              <a:rPr lang="en-US" altLang="en-US" sz="2800" dirty="0" smtClean="0"/>
              <a:t>is a path which never happens due to Boolean gate conditions.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False paths cause pessimistic delay estimates.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 rot="-5400000">
            <a:off x="2971800" y="4953000"/>
            <a:ext cx="1143000" cy="6858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38200" y="4724400"/>
            <a:ext cx="18288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latin typeface="Symbol" pitchFamily="18" charset="2"/>
                <a:cs typeface="Times New Roman" pitchFamily="18" charset="0"/>
              </a:rPr>
              <a:t>d</a:t>
            </a:r>
            <a:r>
              <a:rPr lang="en-US" altLang="en-US" b="0">
                <a:cs typeface="Times New Roman" pitchFamily="18" charset="0"/>
              </a:rPr>
              <a:t> = 10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0" y="4724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667000" y="4953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838200" y="5410200"/>
            <a:ext cx="18288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latin typeface="Symbol" pitchFamily="18" charset="2"/>
                <a:cs typeface="Times New Roman" pitchFamily="18" charset="0"/>
              </a:rPr>
              <a:t>d</a:t>
            </a:r>
            <a:r>
              <a:rPr lang="en-US" altLang="en-US" b="0">
                <a:cs typeface="Times New Roman" pitchFamily="18" charset="0"/>
              </a:rPr>
              <a:t> = 20</a:t>
            </a: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2286000" y="5410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2667000" y="5638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V="1">
            <a:off x="3581400" y="41910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3886200" y="52578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 rot="-5400000">
            <a:off x="6858000" y="4953000"/>
            <a:ext cx="1143000" cy="6858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4724400" y="4724400"/>
            <a:ext cx="18288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latin typeface="Symbol" pitchFamily="18" charset="2"/>
                <a:cs typeface="Times New Roman" pitchFamily="18" charset="0"/>
              </a:rPr>
              <a:t>d</a:t>
            </a:r>
            <a:r>
              <a:rPr lang="en-US" altLang="en-US" b="0">
                <a:cs typeface="Times New Roman" pitchFamily="18" charset="0"/>
              </a:rPr>
              <a:t> = 10</a:t>
            </a: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6172200" y="4724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553200" y="4953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4724400" y="5410200"/>
            <a:ext cx="18288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latin typeface="Symbol" pitchFamily="18" charset="2"/>
                <a:cs typeface="Times New Roman" pitchFamily="18" charset="0"/>
              </a:rPr>
              <a:t>d</a:t>
            </a:r>
            <a:r>
              <a:rPr lang="en-US" altLang="en-US" b="0">
                <a:cs typeface="Times New Roman" pitchFamily="18" charset="0"/>
              </a:rPr>
              <a:t> = 20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6172200" y="5410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6553200" y="5638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7467600" y="41910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7772400" y="5257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" name="AutoShape 21"/>
          <p:cNvCxnSpPr>
            <a:cxnSpLocks noChangeShapeType="1"/>
            <a:stCxn id="16" idx="1"/>
            <a:endCxn id="19" idx="1"/>
          </p:cNvCxnSpPr>
          <p:nvPr/>
        </p:nvCxnSpPr>
        <p:spPr bwMode="auto">
          <a:xfrm rot="10800000" flipH="1" flipV="1">
            <a:off x="4724400" y="4991100"/>
            <a:ext cx="1588" cy="685800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22"/>
          <p:cNvGrpSpPr>
            <a:grpSpLocks/>
          </p:cNvGrpSpPr>
          <p:nvPr/>
        </p:nvGrpSpPr>
        <p:grpSpPr bwMode="auto">
          <a:xfrm rot="5400000">
            <a:off x="5105400" y="3810000"/>
            <a:ext cx="609600" cy="762000"/>
            <a:chOff x="1200" y="3216"/>
            <a:chExt cx="384" cy="480"/>
          </a:xfrm>
        </p:grpSpPr>
        <p:sp>
          <p:nvSpPr>
            <p:cNvPr id="26" name="AutoShape 23"/>
            <p:cNvSpPr>
              <a:spLocks noChangeArrowheads="1"/>
            </p:cNvSpPr>
            <p:nvPr/>
          </p:nvSpPr>
          <p:spPr bwMode="auto">
            <a:xfrm>
              <a:off x="1200" y="3312"/>
              <a:ext cx="384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1344" y="3216"/>
              <a:ext cx="96" cy="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5867400" y="41910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H="1">
            <a:off x="1752600" y="4191000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27"/>
          <p:cNvGrpSpPr>
            <a:grpSpLocks/>
          </p:cNvGrpSpPr>
          <p:nvPr/>
        </p:nvGrpSpPr>
        <p:grpSpPr bwMode="auto">
          <a:xfrm>
            <a:off x="457200" y="5562600"/>
            <a:ext cx="7735888" cy="574675"/>
            <a:chOff x="288" y="2736"/>
            <a:chExt cx="4873" cy="362"/>
          </a:xfrm>
        </p:grpSpPr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288" y="2736"/>
              <a:ext cx="484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4262" y="2810"/>
              <a:ext cx="8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 rtl="0">
                <a:spcBef>
                  <a:spcPct val="0"/>
                </a:spcBef>
              </a:pPr>
              <a:r>
                <a:rPr lang="en-US" altLang="en-US" b="0">
                  <a:solidFill>
                    <a:schemeClr val="accent2"/>
                  </a:solidFill>
                  <a:cs typeface="Times New Roman" pitchFamily="18" charset="0"/>
                </a:rPr>
                <a:t>False path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9872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178" grpId="0"/>
      <p:bldP spid="81817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5DD038CA-36B1-4CCF-971C-C6B39B6A66B7}" type="slidenum">
              <a:rPr lang="en-US" altLang="en-US" sz="1400" b="0" smtClean="0">
                <a:cs typeface="Times New Roman" pitchFamily="18" charset="0"/>
              </a:rPr>
              <a:pPr eaLnBrk="1" hangingPunct="1"/>
              <a:t>21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Placement and delay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7244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Placement helps determine gate distances.</a:t>
            </a:r>
          </a:p>
          <a:p>
            <a:pPr eaLnBrk="1" hangingPunct="1"/>
            <a:r>
              <a:rPr lang="en-US" altLang="en-US" dirty="0" smtClean="0"/>
              <a:t>Gate distances determine routing.</a:t>
            </a:r>
          </a:p>
          <a:p>
            <a:pPr eaLnBrk="1" hangingPunct="1"/>
            <a:r>
              <a:rPr lang="en-US" altLang="en-US" dirty="0" smtClean="0"/>
              <a:t>Routing determines wire length.</a:t>
            </a:r>
          </a:p>
          <a:p>
            <a:pPr eaLnBrk="1" hangingPunct="1"/>
            <a:r>
              <a:rPr lang="en-US" altLang="en-US" dirty="0" smtClean="0"/>
              <a:t>Wire length determines capacitive load.</a:t>
            </a:r>
          </a:p>
          <a:p>
            <a:pPr eaLnBrk="1" hangingPunct="1"/>
            <a:r>
              <a:rPr lang="en-US" altLang="en-US" dirty="0" smtClean="0"/>
              <a:t>Capacitive load determines delay.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50292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dvr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200400" y="45720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g1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200400" y="54864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g2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495800" y="45720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g3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495800" y="54864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g4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558800" y="5257800"/>
            <a:ext cx="254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 flipH="1">
            <a:off x="812800" y="4800600"/>
            <a:ext cx="2413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H="1">
            <a:off x="812800" y="5791200"/>
            <a:ext cx="2413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838200" y="4826000"/>
            <a:ext cx="0" cy="939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3759200" y="4800600"/>
            <a:ext cx="711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3759200" y="5715000"/>
            <a:ext cx="711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5562600" y="51054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dvr</a:t>
            </a: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6121400" y="5334000"/>
            <a:ext cx="254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H="1">
            <a:off x="6375400" y="4876800"/>
            <a:ext cx="1244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 flipH="1">
            <a:off x="6375400" y="5867400"/>
            <a:ext cx="1244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6400800" y="4902200"/>
            <a:ext cx="0" cy="939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7467600" y="45720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g1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7467600" y="55626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g2</a:t>
            </a: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8534400" y="55626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g4</a:t>
            </a:r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8001000" y="4876800"/>
            <a:ext cx="609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8001000" y="5791200"/>
            <a:ext cx="533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8534400" y="4572000"/>
            <a:ext cx="533400" cy="533400"/>
          </a:xfrm>
          <a:prstGeom prst="rect">
            <a:avLst/>
          </a:prstGeom>
          <a:solidFill>
            <a:srgbClr val="60C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 dirty="0">
                <a:cs typeface="Times New Roman" pitchFamily="18" charset="0"/>
              </a:rPr>
              <a:t>g3</a:t>
            </a:r>
          </a:p>
        </p:txBody>
      </p:sp>
    </p:spTree>
    <p:extLst>
      <p:ext uri="{BB962C8B-B14F-4D97-AF65-F5344CB8AC3E}">
        <p14:creationId xmlns:p14="http://schemas.microsoft.com/office/powerpoint/2010/main" val="170384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82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82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82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82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82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82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82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82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82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82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mph" presetSubtype="0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82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"/>
                                      </p:to>
                                    </p:set>
                                    <p:animEffect filter="image" prLst="opacity: 1.0">
                                      <p:cBhvr rctx="IE">
                                        <p:cTn id="24" dur="indefinite"/>
                                        <p:tgtEl>
                                          <p:spTgt spid="82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mph" presetSubtype="0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rctx="PPT">
                                        <p:cTn id="28" dur="indefinite"/>
                                        <p:tgtEl>
                                          <p:spTgt spid="82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"/>
                                      </p:to>
                                    </p:set>
                                    <p:animEffect filter="image" prLst="opacity: 1.0">
                                      <p:cBhvr rctx="IE">
                                        <p:cTn id="29" dur="indefinite"/>
                                        <p:tgtEl>
                                          <p:spTgt spid="82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mph" presetSubtype="0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rctx="PPT">
                                        <p:cTn id="33" dur="indefinite"/>
                                        <p:tgtEl>
                                          <p:spTgt spid="82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"/>
                                      </p:to>
                                    </p:set>
                                    <p:animEffect filter="image" prLst="opacity: 1.0">
                                      <p:cBhvr rctx="IE">
                                        <p:cTn id="34" dur="indefinite"/>
                                        <p:tgtEl>
                                          <p:spTgt spid="82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mph" presetSubtype="0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rctx="PPT">
                                        <p:cTn id="38" dur="indefinite"/>
                                        <p:tgtEl>
                                          <p:spTgt spid="82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"/>
                                      </p:to>
                                    </p:set>
                                    <p:animEffect filter="image" prLst="opacity: 1.0">
                                      <p:cBhvr rctx="IE">
                                        <p:cTn id="39" dur="indefinite"/>
                                        <p:tgtEl>
                                          <p:spTgt spid="82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mph" presetSubtype="0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rctx="PPT">
                                        <p:cTn id="43" dur="indefinite"/>
                                        <p:tgtEl>
                                          <p:spTgt spid="82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"/>
                                      </p:to>
                                    </p:set>
                                    <p:animEffect filter="image" prLst="opacity: 1.0">
                                      <p:cBhvr rctx="IE">
                                        <p:cTn id="44" dur="indefinite"/>
                                        <p:tgtEl>
                                          <p:spTgt spid="82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3" grpId="0" build="allAtOnce"/>
      <p:bldP spid="824323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DE83849-6B12-47E8-9F5F-CFF1E18BD86E}" type="slidenum">
              <a:rPr lang="en-US" altLang="en-US" sz="1400" b="0" smtClean="0">
                <a:cs typeface="Times New Roman" pitchFamily="18" charset="0"/>
              </a:rPr>
              <a:pPr eaLnBrk="1" hangingPunct="1"/>
              <a:t>22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Optimizing network delay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Identify the longest path(s).</a:t>
            </a:r>
          </a:p>
          <a:p>
            <a:pPr eaLnBrk="1" hangingPunct="1"/>
            <a:r>
              <a:rPr lang="en-US" altLang="en-US" smtClean="0"/>
              <a:t>Improve delay along the longest path(s):</a:t>
            </a:r>
          </a:p>
          <a:p>
            <a:pPr lvl="1" eaLnBrk="1" hangingPunct="1"/>
            <a:r>
              <a:rPr lang="en-US" altLang="en-US" smtClean="0"/>
              <a:t>Driver delay</a:t>
            </a:r>
          </a:p>
          <a:p>
            <a:pPr lvl="1" eaLnBrk="1" hangingPunct="1"/>
            <a:r>
              <a:rPr lang="en-US" altLang="en-US" smtClean="0"/>
              <a:t>Wire delay</a:t>
            </a:r>
          </a:p>
          <a:p>
            <a:pPr lvl="1" eaLnBrk="1" hangingPunct="1"/>
            <a:r>
              <a:rPr lang="en-US" altLang="en-US" smtClean="0"/>
              <a:t>Logic restructuring</a:t>
            </a:r>
          </a:p>
        </p:txBody>
      </p:sp>
    </p:spTree>
    <p:extLst>
      <p:ext uri="{BB962C8B-B14F-4D97-AF65-F5344CB8AC3E}">
        <p14:creationId xmlns:p14="http://schemas.microsoft.com/office/powerpoint/2010/main" val="114708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043C44C-6F9A-4012-ADE3-589036373419}" type="slidenum">
              <a:rPr lang="en-US" altLang="en-US" sz="1400" b="0" smtClean="0">
                <a:cs typeface="Times New Roman" pitchFamily="18" charset="0"/>
              </a:rPr>
              <a:pPr eaLnBrk="1" hangingPunct="1"/>
              <a:t>23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Example: Adder placement and delay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239000" cy="762000"/>
          </a:xfrm>
        </p:spPr>
        <p:txBody>
          <a:bodyPr/>
          <a:lstStyle/>
          <a:p>
            <a:pPr eaLnBrk="1" hangingPunct="1"/>
            <a:r>
              <a:rPr lang="en-US" altLang="en-US" smtClean="0"/>
              <a:t>N-bit adder: (optimal placement)</a:t>
            </a:r>
          </a:p>
        </p:txBody>
      </p:sp>
      <p:sp>
        <p:nvSpPr>
          <p:cNvPr id="36870" name="Rectangle 4"/>
          <p:cNvSpPr>
            <a:spLocks noChangeArrowheads="1"/>
          </p:cNvSpPr>
          <p:nvPr/>
        </p:nvSpPr>
        <p:spPr bwMode="auto">
          <a:xfrm>
            <a:off x="1752600" y="3581400"/>
            <a:ext cx="914400" cy="7731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+</a:t>
            </a:r>
          </a:p>
        </p:txBody>
      </p:sp>
      <p:sp>
        <p:nvSpPr>
          <p:cNvPr id="36871" name="Line 5"/>
          <p:cNvSpPr>
            <a:spLocks noChangeShapeType="1"/>
          </p:cNvSpPr>
          <p:nvPr/>
        </p:nvSpPr>
        <p:spPr bwMode="auto">
          <a:xfrm flipH="1">
            <a:off x="1066800" y="3962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6"/>
          <p:cNvSpPr>
            <a:spLocks noChangeShapeType="1"/>
          </p:cNvSpPr>
          <p:nvPr/>
        </p:nvSpPr>
        <p:spPr bwMode="auto">
          <a:xfrm>
            <a:off x="19812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7"/>
          <p:cNvSpPr>
            <a:spLocks noChangeShapeType="1"/>
          </p:cNvSpPr>
          <p:nvPr/>
        </p:nvSpPr>
        <p:spPr bwMode="auto">
          <a:xfrm>
            <a:off x="24384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8"/>
          <p:cNvSpPr>
            <a:spLocks noChangeShapeType="1"/>
          </p:cNvSpPr>
          <p:nvPr/>
        </p:nvSpPr>
        <p:spPr bwMode="auto">
          <a:xfrm>
            <a:off x="2209800" y="4343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Rectangle 9"/>
          <p:cNvSpPr>
            <a:spLocks noChangeArrowheads="1"/>
          </p:cNvSpPr>
          <p:nvPr/>
        </p:nvSpPr>
        <p:spPr bwMode="auto">
          <a:xfrm>
            <a:off x="3352800" y="3581400"/>
            <a:ext cx="914400" cy="7731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+</a:t>
            </a:r>
          </a:p>
        </p:txBody>
      </p:sp>
      <p:sp>
        <p:nvSpPr>
          <p:cNvPr id="36876" name="Line 10"/>
          <p:cNvSpPr>
            <a:spLocks noChangeShapeType="1"/>
          </p:cNvSpPr>
          <p:nvPr/>
        </p:nvSpPr>
        <p:spPr bwMode="auto">
          <a:xfrm flipH="1">
            <a:off x="2667000" y="3962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Line 11"/>
          <p:cNvSpPr>
            <a:spLocks noChangeShapeType="1"/>
          </p:cNvSpPr>
          <p:nvPr/>
        </p:nvSpPr>
        <p:spPr bwMode="auto">
          <a:xfrm>
            <a:off x="35814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Line 12"/>
          <p:cNvSpPr>
            <a:spLocks noChangeShapeType="1"/>
          </p:cNvSpPr>
          <p:nvPr/>
        </p:nvSpPr>
        <p:spPr bwMode="auto">
          <a:xfrm>
            <a:off x="40386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9" name="Line 13"/>
          <p:cNvSpPr>
            <a:spLocks noChangeShapeType="1"/>
          </p:cNvSpPr>
          <p:nvPr/>
        </p:nvSpPr>
        <p:spPr bwMode="auto">
          <a:xfrm>
            <a:off x="3810000" y="4343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0" name="Rectangle 14"/>
          <p:cNvSpPr>
            <a:spLocks noChangeArrowheads="1"/>
          </p:cNvSpPr>
          <p:nvPr/>
        </p:nvSpPr>
        <p:spPr bwMode="auto">
          <a:xfrm>
            <a:off x="4953000" y="3581400"/>
            <a:ext cx="914400" cy="7731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+</a:t>
            </a:r>
          </a:p>
        </p:txBody>
      </p:sp>
      <p:sp>
        <p:nvSpPr>
          <p:cNvPr id="36881" name="Line 15"/>
          <p:cNvSpPr>
            <a:spLocks noChangeShapeType="1"/>
          </p:cNvSpPr>
          <p:nvPr/>
        </p:nvSpPr>
        <p:spPr bwMode="auto">
          <a:xfrm flipH="1">
            <a:off x="4267200" y="3962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2" name="Line 16"/>
          <p:cNvSpPr>
            <a:spLocks noChangeShapeType="1"/>
          </p:cNvSpPr>
          <p:nvPr/>
        </p:nvSpPr>
        <p:spPr bwMode="auto">
          <a:xfrm>
            <a:off x="51816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17"/>
          <p:cNvSpPr>
            <a:spLocks noChangeShapeType="1"/>
          </p:cNvSpPr>
          <p:nvPr/>
        </p:nvSpPr>
        <p:spPr bwMode="auto">
          <a:xfrm>
            <a:off x="56388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18"/>
          <p:cNvSpPr>
            <a:spLocks noChangeShapeType="1"/>
          </p:cNvSpPr>
          <p:nvPr/>
        </p:nvSpPr>
        <p:spPr bwMode="auto">
          <a:xfrm>
            <a:off x="5410200" y="4343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5" name="Rectangle 19"/>
          <p:cNvSpPr>
            <a:spLocks noChangeArrowheads="1"/>
          </p:cNvSpPr>
          <p:nvPr/>
        </p:nvSpPr>
        <p:spPr bwMode="auto">
          <a:xfrm>
            <a:off x="6553200" y="3581400"/>
            <a:ext cx="914400" cy="7731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+</a:t>
            </a:r>
          </a:p>
        </p:txBody>
      </p:sp>
      <p:sp>
        <p:nvSpPr>
          <p:cNvPr id="36886" name="Line 20"/>
          <p:cNvSpPr>
            <a:spLocks noChangeShapeType="1"/>
          </p:cNvSpPr>
          <p:nvPr/>
        </p:nvSpPr>
        <p:spPr bwMode="auto">
          <a:xfrm flipH="1">
            <a:off x="5867400" y="3962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7" name="Line 21"/>
          <p:cNvSpPr>
            <a:spLocks noChangeShapeType="1"/>
          </p:cNvSpPr>
          <p:nvPr/>
        </p:nvSpPr>
        <p:spPr bwMode="auto">
          <a:xfrm>
            <a:off x="67818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8" name="Line 22"/>
          <p:cNvSpPr>
            <a:spLocks noChangeShapeType="1"/>
          </p:cNvSpPr>
          <p:nvPr/>
        </p:nvSpPr>
        <p:spPr bwMode="auto">
          <a:xfrm>
            <a:off x="72390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9" name="Line 23"/>
          <p:cNvSpPr>
            <a:spLocks noChangeShapeType="1"/>
          </p:cNvSpPr>
          <p:nvPr/>
        </p:nvSpPr>
        <p:spPr bwMode="auto">
          <a:xfrm>
            <a:off x="7010400" y="4343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8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Bad placement and routing</a:t>
            </a:r>
            <a:endParaRPr lang="en-US" dirty="0" smtClean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6" name="Picture 3" descr="nbitadd-bad-place-detail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633537"/>
            <a:ext cx="3810000" cy="3395663"/>
          </a:xfrm>
          <a:noFill/>
        </p:spPr>
      </p:pic>
      <p:pic>
        <p:nvPicPr>
          <p:cNvPr id="7" name="Picture 4" descr="nbitadd-bad-route-deta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1746250"/>
            <a:ext cx="3810000" cy="3170237"/>
          </a:xfrm>
          <a:prstGeom prst="rect">
            <a:avLst/>
          </a:prstGeom>
          <a:noFill/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736725" y="4452937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placement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034585" y="4452937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 dirty="0">
                <a:solidFill>
                  <a:schemeClr val="bg1"/>
                </a:solidFill>
                <a:cs typeface="Times New Roman" pitchFamily="18" charset="0"/>
              </a:rPr>
              <a:t>routing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990600" y="1143000"/>
            <a:ext cx="3379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 dirty="0">
                <a:cs typeface="Times New Roman" pitchFamily="18" charset="0"/>
              </a:rPr>
              <a:t>With no delay constraints.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990600" y="5105400"/>
            <a:ext cx="64246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3038" indent="-17303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Char char="•"/>
            </a:pPr>
            <a:r>
              <a:rPr lang="en-US" altLang="en-US" b="0" dirty="0">
                <a:cs typeface="Times New Roman" pitchFamily="18" charset="0"/>
              </a:rPr>
              <a:t>Adder has been distributed throughout the FPGA.</a:t>
            </a:r>
          </a:p>
          <a:p>
            <a:pPr algn="l" rtl="0">
              <a:spcBef>
                <a:spcPct val="0"/>
              </a:spcBef>
              <a:buFontTx/>
              <a:buChar char="•"/>
            </a:pPr>
            <a:r>
              <a:rPr lang="en-US" altLang="en-US" b="0" dirty="0">
                <a:cs typeface="Times New Roman" pitchFamily="18" charset="0"/>
              </a:rPr>
              <a:t>I/O pins have been spread around the chip.</a:t>
            </a:r>
          </a:p>
          <a:p>
            <a:pPr algn="l" rtl="0">
              <a:spcBef>
                <a:spcPct val="0"/>
              </a:spcBef>
              <a:buFontTx/>
              <a:buChar char="•"/>
            </a:pPr>
            <a:r>
              <a:rPr lang="en-US" altLang="en-US" b="0" dirty="0">
                <a:cs typeface="Times New Roman" pitchFamily="18" charset="0"/>
                <a:sym typeface="Wingdings" pitchFamily="2" charset="2"/>
              </a:rPr>
              <a:t> P&amp;R algorithms do not catch on to regularity.</a:t>
            </a:r>
            <a:endParaRPr lang="en-US" altLang="en-US" b="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Better placement and routing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6" name="Picture 3" descr="nbitadd-12ns-place-detail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752600"/>
            <a:ext cx="3810000" cy="3405188"/>
          </a:xfrm>
          <a:noFill/>
        </p:spPr>
      </p:pic>
      <p:pic>
        <p:nvPicPr>
          <p:cNvPr id="7" name="Picture 4" descr="nbitadd-12ns-route-deta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1779588"/>
            <a:ext cx="3810000" cy="3170237"/>
          </a:xfrm>
          <a:prstGeom prst="rect">
            <a:avLst/>
          </a:prstGeom>
          <a:noFill/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990600" y="1219200"/>
            <a:ext cx="299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b="0">
                <a:cs typeface="Times New Roman" pitchFamily="18" charset="0"/>
              </a:rPr>
              <a:t>With delay constraints.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990600" y="5273675"/>
            <a:ext cx="731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>
              <a:buFontTx/>
              <a:buChar char="•"/>
            </a:pPr>
            <a:r>
              <a:rPr lang="en-US" altLang="en-US" b="0" dirty="0">
                <a:cs typeface="Times New Roman" pitchFamily="18" charset="0"/>
              </a:rPr>
              <a:t> </a:t>
            </a:r>
            <a:r>
              <a:rPr lang="en-US" altLang="en-US" b="0" dirty="0" smtClean="0">
                <a:cs typeface="Times New Roman" pitchFamily="18" charset="0"/>
              </a:rPr>
              <a:t>Better </a:t>
            </a:r>
            <a:r>
              <a:rPr lang="en-US" altLang="en-US" b="0" dirty="0">
                <a:cs typeface="Times New Roman" pitchFamily="18" charset="0"/>
              </a:rPr>
              <a:t>but far from optimal (less spread out horizontally but spread out vertically)</a:t>
            </a:r>
          </a:p>
        </p:txBody>
      </p:sp>
    </p:spTree>
    <p:extLst>
      <p:ext uri="{BB962C8B-B14F-4D97-AF65-F5344CB8AC3E}">
        <p14:creationId xmlns:p14="http://schemas.microsoft.com/office/powerpoint/2010/main" val="51836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B94CE16-E498-4623-9C74-22D8E4642B09}" type="slidenum">
              <a:rPr lang="en-US" altLang="en-US" sz="1400" b="0" smtClean="0">
                <a:cs typeface="Times New Roman" pitchFamily="18" charset="0"/>
              </a:rPr>
              <a:pPr eaLnBrk="1" hangingPunct="1"/>
              <a:t>26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to improve?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Use macros (optimized),</a:t>
            </a:r>
          </a:p>
          <a:p>
            <a:pPr eaLnBrk="1" hangingPunct="1"/>
            <a:r>
              <a:rPr lang="en-US" altLang="en-US" dirty="0" smtClean="0"/>
              <a:t>Put constraints on the placement of objects,</a:t>
            </a:r>
          </a:p>
          <a:p>
            <a:pPr eaLnBrk="1" hangingPunct="1"/>
            <a:r>
              <a:rPr lang="en-US" altLang="en-US" dirty="0" smtClean="0"/>
              <a:t>Hand place objects</a:t>
            </a:r>
          </a:p>
        </p:txBody>
      </p:sp>
    </p:spTree>
    <p:extLst>
      <p:ext uri="{BB962C8B-B14F-4D97-AF65-F5344CB8AC3E}">
        <p14:creationId xmlns:p14="http://schemas.microsoft.com/office/powerpoint/2010/main" val="19330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2AE38D4-6D03-41E8-BB6B-DB253D525AA9}" type="slidenum">
              <a:rPr lang="en-US" altLang="en-US" sz="1400" b="0" smtClean="0">
                <a:cs typeface="Times New Roman" pitchFamily="18" charset="0"/>
              </a:rPr>
              <a:pPr eaLnBrk="1" hangingPunct="1"/>
              <a:t>27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FPGA design process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Xilinx ISE (Integrated Synthesis Environment)</a:t>
            </a:r>
          </a:p>
          <a:p>
            <a:pPr lvl="1" eaLnBrk="1" hangingPunct="1"/>
            <a:r>
              <a:rPr lang="en-US" altLang="en-US" sz="2400" smtClean="0"/>
              <a:t>Translation from HDL</a:t>
            </a:r>
          </a:p>
          <a:p>
            <a:pPr lvl="1" eaLnBrk="1" hangingPunct="1"/>
            <a:r>
              <a:rPr lang="en-US" altLang="en-US" sz="2400" smtClean="0"/>
              <a:t>Logic synthesis</a:t>
            </a:r>
          </a:p>
          <a:p>
            <a:pPr lvl="1" eaLnBrk="1" hangingPunct="1"/>
            <a:r>
              <a:rPr lang="en-US" altLang="en-US" sz="2400" smtClean="0"/>
              <a:t>Placement and routing</a:t>
            </a:r>
          </a:p>
          <a:p>
            <a:pPr lvl="1" eaLnBrk="1" hangingPunct="1"/>
            <a:r>
              <a:rPr lang="en-US" altLang="en-US" sz="2400" smtClean="0"/>
              <a:t>Configuration generation</a:t>
            </a:r>
          </a:p>
        </p:txBody>
      </p:sp>
    </p:spTree>
    <p:extLst>
      <p:ext uri="{BB962C8B-B14F-4D97-AF65-F5344CB8AC3E}">
        <p14:creationId xmlns:p14="http://schemas.microsoft.com/office/powerpoint/2010/main" val="22168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985E130-F599-4A66-975B-8BA12FD6BAC0}" type="slidenum">
              <a:rPr lang="en-US" altLang="en-US" sz="1400" b="0" smtClean="0">
                <a:cs typeface="Times New Roman" pitchFamily="18" charset="0"/>
              </a:rPr>
              <a:pPr eaLnBrk="1" hangingPunct="1"/>
              <a:t>28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Design experiments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Synthesize with no constraints.</a:t>
            </a:r>
          </a:p>
          <a:p>
            <a:pPr eaLnBrk="1" hangingPunct="1"/>
            <a:r>
              <a:rPr lang="en-US" altLang="en-US" sz="2800" smtClean="0"/>
              <a:t>Synthesize with timing constraint.</a:t>
            </a:r>
          </a:p>
          <a:p>
            <a:pPr lvl="1" eaLnBrk="1" hangingPunct="1"/>
            <a:r>
              <a:rPr lang="en-US" altLang="en-US" sz="2400" smtClean="0"/>
              <a:t>Tighten timing constraint.</a:t>
            </a:r>
          </a:p>
          <a:p>
            <a:pPr eaLnBrk="1" hangingPunct="1"/>
            <a:r>
              <a:rPr lang="en-US" altLang="en-US" sz="2800" smtClean="0"/>
              <a:t>Synthesize with placement constraints.</a:t>
            </a:r>
          </a:p>
          <a:p>
            <a:pPr eaLnBrk="1" hangingPunct="1"/>
            <a:r>
              <a:rPr lang="en-US" altLang="en-US" sz="2800" smtClean="0"/>
              <a:t>Power:</a:t>
            </a:r>
          </a:p>
          <a:p>
            <a:pPr lvl="1" eaLnBrk="1" hangingPunct="1"/>
            <a:r>
              <a:rPr lang="en-US" altLang="en-US" sz="2400" smtClean="0"/>
              <a:t>Many tools don’t allow us to directly specify power consumption </a:t>
            </a:r>
          </a:p>
          <a:p>
            <a:pPr lvl="1" eaLnBrk="1" hangingPunct="1"/>
            <a:r>
              <a:rPr lang="en-US" altLang="en-US" sz="2400" smtClean="0"/>
              <a:t>Some tools allow us to specify power as an objective</a:t>
            </a:r>
          </a:p>
          <a:p>
            <a:pPr lvl="1" eaLnBrk="1" hangingPunct="1"/>
            <a:r>
              <a:rPr lang="en-US" altLang="en-US" sz="2400" smtClean="0">
                <a:sym typeface="Wingdings" pitchFamily="2" charset="2"/>
              </a:rPr>
              <a:t>May need to rewrite our h/w description for better power consumption characteristics.</a:t>
            </a: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12152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Commercial Tools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XST “-power” option reduces dynamic power consumption.</a:t>
            </a:r>
          </a:p>
          <a:p>
            <a:r>
              <a:rPr lang="en-US" altLang="en-US" smtClean="0"/>
              <a:t>Xilinx MAP and PAR“-power” option reduces dynamic power</a:t>
            </a:r>
            <a:endParaRPr lang="en-US" altLang="en-US" sz="1600" smtClean="0"/>
          </a:p>
          <a:p>
            <a:pPr lvl="1"/>
            <a:r>
              <a:rPr lang="en-US" altLang="en-US" smtClean="0"/>
              <a:t>But increases runtime and decreases design performance.</a:t>
            </a:r>
          </a:p>
          <a:p>
            <a:r>
              <a:rPr lang="en-US" altLang="en-US" smtClean="0"/>
              <a:t>Quartus-II has Power-Driven Synthesis and Place &amp; Route.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D85E2C15-83BF-4C51-928B-852E13A8D3B7}" type="slidenum">
              <a:rPr lang="en-US" altLang="en-US" sz="1400" b="0" smtClean="0">
                <a:cs typeface="Times New Roman" pitchFamily="18" charset="0"/>
              </a:rPr>
              <a:pPr eaLnBrk="1" hangingPunct="1"/>
              <a:t>29</a:t>
            </a:fld>
            <a:endParaRPr lang="en-US" altLang="en-US" sz="1400" b="0" smtClean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9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3F3075B-0DA3-429D-A5D1-0D43B7F3E80F}" type="slidenum">
              <a:rPr lang="en-US" altLang="en-US" sz="1400" b="0" smtClean="0">
                <a:cs typeface="Times New Roman" pitchFamily="18" charset="0"/>
              </a:rPr>
              <a:pPr eaLnBrk="1" hangingPunct="1"/>
              <a:t>30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Post-translation simulation model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No timing or area constraints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HDL model in terms of FPGA primitives.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Example: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/>
              <a:t> </a:t>
            </a: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X_LUT4 \p12_Madd__n0015_Mxor_Result_Xo&lt;1&gt;1  (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   .ADR0(x_7_IBUF),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   .ADR1(y_13_IBUF),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   .ADR2(c12[7]),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   .ADR3(row12[8]),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   .O(row13[7])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 );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smtClean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32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88449B1-2717-4382-ACF2-6DD9E7A75449}" type="slidenum">
              <a:rPr lang="en-US" altLang="en-US" sz="1400" b="0" smtClean="0">
                <a:cs typeface="Times New Roman" pitchFamily="18" charset="0"/>
              </a:rPr>
              <a:pPr eaLnBrk="1" hangingPunct="1"/>
              <a:t>31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Mapping report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Design Summary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Number of errors:  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Number of warnings: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Logic Utilization: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  Number of 4 input LUTs:             501 out of   1,024   48%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Logic Distribution: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  Number of occupied Slices:          255 out of     512   49%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  Number of Slices containing only related logic:     255 out of     255  100%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  Number of Slices containing unrelated logic:          0 out of     255    0%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        *See NOTES below for an explanation of the effects of unrelated logic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Total Number 4 input LUTs:            501 out of   1,024   48%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4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  Number of bonded IOBs:               64 out of      92   69%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4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Total equivalent gate count for design:  3,006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Additional JTAG gate count for IOBs:  3,072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400" smtClean="0">
                <a:solidFill>
                  <a:srgbClr val="0000CC"/>
                </a:solidFill>
                <a:latin typeface="Helvetica"/>
              </a:rPr>
              <a:t>Peak Memory Usage:  64 MB</a:t>
            </a:r>
          </a:p>
          <a:p>
            <a:pPr eaLnBrk="1" hangingPunct="1">
              <a:lnSpc>
                <a:spcPct val="80000"/>
              </a:lnSpc>
            </a:pPr>
            <a:endParaRPr lang="en-US" altLang="en-US" sz="1400" smtClean="0">
              <a:solidFill>
                <a:srgbClr val="0000CC"/>
              </a:solidFill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>
            <a:off x="228600" y="2819400"/>
            <a:ext cx="3810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>
            <a:off x="228600" y="4724400"/>
            <a:ext cx="3810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228600" y="5105400"/>
            <a:ext cx="3810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0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B74465CA-94FA-4F38-BE80-A34715CE5A65}" type="slidenum">
              <a:rPr lang="en-US" altLang="en-US" sz="1400" b="0" smtClean="0">
                <a:cs typeface="Times New Roman" pitchFamily="18" charset="0"/>
              </a:rPr>
              <a:pPr eaLnBrk="1" hangingPunct="1"/>
              <a:t>32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Static timing analysis report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7848600" cy="2590800"/>
          </a:xfrm>
          <a:noFill/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Timing constraint: TS_P2P = MAXDELAY FROM TIMEGRP "PADS" TO TIMEGRP "PADS" 99.999 uS  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 20135312 items analyzed, 0 timing errors detected. (0 setup errors, 0 hold errors)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 Maximum delay is  20.916ns.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--------------------------------------------------------------------------------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>
              <a:solidFill>
                <a:srgbClr val="0000CC"/>
              </a:solidFill>
            </a:endParaRPr>
          </a:p>
        </p:txBody>
      </p:sp>
      <p:sp>
        <p:nvSpPr>
          <p:cNvPr id="33797" name="Line 4"/>
          <p:cNvSpPr>
            <a:spLocks noChangeShapeType="1"/>
          </p:cNvSpPr>
          <p:nvPr/>
        </p:nvSpPr>
        <p:spPr bwMode="auto">
          <a:xfrm>
            <a:off x="76200" y="2209800"/>
            <a:ext cx="3810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98" name="Line 5"/>
          <p:cNvSpPr>
            <a:spLocks noChangeShapeType="1"/>
          </p:cNvSpPr>
          <p:nvPr/>
        </p:nvSpPr>
        <p:spPr bwMode="auto">
          <a:xfrm flipV="1">
            <a:off x="2895600" y="3886200"/>
            <a:ext cx="304800" cy="114300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3799" name="Text Box 6"/>
          <p:cNvSpPr txBox="1">
            <a:spLocks noChangeArrowheads="1"/>
          </p:cNvSpPr>
          <p:nvPr/>
        </p:nvSpPr>
        <p:spPr bwMode="auto">
          <a:xfrm>
            <a:off x="838200" y="5105400"/>
            <a:ext cx="731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dirty="0"/>
              <a:t>After Mapping: </a:t>
            </a:r>
            <a:r>
              <a:rPr lang="en-US" altLang="en-US" b="0" dirty="0">
                <a:sym typeface="Wingdings" pitchFamily="2" charset="2"/>
              </a:rPr>
              <a:t> estimated delays (no information about interconnects)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16086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B10C2C4-3355-4DC0-AC15-292BDBBBD016}" type="slidenum">
              <a:rPr lang="en-US" altLang="en-US" sz="1400" b="0" smtClean="0">
                <a:cs typeface="Times New Roman" pitchFamily="18" charset="0"/>
              </a:rPr>
              <a:pPr eaLnBrk="1" hangingPunct="1"/>
              <a:t>33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Static timing report: delays along paths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Data Sheet report: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All values displayed in nanoseconds (ns)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Pad to Pad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------------------+----------------------+-----------+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Source Pad  |Destination Pad|  Delay  |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------------------+----------------------+-----------+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x&lt;0&gt;           |p&lt;0&gt;               |    5.824|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x&lt;0&gt;           |p&lt;10&gt;             |   10.675|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x&lt;0&gt;           |p&lt;11&gt;             |   11.214|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>
                <a:solidFill>
                  <a:srgbClr val="0000CC"/>
                </a:solidFill>
                <a:latin typeface="Helvetica"/>
              </a:rPr>
              <a:t>x&lt;0&gt;           |p&lt;12&gt;             |   11.753|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smtClean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51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0FB0E75-4987-4211-B9E2-A5732E881BDF}" type="slidenum">
              <a:rPr lang="en-US" altLang="en-US" sz="1400" b="0" smtClean="0">
                <a:cs typeface="Times New Roman" pitchFamily="18" charset="0"/>
              </a:rPr>
              <a:pPr eaLnBrk="1" hangingPunct="1"/>
              <a:t>34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Routing report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1: 1975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      REAL time: 11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2: 1975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      REAL time: 11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3: 619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      REAL time: 12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4: 619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(0)      REAL time: 12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5: 619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(0)      REAL time: 12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6: 619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(0)      REAL time: 12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Phase 7: 0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unrouted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; (0)      REAL time: 12 </a:t>
            </a:r>
            <a:r>
              <a:rPr lang="en-US" altLang="en-US" sz="1800" dirty="0" err="1" smtClean="0">
                <a:solidFill>
                  <a:srgbClr val="0000CC"/>
                </a:solidFill>
                <a:latin typeface="Helvetica"/>
              </a:rPr>
              <a:t>secs</a:t>
            </a:r>
            <a:r>
              <a:rPr lang="en-US" altLang="en-US" sz="1800" dirty="0" smtClean="0">
                <a:solidFill>
                  <a:srgbClr val="0000CC"/>
                </a:solidFill>
                <a:latin typeface="Helvetica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rgbClr val="0000CC"/>
                </a:solidFill>
              </a:rPr>
              <a:t>The NUMBER OF SIGNALS NOT COMPLETELY ROUTED for this design is: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dirty="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800" dirty="0" smtClean="0">
              <a:solidFill>
                <a:srgbClr val="0000CC"/>
              </a:solidFill>
            </a:endParaRPr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609600" y="5867400"/>
            <a:ext cx="579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3688" indent="-29368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dirty="0"/>
              <a:t>REAL time: Routing algorithm run time.</a:t>
            </a:r>
          </a:p>
        </p:txBody>
      </p:sp>
    </p:spTree>
    <p:extLst>
      <p:ext uri="{BB962C8B-B14F-4D97-AF65-F5344CB8AC3E}">
        <p14:creationId xmlns:p14="http://schemas.microsoft.com/office/powerpoint/2010/main" val="154489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A3421B0-51C9-43FC-B12F-0AFAE1668499}" type="slidenum">
              <a:rPr lang="en-US" altLang="en-US" sz="1400" b="0" smtClean="0">
                <a:cs typeface="Times New Roman" pitchFamily="18" charset="0"/>
              </a:rPr>
              <a:pPr eaLnBrk="1" hangingPunct="1"/>
              <a:t>35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Static timing after routing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391400" cy="3200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Timing constraint: TS_P2P = MAXDELAY FROM TIMEGRP "PADS" TO TIMEGRP "PADS" 99.999 uS  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20135312 items analyzed, 0 timing errors detected. (0 setup errors, 0 hold errors)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Maximum delay is  </a:t>
            </a:r>
            <a:r>
              <a:rPr lang="en-US" altLang="en-US" smtClean="0">
                <a:solidFill>
                  <a:srgbClr val="0000CC"/>
                </a:solidFill>
                <a:latin typeface="Helvetica"/>
              </a:rPr>
              <a:t>38.424ns</a:t>
            </a: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-------------------------------------------------------------------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>
              <a:solidFill>
                <a:srgbClr val="0000CC"/>
              </a:solidFill>
            </a:endParaRPr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609600" y="5562600"/>
            <a:ext cx="5791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3688" indent="-29368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/>
              <a:t>(vs. 20.916 ns in mapping report) Because of interconnect delays.</a:t>
            </a:r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 flipV="1">
            <a:off x="2133600" y="4572000"/>
            <a:ext cx="1752600" cy="106680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6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Timing constraint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36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0" y="1600200"/>
            <a:ext cx="381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en-US" sz="2800" kern="0" smtClean="0"/>
              <a:t>Use timing constraint editor:</a:t>
            </a:r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2751138"/>
            <a:ext cx="6172200" cy="2906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680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175B969-451D-4C6A-BC3C-7A517CFB1134}" type="slidenum">
              <a:rPr lang="en-US" altLang="en-US" sz="1400" b="0" smtClean="0">
                <a:cs typeface="Times New Roman" pitchFamily="18" charset="0"/>
              </a:rPr>
              <a:pPr eaLnBrk="1" hangingPunct="1"/>
              <a:t>37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0"/>
            <a:ext cx="82677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Post-routing static timing report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Timing constraint: TS_P2P = MAXDELAY FROM TIMEGRP "PADS" TO TIMEGRP "PADS" </a:t>
            </a:r>
            <a:r>
              <a:rPr lang="en-US" altLang="en-US" sz="3600" smtClean="0">
                <a:solidFill>
                  <a:srgbClr val="0000CC"/>
                </a:solidFill>
                <a:latin typeface="Helvetica"/>
              </a:rPr>
              <a:t>32</a:t>
            </a: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nS  ; </a:t>
            </a:r>
          </a:p>
          <a:p>
            <a:pPr eaLnBrk="1" hangingPunct="1">
              <a:buFontTx/>
              <a:buNone/>
            </a:pPr>
            <a:endParaRPr lang="en-US" altLang="en-US" sz="24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20135312 items analyzed, 0 timing errors detected. (0 setup errors, 0 hold errors)</a:t>
            </a:r>
          </a:p>
          <a:p>
            <a:pPr eaLnBrk="1" hangingPunct="1"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Maximum delay is  </a:t>
            </a:r>
            <a:r>
              <a:rPr lang="en-US" altLang="en-US" smtClean="0">
                <a:solidFill>
                  <a:srgbClr val="0000CC"/>
                </a:solidFill>
                <a:latin typeface="Helvetica"/>
              </a:rPr>
              <a:t>31.984</a:t>
            </a: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ns.</a:t>
            </a:r>
          </a:p>
          <a:p>
            <a:pPr eaLnBrk="1" hangingPunct="1"/>
            <a:endParaRPr lang="en-US" altLang="en-US" sz="2400" smtClean="0">
              <a:solidFill>
                <a:srgbClr val="0000CC"/>
              </a:solidFill>
            </a:endParaRPr>
          </a:p>
        </p:txBody>
      </p:sp>
      <p:sp>
        <p:nvSpPr>
          <p:cNvPr id="39941" name="Line 4"/>
          <p:cNvSpPr>
            <a:spLocks noChangeShapeType="1"/>
          </p:cNvSpPr>
          <p:nvPr/>
        </p:nvSpPr>
        <p:spPr bwMode="auto">
          <a:xfrm>
            <a:off x="0" y="2362200"/>
            <a:ext cx="9144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9942" name="Line 5"/>
          <p:cNvSpPr>
            <a:spLocks noChangeShapeType="1"/>
          </p:cNvSpPr>
          <p:nvPr/>
        </p:nvSpPr>
        <p:spPr bwMode="auto">
          <a:xfrm>
            <a:off x="76200" y="4114800"/>
            <a:ext cx="6858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609600" y="5181600"/>
            <a:ext cx="670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2000" dirty="0"/>
              <a:t>Tools generally try to meet the delay goal as closely as possible to minimize area.</a:t>
            </a:r>
          </a:p>
        </p:txBody>
      </p:sp>
    </p:spTree>
    <p:extLst>
      <p:ext uri="{BB962C8B-B14F-4D97-AF65-F5344CB8AC3E}">
        <p14:creationId xmlns:p14="http://schemas.microsoft.com/office/powerpoint/2010/main" val="154560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7B9B6B9-D2E9-4059-B9F5-B15270F5C8B5}" type="slidenum">
              <a:rPr lang="en-US" altLang="en-US" sz="1400" b="0" smtClean="0">
                <a:cs typeface="Times New Roman" pitchFamily="18" charset="0"/>
              </a:rPr>
              <a:pPr eaLnBrk="1" hangingPunct="1"/>
              <a:t>38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Tighter timing constraints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Tighten requirement to 25 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Post-place-route timing report: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Timing constraint: TS_P2P = MAXDELAY FROM TIMEGRP "PADS" TO TIMEGRP "PADS" 25 nS  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2400" smtClean="0">
              <a:solidFill>
                <a:srgbClr val="0000CC"/>
              </a:solidFill>
              <a:latin typeface="Helvetica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20135312 items analyzed, 11 timing errors detected. (11 setup errors, 0 hold errors)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00CC"/>
                </a:solidFill>
                <a:latin typeface="Helvetica"/>
              </a:rPr>
              <a:t> Maximum delay is  31.128ns.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solidFill>
                <a:srgbClr val="0000CC"/>
              </a:solidFill>
            </a:endParaRPr>
          </a:p>
        </p:txBody>
      </p:sp>
      <p:sp>
        <p:nvSpPr>
          <p:cNvPr id="40965" name="Oval 4"/>
          <p:cNvSpPr>
            <a:spLocks noChangeArrowheads="1"/>
          </p:cNvSpPr>
          <p:nvPr/>
        </p:nvSpPr>
        <p:spPr bwMode="auto">
          <a:xfrm>
            <a:off x="6781800" y="3276600"/>
            <a:ext cx="685800" cy="533400"/>
          </a:xfrm>
          <a:prstGeom prst="ellips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66" name="Oval 5"/>
          <p:cNvSpPr>
            <a:spLocks noChangeArrowheads="1"/>
          </p:cNvSpPr>
          <p:nvPr/>
        </p:nvSpPr>
        <p:spPr bwMode="auto">
          <a:xfrm>
            <a:off x="3352800" y="4800600"/>
            <a:ext cx="1524000" cy="533400"/>
          </a:xfrm>
          <a:prstGeom prst="ellips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67" name="Oval 6"/>
          <p:cNvSpPr>
            <a:spLocks noChangeArrowheads="1"/>
          </p:cNvSpPr>
          <p:nvPr/>
        </p:nvSpPr>
        <p:spPr bwMode="auto">
          <a:xfrm>
            <a:off x="4343400" y="4038600"/>
            <a:ext cx="2667000" cy="609600"/>
          </a:xfrm>
          <a:prstGeom prst="ellips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8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534D097-8500-4526-8E2B-E856486B553F}" type="slidenum">
              <a:rPr lang="en-US" altLang="en-US" sz="1400" b="0" smtClean="0">
                <a:cs typeface="Times New Roman" pitchFamily="18" charset="0"/>
              </a:rPr>
              <a:pPr eaLnBrk="1" hangingPunct="1"/>
              <a:t>39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Report on a violated path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772400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/>
              </a:rPr>
              <a:t>Slack:                  -6.128ns (requirement - data path)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/>
              </a:rPr>
              <a:t>  Source:               y&lt;0&gt; (PAD)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/>
              </a:rPr>
              <a:t>  Destination:          p&lt;30&gt; (PAD)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/>
              </a:rPr>
              <a:t>  Requirement:          25.000ns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/>
              </a:rPr>
              <a:t>  Data Path Delay:      31.128ns (Levels of Logic = 31)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/>
              </a:rPr>
              <a:t>  </a:t>
            </a:r>
            <a:endParaRPr lang="en-US" altLang="en-US" sz="1600" smtClean="0">
              <a:solidFill>
                <a:srgbClr val="0000CC"/>
              </a:solidFill>
            </a:endParaRP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576618" y="4267200"/>
            <a:ext cx="77291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b="0" dirty="0"/>
              <a:t>Modify the logic and/or physical design to improve the delay.</a:t>
            </a:r>
          </a:p>
        </p:txBody>
      </p:sp>
      <p:sp>
        <p:nvSpPr>
          <p:cNvPr id="41990" name="Oval 5"/>
          <p:cNvSpPr>
            <a:spLocks noChangeArrowheads="1"/>
          </p:cNvSpPr>
          <p:nvPr/>
        </p:nvSpPr>
        <p:spPr bwMode="auto">
          <a:xfrm>
            <a:off x="1998663" y="2019300"/>
            <a:ext cx="1430337" cy="266700"/>
          </a:xfrm>
          <a:prstGeom prst="ellips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34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45081E5-4BD4-4548-99A6-C15115F9912A}" type="slidenum">
              <a:rPr lang="en-US" altLang="en-US" sz="1400" b="0" smtClean="0">
                <a:cs typeface="Times New Roman" pitchFamily="18" charset="0"/>
              </a:rPr>
              <a:pPr eaLnBrk="1" hangingPunct="1"/>
              <a:t>40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Power report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Power summary:                        I(mA)    P(mW)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Total estimated power consumption:               333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     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Vccint 1.50V:        0    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Vccaux 3.30V:      100      330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Vcco33 3.30V:        1       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     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 Inputs:        0    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  Logic:        0    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Outputs: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   Vcco33       0    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Signals:        0       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          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Quiescent Vccaux  3.30V:      100      330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Quiescent Vcco33  3.30V:        1       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200" smtClean="0">
              <a:solidFill>
                <a:srgbClr val="0000CC"/>
              </a:solidFill>
              <a:latin typeface="Helvetic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Thermal summary: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Estimated junction temperature:                36C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Ambient temp:  25C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Case temp:  35C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smtClean="0">
                <a:solidFill>
                  <a:srgbClr val="0000CC"/>
                </a:solidFill>
                <a:latin typeface="Helvetica"/>
              </a:rPr>
              <a:t>                     Theta J-A:  34C/W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200" smtClean="0">
              <a:solidFill>
                <a:srgbClr val="0000CC"/>
              </a:solidFill>
              <a:latin typeface="Helvetica"/>
            </a:endParaRPr>
          </a:p>
        </p:txBody>
      </p:sp>
      <p:sp>
        <p:nvSpPr>
          <p:cNvPr id="43013" name="Line 4"/>
          <p:cNvSpPr>
            <a:spLocks noChangeShapeType="1"/>
          </p:cNvSpPr>
          <p:nvPr/>
        </p:nvSpPr>
        <p:spPr bwMode="auto">
          <a:xfrm>
            <a:off x="152400" y="1905000"/>
            <a:ext cx="5334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14" name="Line 5"/>
          <p:cNvSpPr>
            <a:spLocks noChangeShapeType="1"/>
          </p:cNvSpPr>
          <p:nvPr/>
        </p:nvSpPr>
        <p:spPr bwMode="auto">
          <a:xfrm>
            <a:off x="152400" y="5029200"/>
            <a:ext cx="5334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15" name="Text Box 6"/>
          <p:cNvSpPr txBox="1">
            <a:spLocks noChangeArrowheads="1"/>
          </p:cNvSpPr>
          <p:nvPr/>
        </p:nvSpPr>
        <p:spPr bwMode="auto">
          <a:xfrm>
            <a:off x="4343400" y="4343400"/>
            <a:ext cx="373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2000"/>
              <a:t>Helps us determine whether we need additional cooling.</a:t>
            </a:r>
          </a:p>
        </p:txBody>
      </p:sp>
      <p:sp>
        <p:nvSpPr>
          <p:cNvPr id="43016" name="Line 7"/>
          <p:cNvSpPr>
            <a:spLocks noChangeShapeType="1"/>
          </p:cNvSpPr>
          <p:nvPr/>
        </p:nvSpPr>
        <p:spPr bwMode="auto">
          <a:xfrm flipV="1">
            <a:off x="4343400" y="5105400"/>
            <a:ext cx="762000" cy="45720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1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Improving area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41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295400"/>
            <a:ext cx="7239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en-US" sz="2800" kern="0" dirty="0" err="1" smtClean="0"/>
              <a:t>Floorplanner</a:t>
            </a:r>
            <a:r>
              <a:rPr lang="en-US" altLang="en-US" sz="2800" kern="0" dirty="0" smtClean="0"/>
              <a:t> window:</a:t>
            </a:r>
          </a:p>
          <a:p>
            <a:pPr lvl="1" eaLnBrk="1" hangingPunct="1"/>
            <a:r>
              <a:rPr lang="en-US" altLang="en-US" sz="2400" kern="0" dirty="0" err="1" smtClean="0"/>
              <a:t>Floorplanner</a:t>
            </a:r>
            <a:r>
              <a:rPr lang="en-US" altLang="en-US" sz="2400" kern="0" dirty="0" smtClean="0"/>
              <a:t> </a:t>
            </a:r>
            <a:r>
              <a:rPr lang="en-US" altLang="en-US" sz="2400" kern="0" dirty="0" smtClean="0">
                <a:sym typeface="Wingdings" pitchFamily="2" charset="2"/>
              </a:rPr>
              <a:t> View/edit placed design</a:t>
            </a:r>
            <a:endParaRPr lang="en-US" altLang="en-US" sz="2400" kern="0" dirty="0" smtClean="0"/>
          </a:p>
        </p:txBody>
      </p:sp>
      <p:pic>
        <p:nvPicPr>
          <p:cNvPr id="9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2343150"/>
            <a:ext cx="5410200" cy="3930650"/>
          </a:xfrm>
          <a:prstGeom prst="rect">
            <a:avLst/>
          </a:prstGeom>
          <a:noFill/>
        </p:spPr>
      </p:pic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1676400" y="3581400"/>
            <a:ext cx="762000" cy="2286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841375" y="3313113"/>
            <a:ext cx="60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>
              <a:spcBef>
                <a:spcPct val="0"/>
              </a:spcBef>
            </a:pPr>
            <a:r>
              <a:rPr lang="en-US" altLang="en-US" sz="1800">
                <a:solidFill>
                  <a:schemeClr val="accent2"/>
                </a:solidFill>
                <a:latin typeface="Arial" pitchFamily="34" charset="0"/>
                <a:cs typeface="Times New Roman" pitchFamily="18" charset="0"/>
              </a:rPr>
              <a:t>LEs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838950" y="2971800"/>
            <a:ext cx="1162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rtl="0" eaLnBrk="1" hangingPunct="1">
              <a:spcBef>
                <a:spcPct val="0"/>
              </a:spcBef>
            </a:pPr>
            <a:r>
              <a:rPr lang="en-US" altLang="en-US" sz="1800">
                <a:solidFill>
                  <a:schemeClr val="accent2"/>
                </a:solidFill>
                <a:latin typeface="Arial" pitchFamily="34" charset="0"/>
                <a:cs typeface="Times New Roman" pitchFamily="18" charset="0"/>
              </a:rPr>
              <a:t>Chip</a:t>
            </a:r>
          </a:p>
          <a:p>
            <a:pPr algn="ctr" rtl="0" eaLnBrk="1" hangingPunct="1">
              <a:spcBef>
                <a:spcPct val="0"/>
              </a:spcBef>
            </a:pPr>
            <a:r>
              <a:rPr lang="en-US" altLang="en-US" sz="1800">
                <a:solidFill>
                  <a:schemeClr val="accent2"/>
                </a:solidFill>
                <a:latin typeface="Arial" pitchFamily="34" charset="0"/>
                <a:cs typeface="Times New Roman" pitchFamily="18" charset="0"/>
              </a:rPr>
              <a:t>floorplan</a:t>
            </a: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H="1">
            <a:off x="5562600" y="3581400"/>
            <a:ext cx="281940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304800" y="4249738"/>
            <a:ext cx="18288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3838" indent="-22383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1800"/>
              <a:t>Green rectangles: mapped components to CLBs</a:t>
            </a:r>
          </a:p>
        </p:txBody>
      </p:sp>
    </p:spTree>
    <p:extLst>
      <p:ext uri="{BB962C8B-B14F-4D97-AF65-F5344CB8AC3E}">
        <p14:creationId xmlns:p14="http://schemas.microsoft.com/office/powerpoint/2010/main" val="391375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191BD52-2E2B-4585-B83C-FC33FD5091F8}" type="slidenum">
              <a:rPr lang="en-US" altLang="en-US" sz="1400" b="0" smtClean="0">
                <a:cs typeface="Times New Roman" pitchFamily="18" charset="0"/>
              </a:rPr>
              <a:pPr eaLnBrk="1" hangingPunct="1"/>
              <a:t>42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Rat’s nest wiring</a:t>
            </a:r>
          </a:p>
        </p:txBody>
      </p:sp>
      <p:pic>
        <p:nvPicPr>
          <p:cNvPr id="4506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9900" y="2057400"/>
            <a:ext cx="5664200" cy="4114800"/>
          </a:xfrm>
          <a:noFill/>
        </p:spPr>
      </p:pic>
      <p:sp>
        <p:nvSpPr>
          <p:cNvPr id="45061" name="Text Box 4"/>
          <p:cNvSpPr txBox="1">
            <a:spLocks noChangeArrowheads="1"/>
          </p:cNvSpPr>
          <p:nvPr/>
        </p:nvSpPr>
        <p:spPr bwMode="auto">
          <a:xfrm>
            <a:off x="381000" y="1371600"/>
            <a:ext cx="8001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3838" indent="-22383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1800" dirty="0"/>
              <a:t>If you click on  a component in the deign hierarchy window, its rat’s nest is shown.</a:t>
            </a:r>
          </a:p>
        </p:txBody>
      </p:sp>
    </p:spTree>
    <p:extLst>
      <p:ext uri="{BB962C8B-B14F-4D97-AF65-F5344CB8AC3E}">
        <p14:creationId xmlns:p14="http://schemas.microsoft.com/office/powerpoint/2010/main" val="400455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5772D79E-BD36-40A9-834E-FCC30508EEF6}" type="slidenum">
              <a:rPr lang="en-US" altLang="en-US" sz="1400" b="0" smtClean="0">
                <a:cs typeface="Times New Roman" pitchFamily="18" charset="0"/>
              </a:rPr>
              <a:pPr eaLnBrk="1" hangingPunct="1"/>
              <a:t>43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Routing editor view</a:t>
            </a:r>
          </a:p>
        </p:txBody>
      </p:sp>
      <p:pic>
        <p:nvPicPr>
          <p:cNvPr id="4608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981200"/>
            <a:ext cx="5484813" cy="4114800"/>
          </a:xfrm>
          <a:noFill/>
        </p:spPr>
      </p:pic>
      <p:sp>
        <p:nvSpPr>
          <p:cNvPr id="46085" name="Text Box 4"/>
          <p:cNvSpPr txBox="1">
            <a:spLocks noChangeArrowheads="1"/>
          </p:cNvSpPr>
          <p:nvPr/>
        </p:nvSpPr>
        <p:spPr bwMode="auto">
          <a:xfrm>
            <a:off x="76200" y="1524000"/>
            <a:ext cx="685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3838" indent="-22383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1800"/>
              <a:t>FPGA Editor </a:t>
            </a:r>
            <a:r>
              <a:rPr lang="en-US" altLang="en-US" sz="1800">
                <a:sym typeface="Wingdings" pitchFamily="2" charset="2"/>
              </a:rPr>
              <a:t> View/Edit Routed Design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56938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38B8643-DFA4-4D68-837C-58ED84DDE6F3}" type="slidenum">
              <a:rPr lang="en-US" altLang="en-US" sz="1400" b="0" smtClean="0">
                <a:cs typeface="Times New Roman" pitchFamily="18" charset="0"/>
              </a:rPr>
              <a:pPr eaLnBrk="1" hangingPunct="1"/>
              <a:t>44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Editing constraints</a:t>
            </a:r>
            <a:endParaRPr lang="en-US" altLang="en-US" dirty="0" smtClean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95400"/>
            <a:ext cx="7467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80000"/>
              </a:lnSpc>
            </a:pPr>
            <a:r>
              <a:rPr lang="en-US" altLang="en-US" sz="2400" kern="0" smtClean="0"/>
              <a:t>Use constraints editor to place constraints: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2000" kern="0" smtClean="0"/>
              <a:t>This tool allws you to constrain </a:t>
            </a:r>
          </a:p>
          <a:p>
            <a:pPr marL="1295400" lvl="2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kern="0" smtClean="0"/>
              <a:t> placement of logic </a:t>
            </a:r>
          </a:p>
          <a:p>
            <a:pPr marL="1295400" lvl="2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kern="0" smtClean="0"/>
              <a:t>assignment of chip I/Os to IOBs (e.g useful for PCB design)</a:t>
            </a:r>
            <a:endParaRPr lang="en-US" altLang="en-US" sz="1800" kern="0" dirty="0" smtClean="0"/>
          </a:p>
        </p:txBody>
      </p:sp>
      <p:pic>
        <p:nvPicPr>
          <p:cNvPr id="10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2778125"/>
            <a:ext cx="5181600" cy="3622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712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38B8643-DFA4-4D68-837C-58ED84DDE6F3}" type="slidenum">
              <a:rPr lang="en-US" altLang="en-US" sz="1400" b="0" smtClean="0">
                <a:cs typeface="Times New Roman" pitchFamily="18" charset="0"/>
              </a:rPr>
              <a:pPr eaLnBrk="1" hangingPunct="1"/>
              <a:t>45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Design browser pane</a:t>
            </a:r>
          </a:p>
        </p:txBody>
      </p:sp>
      <p:pic>
        <p:nvPicPr>
          <p:cNvPr id="4813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9900" y="1981200"/>
            <a:ext cx="5664200" cy="4114800"/>
          </a:xfrm>
          <a:noFill/>
        </p:spPr>
      </p:pic>
    </p:spTree>
    <p:extLst>
      <p:ext uri="{BB962C8B-B14F-4D97-AF65-F5344CB8AC3E}">
        <p14:creationId xmlns:p14="http://schemas.microsoft.com/office/powerpoint/2010/main" val="131811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8501836B-482D-4E55-9D04-07925096B5D0}" type="slidenum">
              <a:rPr lang="en-US" altLang="en-US" sz="1400" b="0" smtClean="0">
                <a:cs typeface="Times New Roman" pitchFamily="18" charset="0"/>
              </a:rPr>
              <a:pPr eaLnBrk="1" hangingPunct="1"/>
              <a:t>46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Drag and drop constraints</a:t>
            </a:r>
          </a:p>
        </p:txBody>
      </p:sp>
      <p:pic>
        <p:nvPicPr>
          <p:cNvPr id="4915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9900" y="1981200"/>
            <a:ext cx="5664200" cy="4114800"/>
          </a:xfrm>
          <a:noFill/>
        </p:spPr>
      </p:pic>
    </p:spTree>
    <p:extLst>
      <p:ext uri="{BB962C8B-B14F-4D97-AF65-F5344CB8AC3E}">
        <p14:creationId xmlns:p14="http://schemas.microsoft.com/office/powerpoint/2010/main" val="18557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296814C-EBBE-429B-B94F-45D6F686F83F}" type="slidenum">
              <a:rPr lang="en-US" altLang="en-US" sz="1400" b="0" smtClean="0">
                <a:cs typeface="Times New Roman" pitchFamily="18" charset="0"/>
              </a:rPr>
              <a:pPr eaLnBrk="1" hangingPunct="1"/>
              <a:t>47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Change the shape of constraints</a:t>
            </a:r>
          </a:p>
        </p:txBody>
      </p:sp>
      <p:pic>
        <p:nvPicPr>
          <p:cNvPr id="5018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9900" y="1981200"/>
            <a:ext cx="5664200" cy="4114800"/>
          </a:xfrm>
          <a:noFill/>
        </p:spPr>
      </p:pic>
    </p:spTree>
    <p:extLst>
      <p:ext uri="{BB962C8B-B14F-4D97-AF65-F5344CB8AC3E}">
        <p14:creationId xmlns:p14="http://schemas.microsoft.com/office/powerpoint/2010/main" val="150492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931FD24-145A-461F-AD88-59088FAE78C3}" type="slidenum">
              <a:rPr lang="en-US" altLang="en-US" sz="1400" b="0" smtClean="0">
                <a:cs typeface="Times New Roman" pitchFamily="18" charset="0"/>
              </a:rPr>
              <a:pPr eaLnBrk="1" hangingPunct="1"/>
              <a:t>48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Full set of placement constraints</a:t>
            </a:r>
          </a:p>
        </p:txBody>
      </p:sp>
      <p:pic>
        <p:nvPicPr>
          <p:cNvPr id="5120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9900" y="1600200"/>
            <a:ext cx="5664200" cy="4114800"/>
          </a:xfrm>
          <a:noFill/>
        </p:spPr>
      </p:pic>
      <p:sp>
        <p:nvSpPr>
          <p:cNvPr id="51205" name="Text Box 4"/>
          <p:cNvSpPr txBox="1">
            <a:spLocks noChangeArrowheads="1"/>
          </p:cNvSpPr>
          <p:nvPr/>
        </p:nvSpPr>
        <p:spPr bwMode="auto">
          <a:xfrm>
            <a:off x="76200" y="5759450"/>
            <a:ext cx="685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3838" indent="-22383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1800"/>
              <a:t>We place the rows of the multiplier one below the other to create the row structure of the floorplan.</a:t>
            </a:r>
          </a:p>
        </p:txBody>
      </p:sp>
    </p:spTree>
    <p:extLst>
      <p:ext uri="{BB962C8B-B14F-4D97-AF65-F5344CB8AC3E}">
        <p14:creationId xmlns:p14="http://schemas.microsoft.com/office/powerpoint/2010/main" val="254947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0165C8D-A743-4C56-A5DD-D2A81DEA876C}" type="slidenum">
              <a:rPr lang="en-US" altLang="en-US" sz="1400" b="0" smtClean="0">
                <a:cs typeface="Times New Roman" pitchFamily="18" charset="0"/>
              </a:rPr>
              <a:pPr eaLnBrk="1" hangingPunct="1"/>
              <a:t>49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Placement results</a:t>
            </a:r>
          </a:p>
        </p:txBody>
      </p:sp>
      <p:pic>
        <p:nvPicPr>
          <p:cNvPr id="5222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768475"/>
            <a:ext cx="6781800" cy="4927600"/>
          </a:xfrm>
          <a:noFill/>
        </p:spPr>
      </p:pic>
    </p:spTree>
    <p:extLst>
      <p:ext uri="{BB962C8B-B14F-4D97-AF65-F5344CB8AC3E}">
        <p14:creationId xmlns:p14="http://schemas.microsoft.com/office/powerpoint/2010/main" val="382197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76AEDBE-D841-4444-8D39-4A635EF5516D}" type="slidenum">
              <a:rPr lang="en-US" altLang="en-US" sz="1400" b="0" smtClean="0">
                <a:cs typeface="Times New Roman" pitchFamily="18" charset="0"/>
              </a:rPr>
              <a:pPr eaLnBrk="1" hangingPunct="1"/>
              <a:t>50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New timing report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After placement constraints: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 </a:t>
            </a:r>
            <a:r>
              <a:rPr lang="en-US" altLang="en-US" smtClean="0">
                <a:solidFill>
                  <a:srgbClr val="0000CC"/>
                </a:solidFill>
                <a:latin typeface="Helvetica"/>
              </a:rPr>
              <a:t>19742142 items analyzed, 0 timing errors detected. (0 setup errors, 0 hold errors)</a:t>
            </a:r>
          </a:p>
          <a:p>
            <a:pPr lvl="1" eaLnBrk="1" hangingPunct="1">
              <a:buFontTx/>
              <a:buNone/>
            </a:pPr>
            <a:r>
              <a:rPr lang="en-US" altLang="en-US" smtClean="0">
                <a:solidFill>
                  <a:srgbClr val="0000CC"/>
                </a:solidFill>
                <a:latin typeface="Helvetica"/>
              </a:rPr>
              <a:t> Maximum delay is  29.934ns.</a:t>
            </a:r>
            <a:endParaRPr lang="en-US" altLang="en-US" smtClean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mtClean="0"/>
              <a:t>Compares to 31.128 ns for unconstrained placement.</a:t>
            </a:r>
          </a:p>
        </p:txBody>
      </p:sp>
      <p:sp>
        <p:nvSpPr>
          <p:cNvPr id="53253" name="Oval 4"/>
          <p:cNvSpPr>
            <a:spLocks noChangeArrowheads="1"/>
          </p:cNvSpPr>
          <p:nvPr/>
        </p:nvSpPr>
        <p:spPr bwMode="auto">
          <a:xfrm>
            <a:off x="3048000" y="2438400"/>
            <a:ext cx="3124200" cy="533400"/>
          </a:xfrm>
          <a:prstGeom prst="ellips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4" name="Oval 5"/>
          <p:cNvSpPr>
            <a:spLocks noChangeArrowheads="1"/>
          </p:cNvSpPr>
          <p:nvPr/>
        </p:nvSpPr>
        <p:spPr bwMode="auto">
          <a:xfrm>
            <a:off x="3429000" y="3505200"/>
            <a:ext cx="1981200" cy="533400"/>
          </a:xfrm>
          <a:prstGeom prst="ellips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97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B140D93-7421-4C4D-8E14-6F284A7F976C}" type="slidenum">
              <a:rPr lang="en-US" altLang="en-US" sz="1400" b="0" smtClean="0">
                <a:cs typeface="Times New Roman" pitchFamily="18" charset="0"/>
              </a:rPr>
              <a:pPr eaLnBrk="1" hangingPunct="1"/>
              <a:t>51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400" smtClean="0"/>
              <a:t>Power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3284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AFE77B6-B9D1-465A-8B6B-30B9A934DB45}" type="slidenum">
              <a:rPr lang="en-US" altLang="en-US" sz="1400" b="0" smtClean="0">
                <a:cs typeface="Times New Roman" pitchFamily="18" charset="0"/>
              </a:rPr>
              <a:pPr eaLnBrk="1" hangingPunct="1"/>
              <a:t>52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Power optimization</a:t>
            </a:r>
          </a:p>
        </p:txBody>
      </p:sp>
      <p:sp>
        <p:nvSpPr>
          <p:cNvPr id="8386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Transitions cause power consumption.</a:t>
            </a:r>
          </a:p>
          <a:p>
            <a:pPr eaLnBrk="1" hangingPunct="1"/>
            <a:r>
              <a:rPr lang="en-US" altLang="en-US" smtClean="0"/>
              <a:t>Logic network design helps control power consumption:</a:t>
            </a:r>
          </a:p>
          <a:p>
            <a:pPr lvl="1" eaLnBrk="1" hangingPunct="1"/>
            <a:r>
              <a:rPr lang="en-US" altLang="en-US" smtClean="0"/>
              <a:t>minimizing capacitance;</a:t>
            </a:r>
          </a:p>
          <a:p>
            <a:pPr lvl="1" eaLnBrk="1" hangingPunct="1"/>
            <a:r>
              <a:rPr lang="en-US" altLang="en-US" smtClean="0"/>
              <a:t>eliminating unnecessary glitches.</a:t>
            </a:r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1676400" y="4876800"/>
            <a:ext cx="487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4000" i="1" dirty="0" err="1"/>
              <a:t>P</a:t>
            </a:r>
            <a:r>
              <a:rPr lang="en-US" altLang="en-US" sz="4000" i="1" baseline="-25000" dirty="0" err="1"/>
              <a:t>dyn</a:t>
            </a:r>
            <a:r>
              <a:rPr lang="en-US" altLang="en-US" sz="4000" i="1" dirty="0"/>
              <a:t>= ∑a.f.C</a:t>
            </a:r>
            <a:r>
              <a:rPr lang="en-US" altLang="en-US" sz="4000" i="1" baseline="-25000" dirty="0"/>
              <a:t>L</a:t>
            </a:r>
            <a:r>
              <a:rPr lang="en-US" altLang="en-US" sz="4000" i="1" dirty="0"/>
              <a:t>.V</a:t>
            </a:r>
            <a:r>
              <a:rPr lang="en-US" altLang="en-US" sz="4000" i="1" baseline="-25000" dirty="0"/>
              <a:t>dd</a:t>
            </a:r>
            <a:r>
              <a:rPr lang="en-US" altLang="en-US" sz="4000" i="1" baseline="30000" dirty="0"/>
              <a:t>2</a:t>
            </a:r>
            <a:endParaRPr lang="en-US" alt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31404887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8659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F06D6FF-5512-4FA1-BC06-F4B37A34F7DD}" type="slidenum">
              <a:rPr lang="en-US" altLang="en-US" sz="1400" b="0" smtClean="0">
                <a:cs typeface="Times New Roman" pitchFamily="18" charset="0"/>
              </a:rPr>
              <a:pPr eaLnBrk="1" hangingPunct="1"/>
              <a:t>53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Power estimation tools</a:t>
            </a:r>
          </a:p>
        </p:txBody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Power estimator approximates power consumption from: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Netlist;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Primary input transition probabilities;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Capacitive loading.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Two Types: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Switch/logic simulation-based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Statistical models</a:t>
            </a:r>
          </a:p>
        </p:txBody>
      </p:sp>
    </p:spTree>
    <p:extLst>
      <p:ext uri="{BB962C8B-B14F-4D97-AF65-F5344CB8AC3E}">
        <p14:creationId xmlns:p14="http://schemas.microsoft.com/office/powerpoint/2010/main" val="2799863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4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4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BE56CFA5-0B63-4A27-BF6F-29403DEA5CB7}" type="slidenum">
              <a:rPr lang="en-US" altLang="en-US" sz="1400" b="0" smtClean="0">
                <a:cs typeface="Times New Roman" pitchFamily="18" charset="0"/>
              </a:rPr>
              <a:pPr eaLnBrk="1" hangingPunct="1"/>
              <a:t>54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Power optimization</a:t>
            </a:r>
          </a:p>
        </p:txBody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Leakage in more advanced processes.</a:t>
            </a:r>
          </a:p>
          <a:p>
            <a:pPr lvl="1" eaLnBrk="1" hangingPunct="1"/>
            <a:r>
              <a:rPr lang="en-US" altLang="en-US" smtClean="0"/>
              <a:t>Even when logic is idle.</a:t>
            </a:r>
          </a:p>
          <a:p>
            <a:pPr lvl="1" eaLnBrk="1" hangingPunct="1"/>
            <a:r>
              <a:rPr lang="en-US" altLang="en-US" smtClean="0"/>
              <a:t>Solution:</a:t>
            </a:r>
          </a:p>
          <a:p>
            <a:pPr lvl="2" eaLnBrk="1" hangingPunct="1"/>
            <a:r>
              <a:rPr lang="en-US" altLang="en-US" smtClean="0"/>
              <a:t>Reducing junction temperature by using fans, heat sinks, or design modifications</a:t>
            </a:r>
          </a:p>
          <a:p>
            <a:pPr lvl="2"/>
            <a:r>
              <a:rPr lang="en-US" altLang="en-US" smtClean="0"/>
              <a:t>Reducing voltage levels of the IOs.</a:t>
            </a:r>
            <a:endParaRPr lang="en-US" altLang="en-US" sz="1800" smtClean="0"/>
          </a:p>
          <a:p>
            <a:pPr lvl="3"/>
            <a:r>
              <a:rPr lang="en-US" altLang="en-US" smtClean="0"/>
              <a:t>Each bank requires a separate power supply.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94232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52684775-EEC3-4C7A-82D3-3491372D5FEF}" type="slidenum">
              <a:rPr lang="en-US" altLang="en-US" sz="1400" b="0" smtClean="0">
                <a:cs typeface="Times New Roman" pitchFamily="18" charset="0"/>
              </a:rPr>
              <a:pPr eaLnBrk="1" hangingPunct="1"/>
              <a:t>55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Power optimization</a:t>
            </a:r>
          </a:p>
        </p:txBody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  <a:noFill/>
        </p:spPr>
        <p:txBody>
          <a:bodyPr lIns="90488" tIns="44450" rIns="90488" bIns="44450"/>
          <a:lstStyle/>
          <a:p>
            <a:pPr lvl="1" eaLnBrk="1" hangingPunct="1"/>
            <a:r>
              <a:rPr lang="en-US" altLang="en-US" smtClean="0"/>
              <a:t>Maximizing the number of unused and unpowered banks.</a:t>
            </a:r>
          </a:p>
          <a:p>
            <a:pPr lvl="1"/>
            <a:r>
              <a:rPr lang="en-US" altLang="en-US" smtClean="0"/>
              <a:t>Clock gating:</a:t>
            </a:r>
            <a:endParaRPr lang="en-US" altLang="en-US" sz="2200" smtClean="0"/>
          </a:p>
          <a:p>
            <a:pPr lvl="2"/>
            <a:r>
              <a:rPr lang="en-US" altLang="en-US" smtClean="0"/>
              <a:t>Clocks that drive logic, embedded memory, SerDes, and other FPGA primitives can be disabled when their operation is not required.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87603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13CFF97D-0CE8-433C-865F-795C70BBD10D}" type="slidenum">
              <a:rPr lang="en-US" altLang="en-US" sz="1400" b="0" smtClean="0">
                <a:cs typeface="Times New Roman" pitchFamily="18" charset="0"/>
              </a:rPr>
              <a:pPr eaLnBrk="1" hangingPunct="1"/>
              <a:t>56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Glitching example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Gate network:</a:t>
            </a:r>
          </a:p>
        </p:txBody>
      </p:sp>
      <p:pic>
        <p:nvPicPr>
          <p:cNvPr id="7174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2971800"/>
            <a:ext cx="680720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85609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5CA37A7-1C12-470D-AB67-08F2D7051B74}" type="slidenum">
              <a:rPr lang="en-US" altLang="en-US" sz="1400" b="0" smtClean="0">
                <a:cs typeface="Times New Roman" pitchFamily="18" charset="0"/>
              </a:rPr>
              <a:pPr eaLnBrk="1" hangingPunct="1"/>
              <a:t>57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Glitching example behavior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NOR gate produces 0 output at beginning and end:</a:t>
            </a:r>
          </a:p>
          <a:p>
            <a:pPr lvl="1" eaLnBrk="1" hangingPunct="1"/>
            <a:r>
              <a:rPr lang="en-US" altLang="en-US" smtClean="0"/>
              <a:t>beginning: bottom input is 1;</a:t>
            </a:r>
          </a:p>
          <a:p>
            <a:pPr lvl="1" eaLnBrk="1" hangingPunct="1"/>
            <a:r>
              <a:rPr lang="en-US" altLang="en-US" smtClean="0"/>
              <a:t>end: NAND output is 1;</a:t>
            </a:r>
          </a:p>
          <a:p>
            <a:pPr eaLnBrk="1" hangingPunct="1"/>
            <a:r>
              <a:rPr lang="en-US" altLang="en-US" smtClean="0"/>
              <a:t>Difference in delay between application of primary inputs and generation of new NAND output causes glitch.</a:t>
            </a:r>
          </a:p>
        </p:txBody>
      </p:sp>
    </p:spTree>
    <p:extLst>
      <p:ext uri="{BB962C8B-B14F-4D97-AF65-F5344CB8AC3E}">
        <p14:creationId xmlns:p14="http://schemas.microsoft.com/office/powerpoint/2010/main" val="4281290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E66161F-A903-42C8-BAE6-52EFC254DF40}" type="slidenum">
              <a:rPr lang="en-US" altLang="en-US" sz="1400" b="0" smtClean="0">
                <a:cs typeface="Times New Roman" pitchFamily="18" charset="0"/>
              </a:rPr>
              <a:pPr eaLnBrk="1" hangingPunct="1"/>
              <a:t>58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Adder Chain </a:t>
            </a:r>
            <a:r>
              <a:rPr lang="en-US" altLang="en-US" dirty="0" err="1" smtClean="0"/>
              <a:t>Glitching</a:t>
            </a:r>
            <a:endParaRPr lang="en-US" altLang="en-US" dirty="0" smtClean="0"/>
          </a:p>
        </p:txBody>
      </p:sp>
      <p:pic>
        <p:nvPicPr>
          <p:cNvPr id="844804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2209800"/>
            <a:ext cx="28194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1981200" y="6096000"/>
            <a:ext cx="7556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>
                <a:solidFill>
                  <a:schemeClr val="accent2"/>
                </a:solidFill>
                <a:cs typeface="Times New Roman" pitchFamily="18" charset="0"/>
              </a:rPr>
              <a:t>bad</a:t>
            </a:r>
          </a:p>
        </p:txBody>
      </p:sp>
      <p:sp>
        <p:nvSpPr>
          <p:cNvPr id="844806" name="Rectangle 6"/>
          <p:cNvSpPr>
            <a:spLocks noChangeArrowheads="1"/>
          </p:cNvSpPr>
          <p:nvPr/>
        </p:nvSpPr>
        <p:spPr bwMode="auto">
          <a:xfrm>
            <a:off x="6096000" y="5715000"/>
            <a:ext cx="9128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>
                <a:solidFill>
                  <a:schemeClr val="accent2"/>
                </a:solidFill>
                <a:cs typeface="Times New Roman" pitchFamily="18" charset="0"/>
              </a:rPr>
              <a:t>good</a:t>
            </a:r>
          </a:p>
        </p:txBody>
      </p:sp>
      <p:pic>
        <p:nvPicPr>
          <p:cNvPr id="9224" name="Picture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60500"/>
            <a:ext cx="22987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5" name="Group 13"/>
          <p:cNvGrpSpPr>
            <a:grpSpLocks/>
          </p:cNvGrpSpPr>
          <p:nvPr/>
        </p:nvGrpSpPr>
        <p:grpSpPr bwMode="auto">
          <a:xfrm>
            <a:off x="2438400" y="1447800"/>
            <a:ext cx="1371600" cy="2971800"/>
            <a:chOff x="1536" y="872"/>
            <a:chExt cx="864" cy="1872"/>
          </a:xfrm>
        </p:grpSpPr>
        <p:sp>
          <p:nvSpPr>
            <p:cNvPr id="9238" name="Rectangle 7"/>
            <p:cNvSpPr>
              <a:spLocks noChangeArrowheads="1"/>
            </p:cNvSpPr>
            <p:nvPr/>
          </p:nvSpPr>
          <p:spPr bwMode="auto">
            <a:xfrm>
              <a:off x="1536" y="872"/>
              <a:ext cx="864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39" name="Rectangle 8"/>
            <p:cNvSpPr>
              <a:spLocks noChangeArrowheads="1"/>
            </p:cNvSpPr>
            <p:nvPr/>
          </p:nvSpPr>
          <p:spPr bwMode="auto">
            <a:xfrm>
              <a:off x="1872" y="1832"/>
              <a:ext cx="52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40" name="Rectangle 10"/>
            <p:cNvSpPr>
              <a:spLocks noChangeArrowheads="1"/>
            </p:cNvSpPr>
            <p:nvPr/>
          </p:nvSpPr>
          <p:spPr bwMode="auto">
            <a:xfrm>
              <a:off x="1872" y="2552"/>
              <a:ext cx="288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209800" y="1447800"/>
            <a:ext cx="1143000" cy="2819400"/>
            <a:chOff x="1392" y="912"/>
            <a:chExt cx="720" cy="1776"/>
          </a:xfrm>
        </p:grpSpPr>
        <p:sp>
          <p:nvSpPr>
            <p:cNvPr id="9235" name="Text Box 14"/>
            <p:cNvSpPr txBox="1">
              <a:spLocks noChangeArrowheads="1"/>
            </p:cNvSpPr>
            <p:nvPr/>
          </p:nvSpPr>
          <p:spPr bwMode="auto">
            <a:xfrm>
              <a:off x="177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FF0000"/>
                  </a:solidFill>
                </a:rPr>
                <a:t>a+b</a:t>
              </a:r>
            </a:p>
          </p:txBody>
        </p:sp>
        <p:sp>
          <p:nvSpPr>
            <p:cNvPr id="9236" name="Text Box 15"/>
            <p:cNvSpPr txBox="1">
              <a:spLocks noChangeArrowheads="1"/>
            </p:cNvSpPr>
            <p:nvPr/>
          </p:nvSpPr>
          <p:spPr bwMode="auto">
            <a:xfrm>
              <a:off x="1728" y="177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9237" name="Text Box 16"/>
            <p:cNvSpPr txBox="1">
              <a:spLocks noChangeArrowheads="1"/>
            </p:cNvSpPr>
            <p:nvPr/>
          </p:nvSpPr>
          <p:spPr bwMode="auto">
            <a:xfrm>
              <a:off x="1392" y="91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438400" y="1295400"/>
            <a:ext cx="1295400" cy="2819400"/>
            <a:chOff x="2544" y="2112"/>
            <a:chExt cx="816" cy="1776"/>
          </a:xfrm>
        </p:grpSpPr>
        <p:sp>
          <p:nvSpPr>
            <p:cNvPr id="9232" name="Text Box 19"/>
            <p:cNvSpPr txBox="1">
              <a:spLocks noChangeArrowheads="1"/>
            </p:cNvSpPr>
            <p:nvPr/>
          </p:nvSpPr>
          <p:spPr bwMode="auto">
            <a:xfrm>
              <a:off x="2928" y="3696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chemeClr val="accent2"/>
                  </a:solidFill>
                </a:rPr>
                <a:t>a+b</a:t>
              </a:r>
            </a:p>
          </p:txBody>
        </p:sp>
        <p:sp>
          <p:nvSpPr>
            <p:cNvPr id="9233" name="Text Box 20"/>
            <p:cNvSpPr txBox="1">
              <a:spLocks noChangeArrowheads="1"/>
            </p:cNvSpPr>
            <p:nvPr/>
          </p:nvSpPr>
          <p:spPr bwMode="auto">
            <a:xfrm>
              <a:off x="2880" y="2976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accent2"/>
                  </a:solidFill>
                </a:rPr>
                <a:t>a+b+c</a:t>
              </a:r>
            </a:p>
          </p:txBody>
        </p:sp>
        <p:sp>
          <p:nvSpPr>
            <p:cNvPr id="9234" name="Text Box 21"/>
            <p:cNvSpPr txBox="1">
              <a:spLocks noChangeArrowheads="1"/>
            </p:cNvSpPr>
            <p:nvPr/>
          </p:nvSpPr>
          <p:spPr bwMode="auto">
            <a:xfrm>
              <a:off x="2544" y="211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accent2"/>
                  </a:solidFill>
                </a:rPr>
                <a:t>c+d</a:t>
              </a: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2743200" y="1143000"/>
            <a:ext cx="1295400" cy="2819400"/>
            <a:chOff x="1728" y="720"/>
            <a:chExt cx="816" cy="1776"/>
          </a:xfrm>
        </p:grpSpPr>
        <p:sp>
          <p:nvSpPr>
            <p:cNvPr id="9229" name="Text Box 24"/>
            <p:cNvSpPr txBox="1">
              <a:spLocks noChangeArrowheads="1"/>
            </p:cNvSpPr>
            <p:nvPr/>
          </p:nvSpPr>
          <p:spPr bwMode="auto">
            <a:xfrm>
              <a:off x="2112" y="2304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CC0099"/>
                  </a:solidFill>
                </a:rPr>
                <a:t>a+b</a:t>
              </a:r>
            </a:p>
          </p:txBody>
        </p:sp>
        <p:sp>
          <p:nvSpPr>
            <p:cNvPr id="9230" name="Text Box 25"/>
            <p:cNvSpPr txBox="1">
              <a:spLocks noChangeArrowheads="1"/>
            </p:cNvSpPr>
            <p:nvPr/>
          </p:nvSpPr>
          <p:spPr bwMode="auto">
            <a:xfrm>
              <a:off x="2064" y="1584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CC0099"/>
                  </a:solidFill>
                </a:rPr>
                <a:t>a+b+c</a:t>
              </a:r>
            </a:p>
          </p:txBody>
        </p:sp>
        <p:sp>
          <p:nvSpPr>
            <p:cNvPr id="9231" name="Text Box 26"/>
            <p:cNvSpPr txBox="1">
              <a:spLocks noChangeArrowheads="1"/>
            </p:cNvSpPr>
            <p:nvPr/>
          </p:nvSpPr>
          <p:spPr bwMode="auto">
            <a:xfrm>
              <a:off x="1728" y="720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CC0099"/>
                  </a:solidFill>
                </a:rPr>
                <a:t>a+b+c+d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2109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4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4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80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2A735026-B016-4B20-BA37-3B37FFF889B7}" type="slidenum">
              <a:rPr lang="en-US" altLang="en-US" sz="1400" b="0" smtClean="0">
                <a:cs typeface="Times New Roman" pitchFamily="18" charset="0"/>
              </a:rPr>
              <a:pPr eaLnBrk="1" hangingPunct="1"/>
              <a:t>59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Explanation</a:t>
            </a:r>
          </a:p>
        </p:txBody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Unbalanced chain has signals arriving at different times at each adder.</a:t>
            </a:r>
          </a:p>
          <a:p>
            <a:pPr lvl="1" eaLnBrk="1" hangingPunct="1"/>
            <a:r>
              <a:rPr lang="en-US" altLang="en-US" smtClean="0"/>
              <a:t>A glitch downstream propagates all the way upstream.</a:t>
            </a:r>
          </a:p>
          <a:p>
            <a:pPr eaLnBrk="1" hangingPunct="1"/>
            <a:r>
              <a:rPr lang="en-US" altLang="en-US" smtClean="0"/>
              <a:t>Balanced tree introduces multiple glitches simultaneously, reducing total glitch activity.</a:t>
            </a:r>
          </a:p>
        </p:txBody>
      </p:sp>
    </p:spTree>
    <p:extLst>
      <p:ext uri="{BB962C8B-B14F-4D97-AF65-F5344CB8AC3E}">
        <p14:creationId xmlns:p14="http://schemas.microsoft.com/office/powerpoint/2010/main" val="676392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ADBC7CD-3D15-48C2-A14E-5BA7DEFB0F11}" type="slidenum">
              <a:rPr lang="en-US" altLang="en-US" sz="1400" b="0" smtClean="0">
                <a:cs typeface="Times New Roman" pitchFamily="18" charset="0"/>
              </a:rPr>
              <a:pPr eaLnBrk="1" hangingPunct="1"/>
              <a:t>60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Factorization for low power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Proper factorization reduces glitching.</a:t>
            </a:r>
          </a:p>
        </p:txBody>
      </p:sp>
      <p:pic>
        <p:nvPicPr>
          <p:cNvPr id="11270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59050"/>
            <a:ext cx="29718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532063"/>
            <a:ext cx="2549525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Rectangle 6"/>
          <p:cNvSpPr>
            <a:spLocks noChangeArrowheads="1"/>
          </p:cNvSpPr>
          <p:nvPr/>
        </p:nvSpPr>
        <p:spPr bwMode="auto">
          <a:xfrm>
            <a:off x="2195513" y="5946775"/>
            <a:ext cx="6207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sz="2400" b="0">
                <a:solidFill>
                  <a:schemeClr val="accent2"/>
                </a:solidFill>
                <a:cs typeface="Times New Roman" pitchFamily="18" charset="0"/>
              </a:rPr>
              <a:t>bad</a:t>
            </a:r>
          </a:p>
        </p:txBody>
      </p:sp>
      <p:sp>
        <p:nvSpPr>
          <p:cNvPr id="10249" name="Rectangle 7"/>
          <p:cNvSpPr>
            <a:spLocks noChangeArrowheads="1"/>
          </p:cNvSpPr>
          <p:nvPr/>
        </p:nvSpPr>
        <p:spPr bwMode="auto">
          <a:xfrm>
            <a:off x="6157913" y="5946775"/>
            <a:ext cx="790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>
              <a:spcBef>
                <a:spcPct val="0"/>
              </a:spcBef>
            </a:pPr>
            <a:r>
              <a:rPr lang="en-US" altLang="en-US" sz="2400" b="0">
                <a:solidFill>
                  <a:schemeClr val="accent2"/>
                </a:solidFill>
                <a:cs typeface="Times New Roman" pitchFamily="18" charset="0"/>
              </a:rPr>
              <a:t>good</a:t>
            </a:r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5181600" y="2455863"/>
            <a:ext cx="1981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5" name="Text Box 8"/>
          <p:cNvSpPr txBox="1">
            <a:spLocks noChangeArrowheads="1"/>
          </p:cNvSpPr>
          <p:nvPr/>
        </p:nvSpPr>
        <p:spPr bwMode="auto">
          <a:xfrm>
            <a:off x="5181600" y="2438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400" b="0">
                <a:latin typeface="Arial" pitchFamily="34" charset="0"/>
                <a:cs typeface="Arial" pitchFamily="34" charset="0"/>
              </a:rPr>
              <a:t>f(a, b, c)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2209800" y="2455863"/>
            <a:ext cx="1905000" cy="439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1447800" y="2455863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400" b="0">
                <a:latin typeface="Arial" pitchFamily="34" charset="0"/>
                <a:cs typeface="Arial" pitchFamily="34" charset="0"/>
              </a:rPr>
              <a:t>f(a, b, c)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76200" y="1679575"/>
            <a:ext cx="8624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400">
                <a:solidFill>
                  <a:srgbClr val="FF0000"/>
                </a:solidFill>
              </a:rPr>
              <a:t>  ‘</a:t>
            </a:r>
            <a:r>
              <a:rPr lang="en-US" altLang="en-US" sz="2400" i="1">
                <a:solidFill>
                  <a:srgbClr val="FF0000"/>
                </a:solidFill>
              </a:rPr>
              <a:t>a’</a:t>
            </a:r>
            <a:r>
              <a:rPr lang="en-US" altLang="en-US" sz="2400">
                <a:solidFill>
                  <a:srgbClr val="FF0000"/>
                </a:solidFill>
              </a:rPr>
              <a:t> has high transition probability, ‘</a:t>
            </a:r>
            <a:r>
              <a:rPr lang="en-US" altLang="en-US" sz="2400" i="1">
                <a:solidFill>
                  <a:srgbClr val="FF0000"/>
                </a:solidFill>
              </a:rPr>
              <a:t>b’</a:t>
            </a:r>
            <a:r>
              <a:rPr lang="en-US" altLang="en-US" sz="2400">
                <a:solidFill>
                  <a:srgbClr val="FF0000"/>
                </a:solidFill>
              </a:rPr>
              <a:t> and ‘</a:t>
            </a:r>
            <a:r>
              <a:rPr lang="en-US" altLang="en-US" sz="2400" i="1">
                <a:solidFill>
                  <a:srgbClr val="FF0000"/>
                </a:solidFill>
              </a:rPr>
              <a:t>c’</a:t>
            </a:r>
            <a:r>
              <a:rPr lang="en-US" altLang="en-US" sz="2400">
                <a:solidFill>
                  <a:srgbClr val="FF0000"/>
                </a:solidFill>
              </a:rPr>
              <a:t> low probabilities</a:t>
            </a:r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 flipV="1">
            <a:off x="5181600" y="3810000"/>
            <a:ext cx="609600" cy="175260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41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/>
      <p:bldP spid="1024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AC9D402-D1D8-4A2B-95AC-37181DAB1D97}" type="slidenum">
              <a:rPr lang="en-US" altLang="en-US" sz="1400" b="0" smtClean="0">
                <a:cs typeface="Times New Roman" pitchFamily="18" charset="0"/>
              </a:rPr>
              <a:pPr eaLnBrk="1" hangingPunct="1"/>
              <a:t>61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Factorization techniques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Reduce number of logic levels through which high-probability signals must travel</a:t>
            </a:r>
          </a:p>
          <a:p>
            <a:pPr lvl="1" eaLnBrk="1" hangingPunct="1"/>
            <a:r>
              <a:rPr lang="en-US" altLang="en-US" smtClean="0">
                <a:sym typeface="Wingdings" pitchFamily="2" charset="2"/>
              </a:rPr>
              <a:t> R</a:t>
            </a:r>
            <a:r>
              <a:rPr lang="en-US" altLang="en-US" smtClean="0"/>
              <a:t>educe propagation of glitches.</a:t>
            </a:r>
          </a:p>
        </p:txBody>
      </p:sp>
    </p:spTree>
    <p:extLst>
      <p:ext uri="{BB962C8B-B14F-4D97-AF65-F5344CB8AC3E}">
        <p14:creationId xmlns:p14="http://schemas.microsoft.com/office/powerpoint/2010/main" val="799746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A21ECAA7-BA4F-48D0-B2AA-F52402C7A00C}" type="slidenum">
              <a:rPr lang="en-US" altLang="en-US" sz="1400" b="0" smtClean="0">
                <a:cs typeface="Times New Roman" pitchFamily="18" charset="0"/>
              </a:rPr>
              <a:pPr eaLnBrk="1" hangingPunct="1"/>
              <a:t>62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Example (ALU)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048000"/>
            <a:ext cx="7772400" cy="1447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ALU output is not used for every cycle</a:t>
            </a:r>
          </a:p>
          <a:p>
            <a:pPr lvl="1" eaLnBrk="1" hangingPunct="1"/>
            <a:r>
              <a:rPr lang="en-US" altLang="en-US" smtClean="0">
                <a:sym typeface="Wingdings" pitchFamily="2" charset="2"/>
              </a:rPr>
              <a:t> If ALU inputs change, the energy is needlessly consumed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3063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0D8B1B38-13EA-4BB9-9AE4-8A592B2EB29F}" type="slidenum">
              <a:rPr lang="en-US" altLang="en-US" sz="1400" b="0" smtClean="0">
                <a:cs typeface="Times New Roman" pitchFamily="18" charset="0"/>
              </a:rPr>
              <a:pPr eaLnBrk="1" hangingPunct="1"/>
              <a:t>63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Example (ALU)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7772400" cy="1447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 smtClean="0"/>
              <a:t>Control Signal selects whether data is allowed to pass the logic or the previous value is held to avoid transitions.</a:t>
            </a:r>
          </a:p>
        </p:txBody>
      </p:sp>
      <p:sp>
        <p:nvSpPr>
          <p:cNvPr id="14342" name="Oval 4"/>
          <p:cNvSpPr>
            <a:spLocks noChangeArrowheads="1"/>
          </p:cNvSpPr>
          <p:nvPr/>
        </p:nvSpPr>
        <p:spPr bwMode="auto">
          <a:xfrm>
            <a:off x="4343400" y="3886200"/>
            <a:ext cx="2362200" cy="1371600"/>
          </a:xfrm>
          <a:prstGeom prst="ellipse">
            <a:avLst/>
          </a:prstGeom>
          <a:solidFill>
            <a:srgbClr val="00FF99"/>
          </a:solidFill>
          <a:ln w="28575">
            <a:solidFill>
              <a:srgbClr val="9933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3" name="Line 5"/>
          <p:cNvSpPr>
            <a:spLocks noChangeShapeType="1"/>
          </p:cNvSpPr>
          <p:nvPr/>
        </p:nvSpPr>
        <p:spPr bwMode="auto">
          <a:xfrm>
            <a:off x="6705600" y="4572000"/>
            <a:ext cx="8382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4" name="Text Box 6"/>
          <p:cNvSpPr txBox="1">
            <a:spLocks noChangeArrowheads="1"/>
          </p:cNvSpPr>
          <p:nvPr/>
        </p:nvSpPr>
        <p:spPr bwMode="auto">
          <a:xfrm>
            <a:off x="4419600" y="42672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996633"/>
                </a:solidFill>
              </a:rPr>
              <a:t>Logic</a:t>
            </a:r>
          </a:p>
        </p:txBody>
      </p:sp>
      <p:sp>
        <p:nvSpPr>
          <p:cNvPr id="14345" name="Line 7"/>
          <p:cNvSpPr>
            <a:spLocks noChangeShapeType="1"/>
          </p:cNvSpPr>
          <p:nvPr/>
        </p:nvSpPr>
        <p:spPr bwMode="auto">
          <a:xfrm>
            <a:off x="3505200" y="4572000"/>
            <a:ext cx="8382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6" name="AutoShape 8"/>
          <p:cNvSpPr>
            <a:spLocks noChangeArrowheads="1"/>
          </p:cNvSpPr>
          <p:nvPr/>
        </p:nvSpPr>
        <p:spPr bwMode="auto">
          <a:xfrm rot="-5400000">
            <a:off x="2324100" y="4305300"/>
            <a:ext cx="1828800" cy="533400"/>
          </a:xfrm>
          <a:custGeom>
            <a:avLst/>
            <a:gdLst>
              <a:gd name="T0" fmla="*/ 2147483647 w 21600"/>
              <a:gd name="T1" fmla="*/ 162637809 h 21600"/>
              <a:gd name="T2" fmla="*/ 2147483647 w 21600"/>
              <a:gd name="T3" fmla="*/ 325275642 h 21600"/>
              <a:gd name="T4" fmla="*/ 1638706400 w 21600"/>
              <a:gd name="T5" fmla="*/ 162637809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  <a:ln w="2857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47" name="Rectangle 9"/>
          <p:cNvSpPr>
            <a:spLocks noChangeArrowheads="1"/>
          </p:cNvSpPr>
          <p:nvPr/>
        </p:nvSpPr>
        <p:spPr bwMode="auto">
          <a:xfrm>
            <a:off x="1066800" y="4724400"/>
            <a:ext cx="914400" cy="1143000"/>
          </a:xfrm>
          <a:prstGeom prst="rect">
            <a:avLst/>
          </a:prstGeom>
          <a:solidFill>
            <a:srgbClr val="FFCC99"/>
          </a:solidFill>
          <a:ln w="2857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8" name="Text Box 10"/>
          <p:cNvSpPr txBox="1">
            <a:spLocks noChangeArrowheads="1"/>
          </p:cNvSpPr>
          <p:nvPr/>
        </p:nvSpPr>
        <p:spPr bwMode="auto">
          <a:xfrm>
            <a:off x="1066800" y="4800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996633"/>
                </a:solidFill>
              </a:rPr>
              <a:t>D</a:t>
            </a:r>
          </a:p>
        </p:txBody>
      </p:sp>
      <p:sp>
        <p:nvSpPr>
          <p:cNvPr id="14349" name="Text Box 11"/>
          <p:cNvSpPr txBox="1">
            <a:spLocks noChangeArrowheads="1"/>
          </p:cNvSpPr>
          <p:nvPr/>
        </p:nvSpPr>
        <p:spPr bwMode="auto">
          <a:xfrm>
            <a:off x="1600200" y="4800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996633"/>
                </a:solidFill>
              </a:rPr>
              <a:t>Q</a:t>
            </a:r>
          </a:p>
        </p:txBody>
      </p:sp>
      <p:sp>
        <p:nvSpPr>
          <p:cNvPr id="14350" name="Line 12"/>
          <p:cNvSpPr>
            <a:spLocks noChangeShapeType="1"/>
          </p:cNvSpPr>
          <p:nvPr/>
        </p:nvSpPr>
        <p:spPr bwMode="auto">
          <a:xfrm flipH="1">
            <a:off x="1981200" y="5029200"/>
            <a:ext cx="9906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1" name="Line 13"/>
          <p:cNvSpPr>
            <a:spLocks noChangeShapeType="1"/>
          </p:cNvSpPr>
          <p:nvPr/>
        </p:nvSpPr>
        <p:spPr bwMode="auto">
          <a:xfrm flipH="1">
            <a:off x="685800" y="5029200"/>
            <a:ext cx="3810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2" name="Line 14"/>
          <p:cNvSpPr>
            <a:spLocks noChangeShapeType="1"/>
          </p:cNvSpPr>
          <p:nvPr/>
        </p:nvSpPr>
        <p:spPr bwMode="auto">
          <a:xfrm flipV="1">
            <a:off x="685800" y="4114800"/>
            <a:ext cx="0" cy="91440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3" name="Line 15"/>
          <p:cNvSpPr>
            <a:spLocks noChangeShapeType="1"/>
          </p:cNvSpPr>
          <p:nvPr/>
        </p:nvSpPr>
        <p:spPr bwMode="auto">
          <a:xfrm flipH="1">
            <a:off x="381000" y="4114800"/>
            <a:ext cx="2590800" cy="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4" name="Text Box 16"/>
          <p:cNvSpPr txBox="1">
            <a:spLocks noChangeArrowheads="1"/>
          </p:cNvSpPr>
          <p:nvPr/>
        </p:nvSpPr>
        <p:spPr bwMode="auto">
          <a:xfrm>
            <a:off x="0" y="3657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996633"/>
                </a:solidFill>
              </a:rPr>
              <a:t>Data</a:t>
            </a:r>
          </a:p>
        </p:txBody>
      </p:sp>
      <p:sp>
        <p:nvSpPr>
          <p:cNvPr id="14355" name="Text Box 17"/>
          <p:cNvSpPr txBox="1">
            <a:spLocks noChangeArrowheads="1"/>
          </p:cNvSpPr>
          <p:nvPr/>
        </p:nvSpPr>
        <p:spPr bwMode="auto">
          <a:xfrm>
            <a:off x="2362200" y="60801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996633"/>
                </a:solidFill>
              </a:rPr>
              <a:t>Control</a:t>
            </a:r>
          </a:p>
        </p:txBody>
      </p:sp>
      <p:sp>
        <p:nvSpPr>
          <p:cNvPr id="14356" name="Line 18"/>
          <p:cNvSpPr>
            <a:spLocks noChangeShapeType="1"/>
          </p:cNvSpPr>
          <p:nvPr/>
        </p:nvSpPr>
        <p:spPr bwMode="auto">
          <a:xfrm flipV="1">
            <a:off x="3276600" y="5181600"/>
            <a:ext cx="0" cy="91440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514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84FA19A7-6449-4882-AFE8-03E157635E47}" type="slidenum">
              <a:rPr lang="en-US" altLang="en-US" sz="1400" b="0" smtClean="0">
                <a:cs typeface="Times New Roman" pitchFamily="18" charset="0"/>
              </a:rPr>
              <a:pPr eaLnBrk="1" hangingPunct="1"/>
              <a:t>64</a:t>
            </a:fld>
            <a:endParaRPr lang="en-US" altLang="en-US" sz="1400" b="0" smtClean="0">
              <a:cs typeface="Times New Roman" pitchFamily="18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dirty="0" smtClean="0"/>
              <a:t>Low Power Design Techniques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 dirty="0" smtClean="0"/>
              <a:t>Reduce wiring capacitance</a:t>
            </a:r>
          </a:p>
          <a:p>
            <a:pPr lvl="1" eaLnBrk="1" hangingPunct="1"/>
            <a:r>
              <a:rPr lang="en-US" altLang="en-US" sz="2400" dirty="0" smtClean="0"/>
              <a:t>Get post-layout feedback for better capacitance estimations</a:t>
            </a:r>
          </a:p>
          <a:p>
            <a:pPr eaLnBrk="1" hangingPunct="1"/>
            <a:r>
              <a:rPr lang="en-US" altLang="en-US" sz="2800" dirty="0" smtClean="0"/>
              <a:t>Place and route to minimize capacitance of nodes with high </a:t>
            </a:r>
            <a:r>
              <a:rPr lang="en-US" altLang="en-US" sz="2800" dirty="0" err="1" smtClean="0"/>
              <a:t>glitching</a:t>
            </a:r>
            <a:r>
              <a:rPr lang="en-US" altLang="en-US" sz="2800" dirty="0" smtClean="0"/>
              <a:t> activity.</a:t>
            </a:r>
          </a:p>
          <a:p>
            <a:pPr eaLnBrk="1" hangingPunct="1"/>
            <a:r>
              <a:rPr lang="en-US" altLang="en-US" sz="2800" dirty="0" smtClean="0"/>
              <a:t>Reducing FPGA operating voltages.</a:t>
            </a:r>
          </a:p>
          <a:p>
            <a:pPr eaLnBrk="1" hangingPunct="1"/>
            <a:r>
              <a:rPr lang="en-US" altLang="en-US" sz="2800" dirty="0" smtClean="0"/>
              <a:t>Reducing operating frequencies.</a:t>
            </a:r>
          </a:p>
          <a:p>
            <a:pPr eaLnBrk="1" hangingPunct="1"/>
            <a:r>
              <a:rPr lang="en-US" altLang="en-US" sz="2800" dirty="0" smtClean="0"/>
              <a:t>Reducing the overall toggle rate of the design.</a:t>
            </a:r>
          </a:p>
        </p:txBody>
      </p:sp>
    </p:spTree>
    <p:extLst>
      <p:ext uri="{BB962C8B-B14F-4D97-AF65-F5344CB8AC3E}">
        <p14:creationId xmlns:p14="http://schemas.microsoft.com/office/powerpoint/2010/main" val="2987962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State assignment</a:t>
            </a:r>
            <a:endParaRPr lang="en-US" altLang="en-US" dirty="0" smtClean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 smtClean="0"/>
              <a:t>One-hot:</a:t>
            </a:r>
          </a:p>
          <a:p>
            <a:pPr lvl="1"/>
            <a:r>
              <a:rPr lang="en-US" altLang="en-US" sz="2000" dirty="0" smtClean="0"/>
              <a:t>usually a good choice for optimizing speed or reducing power.</a:t>
            </a:r>
          </a:p>
          <a:p>
            <a:r>
              <a:rPr lang="en-US" altLang="en-US" sz="2400" dirty="0" smtClean="0"/>
              <a:t>Gray:</a:t>
            </a:r>
          </a:p>
          <a:p>
            <a:pPr lvl="1"/>
            <a:r>
              <a:rPr lang="en-US" altLang="en-US" sz="2000" dirty="0" smtClean="0"/>
              <a:t>appropriate for controllers exhibiting long paths without branching.</a:t>
            </a:r>
          </a:p>
          <a:p>
            <a:pPr lvl="1"/>
            <a:r>
              <a:rPr lang="en-US" altLang="en-US" sz="2000" dirty="0" smtClean="0"/>
              <a:t>Minimizes hazards and glitches.</a:t>
            </a:r>
          </a:p>
          <a:p>
            <a:pPr lvl="1"/>
            <a:r>
              <a:rPr lang="en-US" altLang="en-US" sz="2000" dirty="0" smtClean="0"/>
              <a:t>Gives good results when implementing the State Register with T Flip-Flops.</a:t>
            </a:r>
          </a:p>
          <a:p>
            <a:pPr lvl="1"/>
            <a:r>
              <a:rPr lang="en-US" altLang="en-US" sz="2000" dirty="0" smtClean="0"/>
              <a:t>Can be used to minimize power</a:t>
            </a:r>
          </a:p>
          <a:p>
            <a:r>
              <a:rPr lang="en-US" altLang="en-US" sz="2400" dirty="0" smtClean="0"/>
              <a:t>Compact: </a:t>
            </a:r>
          </a:p>
          <a:p>
            <a:pPr lvl="1"/>
            <a:r>
              <a:rPr lang="en-US" altLang="en-US" sz="2000" dirty="0" smtClean="0"/>
              <a:t>Minimizes the number of bits in the state register.</a:t>
            </a:r>
          </a:p>
          <a:p>
            <a:pPr lvl="1"/>
            <a:r>
              <a:rPr lang="en-US" altLang="en-US" sz="2000" dirty="0" smtClean="0"/>
              <a:t>Minimizes next state equations.</a:t>
            </a:r>
          </a:p>
          <a:p>
            <a:pPr lvl="1"/>
            <a:endParaRPr lang="en-US" altLang="en-US" sz="2000" dirty="0" smtClean="0"/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fld id="{C72FDB8D-62F4-406C-8FE5-3AA48C78FB78}" type="slidenum">
              <a:rPr lang="en-US" altLang="en-US" smtClean="0"/>
              <a:pPr/>
              <a:t>65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82525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Sample Report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F0F625C-B8EB-41C3-B99D-2C3B63A25294}" type="slidenum">
              <a:rPr lang="en-US" altLang="en-US" sz="1400" b="0" smtClean="0">
                <a:cs typeface="Times New Roman" pitchFamily="18" charset="0"/>
              </a:rPr>
              <a:pPr eaLnBrk="1" hangingPunct="1"/>
              <a:t>66</a:t>
            </a:fld>
            <a:endParaRPr lang="en-US" altLang="en-US" sz="1400" b="0" smtClean="0">
              <a:cs typeface="Times New Roman" pitchFamily="18" charset="0"/>
            </a:endParaRPr>
          </a:p>
        </p:txBody>
      </p:sp>
      <p:pic>
        <p:nvPicPr>
          <p:cNvPr id="225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852488"/>
            <a:ext cx="7658100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164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85800" y="5562600"/>
            <a:ext cx="7772400" cy="762000"/>
          </a:xfrm>
        </p:spPr>
        <p:txBody>
          <a:bodyPr/>
          <a:lstStyle/>
          <a:p>
            <a:r>
              <a:rPr lang="en-US" altLang="en-US" smtClean="0"/>
              <a:t>Changed to gray automatically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852F5AC-C2F2-473C-80AC-B5A155E96D5A}" type="slidenum">
              <a:rPr lang="en-US" altLang="en-US" sz="1400" b="0" smtClean="0">
                <a:cs typeface="Times New Roman" pitchFamily="18" charset="0"/>
              </a:rPr>
              <a:pPr eaLnBrk="1" hangingPunct="1"/>
              <a:t>67</a:t>
            </a:fld>
            <a:endParaRPr lang="en-US" altLang="en-US" sz="1400" b="0" smtClean="0">
              <a:cs typeface="Times New Roman" pitchFamily="18" charset="0"/>
            </a:endParaRPr>
          </a:p>
        </p:txBody>
      </p:sp>
      <p:pic>
        <p:nvPicPr>
          <p:cNvPr id="235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347788"/>
            <a:ext cx="872490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544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20895</TotalTime>
  <Words>2623</Words>
  <Application>Microsoft Office PowerPoint</Application>
  <PresentationFormat>On-screen Show (4:3)</PresentationFormat>
  <Paragraphs>602</Paragraphs>
  <Slides>67</Slides>
  <Notes>67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Blank Presentation</vt:lpstr>
      <vt:lpstr>Computer-Aided Design    Synthesis</vt:lpstr>
      <vt:lpstr>What is Synthesis?</vt:lpstr>
      <vt:lpstr>Synthesizability</vt:lpstr>
      <vt:lpstr>How to Do?</vt:lpstr>
      <vt:lpstr>Constraints</vt:lpstr>
      <vt:lpstr>Non-functional requirements</vt:lpstr>
      <vt:lpstr>Mapping into an FPGA</vt:lpstr>
      <vt:lpstr>Synthesis Process in Practice</vt:lpstr>
      <vt:lpstr>Problems with Synthesis Tools</vt:lpstr>
      <vt:lpstr>Synthesis Strategy</vt:lpstr>
      <vt:lpstr>Delay characteristics</vt:lpstr>
      <vt:lpstr>Sources of Delay</vt:lpstr>
      <vt:lpstr>Fanout</vt:lpstr>
      <vt:lpstr>Path delay</vt:lpstr>
      <vt:lpstr>Critical path</vt:lpstr>
      <vt:lpstr>Delay model</vt:lpstr>
      <vt:lpstr>Critical path through delay graph</vt:lpstr>
      <vt:lpstr>Reducing critical path length</vt:lpstr>
      <vt:lpstr>Delay Paths in a design</vt:lpstr>
      <vt:lpstr>False paths</vt:lpstr>
      <vt:lpstr>Placement and delay</vt:lpstr>
      <vt:lpstr>Optimizing network delay</vt:lpstr>
      <vt:lpstr>Example: Adder placement and delay</vt:lpstr>
      <vt:lpstr>Bad placement and routing</vt:lpstr>
      <vt:lpstr>Better placement and routing</vt:lpstr>
      <vt:lpstr>How to improve?</vt:lpstr>
      <vt:lpstr>The FPGA design process</vt:lpstr>
      <vt:lpstr>Design experiments</vt:lpstr>
      <vt:lpstr>Commercial Tools</vt:lpstr>
      <vt:lpstr>Post-translation simulation model</vt:lpstr>
      <vt:lpstr>Mapping report</vt:lpstr>
      <vt:lpstr>Static timing analysis report</vt:lpstr>
      <vt:lpstr>Static timing report: delays along paths</vt:lpstr>
      <vt:lpstr>Routing report</vt:lpstr>
      <vt:lpstr>Static timing after routing</vt:lpstr>
      <vt:lpstr>Timing constraint</vt:lpstr>
      <vt:lpstr>Post-routing static timing report</vt:lpstr>
      <vt:lpstr>Tighter timing constraints</vt:lpstr>
      <vt:lpstr>Report on a violated path</vt:lpstr>
      <vt:lpstr>Power report</vt:lpstr>
      <vt:lpstr>Improving area</vt:lpstr>
      <vt:lpstr>Rat’s nest wiring</vt:lpstr>
      <vt:lpstr>Routing editor view</vt:lpstr>
      <vt:lpstr>Editing constraints</vt:lpstr>
      <vt:lpstr>Design browser pane</vt:lpstr>
      <vt:lpstr>Drag and drop constraints</vt:lpstr>
      <vt:lpstr>Change the shape of constraints</vt:lpstr>
      <vt:lpstr>Full set of placement constraints</vt:lpstr>
      <vt:lpstr>Placement results</vt:lpstr>
      <vt:lpstr>New timing report</vt:lpstr>
      <vt:lpstr>Power Optimization</vt:lpstr>
      <vt:lpstr>Power optimization</vt:lpstr>
      <vt:lpstr>Power estimation tools</vt:lpstr>
      <vt:lpstr>Power optimization</vt:lpstr>
      <vt:lpstr>Power optimization</vt:lpstr>
      <vt:lpstr>Glitching example</vt:lpstr>
      <vt:lpstr>Glitching example behavior</vt:lpstr>
      <vt:lpstr>Adder Chain Glitching</vt:lpstr>
      <vt:lpstr>Explanation</vt:lpstr>
      <vt:lpstr>Factorization for low power</vt:lpstr>
      <vt:lpstr>Factorization techniques</vt:lpstr>
      <vt:lpstr>Example (ALU)</vt:lpstr>
      <vt:lpstr>Example (ALU)</vt:lpstr>
      <vt:lpstr>Low Power Design Techniques</vt:lpstr>
      <vt:lpstr>State assignment</vt:lpstr>
      <vt:lpstr>Sample Report</vt:lpstr>
      <vt:lpstr>PowerPoint Presentation</vt:lpstr>
    </vt:vector>
  </TitlesOfParts>
  <Company>EPFL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asus</cp:lastModifiedBy>
  <cp:revision>741</cp:revision>
  <cp:lastPrinted>2015-12-07T16:51:55Z</cp:lastPrinted>
  <dcterms:created xsi:type="dcterms:W3CDTF">2009-11-03T19:03:43Z</dcterms:created>
  <dcterms:modified xsi:type="dcterms:W3CDTF">2019-05-20T11:33:21Z</dcterms:modified>
</cp:coreProperties>
</file>