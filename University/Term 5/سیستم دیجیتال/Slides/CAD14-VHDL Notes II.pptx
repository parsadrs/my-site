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727" r:id="rId2"/>
    <p:sldId id="687" r:id="rId3"/>
    <p:sldId id="724" r:id="rId4"/>
    <p:sldId id="719" r:id="rId5"/>
    <p:sldId id="718" r:id="rId6"/>
    <p:sldId id="725" r:id="rId7"/>
    <p:sldId id="726" r:id="rId8"/>
    <p:sldId id="690" r:id="rId9"/>
    <p:sldId id="723" r:id="rId10"/>
    <p:sldId id="721" r:id="rId11"/>
    <p:sldId id="722" r:id="rId12"/>
    <p:sldId id="691" r:id="rId13"/>
    <p:sldId id="716" r:id="rId14"/>
    <p:sldId id="717" r:id="rId15"/>
    <p:sldId id="692" r:id="rId16"/>
    <p:sldId id="693" r:id="rId17"/>
    <p:sldId id="694" r:id="rId18"/>
    <p:sldId id="720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6667" autoAdjust="0"/>
  </p:normalViewPr>
  <p:slideViewPr>
    <p:cSldViewPr>
      <p:cViewPr>
        <p:scale>
          <a:sx n="66" d="100"/>
          <a:sy n="66" d="100"/>
        </p:scale>
        <p:origin x="-1440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8" tIns="43245" rIns="86488" bIns="43245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 smtClean="0"/>
              <a:t>CAD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“Hardware Systems Modeling”, A. </a:t>
            </a:r>
            <a:r>
              <a:rPr lang="en-US" sz="1400" dirty="0" err="1" smtClean="0"/>
              <a:t>Vachoux</a:t>
            </a:r>
            <a:r>
              <a:rPr lang="en-US" sz="1400" dirty="0" smtClean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CAD slides from Dr. </a:t>
            </a:r>
            <a:r>
              <a:rPr lang="en-US" sz="1400" dirty="0" err="1" smtClean="0"/>
              <a:t>Saheb</a:t>
            </a:r>
            <a:r>
              <a:rPr lang="en-US" sz="1400" dirty="0" smtClean="0"/>
              <a:t> </a:t>
            </a:r>
            <a:r>
              <a:rPr lang="en-US" sz="1400" dirty="0" err="1" smtClean="0"/>
              <a:t>Zamani</a:t>
            </a:r>
            <a:endParaRPr lang="en-US" sz="1400" dirty="0" smtClean="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VHDL Notes II</a:t>
            </a:r>
            <a:endParaRPr lang="en-US" sz="4800" b="1" dirty="0" smtClean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3340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</p:spTree>
    <p:extLst>
      <p:ext uri="{BB962C8B-B14F-4D97-AF65-F5344CB8AC3E}">
        <p14:creationId xmlns:p14="http://schemas.microsoft.com/office/powerpoint/2010/main" val="284245357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295400"/>
            <a:ext cx="792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Are used as expression in other VHDL statements (concurrent or sequential)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86000"/>
            <a:ext cx="486727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581400"/>
            <a:ext cx="48672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772025"/>
            <a:ext cx="8477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08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739140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Sequential Execution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Functions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function name can be an operator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arbitrary number of input parameters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exactly one return value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no WAIT statement allowed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function call &lt;=&gt; VHDL expression</a:t>
            </a: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Procedures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arbitrary number of parameters of any possible direction (input/output/</a:t>
            </a:r>
            <a:r>
              <a:rPr kumimoji="0" lang="en-US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inout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RETURN statement optional (no return value!)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procedure call &lt;=&gt; VHDL statement</a:t>
            </a: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WAIT is allowed (if its parent is not a function)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Subprograms can be overloaded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Parameters can be constants, signals, variables or files </a:t>
            </a:r>
          </a:p>
        </p:txBody>
      </p:sp>
    </p:spTree>
    <p:extLst>
      <p:ext uri="{BB962C8B-B14F-4D97-AF65-F5344CB8AC3E}">
        <p14:creationId xmlns:p14="http://schemas.microsoft.com/office/powerpoint/2010/main" val="167795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3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Procedure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6200" y="1219200"/>
            <a:ext cx="5867400" cy="558614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architecture EXAMPLE of PROCEDURES is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procedure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COUNT_ZEROS (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A: in </a:t>
            </a:r>
            <a:r>
              <a:rPr lang="en-US" altLang="en-US" sz="1400" b="0" dirty="0" err="1" smtClean="0">
                <a:solidFill>
                  <a:srgbClr val="0000CC"/>
                </a:solidFill>
                <a:latin typeface="Helvetica" pitchFamily="34" charset="0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Q: out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	integer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) is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variable ZEROS : integer;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ZEROS := 0;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for I in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A'range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loop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 A(I) = '0' then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ZEROS := ZEROS +1;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if;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loop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;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Q &lt;= ZEROS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COUNT_ZEROS;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COUNT: integer;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IS_0:</a:t>
            </a: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boolean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process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IS_0 &lt;= true;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COUNT_ZEROS("01101001", COUNT);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wait for 0 ns;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 COUNT &gt; 0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then 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IS_0 &lt;= false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;  end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wait;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process;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399" y="1447800"/>
            <a:ext cx="5486401" cy="2667000"/>
          </a:xfrm>
          <a:prstGeom prst="rect">
            <a:avLst/>
          </a:prstGeom>
          <a:noFill/>
          <a:ln w="222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961743" y="1698171"/>
            <a:ext cx="3182257" cy="446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Are used as VHDL statements (concurrent or sequential) </a:t>
            </a: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fa-IR" altLang="en-US" sz="1800" b="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No return value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Parameter values may be updated (mode out/</a:t>
            </a:r>
            <a:r>
              <a:rPr lang="en-US" altLang="en-US" sz="1800" b="0" dirty="0" err="1"/>
              <a:t>inout</a:t>
            </a:r>
            <a:r>
              <a:rPr lang="en-US" altLang="en-US" sz="1800" b="0" dirty="0"/>
              <a:t>)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 smtClean="0"/>
              <a:t>Body </a:t>
            </a:r>
            <a:r>
              <a:rPr lang="en-US" altLang="en-US" sz="1800" b="0" dirty="0"/>
              <a:t>split into declarative and definition part </a:t>
            </a:r>
            <a:endParaRPr lang="fa-IR" altLang="en-US" sz="1800" b="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Unconstrained parameters possible</a:t>
            </a:r>
            <a:br>
              <a:rPr lang="en-US" altLang="en-US" sz="1800" b="0" dirty="0"/>
            </a:br>
            <a:r>
              <a:rPr lang="en-US" altLang="en-US" sz="1800" b="0" dirty="0"/>
              <a:t>(array size remains unspecified)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 smtClean="0"/>
              <a:t>For </a:t>
            </a:r>
            <a:r>
              <a:rPr lang="en-US" altLang="en-US" sz="1800" b="0" dirty="0"/>
              <a:t>out parameters, default: variable</a:t>
            </a:r>
          </a:p>
        </p:txBody>
      </p:sp>
    </p:spTree>
    <p:extLst>
      <p:ext uri="{BB962C8B-B14F-4D97-AF65-F5344CB8AC3E}">
        <p14:creationId xmlns:p14="http://schemas.microsoft.com/office/powerpoint/2010/main" val="162287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Function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76200" y="1177290"/>
            <a:ext cx="5638800" cy="568071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architecture EXAMPLE of FUNCTIONS is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[(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im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)pure] function COUNT_ZEROS (A: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)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return integer is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variable ZEROS : integer;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ZEROS := 0;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for I in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A'range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loop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 A(I) = '0' then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ZEROS := ZEROS +1;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if;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loop;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return ZEROS;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COUNT_ZEROS;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WORD: 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(15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0);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WORD_0: integer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; </a:t>
            </a: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IS_0:</a:t>
            </a: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boolean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WORD_0 &lt;= </a:t>
            </a:r>
            <a:r>
              <a:rPr lang="en-US" altLang="en-US" sz="1400" b="0" dirty="0">
                <a:solidFill>
                  <a:srgbClr val="CC0000"/>
                </a:solidFill>
                <a:latin typeface="Helvetica" pitchFamily="34" charset="0"/>
              </a:rPr>
              <a:t>COUNT_ZEROS(WORD);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process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  begin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 smtClean="0">
                <a:solidFill>
                  <a:srgbClr val="0000CC"/>
                </a:solidFill>
              </a:rPr>
              <a:t>   </a:t>
            </a: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IS_0 &lt;= true;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smtClean="0">
                <a:solidFill>
                  <a:srgbClr val="0000CC"/>
                </a:solidFill>
              </a:rPr>
              <a:t>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if </a:t>
            </a:r>
            <a:r>
              <a:rPr lang="en-US" altLang="en-US" sz="1400" b="0" dirty="0">
                <a:solidFill>
                  <a:srgbClr val="CC0000"/>
                </a:solidFill>
                <a:latin typeface="Helvetica" pitchFamily="34" charset="0"/>
              </a:rPr>
              <a:t>COUNT_ZEROS("01101001")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&gt; 0 then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 smtClean="0">
                <a:solidFill>
                  <a:srgbClr val="0000CC"/>
                </a:solidFill>
              </a:rPr>
              <a:t>   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IS_0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&lt;= false;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smtClean="0">
                <a:solidFill>
                  <a:srgbClr val="0000CC"/>
                </a:solidFill>
              </a:rPr>
              <a:t>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end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 </a:t>
            </a:r>
            <a:r>
              <a:rPr lang="en-US" altLang="en-US" sz="1400" b="0" dirty="0" smtClean="0">
                <a:solidFill>
                  <a:srgbClr val="0000CC"/>
                </a:solidFill>
              </a:rPr>
              <a:t>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wait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process;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52400" y="1447800"/>
            <a:ext cx="5486400" cy="2362200"/>
          </a:xfrm>
          <a:prstGeom prst="rect">
            <a:avLst/>
          </a:prstGeom>
          <a:noFill/>
          <a:ln w="222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715000" y="1447800"/>
            <a:ext cx="3429000" cy="388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(</a:t>
            </a:r>
            <a:r>
              <a:rPr lang="en-US" altLang="en-US" sz="1800" b="0" dirty="0" err="1"/>
              <a:t>Im</a:t>
            </a:r>
            <a:r>
              <a:rPr lang="en-US" altLang="en-US" sz="1800" b="0" dirty="0"/>
              <a:t>)pure declaration optional</a:t>
            </a:r>
            <a:br>
              <a:rPr lang="en-US" altLang="en-US" sz="1800" b="0" dirty="0"/>
            </a:br>
            <a:r>
              <a:rPr lang="en-US" altLang="en-US" sz="1800" b="0" dirty="0"/>
              <a:t>(default: 'pure’) </a:t>
            </a: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en-US" sz="1800" b="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Body split into declarative and definition part </a:t>
            </a: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fa-IR" altLang="en-US" sz="1800" b="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Unconstrained parameters possible</a:t>
            </a:r>
            <a:br>
              <a:rPr lang="en-US" altLang="en-US" sz="1800" b="0" dirty="0"/>
            </a:br>
            <a:r>
              <a:rPr lang="en-US" altLang="en-US" sz="1800" b="0" dirty="0"/>
              <a:t>(array size remains unspecified) </a:t>
            </a:r>
            <a:endParaRPr lang="en-US" altLang="en-US" sz="1800" b="0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en-US" sz="1800" b="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en-US" sz="1800" b="0" dirty="0"/>
              <a:t>Are used as expression in other VHDL statements (concurrent or sequential)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fa-IR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43141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Subprogram Declaration and Overloading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09600" y="1404937"/>
            <a:ext cx="7467600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Subprograms may be declared/defined in any declaration part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package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entity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architecture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process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subprogram</a:t>
            </a: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Overloading of subprograms possible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identical name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different parameters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During compilation/runtime that subprogram is called whose formal parameters match the provided actuals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Lotus" pitchFamily="2" charset="-78"/>
              </a:rPr>
              <a:t>Cannot overload with different parameter classes.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Lotus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506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Subprogram Declaration and Overloading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96200" cy="441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0" algn="r" rtl="1" eaLnBrk="1" fontAlgn="auto" hangingPunct="1">
              <a:spcBef>
                <a:spcPct val="10000"/>
              </a:spcBef>
              <a:spcAft>
                <a:spcPts val="0"/>
              </a:spcAft>
            </a:pPr>
            <a:r>
              <a:rPr lang="fa-IR" altLang="en-US" sz="2400" dirty="0">
                <a:cs typeface="B Mitra" panose="00000400000000000000" pitchFamily="2" charset="-78"/>
              </a:rPr>
              <a:t>توابع </a:t>
            </a:r>
            <a:r>
              <a:rPr lang="en-US" altLang="en-US" sz="2400" dirty="0">
                <a:cs typeface="B Mitra" panose="00000400000000000000" pitchFamily="2" charset="-78"/>
              </a:rPr>
              <a:t>Impure</a:t>
            </a:r>
            <a:r>
              <a:rPr lang="fa-IR" altLang="en-US" sz="2400" dirty="0">
                <a:cs typeface="B Mitra" panose="00000400000000000000" pitchFamily="2" charset="-78"/>
              </a:rPr>
              <a:t> به </a:t>
            </a:r>
            <a:r>
              <a:rPr lang="en-US" altLang="en-US" sz="2400" dirty="0">
                <a:cs typeface="B Mitra" panose="00000400000000000000" pitchFamily="2" charset="-78"/>
              </a:rPr>
              <a:t>object</a:t>
            </a:r>
            <a:r>
              <a:rPr lang="fa-IR" altLang="en-US" sz="2400" dirty="0">
                <a:cs typeface="B Mitra" panose="00000400000000000000" pitchFamily="2" charset="-78"/>
              </a:rPr>
              <a:t>هاي بيرون از</a:t>
            </a:r>
            <a:r>
              <a:rPr lang="en-US" altLang="en-US" sz="2400" dirty="0">
                <a:cs typeface="B Mitra" panose="00000400000000000000" pitchFamily="2" charset="-78"/>
              </a:rPr>
              <a:t>scope </a:t>
            </a:r>
            <a:r>
              <a:rPr lang="fa-IR" altLang="en-US" sz="2400" dirty="0">
                <a:cs typeface="B Mitra" panose="00000400000000000000" pitchFamily="2" charset="-78"/>
              </a:rPr>
              <a:t> خود دسترسي دارند</a:t>
            </a:r>
            <a:r>
              <a:rPr lang="fa-IR" altLang="en-US" sz="2400" dirty="0" smtClean="0">
                <a:cs typeface="B Mitra" panose="00000400000000000000" pitchFamily="2" charset="-78"/>
              </a:rPr>
              <a:t>.</a:t>
            </a:r>
          </a:p>
          <a:p>
            <a:pPr lvl="0" algn="r" rtl="1" eaLnBrk="1" fontAlgn="auto" hangingPunct="1">
              <a:spcBef>
                <a:spcPct val="10000"/>
              </a:spcBef>
              <a:spcAft>
                <a:spcPts val="0"/>
              </a:spcAft>
            </a:pPr>
            <a:endParaRPr kumimoji="0" lang="fa-IR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زيربرنامه اي که در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package 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اعلان شده باشد در همة واحدهايي که به اين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package 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ارجاع مي دهند قابل دسترسي است.</a:t>
            </a:r>
            <a:endParaRPr kumimoji="0" lang="en-US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fa-IR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زيربرنامه اي که در زيربرنامة ديگري اعلان شده باشد فقط در بدنة زيربرنامة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parent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آن قابل دسترسي است.</a:t>
            </a:r>
            <a:endParaRPr kumimoji="0" lang="en-US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fa-IR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با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overload 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کردن علائم مي توان مثلاً +  را براي </a:t>
            </a:r>
            <a:r>
              <a:rPr kumimoji="0" lang="en-US" alt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bit_vector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ها هم استفاده کرد.</a:t>
            </a:r>
            <a:endParaRPr kumimoji="0" lang="en-US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B Mitra" panose="00000400000000000000" pitchFamily="2" charset="-78"/>
            </a:endParaRPr>
          </a:p>
          <a:p>
            <a:pPr marL="742950" marR="0" lvl="1" indent="-285750" algn="r" defTabSz="914400" rtl="1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مانند پکیج‌های </a:t>
            </a:r>
            <a:r>
              <a:rPr kumimoji="0" lang="en-US" alt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std_logic_unsigned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</a:t>
            </a:r>
            <a:r>
              <a:rPr kumimoji="0" lang="fa-I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و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std_logic_signed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B Mitra" panose="00000400000000000000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62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 Declaration &amp; Body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295400"/>
            <a:ext cx="28289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228725"/>
            <a:ext cx="568642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67050"/>
            <a:ext cx="52006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3810001"/>
            <a:ext cx="3733800" cy="861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" y="4899025"/>
            <a:ext cx="38004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636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Configuration Declaration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2105025"/>
            <a:ext cx="70389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486400"/>
            <a:ext cx="3238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272087"/>
            <a:ext cx="43338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817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Generic N-bit Adder Using Components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6248400" cy="273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191000"/>
            <a:ext cx="64293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717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Generic N-bit Adder Using Components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82638"/>
            <a:ext cx="5424487" cy="517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396888"/>
            <a:ext cx="29813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601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Assignment for 'bit' Data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2400" y="1524000"/>
            <a:ext cx="4267200" cy="42830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/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architecture EXAMPLE of ASSIGNMENT is</a:t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 i="1">
                <a:solidFill>
                  <a:schemeClr val="accent2"/>
                </a:solidFill>
                <a:latin typeface="Arial" charset="0"/>
                <a:cs typeface="Arial" charset="0"/>
              </a:rPr>
              <a:t/>
            </a:r>
            <a:br>
              <a:rPr lang="en-US" sz="1600" b="0" i="1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signal Z_BUS :     bit_vector (3 downto 0);</a:t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signal BIG_BUS : bit_vector (15 downto 0);</a:t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/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begin</a:t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/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-- legal assignments:</a:t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   Z_BUS(3) &lt;= ’1’;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   Z_BUS      &lt;= ”1100”;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 i="1">
                <a:solidFill>
                  <a:schemeClr val="accent2"/>
                </a:solidFill>
                <a:latin typeface="Arial" charset="0"/>
                <a:cs typeface="Arial" charset="0"/>
              </a:rPr>
              <a:t/>
            </a:r>
            <a:br>
              <a:rPr lang="en-US" sz="1600" b="0" i="1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Z_BUS      &lt;= 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 b”</a:t>
            </a: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1100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”;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Z_BUS      &lt;= 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 x”</a:t>
            </a: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c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”;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Z_BUS      &lt;= 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 X”</a:t>
            </a: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C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”;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   BIG_BUS  &lt;= 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 B”</a:t>
            </a: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0000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_</a:t>
            </a: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0001_0010_0011</a:t>
            </a:r>
            <a: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  <a:t>”;</a:t>
            </a:r>
            <a:br>
              <a:rPr lang="en-US" sz="160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/>
            </a:r>
            <a:b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</a:br>
            <a:r>
              <a:rPr lang="en-US" sz="1600" b="0">
                <a:solidFill>
                  <a:schemeClr val="accent2"/>
                </a:solidFill>
                <a:latin typeface="Arial" charset="0"/>
                <a:cs typeface="Arial" charset="0"/>
              </a:rPr>
              <a:t>end EXAMPLE;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724400" y="1965325"/>
            <a:ext cx="35814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571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>
              <a:buFontTx/>
              <a:buChar char="•"/>
            </a:pPr>
            <a:r>
              <a:rPr lang="en-US" sz="2000" dirty="0"/>
              <a:t>Single bit values are enclosed in '.' </a:t>
            </a:r>
          </a:p>
          <a:p>
            <a:pPr rtl="0" eaLnBrk="1" hangingPunct="1">
              <a:buFontTx/>
              <a:buChar char="•"/>
            </a:pPr>
            <a:r>
              <a:rPr lang="en-US" sz="2000" dirty="0"/>
              <a:t>Vector values are enclosed in "..." </a:t>
            </a:r>
          </a:p>
          <a:p>
            <a:pPr lvl="1" rtl="0" eaLnBrk="1" hangingPunct="1">
              <a:buFontTx/>
              <a:buChar char="•"/>
            </a:pPr>
            <a:r>
              <a:rPr lang="en-US" sz="2000" b="0" dirty="0"/>
              <a:t>optional base specification (default: binary) </a:t>
            </a:r>
          </a:p>
          <a:p>
            <a:pPr lvl="1" rtl="0" eaLnBrk="1" hangingPunct="1">
              <a:buFontTx/>
              <a:buChar char="•"/>
            </a:pPr>
            <a:r>
              <a:rPr lang="en-US" sz="2000" b="0" dirty="0"/>
              <a:t>values may be separated by underscores to improve readability</a:t>
            </a:r>
          </a:p>
        </p:txBody>
      </p:sp>
    </p:spTree>
    <p:extLst>
      <p:ext uri="{BB962C8B-B14F-4D97-AF65-F5344CB8AC3E}">
        <p14:creationId xmlns:p14="http://schemas.microsoft.com/office/powerpoint/2010/main" val="209636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Logical Operations with Arrays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4059237"/>
            <a:ext cx="5181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Operands of the same length and type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Assignment via the position of the elements (according to range definition) 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85800" y="1408112"/>
            <a:ext cx="4724400" cy="15938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architecture EXAMPLE of LOGICAL_OP is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signal A_BUS, B_BUS :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(3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0);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signal Z_BUS : </a:t>
            </a:r>
            <a:r>
              <a:rPr lang="en-US" altLang="en-US" sz="1600" b="0" dirty="0">
                <a:solidFill>
                  <a:srgbClr val="0000CC"/>
                </a:solidFill>
              </a:rPr>
              <a:t>              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(4 to 7);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Z_BUS &lt;= A_BUS and B_BUS;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pic>
        <p:nvPicPr>
          <p:cNvPr id="8" name="Picture 8" descr="t_8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41712"/>
            <a:ext cx="22098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t_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79962"/>
            <a:ext cx="2209800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28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r>
              <a:rPr lang="en-US" altLang="en-US" sz="4000" dirty="0"/>
              <a:t>Comparison Operations with Arrays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495800" y="1508125"/>
            <a:ext cx="41910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Arrays: 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b="0"/>
              <a:t>may differ in length 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b="0"/>
              <a:t>left-alignment prior to comparison 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b="0"/>
              <a:t>are compared element after element</a:t>
            </a:r>
            <a:r>
              <a:rPr lang="en-US" altLang="en-US" sz="2000"/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No numerical interpretation</a:t>
            </a:r>
            <a:br>
              <a:rPr lang="en-US" altLang="en-US" sz="2000"/>
            </a:br>
            <a:r>
              <a:rPr lang="en-US" altLang="en-US" sz="2000"/>
              <a:t>(unsigned, 2-complement, etc.)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62000" y="1219200"/>
            <a:ext cx="3657600" cy="52324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architecture EXAMPLE of COMPARISON is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PART: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(3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0);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signal BYTE:</a:t>
            </a: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(0 to 7);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PART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&lt;= "1001";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BYTE</a:t>
            </a: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&lt;= "00001111";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COMPARE: process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(PART,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BYTE)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(PART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&lt; BYTE) then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 evaluated as: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 if (PART(3) &lt; BYTE(0)) or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((PART(3) = BYTE(0)) and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</a:t>
            </a: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(PART(2) &lt; BYTE(1))) or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((PART(3) = BYTE(0)) and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</a:t>
            </a: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(PART(2) = BYTE(1)) and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</a:t>
            </a: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(PART(1) &lt; BYTE(2))) or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...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-- better: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if ((</a:t>
            </a:r>
            <a:r>
              <a:rPr lang="en-US" altLang="en-US" sz="1400" dirty="0">
                <a:solidFill>
                  <a:srgbClr val="0000CC"/>
                </a:solidFill>
                <a:latin typeface="Helvetica" pitchFamily="34" charset="0"/>
              </a:rPr>
              <a:t> "0000"&amp;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itchFamily="34" charset="0"/>
              </a:rPr>
              <a:t>PART) 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&lt;= BYTE) then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...</a:t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4572000" y="5105400"/>
            <a:ext cx="3733800" cy="1006475"/>
            <a:chOff x="192" y="2160"/>
            <a:chExt cx="2352" cy="634"/>
          </a:xfrm>
        </p:grpSpPr>
        <p:pic>
          <p:nvPicPr>
            <p:cNvPr id="9" name="Picture 13" descr="t_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2304"/>
              <a:ext cx="3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480" y="2160"/>
              <a:ext cx="2064" cy="634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cs typeface="Times New Roman" pitchFamily="18" charset="0"/>
                </a:rPr>
                <a:t>Adjust the length of arrays prior to comparison</a:t>
              </a:r>
              <a:endParaRPr lang="fa-IR" altLang="en-US" sz="1800">
                <a:cs typeface="Times New Roman" pitchFamily="18" charset="0"/>
              </a:endParaRPr>
            </a:p>
          </p:txBody>
        </p:sp>
      </p:grpSp>
      <p:sp>
        <p:nvSpPr>
          <p:cNvPr id="11" name="Line 15"/>
          <p:cNvSpPr>
            <a:spLocks noChangeShapeType="1"/>
          </p:cNvSpPr>
          <p:nvPr/>
        </p:nvSpPr>
        <p:spPr bwMode="auto">
          <a:xfrm flipH="1" flipV="1">
            <a:off x="3810000" y="5867400"/>
            <a:ext cx="1066800" cy="152400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1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4267200" cy="52324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/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architecture EXAMPLE of AGGREGATE 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type MONTH_NAME is (JAN, FEB, MAR, APR,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                                       MAY, JUN, JUL, AUG,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                                       SEP, OCT, NOV, DEC);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type DATE is 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        record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             DAY:        integer range 1 to 31;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             MONTH: MONTH_NAME;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             YEAR:     integer range 0 to 4000;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         end record;</a:t>
            </a:r>
            <a:br>
              <a:rPr lang="en-US" sz="1400" b="0">
                <a:solidFill>
                  <a:srgbClr val="6633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CC0000"/>
                </a:solidFill>
                <a:latin typeface="Helvetica" pitchFamily="34" charset="0"/>
              </a:rPr>
              <a:t>    type PERSON is</a:t>
            </a:r>
            <a:br>
              <a:rPr lang="en-US" sz="1400" b="0">
                <a:solidFill>
                  <a:srgbClr val="CC00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CC0000"/>
                </a:solidFill>
                <a:latin typeface="Helvetica" pitchFamily="34" charset="0"/>
              </a:rPr>
              <a:t>         record</a:t>
            </a:r>
            <a:br>
              <a:rPr lang="en-US" sz="1400" b="0">
                <a:solidFill>
                  <a:srgbClr val="CC00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CC0000"/>
                </a:solidFill>
                <a:latin typeface="Helvetica" pitchFamily="34" charset="0"/>
              </a:rPr>
              <a:t>            NAME:         string (0 to 8);</a:t>
            </a:r>
            <a:br>
              <a:rPr lang="en-US" sz="1400" b="0">
                <a:solidFill>
                  <a:srgbClr val="CC00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CC0000"/>
                </a:solidFill>
                <a:latin typeface="Helvetica" pitchFamily="34" charset="0"/>
              </a:rPr>
              <a:t>            BIRTHDAY: DATE;</a:t>
            </a:r>
            <a:br>
              <a:rPr lang="en-US" sz="1400" b="0">
                <a:solidFill>
                  <a:srgbClr val="CC00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CC0000"/>
                </a:solidFill>
                <a:latin typeface="Helvetica" pitchFamily="34" charset="0"/>
              </a:rPr>
              <a:t>         end record;</a:t>
            </a:r>
            <a:br>
              <a:rPr lang="en-US" sz="1400" b="0">
                <a:solidFill>
                  <a:srgbClr val="CC00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signal TODAY:      DATE;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signal STUDENT_1: PERSON;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 signal STUDENT_2: PERSON;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TODAY      &lt;= (26, JUL, 2010);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STUDENT_1 &lt;= (“Ali", TODAY);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STUDENT_2 &lt;= STUDENT_1;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   STUDENT_2.BIRTHDAY.YEAR &lt;= 1990;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724400" y="1855788"/>
            <a:ext cx="38862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6863" indent="-2968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10287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>
              <a:buFontTx/>
              <a:buChar char="•"/>
            </a:pPr>
            <a:r>
              <a:rPr lang="en-US" sz="1600">
                <a:solidFill>
                  <a:srgbClr val="000000"/>
                </a:solidFill>
                <a:latin typeface="Helvetica" pitchFamily="34" charset="0"/>
              </a:rPr>
              <a:t>Elements of different type </a:t>
            </a:r>
          </a:p>
          <a:p>
            <a:pPr rtl="0" eaLnBrk="1" hangingPunct="1">
              <a:buFontTx/>
              <a:buChar char="•"/>
            </a:pPr>
            <a:r>
              <a:rPr lang="en-US" sz="1600">
                <a:solidFill>
                  <a:srgbClr val="000000"/>
                </a:solidFill>
                <a:latin typeface="Helvetica" pitchFamily="34" charset="0"/>
              </a:rPr>
              <a:t>Possible assignments </a:t>
            </a:r>
          </a:p>
          <a:p>
            <a:pPr lvl="1" rtl="0" eaLnBrk="1" hangingPunct="1">
              <a:buFontTx/>
              <a:buChar char="•"/>
            </a:pPr>
            <a:r>
              <a:rPr lang="en-US" sz="1600" b="0">
                <a:solidFill>
                  <a:srgbClr val="000000"/>
                </a:solidFill>
                <a:latin typeface="Helvetica" pitchFamily="34" charset="0"/>
              </a:rPr>
              <a:t>record </a:t>
            </a:r>
            <a:r>
              <a:rPr lang="en-US" sz="1600" b="0">
                <a:solidFill>
                  <a:srgbClr val="000000"/>
                </a:solidFill>
              </a:rPr>
              <a:t>               </a:t>
            </a:r>
            <a:r>
              <a:rPr lang="en-US" sz="1600" b="0">
                <a:solidFill>
                  <a:srgbClr val="000000"/>
                </a:solidFill>
                <a:latin typeface="Helvetica" pitchFamily="34" charset="0"/>
              </a:rPr>
              <a:t>&lt;= record </a:t>
            </a:r>
          </a:p>
          <a:p>
            <a:pPr lvl="1" rtl="0" eaLnBrk="1" hangingPunct="1">
              <a:buFontTx/>
              <a:buChar char="•"/>
            </a:pPr>
            <a:r>
              <a:rPr lang="en-US" sz="1600" b="0">
                <a:solidFill>
                  <a:srgbClr val="000000"/>
                </a:solidFill>
                <a:latin typeface="Helvetica" pitchFamily="34" charset="0"/>
              </a:rPr>
              <a:t>record </a:t>
            </a:r>
            <a:r>
              <a:rPr lang="en-US" sz="1600" b="0">
                <a:solidFill>
                  <a:srgbClr val="000000"/>
                </a:solidFill>
              </a:rPr>
              <a:t>               </a:t>
            </a:r>
            <a:r>
              <a:rPr lang="en-US" sz="1600" b="0">
                <a:solidFill>
                  <a:srgbClr val="000000"/>
                </a:solidFill>
                <a:latin typeface="Helvetica" pitchFamily="34" charset="0"/>
              </a:rPr>
              <a:t>&lt;= aggregate </a:t>
            </a:r>
          </a:p>
          <a:p>
            <a:pPr lvl="1" rtl="0" eaLnBrk="1" hangingPunct="1">
              <a:buFontTx/>
              <a:buChar char="•"/>
            </a:pPr>
            <a:r>
              <a:rPr lang="en-US" sz="1600" b="0">
                <a:solidFill>
                  <a:srgbClr val="000000"/>
                </a:solidFill>
                <a:latin typeface="Helvetica" pitchFamily="34" charset="0"/>
              </a:rPr>
              <a:t>record.element &lt;= value</a:t>
            </a:r>
          </a:p>
        </p:txBody>
      </p:sp>
    </p:spTree>
    <p:extLst>
      <p:ext uri="{BB962C8B-B14F-4D97-AF65-F5344CB8AC3E}">
        <p14:creationId xmlns:p14="http://schemas.microsoft.com/office/powerpoint/2010/main" val="3749796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086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62000" y="2895600"/>
            <a:ext cx="7391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Arial" charset="0"/>
              </a:rPr>
              <a:t>TYPE opcode IS (</a:t>
            </a:r>
            <a:r>
              <a:rPr lang="en-US" sz="1800" dirty="0" err="1">
                <a:latin typeface="Arial" charset="0"/>
              </a:rPr>
              <a:t>sta</a:t>
            </a:r>
            <a:r>
              <a:rPr lang="en-US" sz="1800" dirty="0">
                <a:latin typeface="Arial" charset="0"/>
              </a:rPr>
              <a:t>, </a:t>
            </a:r>
            <a:r>
              <a:rPr lang="en-US" sz="1800" dirty="0" err="1">
                <a:latin typeface="Arial" charset="0"/>
              </a:rPr>
              <a:t>lda</a:t>
            </a:r>
            <a:r>
              <a:rPr lang="en-US" sz="1800" dirty="0">
                <a:latin typeface="Arial" charset="0"/>
              </a:rPr>
              <a:t>, add, sub, and, </a:t>
            </a:r>
            <a:r>
              <a:rPr lang="en-US" sz="1800" dirty="0" err="1">
                <a:latin typeface="Arial" charset="0"/>
              </a:rPr>
              <a:t>nop</a:t>
            </a:r>
            <a:r>
              <a:rPr lang="en-US" sz="1800" dirty="0">
                <a:latin typeface="Arial" charset="0"/>
              </a:rPr>
              <a:t>, </a:t>
            </a:r>
            <a:r>
              <a:rPr lang="en-US" sz="1800" dirty="0" err="1">
                <a:latin typeface="Arial" charset="0"/>
              </a:rPr>
              <a:t>jmp</a:t>
            </a:r>
            <a:r>
              <a:rPr lang="en-US" sz="1800" dirty="0">
                <a:latin typeface="Arial" charset="0"/>
              </a:rPr>
              <a:t>, </a:t>
            </a:r>
            <a:r>
              <a:rPr lang="en-US" sz="1800" dirty="0" err="1">
                <a:latin typeface="Arial" charset="0"/>
              </a:rPr>
              <a:t>jsr</a:t>
            </a:r>
            <a:r>
              <a:rPr lang="en-US" sz="1800" dirty="0">
                <a:latin typeface="Arial" charset="0"/>
              </a:rPr>
              <a:t>);</a:t>
            </a:r>
          </a:p>
          <a:p>
            <a:r>
              <a:rPr lang="en-US" sz="1800" dirty="0">
                <a:latin typeface="Arial" charset="0"/>
              </a:rPr>
              <a:t>TYPE mode </a:t>
            </a:r>
            <a:r>
              <a:rPr lang="en-US" sz="1800" dirty="0" smtClean="0">
                <a:latin typeface="Arial" charset="0"/>
              </a:rPr>
              <a:t>IS integer </a:t>
            </a:r>
            <a:r>
              <a:rPr lang="en-US" sz="1800" dirty="0">
                <a:latin typeface="Arial" charset="0"/>
              </a:rPr>
              <a:t>RANGE 0 TO 3;</a:t>
            </a:r>
          </a:p>
          <a:p>
            <a:r>
              <a:rPr lang="en-US" sz="1800" dirty="0">
                <a:latin typeface="Arial" charset="0"/>
              </a:rPr>
              <a:t>TYPE address IS BIT_VECTOR (10 DOWNTO 0);</a:t>
            </a:r>
            <a:endParaRPr lang="en-US" sz="1800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38200" y="4075113"/>
            <a:ext cx="69342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800">
                <a:latin typeface="Arial" charset="0"/>
              </a:rPr>
              <a:t>TYPE instruction_format IS RECORD</a:t>
            </a:r>
          </a:p>
          <a:p>
            <a:r>
              <a:rPr lang="en-US" sz="1800">
                <a:latin typeface="Arial" charset="0"/>
              </a:rPr>
              <a:t>    opc : opcode;</a:t>
            </a:r>
          </a:p>
          <a:p>
            <a:r>
              <a:rPr lang="en-US" sz="1800">
                <a:latin typeface="Arial" charset="0"/>
              </a:rPr>
              <a:t>    mde : mode;</a:t>
            </a:r>
          </a:p>
          <a:p>
            <a:r>
              <a:rPr lang="en-US" sz="1800">
                <a:latin typeface="Arial" charset="0"/>
              </a:rPr>
              <a:t>    adr : address;</a:t>
            </a:r>
          </a:p>
          <a:p>
            <a:r>
              <a:rPr lang="en-US" sz="1800">
                <a:latin typeface="Arial" charset="0"/>
              </a:rPr>
              <a:t>END RECORD;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07779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Aliases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7200" y="1219200"/>
            <a:ext cx="4572000" cy="43815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/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architecture EXAMPLE of </a:t>
            </a:r>
            <a:r>
              <a:rPr lang="en-US" sz="1400" dirty="0" smtClean="0">
                <a:solidFill>
                  <a:srgbClr val="0000CC"/>
                </a:solidFill>
                <a:latin typeface="Helvetica" pitchFamily="34" charset="0"/>
              </a:rPr>
              <a:t>ALS 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signal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DATA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is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(9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0);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 alias STARTBIT : </a:t>
            </a:r>
            <a:r>
              <a:rPr lang="en-US" sz="1400" dirty="0">
                <a:solidFill>
                  <a:srgbClr val="0000CC"/>
                </a:solidFill>
              </a:rPr>
              <a:t>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bit is DATA(9) 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alias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MESSAGE:</a:t>
            </a:r>
            <a:r>
              <a:rPr lang="en-US" sz="1400" dirty="0">
                <a:solidFill>
                  <a:srgbClr val="0000CC"/>
                </a:solidFill>
              </a:rPr>
              <a:t> 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(6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0)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is </a:t>
            </a:r>
            <a:r>
              <a:rPr lang="en-US" sz="1400" dirty="0" smtClean="0">
                <a:solidFill>
                  <a:srgbClr val="0000CC"/>
                </a:solidFill>
                <a:latin typeface="Helvetica" pitchFamily="34" charset="0"/>
              </a:rPr>
              <a:t>	DATA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(8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2);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alias PARITY:</a:t>
            </a:r>
            <a:r>
              <a:rPr lang="en-US" sz="1400" dirty="0">
                <a:solidFill>
                  <a:srgbClr val="0000CC"/>
                </a:solidFill>
              </a:rPr>
              <a:t>  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bit is DATA(1);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alias STOPBIT:</a:t>
            </a:r>
            <a:r>
              <a:rPr lang="en-US" sz="1400" dirty="0">
                <a:solidFill>
                  <a:srgbClr val="0000CC"/>
                </a:solidFill>
              </a:rPr>
              <a:t>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bit is DATA(0);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alias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REVERSE:</a:t>
            </a:r>
            <a:r>
              <a:rPr lang="en-US" sz="1400" dirty="0">
                <a:solidFill>
                  <a:srgbClr val="0000CC"/>
                </a:solidFill>
              </a:rPr>
              <a:t>  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(1 to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10)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is DATA;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function 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calc_parity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(data: 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) return bit is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. . .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STARTBIT </a:t>
            </a:r>
            <a:r>
              <a:rPr lang="en-US" sz="1400" dirty="0">
                <a:solidFill>
                  <a:srgbClr val="0000CC"/>
                </a:solidFill>
              </a:rPr>
              <a:t>  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&lt;= '0';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MESSAGE </a:t>
            </a:r>
            <a:r>
              <a:rPr lang="en-US" sz="1400" dirty="0">
                <a:solidFill>
                  <a:srgbClr val="0000CC"/>
                </a:solidFill>
              </a:rPr>
              <a:t> 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&lt;= "1100011";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PARITY</a:t>
            </a:r>
            <a:r>
              <a:rPr lang="en-US" sz="1400" dirty="0">
                <a:solidFill>
                  <a:srgbClr val="0000CC"/>
                </a:solidFill>
              </a:rPr>
              <a:t>       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&lt;= </a:t>
            </a:r>
            <a:r>
              <a:rPr lang="en-US" sz="1400" dirty="0" err="1">
                <a:solidFill>
                  <a:srgbClr val="0000CC"/>
                </a:solidFill>
                <a:latin typeface="Helvetica" pitchFamily="34" charset="0"/>
              </a:rPr>
              <a:t>calc_parity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(MESSAGE);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</a:rPr>
              <a:t>    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REVERSE(10)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sz="1400" dirty="0">
                <a:solidFill>
                  <a:srgbClr val="0000CC"/>
                </a:solidFill>
              </a:rPr>
              <a:t> </a:t>
            </a: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'1';</a:t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4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rgbClr val="0000CC"/>
                </a:solidFill>
                <a:latin typeface="Helvetica" pitchFamily="34" charset="0"/>
              </a:rPr>
              <a:t>end EXAMPLE;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29200" y="2049463"/>
            <a:ext cx="34290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6863" indent="-2968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>
              <a:buFontTx/>
              <a:buChar char="•"/>
            </a:pPr>
            <a:r>
              <a:rPr lang="en-US" sz="1600">
                <a:solidFill>
                  <a:srgbClr val="000000"/>
                </a:solidFill>
                <a:latin typeface="Helvetica" pitchFamily="34" charset="0"/>
              </a:rPr>
              <a:t>Give new names to already existing objects </a:t>
            </a:r>
          </a:p>
          <a:p>
            <a:pPr rtl="0" eaLnBrk="1" hangingPunct="1">
              <a:buFontTx/>
              <a:buChar char="•"/>
            </a:pPr>
            <a:r>
              <a:rPr lang="en-US" sz="1600">
                <a:solidFill>
                  <a:srgbClr val="000000"/>
                </a:solidFill>
                <a:latin typeface="Helvetica" pitchFamily="34" charset="0"/>
              </a:rPr>
              <a:t>Make it easier to handle complex data structures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685800" y="5791200"/>
            <a:ext cx="3429000" cy="731838"/>
            <a:chOff x="192" y="1363"/>
            <a:chExt cx="2160" cy="461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80" y="1363"/>
              <a:ext cx="1872" cy="461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rtl="0"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  <a:t>Aliases are not always supported by synthesis tools</a:t>
              </a:r>
              <a:endParaRPr lang="fa-IR" sz="2000" b="0">
                <a:cs typeface="Times New Roman" pitchFamily="18" charset="0"/>
              </a:endParaRPr>
            </a:p>
          </p:txBody>
        </p:sp>
        <p:pic>
          <p:nvPicPr>
            <p:cNvPr id="10" name="Picture 7" descr="t_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440"/>
              <a:ext cx="3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017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Don’t Care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38175" y="1158875"/>
            <a:ext cx="7696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2400" dirty="0">
                <a:cs typeface="B Mitra" panose="00000400000000000000" pitchFamily="2" charset="-78"/>
              </a:rPr>
              <a:t>در سنتز كننده ها مقايسه با </a:t>
            </a:r>
            <a:r>
              <a:rPr lang="en-US" altLang="en-US" sz="2400" dirty="0">
                <a:cs typeface="B Mitra" panose="00000400000000000000" pitchFamily="2" charset="-78"/>
              </a:rPr>
              <a:t>‘-’</a:t>
            </a:r>
            <a:r>
              <a:rPr lang="ar-SA" altLang="en-US" sz="2400" dirty="0">
                <a:cs typeface="B Mitra" panose="00000400000000000000" pitchFamily="2" charset="-78"/>
              </a:rPr>
              <a:t> در شرطها عموماً  نتيجة </a:t>
            </a:r>
            <a:r>
              <a:rPr lang="en-US" altLang="en-US" sz="2400" dirty="0">
                <a:cs typeface="B Mitra" panose="00000400000000000000" pitchFamily="2" charset="-78"/>
              </a:rPr>
              <a:t>FALSE</a:t>
            </a:r>
            <a:r>
              <a:rPr lang="ar-SA" altLang="en-US" sz="2400" dirty="0">
                <a:cs typeface="B Mitra" panose="00000400000000000000" pitchFamily="2" charset="-78"/>
              </a:rPr>
              <a:t> مي دهد (هيچگاه مقدار سيگنال = </a:t>
            </a:r>
            <a:r>
              <a:rPr lang="en-US" altLang="en-US" sz="2400" dirty="0">
                <a:cs typeface="B Mitra" panose="00000400000000000000" pitchFamily="2" charset="-78"/>
              </a:rPr>
              <a:t>‘-’ </a:t>
            </a:r>
            <a:r>
              <a:rPr lang="ar-SA" altLang="en-US" sz="2400" dirty="0">
                <a:cs typeface="B Mitra" panose="00000400000000000000" pitchFamily="2" charset="-78"/>
              </a:rPr>
              <a:t> نمي شود):</a:t>
            </a:r>
            <a:endParaRPr lang="en-US" altLang="en-US" sz="2400" dirty="0">
              <a:cs typeface="B Mitra" panose="00000400000000000000" pitchFamily="2" charset="-78"/>
            </a:endParaRP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638175" y="2016125"/>
            <a:ext cx="7696200" cy="1123950"/>
            <a:chOff x="48" y="2048"/>
            <a:chExt cx="4848" cy="708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864" y="2048"/>
              <a:ext cx="2496" cy="407"/>
            </a:xfrm>
            <a:prstGeom prst="rect">
              <a:avLst/>
            </a:prstGeom>
            <a:noFill/>
            <a:ln w="349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en-US" sz="1800" b="0" dirty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when (a = </a:t>
              </a:r>
              <a:r>
                <a:rPr lang="en-US" altLang="en-US" sz="1800" b="0" dirty="0">
                  <a:solidFill>
                    <a:srgbClr val="0000CC"/>
                  </a:solidFill>
                  <a:cs typeface="B Mitra" panose="00000400000000000000" pitchFamily="2" charset="-78"/>
                </a:rPr>
                <a:t>“</a:t>
              </a:r>
              <a:r>
                <a:rPr lang="en-US" altLang="en-US" sz="1800" b="0" dirty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1---</a:t>
              </a:r>
              <a:r>
                <a:rPr lang="en-US" altLang="en-US" sz="1800" b="0" dirty="0">
                  <a:solidFill>
                    <a:srgbClr val="0000CC"/>
                  </a:solidFill>
                  <a:cs typeface="B Mitra" panose="00000400000000000000" pitchFamily="2" charset="-78"/>
                </a:rPr>
                <a:t>”</a:t>
              </a:r>
              <a:r>
                <a:rPr lang="en-US" altLang="en-US" sz="1800" b="0" dirty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)</a:t>
              </a:r>
            </a:p>
            <a:p>
              <a:pPr algn="l" eaLnBrk="1" hangingPunct="1">
                <a:spcBef>
                  <a:spcPct val="0"/>
                </a:spcBef>
              </a:pPr>
              <a:r>
                <a:rPr lang="en-US" altLang="en-US" sz="1800" b="0" dirty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    </a:t>
              </a:r>
              <a:r>
                <a:rPr lang="en-US" altLang="en-US" sz="1800" b="0" dirty="0">
                  <a:solidFill>
                    <a:srgbClr val="0000CC"/>
                  </a:solidFill>
                  <a:cs typeface="B Mitra" panose="00000400000000000000" pitchFamily="2" charset="-78"/>
                </a:rPr>
                <a:t>…</a:t>
              </a:r>
              <a:r>
                <a:rPr lang="en-US" altLang="en-US" sz="1800" b="0" dirty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.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8" y="2506"/>
              <a:ext cx="4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r" rtl="1" eaLnBrk="1" hangingPunct="1">
                <a:buFontTx/>
                <a:buChar char="•"/>
              </a:pPr>
              <a:r>
                <a:rPr lang="ar-SA" altLang="en-US" sz="2000" dirty="0">
                  <a:cs typeface="B Mitra" panose="00000400000000000000" pitchFamily="2" charset="-78"/>
                </a:rPr>
                <a:t>اگر مثلاً </a:t>
              </a:r>
              <a:r>
                <a:rPr lang="en-US" altLang="en-US" sz="2000" dirty="0">
                  <a:cs typeface="B Mitra" panose="00000400000000000000" pitchFamily="2" charset="-78"/>
                </a:rPr>
                <a:t>a = “1000” </a:t>
              </a:r>
              <a:r>
                <a:rPr lang="ar-SA" altLang="en-US" sz="2000" dirty="0">
                  <a:cs typeface="B Mitra" panose="00000400000000000000" pitchFamily="2" charset="-78"/>
                </a:rPr>
                <a:t> شود شرط </a:t>
              </a:r>
              <a:r>
                <a:rPr lang="en-US" altLang="en-US" sz="2000" dirty="0">
                  <a:cs typeface="B Mitra" panose="00000400000000000000" pitchFamily="2" charset="-78"/>
                </a:rPr>
                <a:t>TRUE</a:t>
              </a:r>
              <a:r>
                <a:rPr lang="ar-SA" altLang="en-US" sz="2000" dirty="0">
                  <a:cs typeface="B Mitra" panose="00000400000000000000" pitchFamily="2" charset="-78"/>
                </a:rPr>
                <a:t> نمي شود.</a:t>
              </a:r>
              <a:endParaRPr lang="en-US" altLang="en-US" sz="2000" dirty="0">
                <a:cs typeface="B Mitra" panose="00000400000000000000" pitchFamily="2" charset="-78"/>
              </a:endParaRPr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492125" y="3429000"/>
            <a:ext cx="8147051" cy="2222500"/>
            <a:chOff x="-224" y="2966"/>
            <a:chExt cx="5132" cy="1400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-224" y="2966"/>
              <a:ext cx="512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r" rtl="1" eaLnBrk="1" hangingPunct="1">
                <a:buFontTx/>
                <a:buChar char="•"/>
              </a:pPr>
              <a:r>
                <a:rPr lang="ar-SA" altLang="en-US" sz="2000" dirty="0">
                  <a:cs typeface="B Mitra" panose="00000400000000000000" pitchFamily="2" charset="-78"/>
                </a:rPr>
                <a:t>براي اين منظور مي توان از </a:t>
              </a:r>
              <a:r>
                <a:rPr lang="en-US" altLang="en-US" sz="2000" dirty="0" err="1">
                  <a:cs typeface="B Mitra" panose="00000400000000000000" pitchFamily="2" charset="-78"/>
                </a:rPr>
                <a:t>stdmatch</a:t>
              </a:r>
              <a:r>
                <a:rPr lang="en-US" altLang="en-US" sz="2000" dirty="0">
                  <a:cs typeface="B Mitra" panose="00000400000000000000" pitchFamily="2" charset="-78"/>
                </a:rPr>
                <a:t>(s1, s2)</a:t>
              </a:r>
              <a:r>
                <a:rPr lang="ar-SA" altLang="en-US" sz="2000" dirty="0">
                  <a:cs typeface="B Mitra" panose="00000400000000000000" pitchFamily="2" charset="-78"/>
                </a:rPr>
                <a:t> (در پکيج </a:t>
              </a:r>
              <a:r>
                <a:rPr lang="en-US" altLang="en-US" sz="2000" dirty="0" err="1">
                  <a:cs typeface="B Mitra" panose="00000400000000000000" pitchFamily="2" charset="-78"/>
                </a:rPr>
                <a:t>numeric_std</a:t>
              </a:r>
              <a:r>
                <a:rPr lang="fa-IR" altLang="en-US" sz="2000" dirty="0">
                  <a:cs typeface="B Mitra" panose="00000400000000000000" pitchFamily="2" charset="-78"/>
                </a:rPr>
                <a:t>) </a:t>
              </a:r>
              <a:r>
                <a:rPr lang="ar-SA" altLang="en-US" sz="2000" dirty="0">
                  <a:cs typeface="B Mitra" panose="00000400000000000000" pitchFamily="2" charset="-78"/>
                </a:rPr>
                <a:t>استفاده كرد:</a:t>
              </a:r>
              <a:endParaRPr lang="en-US" altLang="en-US" sz="2000" dirty="0">
                <a:cs typeface="B Mitra" panose="00000400000000000000" pitchFamily="2" charset="-78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864" y="3334"/>
              <a:ext cx="2496" cy="407"/>
            </a:xfrm>
            <a:prstGeom prst="rect">
              <a:avLst/>
            </a:prstGeom>
            <a:noFill/>
            <a:ln w="349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when (std</a:t>
              </a:r>
              <a:r>
                <a:rPr lang="fa-IR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_</a:t>
              </a: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match(a,  </a:t>
              </a:r>
              <a:r>
                <a:rPr lang="en-US" altLang="en-US" sz="1800" b="0">
                  <a:solidFill>
                    <a:srgbClr val="0000CC"/>
                  </a:solidFill>
                  <a:cs typeface="B Mitra" panose="00000400000000000000" pitchFamily="2" charset="-78"/>
                </a:rPr>
                <a:t>“</a:t>
              </a: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1---</a:t>
              </a:r>
              <a:r>
                <a:rPr lang="en-US" altLang="en-US" sz="1800" b="0">
                  <a:solidFill>
                    <a:srgbClr val="0000CC"/>
                  </a:solidFill>
                  <a:cs typeface="B Mitra" panose="00000400000000000000" pitchFamily="2" charset="-78"/>
                </a:rPr>
                <a:t>”</a:t>
              </a: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))</a:t>
              </a:r>
            </a:p>
            <a:p>
              <a:pPr algn="l" eaLnBrk="1" hangingPunct="1">
                <a:spcBef>
                  <a:spcPct val="0"/>
                </a:spcBef>
              </a:pP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    </a:t>
              </a:r>
              <a:r>
                <a:rPr lang="en-US" altLang="en-US" sz="1800" b="0">
                  <a:solidFill>
                    <a:srgbClr val="0000CC"/>
                  </a:solidFill>
                  <a:cs typeface="B Mitra" panose="00000400000000000000" pitchFamily="2" charset="-78"/>
                </a:rPr>
                <a:t>…</a:t>
              </a:r>
              <a:r>
                <a:rPr lang="en-US" altLang="en-US" sz="1800" b="0">
                  <a:solidFill>
                    <a:srgbClr val="0000CC"/>
                  </a:solidFill>
                  <a:latin typeface="Helvetica"/>
                  <a:cs typeface="B Mitra" panose="00000400000000000000" pitchFamily="2" charset="-78"/>
                </a:rPr>
                <a:t>.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579" y="3726"/>
              <a:ext cx="2329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r" rtl="1" eaLnBrk="1" hangingPunct="1">
                <a:buFontTx/>
                <a:buChar char="•"/>
              </a:pPr>
              <a:r>
                <a:rPr lang="ar-SA" altLang="en-US" sz="2000" dirty="0">
                  <a:cs typeface="B Mitra" panose="00000400000000000000" pitchFamily="2" charset="-78"/>
                </a:rPr>
                <a:t>همة حالات </a:t>
              </a:r>
              <a:r>
                <a:rPr lang="en-US" altLang="en-US" sz="2000" dirty="0">
                  <a:cs typeface="B Mitra" panose="00000400000000000000" pitchFamily="2" charset="-78"/>
                </a:rPr>
                <a:t>‘-’</a:t>
              </a:r>
              <a:r>
                <a:rPr lang="ar-SA" altLang="en-US" sz="2000" dirty="0">
                  <a:cs typeface="B Mitra" panose="00000400000000000000" pitchFamily="2" charset="-78"/>
                </a:rPr>
                <a:t> را آزمايش مي كند.</a:t>
              </a:r>
              <a:endParaRPr lang="en-US" altLang="en-US" sz="2000" dirty="0">
                <a:cs typeface="B Mitra" panose="00000400000000000000" pitchFamily="2" charset="-78"/>
              </a:endParaRPr>
            </a:p>
            <a:p>
              <a:pPr algn="r" rtl="1" eaLnBrk="1" hangingPunct="1">
                <a:buFontTx/>
                <a:buChar char="•"/>
              </a:pPr>
              <a:r>
                <a:rPr lang="fa-IR" altLang="en-US" sz="2000" dirty="0">
                  <a:cs typeface="B Mitra" panose="00000400000000000000" pitchFamily="2" charset="-78"/>
                </a:rPr>
                <a:t>راه بهتر (</a:t>
              </a:r>
              <a:r>
                <a:rPr lang="en-US" altLang="en-US" sz="2000" dirty="0">
                  <a:cs typeface="B Mitra" panose="00000400000000000000" pitchFamily="2" charset="-78"/>
                </a:rPr>
                <a:t>portable</a:t>
              </a:r>
              <a:r>
                <a:rPr lang="fa-IR" altLang="en-US" sz="2000" dirty="0">
                  <a:cs typeface="B Mitra" panose="00000400000000000000" pitchFamily="2" charset="-78"/>
                </a:rPr>
                <a:t>) : توصیف دقیق:</a:t>
              </a:r>
            </a:p>
            <a:p>
              <a:pPr algn="r" rtl="1" eaLnBrk="1" hangingPunct="1">
                <a:buFontTx/>
                <a:buChar char="•"/>
              </a:pPr>
              <a:endParaRPr lang="en-US" altLang="en-US" sz="2000" dirty="0">
                <a:cs typeface="B Mitra" panose="00000400000000000000" pitchFamily="2" charset="-78"/>
              </a:endParaRPr>
            </a:p>
          </p:txBody>
        </p:sp>
      </p:grp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990600" y="5410200"/>
            <a:ext cx="7696200" cy="744537"/>
            <a:chOff x="48" y="2421"/>
            <a:chExt cx="4848" cy="469"/>
          </a:xfrm>
        </p:grpSpPr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816" y="2421"/>
              <a:ext cx="2496" cy="407"/>
            </a:xfrm>
            <a:prstGeom prst="rect">
              <a:avLst/>
            </a:prstGeom>
            <a:noFill/>
            <a:ln w="349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 rtl="0" eaLnBrk="1" hangingPunct="1">
                <a:spcBef>
                  <a:spcPct val="0"/>
                </a:spcBef>
              </a:pPr>
              <a:r>
                <a:rPr lang="en-US" altLang="en-US" sz="1800" b="0">
                  <a:solidFill>
                    <a:srgbClr val="0000CC"/>
                  </a:solidFill>
                  <a:latin typeface="Helvetica"/>
                </a:rPr>
                <a:t>when (a(3) = ‘1’)</a:t>
              </a:r>
            </a:p>
            <a:p>
              <a:pPr algn="l" rtl="0" eaLnBrk="1" hangingPunct="1">
                <a:spcBef>
                  <a:spcPct val="0"/>
                </a:spcBef>
              </a:pPr>
              <a:r>
                <a:rPr lang="en-US" altLang="en-US" sz="1800" b="0">
                  <a:solidFill>
                    <a:srgbClr val="0000CC"/>
                  </a:solidFill>
                  <a:latin typeface="Helvetica"/>
                </a:rPr>
                <a:t>    </a:t>
              </a:r>
              <a:r>
                <a:rPr lang="en-US" altLang="en-US" sz="1800" b="0">
                  <a:solidFill>
                    <a:srgbClr val="0000CC"/>
                  </a:solidFill>
                </a:rPr>
                <a:t>…</a:t>
              </a:r>
              <a:r>
                <a:rPr lang="en-US" altLang="en-US" sz="1800" b="0">
                  <a:solidFill>
                    <a:srgbClr val="0000CC"/>
                  </a:solidFill>
                  <a:latin typeface="Helvetica"/>
                </a:rPr>
                <a:t>.</a:t>
              </a:r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48" y="2640"/>
              <a:ext cx="4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Char char="•"/>
              </a:pPr>
              <a:endParaRPr lang="en-US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58582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14080</TotalTime>
  <Words>675</Words>
  <Application>Microsoft Office PowerPoint</Application>
  <PresentationFormat>On-screen Show (4:3)</PresentationFormat>
  <Paragraphs>154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Blank Presentation</vt:lpstr>
      <vt:lpstr>Computer-Aided Design    VHDL Notes II</vt:lpstr>
      <vt:lpstr>Subprograms</vt:lpstr>
      <vt:lpstr>Subprograms</vt:lpstr>
      <vt:lpstr>Example of Procedure</vt:lpstr>
      <vt:lpstr>Example of Function</vt:lpstr>
      <vt:lpstr>Subprogram Declaration and Overloading</vt:lpstr>
      <vt:lpstr>Subprogram Declaration and Overloading</vt:lpstr>
      <vt:lpstr>Package Declaration &amp; Body</vt:lpstr>
      <vt:lpstr>Configuration Declaration</vt:lpstr>
      <vt:lpstr>Generic N-bit Adder Using Components </vt:lpstr>
      <vt:lpstr>Generic N-bit Adder Using Components </vt:lpstr>
      <vt:lpstr>Types of Assignment for 'bit' Data Types</vt:lpstr>
      <vt:lpstr>Logical Operations with Arrays</vt:lpstr>
      <vt:lpstr>Comparison Operations with Arrays</vt:lpstr>
      <vt:lpstr>Records</vt:lpstr>
      <vt:lpstr>Records</vt:lpstr>
      <vt:lpstr>Aliases</vt:lpstr>
      <vt:lpstr>Don’t Care</vt:lpstr>
    </vt:vector>
  </TitlesOfParts>
  <Company>EPFL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asus</cp:lastModifiedBy>
  <cp:revision>739</cp:revision>
  <cp:lastPrinted>2018-12-09T20:46:33Z</cp:lastPrinted>
  <dcterms:created xsi:type="dcterms:W3CDTF">2009-11-03T19:03:43Z</dcterms:created>
  <dcterms:modified xsi:type="dcterms:W3CDTF">2019-05-12T20:35:00Z</dcterms:modified>
</cp:coreProperties>
</file>