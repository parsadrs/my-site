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634" r:id="rId2"/>
    <p:sldId id="635" r:id="rId3"/>
    <p:sldId id="636" r:id="rId4"/>
    <p:sldId id="637" r:id="rId5"/>
    <p:sldId id="626" r:id="rId6"/>
    <p:sldId id="619" r:id="rId7"/>
    <p:sldId id="617" r:id="rId8"/>
    <p:sldId id="630" r:id="rId9"/>
    <p:sldId id="631" r:id="rId10"/>
    <p:sldId id="632" r:id="rId11"/>
    <p:sldId id="611" r:id="rId12"/>
    <p:sldId id="627" r:id="rId13"/>
    <p:sldId id="633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65" autoAdjust="0"/>
    <p:restoredTop sz="96405" autoAdjust="0"/>
  </p:normalViewPr>
  <p:slideViewPr>
    <p:cSldViewPr>
      <p:cViewPr varScale="1">
        <p:scale>
          <a:sx n="126" d="100"/>
          <a:sy n="126" d="100"/>
        </p:scale>
        <p:origin x="170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9" d="100"/>
          <a:sy n="99" d="100"/>
        </p:scale>
        <p:origin x="-266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1F03B7-E3BF-40F2-ADDC-6E1D7F1CA8D5}" type="datetimeFigureOut">
              <a:rPr lang="en-US" smtClean="0"/>
              <a:pPr/>
              <a:t>10/20/19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D3AD05-09B9-40E3-AE39-E644A0E36E7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95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-64" charset="-128"/>
              </a:defRPr>
            </a:lvl1pPr>
          </a:lstStyle>
          <a:p>
            <a:pPr>
              <a:defRPr/>
            </a:pPr>
            <a:fld id="{00AFF51F-A535-4BB3-9A7D-F6E9C3D0AB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667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6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363DD2-35CD-4EE1-8D23-F5E51EE2026C}" type="slidenum">
              <a:rPr lang="en-US" smtClean="0">
                <a:ea typeface="ＭＳ Ｐゴシック" pitchFamily="34" charset="-128"/>
              </a:rPr>
              <a:pPr/>
              <a:t>1</a:t>
            </a:fld>
            <a:endParaRPr lang="en-US">
              <a:ea typeface="ＭＳ Ｐゴシック" pitchFamily="34" charset="-128"/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4213"/>
            <a:ext cx="4572000" cy="3429000"/>
          </a:xfrm>
          <a:solidFill>
            <a:srgbClr val="FFFFFF"/>
          </a:solidFill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1813"/>
            <a:ext cx="5486400" cy="411797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86493" tIns="43247" rIns="86493" bIns="43247"/>
          <a:lstStyle/>
          <a:p>
            <a:pPr eaLnBrk="1" hangingPunct="1"/>
            <a:endParaRPr lang="en-US">
              <a:ea typeface="ＭＳ Ｐゴシック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47800"/>
            <a:ext cx="77724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00800"/>
            <a:ext cx="2895600" cy="457200"/>
          </a:xfrm>
          <a:ln/>
        </p:spPr>
        <p:txBody>
          <a:bodyPr anchor="ctr"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8" name="Line 7"/>
          <p:cNvSpPr>
            <a:spLocks noChangeShapeType="1"/>
          </p:cNvSpPr>
          <p:nvPr userDrawn="1"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ea typeface="ＭＳ Ｐゴシック" pitchFamily="-64" charset="-128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848600" y="6248400"/>
            <a:ext cx="609600" cy="457200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035BB-E83D-4AE3-B588-6367177E4C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" name="Rectangle 5"/>
          <p:cNvSpPr txBox="1">
            <a:spLocks noChangeArrowheads="1"/>
          </p:cNvSpPr>
          <p:nvPr userDrawn="1"/>
        </p:nvSpPr>
        <p:spPr bwMode="auto">
          <a:xfrm>
            <a:off x="76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Arial" charset="0"/>
                <a:ea typeface="ＭＳ Ｐゴシック" pitchFamily="-64" charset="-128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ＭＳ Ｐゴシック" pitchFamily="34" charset="-128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CAD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C6B078-E125-4DAE-82C9-FB5092426F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AE13A-4373-4A10-BF50-1216A6DA4B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773B77-06D6-496A-AF15-B301F6359E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B7CDAC-F5ED-4CF5-A040-46BD3FD9F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71EB1-DEE5-4D2D-8A66-35542A031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BF3FD-ABE3-474C-887C-A20A0AC880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D3FA32-19A7-4689-86E1-488491BC67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B5F6F7-0353-42FD-B0B9-3AA415C0A8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1943100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0"/>
            <a:ext cx="56769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October 31, 2014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CE2495-6C37-4148-B092-2BA900427C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/>
              <a:t>November 12, 2010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r>
              <a:rPr lang="en-US" dirty="0"/>
              <a:t>Mahdi Aminian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ＭＳ Ｐゴシック" pitchFamily="-64" charset="-128"/>
              </a:defRPr>
            </a:lvl1pPr>
          </a:lstStyle>
          <a:p>
            <a:pPr>
              <a:defRPr/>
            </a:pPr>
            <a:fld id="{141EC098-193F-4E7D-8F63-132E3FF025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pitchFamily="-6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D:\Documents\Courses\BSc_Hardware Modeling (BS)\Slides\Photos\processor-2217771_960_72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004887"/>
            <a:ext cx="8915400" cy="501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838200"/>
            <a:ext cx="9144000" cy="3733800"/>
          </a:xfrm>
        </p:spPr>
        <p:txBody>
          <a:bodyPr/>
          <a:lstStyle/>
          <a:p>
            <a:pPr lvl="1" eaLnBrk="1" hangingPunct="1"/>
            <a:b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>Computer-Aided Design</a:t>
            </a:r>
            <a:b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</a:br>
            <a:b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</a:br>
            <a:br>
              <a:rPr lang="fa-IR" sz="4800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  <a:t>Instantiation &amp;</a:t>
            </a:r>
            <a:br>
              <a:rPr lang="en-US" sz="4800" b="1" dirty="0">
                <a:solidFill>
                  <a:schemeClr val="bg1"/>
                </a:solidFill>
                <a:cs typeface="Times New Roman" pitchFamily="18" charset="0"/>
              </a:rPr>
            </a:br>
            <a:r>
              <a:rPr lang="en-US" sz="4800" b="1" dirty="0" err="1">
                <a:solidFill>
                  <a:schemeClr val="bg1"/>
                </a:solidFill>
                <a:cs typeface="Times New Roman" pitchFamily="18" charset="0"/>
              </a:rPr>
              <a:t>Testbench</a:t>
            </a:r>
            <a:endParaRPr lang="en-US" sz="4800" b="1" dirty="0">
              <a:solidFill>
                <a:schemeClr val="bg1"/>
              </a:solidFill>
              <a:cs typeface="B Mitra" panose="00000400000000000000" pitchFamily="2" charset="-78"/>
            </a:endParaRPr>
          </a:p>
        </p:txBody>
      </p:sp>
      <p:pic>
        <p:nvPicPr>
          <p:cNvPr id="10" name="Picture 9" descr="https://www.guilan.ac.ir/images/fa2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51691"/>
            <a:ext cx="3200400" cy="80630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78630" y="5562600"/>
            <a:ext cx="8177213" cy="609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>
                <a:solidFill>
                  <a:schemeClr val="bg1"/>
                </a:solidFill>
                <a:cs typeface="Times New Roman" pitchFamily="18" charset="0"/>
              </a:rPr>
              <a:t>Mahdi Aminian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6135469"/>
            <a:ext cx="4800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Some slides courtesy of: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“Hardware Systems Modeling”, A. </a:t>
            </a:r>
            <a:r>
              <a:rPr lang="en-US" sz="1400" dirty="0" err="1"/>
              <a:t>Vachoux</a:t>
            </a:r>
            <a:r>
              <a:rPr lang="en-US" sz="1400" dirty="0"/>
              <a:t>, EPFL 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CAD slides from Dr. </a:t>
            </a:r>
            <a:r>
              <a:rPr lang="en-US" sz="1400" dirty="0" err="1"/>
              <a:t>Saheb</a:t>
            </a:r>
            <a:r>
              <a:rPr lang="en-US" sz="1400" dirty="0"/>
              <a:t> </a:t>
            </a:r>
            <a:r>
              <a:rPr lang="en-US" sz="1400" dirty="0" err="1"/>
              <a:t>Zamani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04263774"/>
      </p:ext>
    </p:extLst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4-bit Ripple-Carry Adder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0" y="1295400"/>
            <a:ext cx="63119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505200"/>
            <a:ext cx="6750694" cy="235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7093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4-bit Ripple-Carry Adder: </a:t>
            </a:r>
            <a:br>
              <a:rPr lang="en-US" sz="3600" dirty="0"/>
            </a:br>
            <a:r>
              <a:rPr lang="en-US" sz="3600" dirty="0"/>
              <a:t>Dataflow Architecture (1)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09254"/>
            <a:ext cx="8229600" cy="3986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998693"/>
            <a:ext cx="25908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486525"/>
            <a:ext cx="78009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322231"/>
            <a:ext cx="4953000" cy="1674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7748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4-bit Ripple-Carry Adder: </a:t>
            </a:r>
            <a:br>
              <a:rPr lang="en-US" sz="3600" dirty="0"/>
            </a:br>
            <a:r>
              <a:rPr lang="en-US" sz="3600" dirty="0"/>
              <a:t>Dataflow Architecture (2)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95400"/>
            <a:ext cx="9067800" cy="2787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4114800"/>
            <a:ext cx="7429500" cy="2243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1143001"/>
            <a:ext cx="4491862" cy="1518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068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2800" dirty="0"/>
              <a:t>Component Declaration / Component Instantiation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19200"/>
            <a:ext cx="7192116" cy="387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510" y="5095875"/>
            <a:ext cx="748989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84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1-Bit Full Adder: </a:t>
            </a:r>
            <a:br>
              <a:rPr lang="en-US" sz="4000" dirty="0"/>
            </a:br>
            <a:r>
              <a:rPr lang="en-US" sz="4000" dirty="0"/>
              <a:t>Structural Architecture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52399" y="1600200"/>
            <a:ext cx="5410201" cy="4524315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60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Architecture </a:t>
            </a:r>
            <a:r>
              <a:rPr lang="en-US" sz="1600" b="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Structural </a:t>
            </a:r>
            <a:r>
              <a:rPr lang="en-US" sz="160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of</a:t>
            </a:r>
            <a:r>
              <a:rPr lang="en-US" sz="1600" b="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 adder4 </a:t>
            </a:r>
            <a:r>
              <a:rPr lang="en-US" sz="160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is</a:t>
            </a:r>
            <a:br>
              <a:rPr lang="en-US" sz="160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</a:br>
            <a:r>
              <a:rPr lang="en-US" sz="160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   signal</a:t>
            </a:r>
            <a:r>
              <a:rPr lang="en-US" sz="1600" b="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 Ci : </a:t>
            </a:r>
            <a:r>
              <a:rPr lang="en-US" sz="1600" b="0" dirty="0" err="1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std_logic_vector</a:t>
            </a:r>
            <a:r>
              <a:rPr lang="en-US" sz="1600" b="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 (3 </a:t>
            </a:r>
            <a:r>
              <a:rPr lang="en-US" sz="1600" b="0" dirty="0" err="1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downto</a:t>
            </a:r>
            <a:r>
              <a:rPr lang="en-US" sz="1600" b="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 1);</a:t>
            </a:r>
          </a:p>
          <a:p>
            <a:pPr algn="l" rtl="0" eaLnBrk="1" hangingPunct="1"/>
            <a:r>
              <a:rPr lang="en-US" sz="160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begin</a:t>
            </a:r>
            <a:r>
              <a:rPr lang="en-US" sz="1600" b="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   </a:t>
            </a:r>
          </a:p>
          <a:p>
            <a:pPr algn="l" rtl="0" eaLnBrk="1" hangingPunct="1"/>
            <a:r>
              <a:rPr lang="en-US" sz="1600" b="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   Add0: entity work.fadd1(</a:t>
            </a:r>
            <a:r>
              <a:rPr lang="en-US" sz="1600" b="0" dirty="0" err="1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dfl</a:t>
            </a:r>
            <a:r>
              <a:rPr lang="en-US" sz="1600" b="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)</a:t>
            </a:r>
          </a:p>
          <a:p>
            <a:pPr algn="l" rtl="0" eaLnBrk="1" hangingPunct="1"/>
            <a:r>
              <a:rPr lang="en-US" sz="1600" b="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          </a:t>
            </a:r>
            <a:r>
              <a:rPr lang="en-US" sz="160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port map</a:t>
            </a:r>
            <a:r>
              <a:rPr lang="en-US" sz="1600" b="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 (</a:t>
            </a:r>
            <a:r>
              <a:rPr lang="en-US" sz="1600" b="0" dirty="0" err="1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opa</a:t>
            </a:r>
            <a:r>
              <a:rPr lang="en-US" sz="1600" b="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=&gt;a(0), </a:t>
            </a:r>
            <a:r>
              <a:rPr lang="en-US" sz="1600" b="0" dirty="0" err="1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opb</a:t>
            </a:r>
            <a:r>
              <a:rPr lang="en-US" sz="1600" b="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=&gt;b(0),</a:t>
            </a:r>
          </a:p>
          <a:p>
            <a:pPr algn="l" rtl="0" eaLnBrk="1" hangingPunct="1"/>
            <a:r>
              <a:rPr lang="en-US" sz="1600" b="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                          </a:t>
            </a:r>
            <a:r>
              <a:rPr lang="en-US" sz="1600" b="0" dirty="0" err="1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cin</a:t>
            </a:r>
            <a:r>
              <a:rPr lang="en-US" sz="1600" b="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=&gt;</a:t>
            </a:r>
            <a:r>
              <a:rPr lang="en-US" sz="1600" b="0" dirty="0" err="1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cin</a:t>
            </a:r>
            <a:r>
              <a:rPr lang="en-US" sz="1600" b="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, sum=&gt; sum(0),</a:t>
            </a:r>
            <a:r>
              <a:rPr lang="en-US" sz="1600" b="0" dirty="0" err="1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cout</a:t>
            </a:r>
            <a:r>
              <a:rPr lang="en-US" sz="1600" b="0" dirty="0">
                <a:solidFill>
                  <a:srgbClr val="0000CC"/>
                </a:solidFill>
                <a:latin typeface="+mj-lt"/>
                <a:cs typeface="Times New Roman" panose="02020603050405020304" pitchFamily="18" charset="0"/>
              </a:rPr>
              <a:t>=&gt;Ci(1) );</a:t>
            </a:r>
          </a:p>
          <a:p>
            <a:pPr algn="l" rtl="0" eaLnBrk="1" hangingPunct="1"/>
            <a:endParaRPr lang="en-US" sz="1600" b="0" dirty="0">
              <a:solidFill>
                <a:srgbClr val="0000CC"/>
              </a:solidFill>
              <a:latin typeface="+mj-lt"/>
              <a:cs typeface="Times New Roman" panose="02020603050405020304" pitchFamily="18" charset="0"/>
            </a:endParaRPr>
          </a:p>
          <a:p>
            <a:pPr lvl="0" eaLnBrk="1" hangingPunct="1"/>
            <a:r>
              <a:rPr lang="en-US" sz="1600" b="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   Add1: entity work.fadd1(</a:t>
            </a:r>
            <a:r>
              <a:rPr lang="en-US" sz="1600" b="0" dirty="0" err="1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dfl</a:t>
            </a:r>
            <a:r>
              <a:rPr lang="en-US" sz="1600" b="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)</a:t>
            </a:r>
          </a:p>
          <a:p>
            <a:pPr lvl="0" eaLnBrk="1" hangingPunct="1"/>
            <a:r>
              <a:rPr lang="en-US" sz="1600" b="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            </a:t>
            </a:r>
            <a:r>
              <a:rPr lang="en-US" sz="160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port map</a:t>
            </a:r>
            <a:r>
              <a:rPr lang="en-US" sz="1600" b="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 (a(1), b(1), Ci(1), sum(1),Ci(2) );</a:t>
            </a:r>
            <a:endParaRPr lang="en-US" sz="1600" b="0" dirty="0">
              <a:solidFill>
                <a:srgbClr val="0000CC"/>
              </a:solidFill>
              <a:latin typeface="+mj-lt"/>
              <a:cs typeface="Times New Roman" panose="02020603050405020304" pitchFamily="18" charset="0"/>
            </a:endParaRPr>
          </a:p>
          <a:p>
            <a:pPr lvl="0" eaLnBrk="1" hangingPunct="1"/>
            <a:endParaRPr lang="en-US" sz="1600" b="0" dirty="0">
              <a:solidFill>
                <a:srgbClr val="0000CC"/>
              </a:solidFill>
              <a:latin typeface="Arial"/>
              <a:cs typeface="Times New Roman" panose="02020603050405020304" pitchFamily="18" charset="0"/>
            </a:endParaRPr>
          </a:p>
          <a:p>
            <a:pPr lvl="0" eaLnBrk="1" hangingPunct="1"/>
            <a:r>
              <a:rPr lang="en-US" sz="1600" b="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   Add2: entity work.fadd1(</a:t>
            </a:r>
            <a:r>
              <a:rPr lang="en-US" sz="1600" b="0" dirty="0" err="1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dfl</a:t>
            </a:r>
            <a:r>
              <a:rPr lang="en-US" sz="1600" b="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)</a:t>
            </a:r>
          </a:p>
          <a:p>
            <a:pPr lvl="0" eaLnBrk="1" hangingPunct="1"/>
            <a:r>
              <a:rPr lang="en-US" sz="1600" b="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            </a:t>
            </a:r>
            <a:r>
              <a:rPr lang="en-US" sz="160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port map</a:t>
            </a:r>
            <a:r>
              <a:rPr lang="en-US" sz="1600" b="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 (</a:t>
            </a:r>
            <a:r>
              <a:rPr lang="en-US" sz="1600" b="0" dirty="0" err="1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opb</a:t>
            </a:r>
            <a:r>
              <a:rPr lang="en-US" sz="1600" b="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=&gt;b(2), </a:t>
            </a:r>
            <a:r>
              <a:rPr lang="en-US" sz="1600" b="0" dirty="0" err="1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opa</a:t>
            </a:r>
            <a:r>
              <a:rPr lang="en-US" sz="1600" b="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=&gt;a(2), </a:t>
            </a:r>
          </a:p>
          <a:p>
            <a:pPr lvl="0" eaLnBrk="1" hangingPunct="1"/>
            <a:r>
              <a:rPr lang="en-US" sz="1600" b="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                          </a:t>
            </a:r>
            <a:r>
              <a:rPr lang="en-US" sz="1600" b="0" dirty="0" err="1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cin</a:t>
            </a:r>
            <a:r>
              <a:rPr lang="en-US" sz="1600" b="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=&gt;Ci(2), </a:t>
            </a:r>
            <a:r>
              <a:rPr lang="en-US" sz="1600" b="0" dirty="0" err="1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cout</a:t>
            </a:r>
            <a:r>
              <a:rPr lang="en-US" sz="1600" b="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=&gt;Ci(3), sum=&gt; sum(2) );</a:t>
            </a:r>
            <a:endParaRPr lang="en-US" sz="1600" b="0" dirty="0">
              <a:solidFill>
                <a:srgbClr val="0000CC"/>
              </a:solidFill>
              <a:cs typeface="Times New Roman" panose="02020603050405020304" pitchFamily="18" charset="0"/>
            </a:endParaRPr>
          </a:p>
          <a:p>
            <a:pPr algn="l" rtl="0" eaLnBrk="1" hangingPunct="1"/>
            <a:endParaRPr lang="en-US" sz="1600" b="0" dirty="0">
              <a:solidFill>
                <a:srgbClr val="0000CC"/>
              </a:solidFill>
              <a:latin typeface="+mj-lt"/>
              <a:cs typeface="Times New Roman" panose="02020603050405020304" pitchFamily="18" charset="0"/>
            </a:endParaRPr>
          </a:p>
          <a:p>
            <a:pPr lvl="0" eaLnBrk="1" hangingPunct="1"/>
            <a:r>
              <a:rPr lang="en-US" sz="1600" b="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    Add3: entity work.fadd1(</a:t>
            </a:r>
            <a:r>
              <a:rPr lang="en-US" sz="1600" b="0" dirty="0" err="1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dfl</a:t>
            </a:r>
            <a:r>
              <a:rPr lang="en-US" sz="1600" b="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)</a:t>
            </a:r>
          </a:p>
          <a:p>
            <a:pPr lvl="0" eaLnBrk="1" hangingPunct="1"/>
            <a:r>
              <a:rPr lang="en-US" sz="1600" b="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            </a:t>
            </a:r>
            <a:r>
              <a:rPr lang="en-US" sz="160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port map</a:t>
            </a:r>
            <a:r>
              <a:rPr lang="en-US" sz="1600" b="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 (a(3), b(3), Ci(3), sum(3),</a:t>
            </a:r>
            <a:r>
              <a:rPr lang="en-US" sz="1600" b="0" dirty="0" err="1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Cout</a:t>
            </a:r>
            <a:r>
              <a:rPr lang="en-US" sz="1600" b="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 );</a:t>
            </a:r>
          </a:p>
          <a:p>
            <a:pPr lvl="0" eaLnBrk="1" hangingPunct="1"/>
            <a:endParaRPr lang="en-US" sz="1600" b="0" dirty="0">
              <a:solidFill>
                <a:srgbClr val="0000CC"/>
              </a:solidFill>
              <a:latin typeface="Arial"/>
              <a:cs typeface="Times New Roman" panose="02020603050405020304" pitchFamily="18" charset="0"/>
            </a:endParaRPr>
          </a:p>
          <a:p>
            <a:pPr lvl="0" eaLnBrk="1" hangingPunct="1"/>
            <a:r>
              <a:rPr lang="en-US" sz="160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end architecture</a:t>
            </a:r>
            <a:r>
              <a:rPr lang="en-US" sz="1600" b="0" dirty="0">
                <a:solidFill>
                  <a:srgbClr val="0000CC"/>
                </a:solidFill>
                <a:latin typeface="Arial"/>
                <a:cs typeface="Times New Roman" panose="02020603050405020304" pitchFamily="18" charset="0"/>
              </a:rPr>
              <a:t> structural;</a:t>
            </a:r>
            <a:endParaRPr lang="en-US" sz="1600" b="0" dirty="0">
              <a:solidFill>
                <a:srgbClr val="0000CC"/>
              </a:solidFill>
              <a:cs typeface="Times New Roman" panose="02020603050405020304" pitchFamily="18" charset="0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900" y="1666875"/>
            <a:ext cx="3381375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6850" y="4962525"/>
            <a:ext cx="3829050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371850"/>
            <a:ext cx="3743325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724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Testbench</a:t>
            </a:r>
            <a:r>
              <a:rPr lang="en-US" dirty="0"/>
              <a:t> Model Architecture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219200"/>
            <a:ext cx="6024563" cy="3917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3" y="5136479"/>
            <a:ext cx="2281237" cy="1113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5105400"/>
            <a:ext cx="2800350" cy="930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135822"/>
            <a:ext cx="2295099" cy="883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6401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Testbench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pic>
        <p:nvPicPr>
          <p:cNvPr id="6" name="Picture 5" descr="t_4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1752599"/>
            <a:ext cx="3200400" cy="356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381000" y="1905000"/>
            <a:ext cx="4876800" cy="3505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lnSpc>
                <a:spcPct val="150000"/>
              </a:lnSpc>
              <a:spcBef>
                <a:spcPct val="10000"/>
              </a:spcBef>
              <a:buFontTx/>
              <a:buChar char="•"/>
            </a:pPr>
            <a:r>
              <a:rPr lang="en-US" sz="1800" dirty="0"/>
              <a:t>VHDL code for top level </a:t>
            </a:r>
          </a:p>
          <a:p>
            <a:pPr algn="l" rtl="0" eaLnBrk="1" hangingPunct="1">
              <a:lnSpc>
                <a:spcPct val="150000"/>
              </a:lnSpc>
              <a:spcBef>
                <a:spcPct val="10000"/>
              </a:spcBef>
              <a:buFontTx/>
              <a:buChar char="•"/>
            </a:pPr>
            <a:r>
              <a:rPr lang="en-US" sz="1800" dirty="0"/>
              <a:t>No interface signals </a:t>
            </a:r>
          </a:p>
          <a:p>
            <a:pPr algn="l" rtl="0" eaLnBrk="1" hangingPunct="1">
              <a:lnSpc>
                <a:spcPct val="150000"/>
              </a:lnSpc>
              <a:spcBef>
                <a:spcPct val="10000"/>
              </a:spcBef>
              <a:buFontTx/>
              <a:buChar char="•"/>
            </a:pPr>
            <a:r>
              <a:rPr lang="en-US" sz="1800" dirty="0"/>
              <a:t>Instantiation of design </a:t>
            </a:r>
          </a:p>
          <a:p>
            <a:pPr algn="l" rtl="0" eaLnBrk="1" hangingPunct="1">
              <a:lnSpc>
                <a:spcPct val="150000"/>
              </a:lnSpc>
              <a:spcBef>
                <a:spcPct val="10000"/>
              </a:spcBef>
              <a:buFontTx/>
              <a:buChar char="•"/>
            </a:pPr>
            <a:r>
              <a:rPr lang="en-US" sz="1800" dirty="0"/>
              <a:t>Statements for stimuli generation </a:t>
            </a:r>
          </a:p>
          <a:p>
            <a:pPr algn="l" rtl="0" eaLnBrk="1" hangingPunct="1">
              <a:lnSpc>
                <a:spcPct val="150000"/>
              </a:lnSpc>
              <a:spcBef>
                <a:spcPct val="10000"/>
              </a:spcBef>
              <a:buFontTx/>
              <a:buChar char="•"/>
            </a:pPr>
            <a:r>
              <a:rPr lang="en-US" sz="1800" dirty="0"/>
              <a:t>Simple </a:t>
            </a:r>
            <a:r>
              <a:rPr lang="en-US" sz="1800" dirty="0" err="1"/>
              <a:t>testbenches</a:t>
            </a:r>
            <a:r>
              <a:rPr lang="en-US" sz="1800" dirty="0"/>
              <a:t>: response analysis by waveform inspection </a:t>
            </a:r>
          </a:p>
          <a:p>
            <a:pPr algn="l" rtl="0" eaLnBrk="1" hangingPunct="1">
              <a:lnSpc>
                <a:spcPct val="150000"/>
              </a:lnSpc>
              <a:spcBef>
                <a:spcPct val="10000"/>
              </a:spcBef>
              <a:buFontTx/>
              <a:buChar char="•"/>
            </a:pPr>
            <a:r>
              <a:rPr lang="en-US" sz="1800" dirty="0"/>
              <a:t>Sophisticated </a:t>
            </a:r>
            <a:r>
              <a:rPr lang="en-US" sz="1800" dirty="0" err="1"/>
              <a:t>testbenches</a:t>
            </a:r>
            <a:r>
              <a:rPr lang="en-US" sz="1800" dirty="0"/>
              <a:t> may need &gt;50% of complete project resources </a:t>
            </a:r>
          </a:p>
        </p:txBody>
      </p:sp>
    </p:spTree>
    <p:extLst>
      <p:ext uri="{BB962C8B-B14F-4D97-AF65-F5344CB8AC3E}">
        <p14:creationId xmlns:p14="http://schemas.microsoft.com/office/powerpoint/2010/main" val="290629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Basic Structure of a VHDL </a:t>
            </a:r>
            <a:r>
              <a:rPr lang="en-US" sz="4000" dirty="0" err="1"/>
              <a:t>Testbench</a:t>
            </a:r>
            <a:r>
              <a:rPr lang="en-US" sz="4000" dirty="0"/>
              <a:t> Model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19200"/>
            <a:ext cx="539115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320" y="1333500"/>
            <a:ext cx="302895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802" y="5185141"/>
            <a:ext cx="7720013" cy="1556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584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</a:t>
            </a:r>
            <a:r>
              <a:rPr lang="en-US" dirty="0" err="1"/>
              <a:t>Testbench</a:t>
            </a:r>
            <a:r>
              <a:rPr lang="en-US" dirty="0"/>
              <a:t> 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04800" y="1433513"/>
            <a:ext cx="2971800" cy="305435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/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entity ADDER IS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port (A,B : </a:t>
            </a:r>
            <a:r>
              <a:rPr lang="en-US" sz="1600" b="0" dirty="0">
                <a:solidFill>
                  <a:srgbClr val="0000CC"/>
                </a:solidFill>
              </a:rPr>
              <a:t>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in </a:t>
            </a:r>
            <a:r>
              <a:rPr lang="en-US" sz="1600" b="0" dirty="0">
                <a:solidFill>
                  <a:srgbClr val="0000CC"/>
                </a:solidFill>
              </a:rPr>
              <a:t>  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bit;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        CARRY,SUM : out bit);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end ADDER;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architecture RTL of ADDER is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begin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ADD: process (A,B)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begin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   SUM &lt;= A </a:t>
            </a:r>
            <a:r>
              <a:rPr lang="en-US" sz="1600" b="0" dirty="0" err="1">
                <a:solidFill>
                  <a:srgbClr val="0000CC"/>
                </a:solidFill>
                <a:latin typeface="Helvetica" pitchFamily="34" charset="0"/>
              </a:rPr>
              <a:t>xor</a:t>
            </a: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B;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  CARRY &lt;= A and B;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   end process ADD;</a:t>
            </a:r>
            <a:b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600" b="0" dirty="0">
                <a:solidFill>
                  <a:srgbClr val="0000CC"/>
                </a:solidFill>
                <a:latin typeface="Helvetica" pitchFamily="34" charset="0"/>
              </a:rPr>
              <a:t>end RTL;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3429000" y="1295400"/>
            <a:ext cx="5029200" cy="5226050"/>
          </a:xfrm>
          <a:prstGeom prst="rect">
            <a:avLst/>
          </a:prstGeom>
          <a:noFill/>
          <a:ln w="285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5pPr>
            <a:lvl6pPr marL="25146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6pPr>
            <a:lvl7pPr marL="29718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7pPr>
            <a:lvl8pPr marL="34290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8pPr>
            <a:lvl9pPr marL="3886200" indent="-228600" algn="r" rtl="1" eaLnBrk="0" fontAlgn="base" hangingPunct="0">
              <a:spcBef>
                <a:spcPct val="5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itchFamily="18" charset="0"/>
                <a:cs typeface="Lotus" pitchFamily="2" charset="-78"/>
              </a:defRPr>
            </a:lvl9pPr>
          </a:lstStyle>
          <a:p>
            <a:pPr algn="l" rtl="0" eaLnBrk="1" hangingPunct="1">
              <a:spcBef>
                <a:spcPct val="0"/>
              </a:spcBef>
            </a:pP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entity TB_ADDER IS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end TB_ADDER;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architecture TEST of TB_ADDER is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</a:rPr>
              <a:t>  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component ADDER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       port (A, B: </a:t>
            </a:r>
            <a:r>
              <a:rPr lang="en-US" sz="1400" b="0">
                <a:solidFill>
                  <a:srgbClr val="0000CC"/>
                </a:solidFill>
              </a:rPr>
              <a:t>              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in </a:t>
            </a:r>
            <a:r>
              <a:rPr lang="en-US" sz="1400" b="0">
                <a:solidFill>
                  <a:srgbClr val="0000CC"/>
                </a:solidFill>
              </a:rPr>
              <a:t> 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bit;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           CARRY, SUM: out bit);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</a:rPr>
              <a:t>   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end component;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</a:rPr>
              <a:t>   </a:t>
            </a:r>
            <a:r>
              <a:rPr lang="en-US" sz="1400">
                <a:solidFill>
                  <a:srgbClr val="0000CC"/>
                </a:solidFill>
                <a:latin typeface="Helvetica" pitchFamily="34" charset="0"/>
              </a:rPr>
              <a:t>signal A_I, B_I, CARRY_I, SUM_I : bit</a:t>
            </a: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begin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>
                <a:solidFill>
                  <a:srgbClr val="0000CC"/>
                </a:solidFill>
              </a:rPr>
              <a:t>   </a:t>
            </a:r>
            <a:r>
              <a:rPr lang="en-US" sz="1400">
                <a:solidFill>
                  <a:srgbClr val="6600CC"/>
                </a:solidFill>
                <a:latin typeface="Helvetica" pitchFamily="34" charset="0"/>
              </a:rPr>
              <a:t>DUT: ADDER port map (A_I, B_I, CARRY_I, SUM_I);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9900"/>
                </a:solidFill>
              </a:rPr>
              <a:t>  </a:t>
            </a:r>
            <a:r>
              <a:rPr lang="en-US" sz="1400" b="0">
                <a:solidFill>
                  <a:srgbClr val="009900"/>
                </a:solidFill>
                <a:latin typeface="Helvetica" pitchFamily="34" charset="0"/>
              </a:rPr>
              <a:t>STIMULUS: process</a:t>
            </a:r>
            <a:br>
              <a:rPr lang="en-US" sz="1400" b="0">
                <a:solidFill>
                  <a:srgbClr val="009900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9900"/>
                </a:solidFill>
              </a:rPr>
              <a:t>   </a:t>
            </a:r>
            <a:r>
              <a:rPr lang="en-US" sz="1400" b="0">
                <a:solidFill>
                  <a:srgbClr val="009900"/>
                </a:solidFill>
                <a:latin typeface="Helvetica" pitchFamily="34" charset="0"/>
              </a:rPr>
              <a:t>begin</a:t>
            </a:r>
            <a:br>
              <a:rPr lang="en-US" sz="1400" b="0">
                <a:solidFill>
                  <a:srgbClr val="009900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9900"/>
                </a:solidFill>
              </a:rPr>
              <a:t>      </a:t>
            </a:r>
            <a:r>
              <a:rPr lang="en-US" sz="1400" b="0">
                <a:solidFill>
                  <a:srgbClr val="009900"/>
                </a:solidFill>
                <a:latin typeface="Helvetica" pitchFamily="34" charset="0"/>
              </a:rPr>
              <a:t>A_I &lt;= ´1´; B_I &lt;= ´0´;</a:t>
            </a:r>
            <a:br>
              <a:rPr lang="en-US" sz="1400" b="0">
                <a:solidFill>
                  <a:srgbClr val="009900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9900"/>
                </a:solidFill>
              </a:rPr>
              <a:t>      </a:t>
            </a:r>
            <a:r>
              <a:rPr lang="en-US" sz="1400" b="0">
                <a:solidFill>
                  <a:srgbClr val="009900"/>
                </a:solidFill>
                <a:latin typeface="Helvetica" pitchFamily="34" charset="0"/>
              </a:rPr>
              <a:t>wait for 10 ns;</a:t>
            </a:r>
            <a:br>
              <a:rPr lang="en-US" sz="1400" b="0">
                <a:solidFill>
                  <a:srgbClr val="009900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9900"/>
                </a:solidFill>
              </a:rPr>
              <a:t>      </a:t>
            </a:r>
            <a:r>
              <a:rPr lang="en-US" sz="1400" b="0">
                <a:solidFill>
                  <a:srgbClr val="009900"/>
                </a:solidFill>
                <a:latin typeface="Helvetica" pitchFamily="34" charset="0"/>
              </a:rPr>
              <a:t>A_I &lt;= ´1´; B_I &lt;= ´1´;</a:t>
            </a:r>
            <a:br>
              <a:rPr lang="en-US" sz="1400" b="0">
                <a:solidFill>
                  <a:srgbClr val="009900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9900"/>
                </a:solidFill>
              </a:rPr>
              <a:t>      </a:t>
            </a:r>
            <a:r>
              <a:rPr lang="en-US" sz="1400" b="0">
                <a:solidFill>
                  <a:srgbClr val="009900"/>
                </a:solidFill>
                <a:latin typeface="Helvetica" pitchFamily="34" charset="0"/>
              </a:rPr>
              <a:t>wait for 10 ns;</a:t>
            </a:r>
            <a:br>
              <a:rPr lang="en-US" sz="1400" b="0">
                <a:solidFill>
                  <a:srgbClr val="009900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9900"/>
                </a:solidFill>
              </a:rPr>
              <a:t>      </a:t>
            </a:r>
            <a:r>
              <a:rPr lang="en-US" sz="1400" b="0">
                <a:solidFill>
                  <a:srgbClr val="009900"/>
                </a:solidFill>
                <a:latin typeface="Helvetica" pitchFamily="34" charset="0"/>
              </a:rPr>
              <a:t>-- and so on ...</a:t>
            </a:r>
            <a:br>
              <a:rPr lang="en-US" sz="1400" b="0">
                <a:solidFill>
                  <a:srgbClr val="009900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9900"/>
                </a:solidFill>
              </a:rPr>
              <a:t>   </a:t>
            </a:r>
            <a:r>
              <a:rPr lang="en-US" sz="1400" b="0">
                <a:solidFill>
                  <a:srgbClr val="009900"/>
                </a:solidFill>
                <a:latin typeface="Helvetica" pitchFamily="34" charset="0"/>
              </a:rPr>
              <a:t>end process STIMULUS;</a:t>
            </a:r>
            <a:br>
              <a:rPr lang="en-US" sz="1400" b="0">
                <a:solidFill>
                  <a:srgbClr val="009900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end TEST;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configuration CFG_TB_ADDER of TB_ADDER is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for TEST</a:t>
            </a:r>
          </a:p>
          <a:p>
            <a:pPr algn="l" rtl="0" eaLnBrk="1" hangingPunct="1">
              <a:spcBef>
                <a:spcPct val="0"/>
              </a:spcBef>
            </a:pP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   for DUT:ADDER use entity work.ADDER(RTL);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end for;</a:t>
            </a:r>
            <a:br>
              <a:rPr lang="en-US" sz="1400" b="0">
                <a:solidFill>
                  <a:srgbClr val="0000CC"/>
                </a:solidFill>
                <a:latin typeface="Helvetica" pitchFamily="34" charset="0"/>
              </a:rPr>
            </a:br>
            <a:r>
              <a:rPr lang="en-US" sz="1400" b="0">
                <a:solidFill>
                  <a:srgbClr val="0000CC"/>
                </a:solidFill>
                <a:latin typeface="Helvetica" pitchFamily="34" charset="0"/>
              </a:rPr>
              <a:t>end CFG_TB_ADDER;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3581400" y="3481388"/>
            <a:ext cx="2743200" cy="16891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3505200" y="1327150"/>
            <a:ext cx="2209800" cy="436563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505200" y="1784350"/>
            <a:ext cx="4495800" cy="358140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3505200" y="5421313"/>
            <a:ext cx="3962400" cy="1087437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196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0" y="3886200"/>
            <a:ext cx="4000500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3200" dirty="0"/>
              <a:t>Examples of a Stimulus Generation Process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788" y="1266825"/>
            <a:ext cx="6448425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8725" y="3124200"/>
            <a:ext cx="319087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152775"/>
            <a:ext cx="2457450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057900"/>
            <a:ext cx="431482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988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z="4000" dirty="0"/>
              <a:t>Stimulus: Deterministic Waveform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613" y="1276350"/>
            <a:ext cx="2390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1828800"/>
            <a:ext cx="3609975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752600"/>
            <a:ext cx="3352800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5743575"/>
            <a:ext cx="88392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7834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Verification of </a:t>
            </a:r>
            <a:r>
              <a:rPr lang="en-US" sz="4000" dirty="0"/>
              <a:t>a Combinational Design Entity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Mahdi Aminian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A035BB-E83D-4AE3-B588-6367177E4C62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600"/>
            <a:ext cx="4293694" cy="2562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4066" y="1295400"/>
            <a:ext cx="4800600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3962400"/>
            <a:ext cx="2647950" cy="48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4371975"/>
            <a:ext cx="31432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4810125"/>
            <a:ext cx="8877300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5678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6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13826</TotalTime>
  <Words>158</Words>
  <Application>Microsoft Macintosh PowerPoint</Application>
  <PresentationFormat>On-screen Show (4:3)</PresentationFormat>
  <Paragraphs>68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Helvetica</vt:lpstr>
      <vt:lpstr>Times New Roman</vt:lpstr>
      <vt:lpstr>Blank Presentation</vt:lpstr>
      <vt:lpstr> Computer-Aided Design   Instantiation &amp; Testbench</vt:lpstr>
      <vt:lpstr>4-bit Ripple-Carry Adder</vt:lpstr>
      <vt:lpstr>4-bit Ripple-Carry Adder:  Dataflow Architecture (1)</vt:lpstr>
      <vt:lpstr>4-bit Ripple-Carry Adder:  Dataflow Architecture (2)</vt:lpstr>
      <vt:lpstr>Component Declaration / Component Instantiation</vt:lpstr>
      <vt:lpstr>1-Bit Full Adder:  Structural Architecture </vt:lpstr>
      <vt:lpstr>Testbench Model Architecture</vt:lpstr>
      <vt:lpstr>Testbench</vt:lpstr>
      <vt:lpstr>Basic Structure of a VHDL Testbench Model</vt:lpstr>
      <vt:lpstr>Simple Testbench Example</vt:lpstr>
      <vt:lpstr>Examples of a Stimulus Generation Process</vt:lpstr>
      <vt:lpstr>Stimulus: Deterministic Waveform</vt:lpstr>
      <vt:lpstr>Verification of a Combinational Design Entity</vt:lpstr>
    </vt:vector>
  </TitlesOfParts>
  <Company>EPFL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MEGAFRAME Chip</dc:title>
  <dc:creator>Mahdi</dc:creator>
  <cp:lastModifiedBy>Microsoft Office User</cp:lastModifiedBy>
  <cp:revision>705</cp:revision>
  <cp:lastPrinted>2019-03-03T20:28:17Z</cp:lastPrinted>
  <dcterms:created xsi:type="dcterms:W3CDTF">2009-11-03T19:03:43Z</dcterms:created>
  <dcterms:modified xsi:type="dcterms:W3CDTF">2019-10-20T19:27:30Z</dcterms:modified>
</cp:coreProperties>
</file>