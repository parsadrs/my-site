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8" r:id="rId2"/>
    <p:sldId id="463" r:id="rId3"/>
    <p:sldId id="521" r:id="rId4"/>
    <p:sldId id="507" r:id="rId5"/>
    <p:sldId id="534" r:id="rId6"/>
    <p:sldId id="535" r:id="rId7"/>
    <p:sldId id="470" r:id="rId8"/>
    <p:sldId id="497" r:id="rId9"/>
    <p:sldId id="536" r:id="rId10"/>
    <p:sldId id="537" r:id="rId11"/>
    <p:sldId id="538" r:id="rId12"/>
    <p:sldId id="539" r:id="rId13"/>
    <p:sldId id="511" r:id="rId14"/>
    <p:sldId id="513" r:id="rId15"/>
    <p:sldId id="514" r:id="rId16"/>
    <p:sldId id="541" r:id="rId17"/>
    <p:sldId id="574" r:id="rId18"/>
    <p:sldId id="542" r:id="rId19"/>
    <p:sldId id="543" r:id="rId20"/>
    <p:sldId id="545" r:id="rId21"/>
    <p:sldId id="546" r:id="rId22"/>
    <p:sldId id="547" r:id="rId23"/>
    <p:sldId id="553" r:id="rId24"/>
    <p:sldId id="549" r:id="rId25"/>
    <p:sldId id="550" r:id="rId26"/>
    <p:sldId id="551" r:id="rId27"/>
    <p:sldId id="552" r:id="rId28"/>
    <p:sldId id="554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96405" autoAdjust="0"/>
  </p:normalViewPr>
  <p:slideViewPr>
    <p:cSldViewPr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9/28/20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873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38790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3941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111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73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F323B79-DD47-4523-AFC7-68555C48D6CD}" type="slidenum">
              <a:rPr lang="en-US" altLang="en-US" sz="1200" smtClean="0"/>
              <a:pPr eaLnBrk="1" hangingPunct="1"/>
              <a:t>24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59555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3089C0FF-17E4-4998-8035-D81C71297CDA}" type="slidenum">
              <a:rPr lang="en-US" altLang="en-US" sz="1200" smtClean="0"/>
              <a:pPr eaLnBrk="1" hangingPunct="1"/>
              <a:t>25</a:t>
            </a:fld>
            <a:endParaRPr lang="en-US" alt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206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2CD480A-DC98-461E-AC05-FEE915057187}" type="slidenum">
              <a:rPr lang="en-US" altLang="en-US" sz="1200" smtClean="0"/>
              <a:pPr eaLnBrk="1" hangingPunct="1"/>
              <a:t>26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74468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11352AC9-9B65-4A1D-A728-3C70505F5408}" type="slidenum">
              <a:rPr lang="en-US" altLang="en-US" sz="1200" smtClean="0"/>
              <a:pPr eaLnBrk="1" hangingPunct="1"/>
              <a:t>27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75203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633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10107"/>
            <a:ext cx="8934450" cy="503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430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B Mitra" panose="00000400000000000000" pitchFamily="2" charset="-78"/>
              </a:rPr>
              <a:t>تراشه های منطقی برنامه پذیر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7" name="Picture 6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4864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6135469"/>
            <a:ext cx="4343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slides,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allaboutcircuits.com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Circuits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5" name="Text Box 41"/>
          <p:cNvSpPr txBox="1">
            <a:spLocks noChangeArrowheads="1"/>
          </p:cNvSpPr>
          <p:nvPr/>
        </p:nvSpPr>
        <p:spPr bwMode="auto">
          <a:xfrm>
            <a:off x="512763" y="4635500"/>
            <a:ext cx="37544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400" b="1" u="sng">
                <a:latin typeface="Arial" pitchFamily="34" charset="0"/>
              </a:rPr>
              <a:t>Acronyms</a:t>
            </a:r>
            <a:endParaRPr lang="en-US" altLang="en-US" sz="1400">
              <a:latin typeface="Arial" pitchFamily="34" charset="0"/>
            </a:endParaRPr>
          </a:p>
          <a:p>
            <a:r>
              <a:rPr lang="en-US" altLang="en-US" sz="1400">
                <a:latin typeface="Arial" pitchFamily="34" charset="0"/>
              </a:rPr>
              <a:t>SPLD = Simple Programmable Logic Device </a:t>
            </a:r>
          </a:p>
          <a:p>
            <a:r>
              <a:rPr lang="en-US" altLang="en-US" sz="1400">
                <a:latin typeface="Arial" pitchFamily="34" charset="0"/>
              </a:rPr>
              <a:t>PAL    = Programmable Array Logic</a:t>
            </a:r>
          </a:p>
          <a:p>
            <a:r>
              <a:rPr lang="en-US" altLang="en-US" sz="1400">
                <a:latin typeface="Arial" pitchFamily="34" charset="0"/>
              </a:rPr>
              <a:t>CPLD = Complex PLD</a:t>
            </a:r>
          </a:p>
          <a:p>
            <a:r>
              <a:rPr lang="en-US" altLang="en-US" sz="1400">
                <a:latin typeface="Arial" pitchFamily="34" charset="0"/>
              </a:rPr>
              <a:t>FPGA = Field Programmable Gate Array</a:t>
            </a:r>
          </a:p>
          <a:p>
            <a:r>
              <a:rPr lang="en-US" altLang="en-US" sz="1400">
                <a:latin typeface="Arial" pitchFamily="34" charset="0"/>
              </a:rPr>
              <a:t>ASIC  = Application Specific IC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76348" y="1524000"/>
            <a:ext cx="7227856" cy="2667000"/>
            <a:chOff x="1276348" y="1524000"/>
            <a:chExt cx="7227856" cy="2667000"/>
          </a:xfrm>
        </p:grpSpPr>
        <p:sp>
          <p:nvSpPr>
            <p:cNvPr id="8" name="Line 43"/>
            <p:cNvSpPr>
              <a:spLocks noChangeShapeType="1"/>
            </p:cNvSpPr>
            <p:nvPr/>
          </p:nvSpPr>
          <p:spPr bwMode="auto">
            <a:xfrm>
              <a:off x="1711323" y="2049464"/>
              <a:ext cx="9525" cy="176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3248024" y="1524000"/>
              <a:ext cx="830263" cy="447676"/>
              <a:chOff x="2190" y="800"/>
              <a:chExt cx="453" cy="244"/>
            </a:xfrm>
          </p:grpSpPr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2190" y="800"/>
                <a:ext cx="453" cy="244"/>
              </a:xfrm>
              <a:prstGeom prst="rect">
                <a:avLst/>
              </a:prstGeom>
              <a:solidFill>
                <a:srgbClr val="99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2276" y="862"/>
                <a:ext cx="307" cy="134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276348" y="2149477"/>
              <a:ext cx="871538" cy="449264"/>
              <a:chOff x="1505" y="1151"/>
              <a:chExt cx="476" cy="246"/>
            </a:xfrm>
          </p:grpSpPr>
          <p:sp>
            <p:nvSpPr>
              <p:cNvPr id="41" name="Rectangle 40"/>
              <p:cNvSpPr>
                <a:spLocks noChangeArrowheads="1"/>
              </p:cNvSpPr>
              <p:nvPr/>
            </p:nvSpPr>
            <p:spPr bwMode="auto">
              <a:xfrm>
                <a:off x="1505" y="1151"/>
                <a:ext cx="476" cy="246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1530" y="1171"/>
                <a:ext cx="446" cy="224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Standard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5151437" y="2135189"/>
              <a:ext cx="835025" cy="479426"/>
              <a:chOff x="2776" y="1143"/>
              <a:chExt cx="455" cy="262"/>
            </a:xfrm>
          </p:grpSpPr>
          <p:sp>
            <p:nvSpPr>
              <p:cNvPr id="39" name="Rectangle 38"/>
              <p:cNvSpPr>
                <a:spLocks noChangeArrowheads="1"/>
              </p:cNvSpPr>
              <p:nvPr/>
            </p:nvSpPr>
            <p:spPr bwMode="auto">
              <a:xfrm>
                <a:off x="2776" y="1143"/>
                <a:ext cx="455" cy="262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2862" y="1213"/>
                <a:ext cx="282" cy="134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ASIC</a:t>
                </a:r>
              </a:p>
            </p:txBody>
          </p:sp>
        </p:grp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105149" y="2749554"/>
              <a:ext cx="1073150" cy="49053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067049" y="2744791"/>
              <a:ext cx="1157288" cy="523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000" b="1" dirty="0">
                  <a:solidFill>
                    <a:schemeClr val="bg1"/>
                  </a:solidFill>
                  <a:latin typeface="Arial" pitchFamily="34" charset="0"/>
                </a:rPr>
                <a:t>Programmable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000" b="1" dirty="0">
                  <a:solidFill>
                    <a:schemeClr val="bg1"/>
                  </a:solidFill>
                  <a:latin typeface="Arial" pitchFamily="34" charset="0"/>
                </a:rPr>
                <a:t>Logic Devices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chemeClr val="bg1"/>
                  </a:solidFill>
                  <a:latin typeface="Arial" pitchFamily="34" charset="0"/>
                </a:rPr>
                <a:t>(FPLDs)</a:t>
              </a:r>
              <a:endParaRPr lang="en-US" altLang="en-US" sz="900" b="1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494211" y="2746379"/>
              <a:ext cx="938213" cy="492126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643437" y="2797179"/>
              <a:ext cx="655638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Gate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Arrays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745162" y="2752729"/>
              <a:ext cx="939800" cy="492126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735637" y="2801941"/>
              <a:ext cx="95726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Cell-Based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ICs</a:t>
              </a:r>
              <a:endParaRPr lang="en-US" altLang="en-US" sz="9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996112" y="2755904"/>
              <a:ext cx="939800" cy="49053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923087" y="2806704"/>
              <a:ext cx="107791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Full Custom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ICs</a:t>
              </a: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194049" y="3684594"/>
              <a:ext cx="939800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335336" y="3783019"/>
              <a:ext cx="654050" cy="24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CPLDs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638298" y="3679831"/>
              <a:ext cx="920750" cy="508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609723" y="3724282"/>
              <a:ext cx="99536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SPLDs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(e.g., PALs)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837112" y="3694119"/>
              <a:ext cx="1003300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981574" y="3816357"/>
              <a:ext cx="690563" cy="24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FPGAs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644899" y="1974851"/>
              <a:ext cx="0" cy="69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5578474" y="2060577"/>
              <a:ext cx="0" cy="587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5570537" y="2628903"/>
              <a:ext cx="0" cy="38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 flipH="1">
              <a:off x="3646486" y="2682878"/>
              <a:ext cx="38687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4962524" y="2684466"/>
              <a:ext cx="0" cy="523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3657599" y="2682878"/>
              <a:ext cx="0" cy="55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6211887" y="2689228"/>
              <a:ext cx="0" cy="52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7507287" y="2695579"/>
              <a:ext cx="0" cy="53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3667124" y="3243268"/>
              <a:ext cx="0" cy="4286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2111373" y="3517906"/>
              <a:ext cx="32258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2124073" y="3525844"/>
              <a:ext cx="0" cy="157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5326062" y="3525844"/>
              <a:ext cx="0" cy="157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8" name="Line 57"/>
            <p:cNvSpPr>
              <a:spLocks noChangeShapeType="1"/>
            </p:cNvSpPr>
            <p:nvPr/>
          </p:nvSpPr>
          <p:spPr bwMode="auto">
            <a:xfrm flipH="1">
              <a:off x="1714498" y="2055814"/>
              <a:ext cx="38687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7061199" y="3697286"/>
              <a:ext cx="1443005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>
              <a:off x="7534275" y="3268668"/>
              <a:ext cx="0" cy="4159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162800" y="3733800"/>
              <a:ext cx="1309655" cy="41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rgbClr val="414141"/>
                  </a:solidFill>
                  <a:latin typeface="Arial" pitchFamily="34" charset="0"/>
                </a:rPr>
                <a:t>Microprocessor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rgbClr val="414141"/>
                  </a:solidFill>
                  <a:latin typeface="Arial" pitchFamily="34" charset="0"/>
                </a:rPr>
                <a:t>&amp; RAM</a:t>
              </a:r>
              <a:endParaRPr lang="en-US" altLang="en-US" sz="900" b="1" dirty="0">
                <a:solidFill>
                  <a:srgbClr val="414141"/>
                </a:solidFill>
                <a:latin typeface="Arial" pitchFamily="34" charset="0"/>
              </a:endParaRPr>
            </a:p>
          </p:txBody>
        </p:sp>
      </p:grpSp>
      <p:sp>
        <p:nvSpPr>
          <p:cNvPr id="53" name="Rectangle 52"/>
          <p:cNvSpPr>
            <a:spLocks noGrp="1" noChangeArrowheads="1"/>
          </p:cNvSpPr>
          <p:nvPr/>
        </p:nvSpPr>
        <p:spPr bwMode="auto">
          <a:xfrm>
            <a:off x="4572000" y="4638675"/>
            <a:ext cx="40386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6038" rIns="90488" bIns="46038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860425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461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3731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18303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2875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7447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2019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 b="1" u="sng">
                <a:latin typeface="Arial" pitchFamily="34" charset="0"/>
              </a:rPr>
              <a:t>Common Resources</a:t>
            </a:r>
            <a:endParaRPr lang="en-US" altLang="en-US" sz="1400" u="sng">
              <a:latin typeface="Arial" pitchFamily="34" charset="0"/>
            </a:endParaRP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Configurable Logic Blocks (CLB)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Memory Look-Up Table (LUT)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AND-OR planes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Simple gates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Input / Output Blocks (IOB)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Bidirectional, latches, inverters, pullup/pulldowns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Interconnect or Routing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Local, internal feedback, and global</a:t>
            </a:r>
          </a:p>
        </p:txBody>
      </p:sp>
    </p:spTree>
    <p:extLst>
      <p:ext uri="{BB962C8B-B14F-4D97-AF65-F5344CB8AC3E}">
        <p14:creationId xmlns:p14="http://schemas.microsoft.com/office/powerpoint/2010/main" val="96572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990725"/>
            <a:ext cx="7772400" cy="1362075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FPGA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5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1143000"/>
          </a:xfrm>
        </p:spPr>
        <p:txBody>
          <a:bodyPr/>
          <a:lstStyle/>
          <a:p>
            <a:r>
              <a:rPr lang="en-US" sz="3600" dirty="0"/>
              <a:t>Field Programmable Logic Array (FPGA)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48768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2-D array of logic blocks and flip-flops with programmable interconnections</a:t>
            </a:r>
          </a:p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User can configure </a:t>
            </a:r>
          </a:p>
          <a:p>
            <a:pPr lvl="1" eaLnBrk="1" hangingPunct="1"/>
            <a:r>
              <a:rPr lang="en-US" altLang="en-US" sz="2000" dirty="0">
                <a:solidFill>
                  <a:schemeClr val="tx2"/>
                </a:solidFill>
              </a:rPr>
              <a:t>Intersections between the logic blocks </a:t>
            </a:r>
          </a:p>
          <a:p>
            <a:pPr lvl="1" eaLnBrk="1" hangingPunct="1"/>
            <a:r>
              <a:rPr lang="en-US" altLang="en-US" sz="2000" dirty="0">
                <a:solidFill>
                  <a:schemeClr val="tx2"/>
                </a:solidFill>
              </a:rPr>
              <a:t>The function of each block</a:t>
            </a:r>
          </a:p>
          <a:p>
            <a:pPr eaLnBrk="1" hangingPunct="1"/>
            <a:r>
              <a:rPr lang="en-US" altLang="en-US" sz="2400" dirty="0"/>
              <a:t>FPGAs are usually programmed after being soldered down to the circuit board, in the same way as larger CPLDs</a:t>
            </a:r>
          </a:p>
          <a:p>
            <a:pPr eaLnBrk="1" hangingPunct="1"/>
            <a:r>
              <a:rPr lang="en-US" altLang="en-US" sz="2400" dirty="0"/>
              <a:t>In most larger FPGAs the configuration is volatile, and must be re-loaded into the device whenever power is applied or different functionality is required</a:t>
            </a:r>
            <a:endParaRPr lang="en-US" sz="24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1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vs. </a:t>
            </a:r>
            <a:r>
              <a:rPr lang="en-US" dirty="0" err="1"/>
              <a:t>MicroController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8" name="Picture 2" descr="https://www.allaboutcircuits.com/uploads/articles/techart_FPGA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51045"/>
            <a:ext cx="5715000" cy="498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34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vs. </a:t>
            </a:r>
            <a:r>
              <a:rPr lang="en-US" dirty="0" err="1"/>
              <a:t>MicroController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126" name="Picture 6" descr="https://www.allaboutcircuits.com/uploads/articles/Figure1_L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1224653"/>
            <a:ext cx="5629275" cy="5528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784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Blocks (LB)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28600" y="3886200"/>
            <a:ext cx="5257800" cy="2438400"/>
          </a:xfrm>
        </p:spPr>
        <p:txBody>
          <a:bodyPr/>
          <a:lstStyle/>
          <a:p>
            <a:pPr marL="590550" indent="-590550" eaLnBrk="1" hangingPunct="1">
              <a:buFont typeface="Wingdings" pitchFamily="2" charset="2"/>
              <a:buNone/>
              <a:defRPr/>
            </a:pPr>
            <a:r>
              <a:rPr lang="en-US" sz="225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Granularity: </a:t>
            </a:r>
            <a:r>
              <a:rPr lang="en-US" sz="2250" dirty="0">
                <a:solidFill>
                  <a:schemeClr val="tx2"/>
                </a:solidFill>
              </a:rPr>
              <a:t>is the hardware abstraction level. According to granularity, two types of Blocks :</a:t>
            </a:r>
          </a:p>
          <a:p>
            <a:pPr marL="590550" indent="-590550" algn="just" eaLnBrk="1" hangingPunct="1">
              <a:defRPr/>
            </a:pPr>
            <a:r>
              <a:rPr lang="en-US" sz="2250" dirty="0">
                <a:solidFill>
                  <a:schemeClr val="tx2"/>
                </a:solidFill>
              </a:rPr>
              <a:t>Fine Grain Logic Blocks</a:t>
            </a:r>
          </a:p>
          <a:p>
            <a:pPr marL="590550" indent="-590550" algn="just" eaLnBrk="1" hangingPunct="1">
              <a:defRPr/>
            </a:pPr>
            <a:r>
              <a:rPr lang="en-US" sz="2250" dirty="0">
                <a:solidFill>
                  <a:schemeClr val="tx2"/>
                </a:solidFill>
              </a:rPr>
              <a:t>Coarse Grain Logic Blocks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752600"/>
            <a:ext cx="3646708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228600" y="12954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sz="2250" kern="0" dirty="0">
                <a:solidFill>
                  <a:schemeClr val="tx2"/>
                </a:solidFill>
              </a:rPr>
              <a:t>Purpose: to implement combinational and sequential logic functions.</a:t>
            </a:r>
          </a:p>
        </p:txBody>
      </p:sp>
      <p:sp>
        <p:nvSpPr>
          <p:cNvPr id="8" name="Rectangle 12"/>
          <p:cNvSpPr txBox="1">
            <a:spLocks noChangeArrowheads="1"/>
          </p:cNvSpPr>
          <p:nvPr/>
        </p:nvSpPr>
        <p:spPr bwMode="auto">
          <a:xfrm>
            <a:off x="228600" y="1905000"/>
            <a:ext cx="52578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sz="2250" kern="0" dirty="0">
                <a:solidFill>
                  <a:schemeClr val="tx2"/>
                </a:solidFill>
              </a:rPr>
              <a:t>Logic blocks can be implemented by:</a:t>
            </a:r>
          </a:p>
          <a:p>
            <a:pPr lvl="1" eaLnBrk="1" hangingPunct="1">
              <a:lnSpc>
                <a:spcPct val="90000"/>
              </a:lnSpc>
              <a:buSzPct val="125000"/>
              <a:buFont typeface="Arial" pitchFamily="34" charset="0"/>
              <a:buChar char="•"/>
              <a:defRPr/>
            </a:pPr>
            <a:r>
              <a:rPr lang="en-US" sz="2250" kern="0" dirty="0">
                <a:solidFill>
                  <a:schemeClr val="tx2"/>
                </a:solidFill>
              </a:rPr>
              <a:t>Transistor pairs</a:t>
            </a:r>
          </a:p>
          <a:p>
            <a:pPr lvl="1" eaLnBrk="1" hangingPunct="1">
              <a:lnSpc>
                <a:spcPct val="90000"/>
              </a:lnSpc>
              <a:buSzPct val="125000"/>
              <a:buFont typeface="Arial" pitchFamily="34" charset="0"/>
              <a:buChar char="•"/>
              <a:defRPr/>
            </a:pPr>
            <a:r>
              <a:rPr lang="en-US" sz="2250" kern="0" dirty="0">
                <a:solidFill>
                  <a:schemeClr val="tx2"/>
                </a:solidFill>
              </a:rPr>
              <a:t>Multiplexers</a:t>
            </a:r>
          </a:p>
          <a:p>
            <a:pPr lvl="1" eaLnBrk="1" hangingPunct="1">
              <a:lnSpc>
                <a:spcPct val="90000"/>
              </a:lnSpc>
              <a:buSzPct val="125000"/>
              <a:buFont typeface="Arial" pitchFamily="34" charset="0"/>
              <a:buChar char="•"/>
              <a:defRPr/>
            </a:pPr>
            <a:r>
              <a:rPr lang="en-US" sz="2250" kern="0" dirty="0">
                <a:solidFill>
                  <a:schemeClr val="tx2"/>
                </a:solidFill>
              </a:rPr>
              <a:t>Look up tables( LUT)</a:t>
            </a:r>
          </a:p>
          <a:p>
            <a:pPr lvl="1" eaLnBrk="1" hangingPunct="1">
              <a:lnSpc>
                <a:spcPct val="90000"/>
              </a:lnSpc>
              <a:buSzPct val="125000"/>
              <a:buFont typeface="Arial" pitchFamily="34" charset="0"/>
              <a:buChar char="•"/>
              <a:defRPr/>
            </a:pPr>
            <a:r>
              <a:rPr lang="en-US" sz="2250" kern="0" dirty="0">
                <a:solidFill>
                  <a:schemeClr val="tx2"/>
                </a:solidFill>
              </a:rPr>
              <a:t>Wide fan-in AND-OR structure.</a:t>
            </a:r>
          </a:p>
        </p:txBody>
      </p:sp>
    </p:spTree>
    <p:extLst>
      <p:ext uri="{BB962C8B-B14F-4D97-AF65-F5344CB8AC3E}">
        <p14:creationId xmlns:p14="http://schemas.microsoft.com/office/powerpoint/2010/main" val="26703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Look-Up Table (LUT)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146" name="Picture 2" descr="https://www.allaboutcircuits.com/uploads/articles/Figure2_L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00149"/>
            <a:ext cx="4724400" cy="535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648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Look-Up Table (LUT)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76200" y="1447800"/>
            <a:ext cx="8382000" cy="4648200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</a:rPr>
              <a:t>Output of SRAM gives the logic output</a:t>
            </a:r>
          </a:p>
          <a:p>
            <a:r>
              <a:rPr lang="en-US" sz="2000" dirty="0">
                <a:solidFill>
                  <a:schemeClr val="tx2"/>
                </a:solidFill>
              </a:rPr>
              <a:t>k-input logic function =2^k  size SRAM</a:t>
            </a:r>
          </a:p>
          <a:p>
            <a:r>
              <a:rPr lang="en-US" sz="2000" dirty="0">
                <a:solidFill>
                  <a:schemeClr val="tx2"/>
                </a:solidFill>
              </a:rPr>
              <a:t>K-input LUT gives  2^2^k logic functions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2388"/>
            <a:ext cx="61722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8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Implementation of Logic Functions using LUT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172" name="Picture 4" descr="https://www.allaboutcircuits.com/uploads/articles/Figure3_L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" y="2133600"/>
            <a:ext cx="7336771" cy="362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ttps://www.allaboutcircuits.com/uploads/articles/Tab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447800"/>
            <a:ext cx="1914525" cy="340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46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Implementation of Logic Functions using LUT-3 &amp; MUX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170" name="Picture 2" descr="https://www.allaboutcircuits.com/uploads/articles/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447800"/>
            <a:ext cx="1914525" cy="340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ttps://www.allaboutcircuits.com/uploads/articles/Figure4_LU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209800"/>
            <a:ext cx="8247439" cy="367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05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Implementation of a 3-input logic function using 4-input LUT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218" name="Picture 2" descr="https://www.allaboutcircuits.com/uploads/articles/Figure5_L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686800" cy="435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29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Effects of Granularity on FPGA Density and Performance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2"/>
                </a:solidFill>
              </a:rPr>
              <a:t>Tradeoff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Granularity increase → Blocks less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More Functional Blocks → more area</a:t>
            </a:r>
            <a:endParaRPr lang="en-US" sz="2400" dirty="0"/>
          </a:p>
          <a:p>
            <a:pPr marL="0" indent="0"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Area is normally measured by total number of bits needed to implement the design. So look the example</a:t>
            </a:r>
            <a:endParaRPr lang="en-US" sz="2000" dirty="0"/>
          </a:p>
          <a:p>
            <a:endParaRPr lang="en-US" sz="28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3529653"/>
            <a:ext cx="3155950" cy="328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Grp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529654"/>
            <a:ext cx="3863897" cy="3168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830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58200" cy="1143000"/>
          </a:xfrm>
        </p:spPr>
        <p:txBody>
          <a:bodyPr/>
          <a:lstStyle/>
          <a:p>
            <a:r>
              <a:rPr lang="en-US" sz="4000" dirty="0"/>
              <a:t>Programmable Switch Matrix (PSM)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89188"/>
            <a:ext cx="4724400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5562600" y="2362200"/>
            <a:ext cx="2590800" cy="2490788"/>
            <a:chOff x="528" y="1632"/>
            <a:chExt cx="2496" cy="2400"/>
          </a:xfrm>
        </p:grpSpPr>
        <p:grpSp>
          <p:nvGrpSpPr>
            <p:cNvPr id="8" name="Group 5"/>
            <p:cNvGrpSpPr>
              <a:grpSpLocks noChangeAspect="1"/>
            </p:cNvGrpSpPr>
            <p:nvPr/>
          </p:nvGrpSpPr>
          <p:grpSpPr bwMode="auto">
            <a:xfrm rot="2700000">
              <a:off x="1848" y="2184"/>
              <a:ext cx="768" cy="432"/>
              <a:chOff x="576" y="2784"/>
              <a:chExt cx="768" cy="432"/>
            </a:xfrm>
          </p:grpSpPr>
          <p:sp>
            <p:nvSpPr>
              <p:cNvPr id="51" name="Line 6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" name="Line 7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" name="Line 8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" name="Line 9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5" name="Line 10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" name="Line 11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" name="Line 12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" name="Group 13"/>
            <p:cNvGrpSpPr>
              <a:grpSpLocks noChangeAspect="1"/>
            </p:cNvGrpSpPr>
            <p:nvPr/>
          </p:nvGrpSpPr>
          <p:grpSpPr bwMode="auto">
            <a:xfrm rot="8100000">
              <a:off x="1824" y="3024"/>
              <a:ext cx="768" cy="432"/>
              <a:chOff x="576" y="2784"/>
              <a:chExt cx="768" cy="432"/>
            </a:xfrm>
          </p:grpSpPr>
          <p:sp>
            <p:nvSpPr>
              <p:cNvPr id="44" name="Line 14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" name="Line 15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" name="Line 16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7" name="Line 17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" name="Line 18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" name="Line 19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0" name="Line 20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21"/>
            <p:cNvGrpSpPr>
              <a:grpSpLocks noChangeAspect="1"/>
            </p:cNvGrpSpPr>
            <p:nvPr/>
          </p:nvGrpSpPr>
          <p:grpSpPr bwMode="auto">
            <a:xfrm rot="-2700000">
              <a:off x="1008" y="2160"/>
              <a:ext cx="768" cy="432"/>
              <a:chOff x="576" y="2784"/>
              <a:chExt cx="768" cy="432"/>
            </a:xfrm>
          </p:grpSpPr>
          <p:sp>
            <p:nvSpPr>
              <p:cNvPr id="37" name="Line 22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" name="Line 23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" name="Line 24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" name="Line 25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Line 26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" name="Line 27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" name="Line 28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 noChangeAspect="1"/>
            </p:cNvGrpSpPr>
            <p:nvPr/>
          </p:nvGrpSpPr>
          <p:grpSpPr bwMode="auto">
            <a:xfrm rot="-8100000">
              <a:off x="984" y="3000"/>
              <a:ext cx="768" cy="432"/>
              <a:chOff x="576" y="2784"/>
              <a:chExt cx="768" cy="432"/>
            </a:xfrm>
          </p:grpSpPr>
          <p:sp>
            <p:nvSpPr>
              <p:cNvPr id="30" name="Line 30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31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32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33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Line 34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Line 35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" name="Line 36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" name="Line 37"/>
            <p:cNvSpPr>
              <a:spLocks noChangeAspect="1" noChangeShapeType="1"/>
            </p:cNvSpPr>
            <p:nvPr/>
          </p:nvSpPr>
          <p:spPr bwMode="auto">
            <a:xfrm>
              <a:off x="1296" y="2832"/>
              <a:ext cx="18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" name="Line 38"/>
            <p:cNvSpPr>
              <a:spLocks noChangeAspect="1" noChangeShapeType="1"/>
            </p:cNvSpPr>
            <p:nvPr/>
          </p:nvSpPr>
          <p:spPr bwMode="auto">
            <a:xfrm flipV="1">
              <a:off x="1476" y="2725"/>
              <a:ext cx="0" cy="10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" name="Line 39"/>
            <p:cNvSpPr>
              <a:spLocks noChangeAspect="1" noChangeShapeType="1"/>
            </p:cNvSpPr>
            <p:nvPr/>
          </p:nvSpPr>
          <p:spPr bwMode="auto">
            <a:xfrm>
              <a:off x="1476" y="2725"/>
              <a:ext cx="15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" name="Line 40"/>
            <p:cNvSpPr>
              <a:spLocks noChangeAspect="1" noChangeShapeType="1"/>
            </p:cNvSpPr>
            <p:nvPr/>
          </p:nvSpPr>
          <p:spPr bwMode="auto">
            <a:xfrm>
              <a:off x="1626" y="2725"/>
              <a:ext cx="0" cy="10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6" name="Line 41"/>
            <p:cNvSpPr>
              <a:spLocks noChangeAspect="1" noChangeShapeType="1"/>
            </p:cNvSpPr>
            <p:nvPr/>
          </p:nvSpPr>
          <p:spPr bwMode="auto">
            <a:xfrm>
              <a:off x="1626" y="2832"/>
              <a:ext cx="678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" name="Line 42"/>
            <p:cNvSpPr>
              <a:spLocks noChangeAspect="1" noChangeShapeType="1"/>
            </p:cNvSpPr>
            <p:nvPr/>
          </p:nvSpPr>
          <p:spPr bwMode="auto">
            <a:xfrm>
              <a:off x="1476" y="2699"/>
              <a:ext cx="15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8" name="Line 43"/>
            <p:cNvSpPr>
              <a:spLocks noChangeAspect="1" noChangeShapeType="1"/>
            </p:cNvSpPr>
            <p:nvPr/>
          </p:nvSpPr>
          <p:spPr bwMode="auto">
            <a:xfrm flipV="1">
              <a:off x="1544" y="2592"/>
              <a:ext cx="0" cy="10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9" name="Line 44"/>
            <p:cNvSpPr>
              <a:spLocks noChangeAspect="1" noChangeShapeType="1"/>
            </p:cNvSpPr>
            <p:nvPr/>
          </p:nvSpPr>
          <p:spPr bwMode="auto">
            <a:xfrm rot="5400000">
              <a:off x="1679" y="2401"/>
              <a:ext cx="292" cy="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" name="Line 45"/>
            <p:cNvSpPr>
              <a:spLocks noChangeAspect="1" noChangeShapeType="1"/>
            </p:cNvSpPr>
            <p:nvPr/>
          </p:nvSpPr>
          <p:spPr bwMode="auto">
            <a:xfrm rot="5400000" flipV="1">
              <a:off x="1878" y="2494"/>
              <a:ext cx="0" cy="10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1" name="Line 46"/>
            <p:cNvSpPr>
              <a:spLocks noChangeAspect="1" noChangeShapeType="1"/>
            </p:cNvSpPr>
            <p:nvPr/>
          </p:nvSpPr>
          <p:spPr bwMode="auto">
            <a:xfrm rot="5400000">
              <a:off x="1839" y="2640"/>
              <a:ext cx="183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" name="Line 47"/>
            <p:cNvSpPr>
              <a:spLocks noChangeAspect="1" noChangeShapeType="1"/>
            </p:cNvSpPr>
            <p:nvPr/>
          </p:nvSpPr>
          <p:spPr bwMode="auto">
            <a:xfrm rot="5400000">
              <a:off x="1878" y="2677"/>
              <a:ext cx="0" cy="10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" name="Line 48"/>
            <p:cNvSpPr>
              <a:spLocks noChangeAspect="1" noChangeShapeType="1"/>
            </p:cNvSpPr>
            <p:nvPr/>
          </p:nvSpPr>
          <p:spPr bwMode="auto">
            <a:xfrm rot="16200000" flipH="1">
              <a:off x="1509" y="3046"/>
              <a:ext cx="629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" name="Line 49"/>
            <p:cNvSpPr>
              <a:spLocks noChangeAspect="1" noChangeShapeType="1"/>
            </p:cNvSpPr>
            <p:nvPr/>
          </p:nvSpPr>
          <p:spPr bwMode="auto">
            <a:xfrm rot="5400000">
              <a:off x="1865" y="2640"/>
              <a:ext cx="183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5" name="Line 50"/>
            <p:cNvSpPr>
              <a:spLocks noChangeAspect="1" noChangeShapeType="1"/>
            </p:cNvSpPr>
            <p:nvPr/>
          </p:nvSpPr>
          <p:spPr bwMode="auto">
            <a:xfrm rot="-5400000">
              <a:off x="2007" y="2572"/>
              <a:ext cx="8" cy="10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" name="Line 51"/>
            <p:cNvSpPr>
              <a:spLocks noChangeAspect="1" noChangeShapeType="1"/>
            </p:cNvSpPr>
            <p:nvPr/>
          </p:nvSpPr>
          <p:spPr bwMode="auto">
            <a:xfrm flipV="1">
              <a:off x="1824" y="1632"/>
              <a:ext cx="0" cy="62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" name="Line 52"/>
            <p:cNvSpPr>
              <a:spLocks noChangeAspect="1" noChangeShapeType="1"/>
            </p:cNvSpPr>
            <p:nvPr/>
          </p:nvSpPr>
          <p:spPr bwMode="auto">
            <a:xfrm flipV="1">
              <a:off x="1824" y="3360"/>
              <a:ext cx="0" cy="67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" name="Line 53"/>
            <p:cNvSpPr>
              <a:spLocks noChangeAspect="1" noChangeShapeType="1"/>
            </p:cNvSpPr>
            <p:nvPr/>
          </p:nvSpPr>
          <p:spPr bwMode="auto">
            <a:xfrm flipV="1">
              <a:off x="2352" y="2784"/>
              <a:ext cx="67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9" name="Line 54"/>
            <p:cNvSpPr>
              <a:spLocks noChangeAspect="1" noChangeShapeType="1"/>
            </p:cNvSpPr>
            <p:nvPr/>
          </p:nvSpPr>
          <p:spPr bwMode="auto">
            <a:xfrm flipH="1" flipV="1">
              <a:off x="528" y="2784"/>
              <a:ext cx="72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28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SRAM-Based FPGA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4" descr="High Speed Application board with adc, dac and large virtex FPG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1528762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450850" y="1216025"/>
            <a:ext cx="7596188" cy="3209925"/>
            <a:chOff x="284" y="579"/>
            <a:chExt cx="4785" cy="2022"/>
          </a:xfrm>
        </p:grpSpPr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 flipV="1">
              <a:off x="2274" y="1131"/>
              <a:ext cx="2019" cy="7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277" y="579"/>
              <a:ext cx="2790" cy="2022"/>
            </a:xfrm>
            <a:custGeom>
              <a:avLst/>
              <a:gdLst>
                <a:gd name="T0" fmla="*/ 2781 w 2790"/>
                <a:gd name="T1" fmla="*/ 1266 h 2022"/>
                <a:gd name="T2" fmla="*/ 0 w 2790"/>
                <a:gd name="T3" fmla="*/ 0 h 2022"/>
                <a:gd name="T4" fmla="*/ 3 w 2790"/>
                <a:gd name="T5" fmla="*/ 1668 h 2022"/>
                <a:gd name="T6" fmla="*/ 2790 w 2790"/>
                <a:gd name="T7" fmla="*/ 2022 h 2022"/>
                <a:gd name="T8" fmla="*/ 2781 w 2790"/>
                <a:gd name="T9" fmla="*/ 1266 h 20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90"/>
                <a:gd name="T16" fmla="*/ 0 h 2022"/>
                <a:gd name="T17" fmla="*/ 2790 w 2790"/>
                <a:gd name="T18" fmla="*/ 2022 h 20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90" h="2022">
                  <a:moveTo>
                    <a:pt x="2781" y="1266"/>
                  </a:moveTo>
                  <a:lnTo>
                    <a:pt x="0" y="0"/>
                  </a:lnTo>
                  <a:lnTo>
                    <a:pt x="3" y="1668"/>
                  </a:lnTo>
                  <a:lnTo>
                    <a:pt x="2790" y="2022"/>
                  </a:lnTo>
                  <a:lnTo>
                    <a:pt x="2781" y="1266"/>
                  </a:lnTo>
                  <a:close/>
                </a:path>
              </a:pathLst>
            </a:custGeom>
            <a:solidFill>
              <a:srgbClr val="777777">
                <a:alpha val="45882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711" y="2241"/>
              <a:ext cx="4358" cy="359"/>
            </a:xfrm>
            <a:custGeom>
              <a:avLst/>
              <a:gdLst>
                <a:gd name="T0" fmla="*/ 4358 w 4358"/>
                <a:gd name="T1" fmla="*/ 359 h 359"/>
                <a:gd name="T2" fmla="*/ 1568 w 4358"/>
                <a:gd name="T3" fmla="*/ 8 h 359"/>
                <a:gd name="T4" fmla="*/ 0 w 4358"/>
                <a:gd name="T5" fmla="*/ 0 h 359"/>
                <a:gd name="T6" fmla="*/ 3593 w 4358"/>
                <a:gd name="T7" fmla="*/ 359 h 359"/>
                <a:gd name="T8" fmla="*/ 4358 w 4358"/>
                <a:gd name="T9" fmla="*/ 359 h 3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58"/>
                <a:gd name="T16" fmla="*/ 0 h 359"/>
                <a:gd name="T17" fmla="*/ 4358 w 4358"/>
                <a:gd name="T18" fmla="*/ 359 h 3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58" h="359">
                  <a:moveTo>
                    <a:pt x="4358" y="359"/>
                  </a:moveTo>
                  <a:lnTo>
                    <a:pt x="1568" y="8"/>
                  </a:lnTo>
                  <a:lnTo>
                    <a:pt x="0" y="0"/>
                  </a:lnTo>
                  <a:lnTo>
                    <a:pt x="3593" y="359"/>
                  </a:lnTo>
                  <a:lnTo>
                    <a:pt x="4358" y="359"/>
                  </a:lnTo>
                  <a:close/>
                </a:path>
              </a:pathLst>
            </a:custGeom>
            <a:solidFill>
              <a:srgbClr val="777777">
                <a:alpha val="45882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284" y="581"/>
              <a:ext cx="2468" cy="1660"/>
              <a:chOff x="319" y="736"/>
              <a:chExt cx="2468" cy="1660"/>
            </a:xfrm>
          </p:grpSpPr>
          <p:sp>
            <p:nvSpPr>
              <p:cNvPr id="12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749" y="738"/>
                <a:ext cx="1568" cy="1658"/>
              </a:xfrm>
              <a:prstGeom prst="rect">
                <a:avLst/>
              </a:prstGeom>
              <a:solidFill>
                <a:srgbClr val="DDDDDD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13" name="Group 12"/>
              <p:cNvGrpSpPr>
                <a:grpSpLocks/>
              </p:cNvGrpSpPr>
              <p:nvPr/>
            </p:nvGrpSpPr>
            <p:grpSpPr bwMode="auto">
              <a:xfrm>
                <a:off x="1016" y="1026"/>
                <a:ext cx="1039" cy="1096"/>
                <a:chOff x="1016" y="1026"/>
                <a:chExt cx="1039" cy="1096"/>
              </a:xfrm>
            </p:grpSpPr>
            <p:sp>
              <p:nvSpPr>
                <p:cNvPr id="108" name="Rectangle 13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026"/>
                  <a:ext cx="164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09" name="Rectangle 14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026"/>
                  <a:ext cx="163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 sz="1600">
                    <a:latin typeface="Lucida Sans Unicode" pitchFamily="34" charset="0"/>
                  </a:endParaRPr>
                </a:p>
              </p:txBody>
            </p:sp>
            <p:sp>
              <p:nvSpPr>
                <p:cNvPr id="110" name="Rectangle 15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026"/>
                  <a:ext cx="164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1" name="Rectangle 16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488"/>
                  <a:ext cx="164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2" name="Rectangle 17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488"/>
                  <a:ext cx="163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" name="Rectangle 18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488"/>
                  <a:ext cx="164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4" name="Rectangle 19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950"/>
                  <a:ext cx="164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5" name="Rectangle 20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950"/>
                  <a:ext cx="163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6" name="Rectangle 21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950"/>
                  <a:ext cx="164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14" name="Rectangle 22"/>
              <p:cNvSpPr>
                <a:spLocks noChangeArrowheads="1"/>
              </p:cNvSpPr>
              <p:nvPr/>
            </p:nvSpPr>
            <p:spPr bwMode="auto">
              <a:xfrm>
                <a:off x="2440" y="803"/>
                <a:ext cx="347" cy="15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 wrap="none" lIns="0" tIns="0" rIns="0" bIns="0" anchor="ctr">
                <a:spAutoFit/>
              </a:bodyPr>
              <a:lstStyle/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Programmable</a:t>
                </a:r>
                <a:br>
                  <a:rPr lang="en-US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</a:br>
                <a:r>
                  <a:rPr lang="en-US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Lookup Tables (LUTs)</a:t>
                </a:r>
              </a:p>
            </p:txBody>
          </p:sp>
          <p:sp>
            <p:nvSpPr>
              <p:cNvPr id="15" name="Rectangle 23"/>
              <p:cNvSpPr>
                <a:spLocks noChangeArrowheads="1"/>
              </p:cNvSpPr>
              <p:nvPr/>
            </p:nvSpPr>
            <p:spPr bwMode="auto">
              <a:xfrm>
                <a:off x="319" y="951"/>
                <a:ext cx="346" cy="1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 wrap="none" lIns="0" tIns="0" rIns="0" bIns="0" anchor="ctr">
                <a:spAutoFit/>
              </a:bodyPr>
              <a:lstStyle/>
              <a:p>
                <a:pPr eaLnBrk="0" hangingPunct="0">
                  <a:lnSpc>
                    <a:spcPct val="90000"/>
                  </a:lnSpc>
                  <a:defRPr/>
                </a:pPr>
                <a: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Programmable</a:t>
                </a:r>
                <a:b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</a:br>
                <a: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routing structure</a:t>
                </a:r>
              </a:p>
            </p:txBody>
          </p: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749" y="736"/>
                <a:ext cx="1582" cy="1654"/>
                <a:chOff x="749" y="736"/>
                <a:chExt cx="1582" cy="1654"/>
              </a:xfrm>
            </p:grpSpPr>
            <p:sp>
              <p:nvSpPr>
                <p:cNvPr id="36" name="Line 25"/>
                <p:cNvSpPr>
                  <a:spLocks noChangeAspect="1" noChangeShapeType="1"/>
                </p:cNvSpPr>
                <p:nvPr/>
              </p:nvSpPr>
              <p:spPr bwMode="auto">
                <a:xfrm>
                  <a:off x="1538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951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009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5" y="1066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1974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0"/>
                <p:cNvSpPr>
                  <a:spLocks noChangeAspect="1" noChangeShapeType="1"/>
                </p:cNvSpPr>
                <p:nvPr/>
              </p:nvSpPr>
              <p:spPr bwMode="auto">
                <a:xfrm>
                  <a:off x="1537" y="166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1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5" y="1424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48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540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4"/>
                <p:cNvSpPr>
                  <a:spLocks noChangeAspect="1" noChangeShapeType="1"/>
                </p:cNvSpPr>
                <p:nvPr/>
              </p:nvSpPr>
              <p:spPr bwMode="auto">
                <a:xfrm>
                  <a:off x="1974" y="1666"/>
                  <a:ext cx="0" cy="211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888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946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200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8"/>
                <p:cNvSpPr>
                  <a:spLocks noChangeAspect="1" noChangeShapeType="1"/>
                </p:cNvSpPr>
                <p:nvPr/>
              </p:nvSpPr>
              <p:spPr bwMode="auto">
                <a:xfrm>
                  <a:off x="1102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39"/>
                <p:cNvSpPr>
                  <a:spLocks noChangeAspect="1" noChangeShapeType="1"/>
                </p:cNvSpPr>
                <p:nvPr/>
              </p:nvSpPr>
              <p:spPr bwMode="auto">
                <a:xfrm>
                  <a:off x="1100" y="1659"/>
                  <a:ext cx="0" cy="23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945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1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003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060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419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1" y="1476"/>
                  <a:ext cx="0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1" y="1533"/>
                  <a:ext cx="0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882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940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997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49"/>
                <p:cNvSpPr>
                  <a:spLocks noChangeAspect="1" noChangeShapeType="1"/>
                </p:cNvSpPr>
                <p:nvPr/>
              </p:nvSpPr>
              <p:spPr bwMode="auto">
                <a:xfrm>
                  <a:off x="1537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0"/>
                <p:cNvSpPr>
                  <a:spLocks noChangeAspect="1" noChangeShapeType="1"/>
                </p:cNvSpPr>
                <p:nvPr/>
              </p:nvSpPr>
              <p:spPr bwMode="auto">
                <a:xfrm>
                  <a:off x="1973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1"/>
                <p:cNvSpPr>
                  <a:spLocks noChangeAspect="1" noChangeShapeType="1"/>
                </p:cNvSpPr>
                <p:nvPr/>
              </p:nvSpPr>
              <p:spPr bwMode="auto">
                <a:xfrm>
                  <a:off x="1100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951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5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009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5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9" y="1066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5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9" y="1424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5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48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5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540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Line 5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888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Line 59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946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Line 6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200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2" name="Group 61"/>
                <p:cNvGrpSpPr>
                  <a:grpSpLocks/>
                </p:cNvGrpSpPr>
                <p:nvPr/>
              </p:nvGrpSpPr>
              <p:grpSpPr bwMode="auto">
                <a:xfrm>
                  <a:off x="749" y="736"/>
                  <a:ext cx="1582" cy="1654"/>
                  <a:chOff x="749" y="736"/>
                  <a:chExt cx="1582" cy="1654"/>
                </a:xfrm>
              </p:grpSpPr>
              <p:grpSp>
                <p:nvGrpSpPr>
                  <p:cNvPr id="73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823" y="738"/>
                    <a:ext cx="109" cy="1652"/>
                    <a:chOff x="704" y="1184"/>
                    <a:chExt cx="109" cy="1652"/>
                  </a:xfrm>
                </p:grpSpPr>
                <p:sp>
                  <p:nvSpPr>
                    <p:cNvPr id="105" name="Line 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04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" name="Line 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58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" name="Line 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813" y="1192"/>
                      <a:ext cx="0" cy="16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74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1263" y="737"/>
                    <a:ext cx="109" cy="1652"/>
                    <a:chOff x="704" y="1184"/>
                    <a:chExt cx="109" cy="1652"/>
                  </a:xfrm>
                </p:grpSpPr>
                <p:sp>
                  <p:nvSpPr>
                    <p:cNvPr id="102" name="Line 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04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" name="Line 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58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" name="Line 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813" y="1192"/>
                      <a:ext cx="0" cy="16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75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1701" y="736"/>
                    <a:ext cx="549" cy="1653"/>
                    <a:chOff x="800" y="1279"/>
                    <a:chExt cx="549" cy="1653"/>
                  </a:xfrm>
                </p:grpSpPr>
                <p:grpSp>
                  <p:nvGrpSpPr>
                    <p:cNvPr id="94" name="Group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00" y="1280"/>
                      <a:ext cx="109" cy="1652"/>
                      <a:chOff x="704" y="1184"/>
                      <a:chExt cx="109" cy="1652"/>
                    </a:xfrm>
                  </p:grpSpPr>
                  <p:sp>
                    <p:nvSpPr>
                      <p:cNvPr id="99" name="Line 7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04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0" name="Line 7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58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1" name="Line 74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813" y="1192"/>
                        <a:ext cx="0" cy="16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95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40" y="1279"/>
                      <a:ext cx="109" cy="1652"/>
                      <a:chOff x="704" y="1184"/>
                      <a:chExt cx="109" cy="1652"/>
                    </a:xfrm>
                  </p:grpSpPr>
                  <p:sp>
                    <p:nvSpPr>
                      <p:cNvPr id="96" name="Line 7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04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7" name="Line 77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58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8" name="Line 78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813" y="1192"/>
                        <a:ext cx="0" cy="16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6" name="Group 79"/>
                  <p:cNvGrpSpPr>
                    <a:grpSpLocks/>
                  </p:cNvGrpSpPr>
                  <p:nvPr/>
                </p:nvGrpSpPr>
                <p:grpSpPr bwMode="auto">
                  <a:xfrm>
                    <a:off x="749" y="822"/>
                    <a:ext cx="1573" cy="587"/>
                    <a:chOff x="630" y="1268"/>
                    <a:chExt cx="1573" cy="587"/>
                  </a:xfrm>
                </p:grpSpPr>
                <p:grpSp>
                  <p:nvGrpSpPr>
                    <p:cNvPr id="86" name="Group 8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" y="126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91" name="Line 81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2" name="Line 8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3" name="Line 8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87" name="Group 8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173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8" name="Line 85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89" name="Line 8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0" name="Line 87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7" name="Group 88"/>
                  <p:cNvGrpSpPr>
                    <a:grpSpLocks/>
                  </p:cNvGrpSpPr>
                  <p:nvPr/>
                </p:nvGrpSpPr>
                <p:grpSpPr bwMode="auto">
                  <a:xfrm>
                    <a:off x="758" y="1750"/>
                    <a:ext cx="1573" cy="587"/>
                    <a:chOff x="630" y="1268"/>
                    <a:chExt cx="1573" cy="587"/>
                  </a:xfrm>
                </p:grpSpPr>
                <p:grpSp>
                  <p:nvGrpSpPr>
                    <p:cNvPr id="78" name="Group 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" y="126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3" name="Line 90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84" name="Line 91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85" name="Line 9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79" name="Group 9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173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0" name="Line 94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81" name="Line 95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82" name="Line 9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17" name="Group 97"/>
              <p:cNvGrpSpPr>
                <a:grpSpLocks/>
              </p:cNvGrpSpPr>
              <p:nvPr/>
            </p:nvGrpSpPr>
            <p:grpSpPr bwMode="auto">
              <a:xfrm>
                <a:off x="795" y="790"/>
                <a:ext cx="1482" cy="1569"/>
                <a:chOff x="676" y="1236"/>
                <a:chExt cx="1482" cy="1569"/>
              </a:xfrm>
            </p:grpSpPr>
            <p:sp>
              <p:nvSpPr>
                <p:cNvPr id="20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1116" y="1240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1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1553" y="1237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1990" y="1236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3" name="Rectangle 101"/>
                <p:cNvSpPr>
                  <a:spLocks noChangeAspect="1" noChangeArrowheads="1"/>
                </p:cNvSpPr>
                <p:nvPr/>
              </p:nvSpPr>
              <p:spPr bwMode="auto">
                <a:xfrm>
                  <a:off x="1116" y="1706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4" name="Rectangle 102"/>
                <p:cNvSpPr>
                  <a:spLocks noChangeAspect="1" noChangeArrowheads="1"/>
                </p:cNvSpPr>
                <p:nvPr/>
              </p:nvSpPr>
              <p:spPr bwMode="auto">
                <a:xfrm>
                  <a:off x="1553" y="1702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5" name="Rectangle 103"/>
                <p:cNvSpPr>
                  <a:spLocks noChangeAspect="1" noChangeArrowheads="1"/>
                </p:cNvSpPr>
                <p:nvPr/>
              </p:nvSpPr>
              <p:spPr bwMode="auto">
                <a:xfrm>
                  <a:off x="1990" y="1701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" name="Rectangle 104"/>
                <p:cNvSpPr>
                  <a:spLocks noChangeAspect="1" noChangeArrowheads="1"/>
                </p:cNvSpPr>
                <p:nvPr/>
              </p:nvSpPr>
              <p:spPr bwMode="auto">
                <a:xfrm>
                  <a:off x="1117" y="2171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" name="Rectangle 105"/>
                <p:cNvSpPr>
                  <a:spLocks noChangeAspect="1" noChangeArrowheads="1"/>
                </p:cNvSpPr>
                <p:nvPr/>
              </p:nvSpPr>
              <p:spPr bwMode="auto">
                <a:xfrm>
                  <a:off x="1554" y="2167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8" name="Rectangle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1991" y="2167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9" name="Rectangle 107"/>
                <p:cNvSpPr>
                  <a:spLocks noChangeAspect="1" noChangeArrowheads="1"/>
                </p:cNvSpPr>
                <p:nvPr/>
              </p:nvSpPr>
              <p:spPr bwMode="auto">
                <a:xfrm>
                  <a:off x="1120" y="2632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0" name="Rectangl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1557" y="2628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1" name="Rectangle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1994" y="2628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2" name="Rectangle 110"/>
                <p:cNvSpPr>
                  <a:spLocks noChangeAspect="1" noChangeArrowheads="1"/>
                </p:cNvSpPr>
                <p:nvPr/>
              </p:nvSpPr>
              <p:spPr bwMode="auto">
                <a:xfrm>
                  <a:off x="679" y="2631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3" name="Rectangle 111"/>
                <p:cNvSpPr>
                  <a:spLocks noChangeAspect="1" noChangeArrowheads="1"/>
                </p:cNvSpPr>
                <p:nvPr/>
              </p:nvSpPr>
              <p:spPr bwMode="auto">
                <a:xfrm>
                  <a:off x="676" y="2172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4" name="Rectangle 112"/>
                <p:cNvSpPr>
                  <a:spLocks noChangeAspect="1" noChangeArrowheads="1"/>
                </p:cNvSpPr>
                <p:nvPr/>
              </p:nvSpPr>
              <p:spPr bwMode="auto">
                <a:xfrm>
                  <a:off x="676" y="1704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5" name="Rectangle 113"/>
                <p:cNvSpPr>
                  <a:spLocks noChangeAspect="1" noChangeArrowheads="1"/>
                </p:cNvSpPr>
                <p:nvPr/>
              </p:nvSpPr>
              <p:spPr bwMode="auto">
                <a:xfrm>
                  <a:off x="677" y="1240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cs typeface="Lotus" pitchFamily="2" charset="-78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18" name="Line 114"/>
              <p:cNvSpPr>
                <a:spLocks noChangeShapeType="1"/>
              </p:cNvSpPr>
              <p:nvPr/>
            </p:nvSpPr>
            <p:spPr bwMode="auto">
              <a:xfrm flipH="1" flipV="1">
                <a:off x="1974" y="1113"/>
                <a:ext cx="454" cy="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en-US"/>
              </a:p>
            </p:txBody>
          </p:sp>
          <p:sp>
            <p:nvSpPr>
              <p:cNvPr id="19" name="Line 115"/>
              <p:cNvSpPr>
                <a:spLocks noChangeShapeType="1"/>
              </p:cNvSpPr>
              <p:nvPr/>
            </p:nvSpPr>
            <p:spPr bwMode="auto">
              <a:xfrm flipV="1">
                <a:off x="665" y="1352"/>
                <a:ext cx="652" cy="1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en-US"/>
              </a:p>
            </p:txBody>
          </p:sp>
        </p:grpSp>
      </p:grpSp>
      <p:grpSp>
        <p:nvGrpSpPr>
          <p:cNvPr id="117" name="Group 116"/>
          <p:cNvGrpSpPr>
            <a:grpSpLocks/>
          </p:cNvGrpSpPr>
          <p:nvPr/>
        </p:nvGrpSpPr>
        <p:grpSpPr bwMode="auto">
          <a:xfrm>
            <a:off x="238125" y="2701925"/>
            <a:ext cx="2014538" cy="3475037"/>
            <a:chOff x="150" y="1515"/>
            <a:chExt cx="1269" cy="2189"/>
          </a:xfrm>
        </p:grpSpPr>
        <p:sp>
          <p:nvSpPr>
            <p:cNvPr id="118" name="Rectangle 117"/>
            <p:cNvSpPr>
              <a:spLocks noChangeAspect="1" noChangeArrowheads="1"/>
            </p:cNvSpPr>
            <p:nvPr/>
          </p:nvSpPr>
          <p:spPr bwMode="auto">
            <a:xfrm>
              <a:off x="151" y="2588"/>
              <a:ext cx="1096" cy="1113"/>
            </a:xfrm>
            <a:prstGeom prst="rect">
              <a:avLst/>
            </a:prstGeom>
            <a:solidFill>
              <a:srgbClr val="DDDDDD"/>
            </a:solidFill>
            <a:ln w="19050" algn="ctr">
              <a:solidFill>
                <a:srgbClr val="00CC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9" name="Line 118"/>
            <p:cNvSpPr>
              <a:spLocks noChangeShapeType="1"/>
            </p:cNvSpPr>
            <p:nvPr/>
          </p:nvSpPr>
          <p:spPr bwMode="auto">
            <a:xfrm>
              <a:off x="436" y="2588"/>
              <a:ext cx="0" cy="1114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Line 119"/>
            <p:cNvSpPr>
              <a:spLocks noChangeShapeType="1"/>
            </p:cNvSpPr>
            <p:nvPr/>
          </p:nvSpPr>
          <p:spPr bwMode="auto">
            <a:xfrm>
              <a:off x="695" y="2588"/>
              <a:ext cx="0" cy="1114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Line 120"/>
            <p:cNvSpPr>
              <a:spLocks noChangeShapeType="1"/>
            </p:cNvSpPr>
            <p:nvPr/>
          </p:nvSpPr>
          <p:spPr bwMode="auto">
            <a:xfrm>
              <a:off x="955" y="2588"/>
              <a:ext cx="0" cy="1113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Line 121"/>
            <p:cNvSpPr>
              <a:spLocks noChangeShapeType="1"/>
            </p:cNvSpPr>
            <p:nvPr/>
          </p:nvSpPr>
          <p:spPr bwMode="auto">
            <a:xfrm>
              <a:off x="151" y="2917"/>
              <a:ext cx="1101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Line 122"/>
            <p:cNvSpPr>
              <a:spLocks noChangeShapeType="1"/>
            </p:cNvSpPr>
            <p:nvPr/>
          </p:nvSpPr>
          <p:spPr bwMode="auto">
            <a:xfrm>
              <a:off x="151" y="3114"/>
              <a:ext cx="1101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123"/>
            <p:cNvSpPr>
              <a:spLocks noChangeShapeType="1"/>
            </p:cNvSpPr>
            <p:nvPr/>
          </p:nvSpPr>
          <p:spPr bwMode="auto">
            <a:xfrm>
              <a:off x="151" y="3309"/>
              <a:ext cx="1098" cy="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283" y="2760"/>
              <a:ext cx="809" cy="74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1152" y="1515"/>
              <a:ext cx="264" cy="268"/>
            </a:xfrm>
            <a:prstGeom prst="rect">
              <a:avLst/>
            </a:prstGeom>
            <a:noFill/>
            <a:ln w="12700" algn="ctr">
              <a:solidFill>
                <a:srgbClr val="00CC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1247" y="1521"/>
              <a:ext cx="169" cy="2183"/>
            </a:xfrm>
            <a:custGeom>
              <a:avLst/>
              <a:gdLst>
                <a:gd name="T0" fmla="*/ 168 w 169"/>
                <a:gd name="T1" fmla="*/ 0 h 2183"/>
                <a:gd name="T2" fmla="*/ 0 w 169"/>
                <a:gd name="T3" fmla="*/ 1068 h 2183"/>
                <a:gd name="T4" fmla="*/ 1 w 169"/>
                <a:gd name="T5" fmla="*/ 2183 h 2183"/>
                <a:gd name="T6" fmla="*/ 169 w 169"/>
                <a:gd name="T7" fmla="*/ 258 h 2183"/>
                <a:gd name="T8" fmla="*/ 168 w 169"/>
                <a:gd name="T9" fmla="*/ 0 h 2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183"/>
                <a:gd name="T17" fmla="*/ 169 w 169"/>
                <a:gd name="T18" fmla="*/ 2183 h 2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183">
                  <a:moveTo>
                    <a:pt x="168" y="0"/>
                  </a:moveTo>
                  <a:lnTo>
                    <a:pt x="0" y="1068"/>
                  </a:lnTo>
                  <a:lnTo>
                    <a:pt x="1" y="2183"/>
                  </a:lnTo>
                  <a:lnTo>
                    <a:pt x="169" y="25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00FF99">
                <a:alpha val="45882"/>
              </a:srgbClr>
            </a:solidFill>
            <a:ln w="6350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8" name="Line 127"/>
            <p:cNvSpPr>
              <a:spLocks noChangeAspect="1" noChangeShapeType="1"/>
            </p:cNvSpPr>
            <p:nvPr/>
          </p:nvSpPr>
          <p:spPr bwMode="auto">
            <a:xfrm flipH="1">
              <a:off x="730" y="1783"/>
              <a:ext cx="422" cy="805"/>
            </a:xfrm>
            <a:prstGeom prst="line">
              <a:avLst/>
            </a:prstGeom>
            <a:noFill/>
            <a:ln w="6350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150" y="1517"/>
              <a:ext cx="1269" cy="1072"/>
            </a:xfrm>
            <a:custGeom>
              <a:avLst/>
              <a:gdLst>
                <a:gd name="T0" fmla="*/ 1004 w 1269"/>
                <a:gd name="T1" fmla="*/ 0 h 1072"/>
                <a:gd name="T2" fmla="*/ 0 w 1269"/>
                <a:gd name="T3" fmla="*/ 1071 h 1072"/>
                <a:gd name="T4" fmla="*/ 1098 w 1269"/>
                <a:gd name="T5" fmla="*/ 1072 h 1072"/>
                <a:gd name="T6" fmla="*/ 1269 w 1269"/>
                <a:gd name="T7" fmla="*/ 0 h 1072"/>
                <a:gd name="T8" fmla="*/ 1004 w 1269"/>
                <a:gd name="T9" fmla="*/ 0 h 10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9"/>
                <a:gd name="T16" fmla="*/ 0 h 1072"/>
                <a:gd name="T17" fmla="*/ 1269 w 1269"/>
                <a:gd name="T18" fmla="*/ 1072 h 10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9" h="1072">
                  <a:moveTo>
                    <a:pt x="1004" y="0"/>
                  </a:moveTo>
                  <a:lnTo>
                    <a:pt x="0" y="1071"/>
                  </a:lnTo>
                  <a:lnTo>
                    <a:pt x="1098" y="1072"/>
                  </a:lnTo>
                  <a:lnTo>
                    <a:pt x="1269" y="0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00FF99">
                <a:alpha val="45882"/>
              </a:srgbClr>
            </a:solidFill>
            <a:ln w="6350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0" name="Group 129"/>
          <p:cNvGrpSpPr>
            <a:grpSpLocks/>
          </p:cNvGrpSpPr>
          <p:nvPr/>
        </p:nvGrpSpPr>
        <p:grpSpPr bwMode="auto">
          <a:xfrm>
            <a:off x="300038" y="4497387"/>
            <a:ext cx="1568450" cy="1597025"/>
            <a:chOff x="189" y="2646"/>
            <a:chExt cx="988" cy="1006"/>
          </a:xfrm>
        </p:grpSpPr>
        <p:sp>
          <p:nvSpPr>
            <p:cNvPr id="131" name="Rectangle 130"/>
            <p:cNvSpPr>
              <a:spLocks noChangeArrowheads="1"/>
            </p:cNvSpPr>
            <p:nvPr/>
          </p:nvSpPr>
          <p:spPr bwMode="auto">
            <a:xfrm>
              <a:off x="283" y="2760"/>
              <a:ext cx="809" cy="746"/>
            </a:xfrm>
            <a:prstGeom prst="rect">
              <a:avLst/>
            </a:prstGeom>
            <a:solidFill>
              <a:srgbClr val="00B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2" name="Line 131"/>
            <p:cNvSpPr>
              <a:spLocks noChangeShapeType="1"/>
            </p:cNvSpPr>
            <p:nvPr/>
          </p:nvSpPr>
          <p:spPr bwMode="auto">
            <a:xfrm>
              <a:off x="436" y="2646"/>
              <a:ext cx="0" cy="988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Line 132"/>
            <p:cNvSpPr>
              <a:spLocks noChangeShapeType="1"/>
            </p:cNvSpPr>
            <p:nvPr/>
          </p:nvSpPr>
          <p:spPr bwMode="auto">
            <a:xfrm>
              <a:off x="695" y="2667"/>
              <a:ext cx="0" cy="967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Line 133"/>
            <p:cNvSpPr>
              <a:spLocks noChangeShapeType="1"/>
            </p:cNvSpPr>
            <p:nvPr/>
          </p:nvSpPr>
          <p:spPr bwMode="auto">
            <a:xfrm>
              <a:off x="955" y="2667"/>
              <a:ext cx="0" cy="985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Line 134"/>
            <p:cNvSpPr>
              <a:spLocks noChangeShapeType="1"/>
            </p:cNvSpPr>
            <p:nvPr/>
          </p:nvSpPr>
          <p:spPr bwMode="auto">
            <a:xfrm>
              <a:off x="252" y="2917"/>
              <a:ext cx="925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Line 135"/>
            <p:cNvSpPr>
              <a:spLocks noChangeShapeType="1"/>
            </p:cNvSpPr>
            <p:nvPr/>
          </p:nvSpPr>
          <p:spPr bwMode="auto">
            <a:xfrm>
              <a:off x="252" y="3114"/>
              <a:ext cx="900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136"/>
            <p:cNvSpPr>
              <a:spLocks noChangeShapeType="1"/>
            </p:cNvSpPr>
            <p:nvPr/>
          </p:nvSpPr>
          <p:spPr bwMode="auto">
            <a:xfrm>
              <a:off x="189" y="3309"/>
              <a:ext cx="988" cy="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AutoShape 137"/>
            <p:cNvSpPr>
              <a:spLocks noChangeArrowheads="1"/>
            </p:cNvSpPr>
            <p:nvPr/>
          </p:nvSpPr>
          <p:spPr bwMode="auto">
            <a:xfrm>
              <a:off x="621" y="3035"/>
              <a:ext cx="149" cy="157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9" name="AutoShape 138"/>
            <p:cNvSpPr>
              <a:spLocks noChangeArrowheads="1"/>
            </p:cNvSpPr>
            <p:nvPr/>
          </p:nvSpPr>
          <p:spPr bwMode="auto">
            <a:xfrm>
              <a:off x="361" y="3232"/>
              <a:ext cx="148" cy="157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0" name="AutoShape 139"/>
            <p:cNvSpPr>
              <a:spLocks noChangeArrowheads="1"/>
            </p:cNvSpPr>
            <p:nvPr/>
          </p:nvSpPr>
          <p:spPr bwMode="auto">
            <a:xfrm>
              <a:off x="881" y="2838"/>
              <a:ext cx="148" cy="159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41" name="Group 140"/>
          <p:cNvGrpSpPr>
            <a:grpSpLocks/>
          </p:cNvGrpSpPr>
          <p:nvPr/>
        </p:nvGrpSpPr>
        <p:grpSpPr bwMode="auto">
          <a:xfrm>
            <a:off x="866775" y="5029200"/>
            <a:ext cx="3089275" cy="1447800"/>
            <a:chOff x="546" y="2981"/>
            <a:chExt cx="1946" cy="912"/>
          </a:xfrm>
        </p:grpSpPr>
        <p:sp>
          <p:nvSpPr>
            <p:cNvPr id="142" name="Rectangle 141"/>
            <p:cNvSpPr>
              <a:spLocks noChangeArrowheads="1"/>
            </p:cNvSpPr>
            <p:nvPr/>
          </p:nvSpPr>
          <p:spPr bwMode="auto">
            <a:xfrm>
              <a:off x="551" y="2985"/>
              <a:ext cx="278" cy="268"/>
            </a:xfrm>
            <a:prstGeom prst="rect">
              <a:avLst/>
            </a:prstGeom>
            <a:noFill/>
            <a:ln w="19050" algn="ctr">
              <a:solidFill>
                <a:srgbClr val="FF99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" name="Rectangle 142"/>
            <p:cNvSpPr>
              <a:spLocks noChangeAspect="1" noChangeArrowheads="1"/>
            </p:cNvSpPr>
            <p:nvPr/>
          </p:nvSpPr>
          <p:spPr bwMode="auto">
            <a:xfrm>
              <a:off x="1723" y="3156"/>
              <a:ext cx="768" cy="736"/>
            </a:xfrm>
            <a:prstGeom prst="rect">
              <a:avLst/>
            </a:prstGeom>
            <a:solidFill>
              <a:srgbClr val="00B000"/>
            </a:solidFill>
            <a:ln w="19050" algn="ctr">
              <a:solidFill>
                <a:srgbClr val="FF99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4" name="AutoShape 143"/>
            <p:cNvSpPr>
              <a:spLocks noChangeArrowheads="1"/>
            </p:cNvSpPr>
            <p:nvPr/>
          </p:nvSpPr>
          <p:spPr bwMode="auto">
            <a:xfrm>
              <a:off x="1861" y="3250"/>
              <a:ext cx="522" cy="541"/>
            </a:xfrm>
            <a:prstGeom prst="diamond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5" name="Line 144"/>
            <p:cNvSpPr>
              <a:spLocks noChangeShapeType="1"/>
            </p:cNvSpPr>
            <p:nvPr/>
          </p:nvSpPr>
          <p:spPr bwMode="auto">
            <a:xfrm flipH="1">
              <a:off x="2119" y="3156"/>
              <a:ext cx="3" cy="7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Line 145"/>
            <p:cNvSpPr>
              <a:spLocks noChangeShapeType="1"/>
            </p:cNvSpPr>
            <p:nvPr/>
          </p:nvSpPr>
          <p:spPr bwMode="auto">
            <a:xfrm flipV="1">
              <a:off x="1724" y="3516"/>
              <a:ext cx="76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Oval 146"/>
            <p:cNvSpPr>
              <a:spLocks noChangeArrowheads="1"/>
            </p:cNvSpPr>
            <p:nvPr/>
          </p:nvSpPr>
          <p:spPr bwMode="auto">
            <a:xfrm>
              <a:off x="2209" y="3470"/>
              <a:ext cx="86" cy="92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8" name="Oval 147"/>
            <p:cNvSpPr>
              <a:spLocks noChangeArrowheads="1"/>
            </p:cNvSpPr>
            <p:nvPr/>
          </p:nvSpPr>
          <p:spPr bwMode="auto">
            <a:xfrm>
              <a:off x="2079" y="3379"/>
              <a:ext cx="86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9" name="Oval 148"/>
            <p:cNvSpPr>
              <a:spLocks noChangeArrowheads="1"/>
            </p:cNvSpPr>
            <p:nvPr/>
          </p:nvSpPr>
          <p:spPr bwMode="auto">
            <a:xfrm>
              <a:off x="1949" y="3609"/>
              <a:ext cx="85" cy="90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0" name="Oval 149"/>
            <p:cNvSpPr>
              <a:spLocks noChangeArrowheads="1"/>
            </p:cNvSpPr>
            <p:nvPr/>
          </p:nvSpPr>
          <p:spPr bwMode="auto">
            <a:xfrm>
              <a:off x="2209" y="3334"/>
              <a:ext cx="86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1" name="Oval 150"/>
            <p:cNvSpPr>
              <a:spLocks noChangeArrowheads="1"/>
            </p:cNvSpPr>
            <p:nvPr/>
          </p:nvSpPr>
          <p:spPr bwMode="auto">
            <a:xfrm>
              <a:off x="2209" y="3609"/>
              <a:ext cx="86" cy="90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2" name="Oval 151"/>
            <p:cNvSpPr>
              <a:spLocks noChangeArrowheads="1"/>
            </p:cNvSpPr>
            <p:nvPr/>
          </p:nvSpPr>
          <p:spPr bwMode="auto">
            <a:xfrm>
              <a:off x="1949" y="3334"/>
              <a:ext cx="85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" name="Freeform 152"/>
            <p:cNvSpPr>
              <a:spLocks/>
            </p:cNvSpPr>
            <p:nvPr/>
          </p:nvSpPr>
          <p:spPr bwMode="auto">
            <a:xfrm>
              <a:off x="548" y="2981"/>
              <a:ext cx="1944" cy="180"/>
            </a:xfrm>
            <a:custGeom>
              <a:avLst/>
              <a:gdLst>
                <a:gd name="T0" fmla="*/ 1944 w 1944"/>
                <a:gd name="T1" fmla="*/ 175 h 180"/>
                <a:gd name="T2" fmla="*/ 280 w 1944"/>
                <a:gd name="T3" fmla="*/ 0 h 180"/>
                <a:gd name="T4" fmla="*/ 0 w 1944"/>
                <a:gd name="T5" fmla="*/ 3 h 180"/>
                <a:gd name="T6" fmla="*/ 1173 w 1944"/>
                <a:gd name="T7" fmla="*/ 180 h 180"/>
                <a:gd name="T8" fmla="*/ 1944 w 1944"/>
                <a:gd name="T9" fmla="*/ 175 h 1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4"/>
                <a:gd name="T16" fmla="*/ 0 h 180"/>
                <a:gd name="T17" fmla="*/ 1944 w 1944"/>
                <a:gd name="T18" fmla="*/ 180 h 1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4" h="180">
                  <a:moveTo>
                    <a:pt x="1944" y="175"/>
                  </a:moveTo>
                  <a:lnTo>
                    <a:pt x="280" y="0"/>
                  </a:lnTo>
                  <a:lnTo>
                    <a:pt x="0" y="3"/>
                  </a:lnTo>
                  <a:lnTo>
                    <a:pt x="1173" y="180"/>
                  </a:lnTo>
                  <a:lnTo>
                    <a:pt x="1944" y="175"/>
                  </a:lnTo>
                  <a:close/>
                </a:path>
              </a:pathLst>
            </a:custGeom>
            <a:solidFill>
              <a:srgbClr val="FF9900">
                <a:alpha val="45882"/>
              </a:srgbClr>
            </a:solidFill>
            <a:ln w="6350">
              <a:solidFill>
                <a:srgbClr val="FF99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4" name="Line 153"/>
            <p:cNvSpPr>
              <a:spLocks noChangeAspect="1" noChangeShapeType="1"/>
            </p:cNvSpPr>
            <p:nvPr/>
          </p:nvSpPr>
          <p:spPr bwMode="auto">
            <a:xfrm flipH="1" flipV="1">
              <a:off x="829" y="3253"/>
              <a:ext cx="891" cy="342"/>
            </a:xfrm>
            <a:prstGeom prst="line">
              <a:avLst/>
            </a:prstGeom>
            <a:noFill/>
            <a:ln w="6350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546" y="2982"/>
              <a:ext cx="1181" cy="911"/>
            </a:xfrm>
            <a:custGeom>
              <a:avLst/>
              <a:gdLst>
                <a:gd name="T0" fmla="*/ 1181 w 1181"/>
                <a:gd name="T1" fmla="*/ 179 h 911"/>
                <a:gd name="T2" fmla="*/ 0 w 1181"/>
                <a:gd name="T3" fmla="*/ 0 h 911"/>
                <a:gd name="T4" fmla="*/ 0 w 1181"/>
                <a:gd name="T5" fmla="*/ 278 h 911"/>
                <a:gd name="T6" fmla="*/ 1178 w 1181"/>
                <a:gd name="T7" fmla="*/ 911 h 911"/>
                <a:gd name="T8" fmla="*/ 1181 w 1181"/>
                <a:gd name="T9" fmla="*/ 179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1"/>
                <a:gd name="T16" fmla="*/ 0 h 911"/>
                <a:gd name="T17" fmla="*/ 1181 w 1181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1" h="911">
                  <a:moveTo>
                    <a:pt x="1181" y="179"/>
                  </a:moveTo>
                  <a:lnTo>
                    <a:pt x="0" y="0"/>
                  </a:lnTo>
                  <a:lnTo>
                    <a:pt x="0" y="278"/>
                  </a:lnTo>
                  <a:lnTo>
                    <a:pt x="1178" y="911"/>
                  </a:lnTo>
                  <a:lnTo>
                    <a:pt x="1181" y="179"/>
                  </a:lnTo>
                  <a:close/>
                </a:path>
              </a:pathLst>
            </a:custGeom>
            <a:solidFill>
              <a:srgbClr val="FF9900">
                <a:alpha val="45882"/>
              </a:srgbClr>
            </a:solidFill>
            <a:ln w="6350">
              <a:solidFill>
                <a:srgbClr val="FF99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6" name="Group 155"/>
          <p:cNvGrpSpPr>
            <a:grpSpLocks/>
          </p:cNvGrpSpPr>
          <p:nvPr/>
        </p:nvGrpSpPr>
        <p:grpSpPr bwMode="auto">
          <a:xfrm>
            <a:off x="4556125" y="5419725"/>
            <a:ext cx="1084263" cy="1030287"/>
            <a:chOff x="2870" y="3227"/>
            <a:chExt cx="683" cy="649"/>
          </a:xfrm>
        </p:grpSpPr>
        <p:sp>
          <p:nvSpPr>
            <p:cNvPr id="157" name="Oval 156"/>
            <p:cNvSpPr>
              <a:spLocks noChangeArrowheads="1"/>
            </p:cNvSpPr>
            <p:nvPr/>
          </p:nvSpPr>
          <p:spPr bwMode="auto">
            <a:xfrm>
              <a:off x="2870" y="3227"/>
              <a:ext cx="683" cy="649"/>
            </a:xfrm>
            <a:prstGeom prst="ellipse">
              <a:avLst/>
            </a:prstGeom>
            <a:solidFill>
              <a:srgbClr val="FF3300"/>
            </a:solidFill>
            <a:ln w="9525">
              <a:round/>
              <a:headEnd/>
              <a:tailEnd/>
            </a:ln>
            <a:scene3d>
              <a:camera prst="legacyPerspectiveBottomLeft">
                <a:rot lat="600000" lon="0" rev="0"/>
              </a:camera>
              <a:lightRig rig="legacyFlat2" dir="t"/>
            </a:scene3d>
            <a:sp3d extrusionH="50773000" prstMaterial="legacyMatte">
              <a:bevelT w="13500" h="13500" prst="angle"/>
              <a:bevelB w="13500" h="13500" prst="angle"/>
              <a:extrusionClr>
                <a:srgbClr val="FF3300"/>
              </a:extrusionClr>
            </a:sp3d>
          </p:spPr>
          <p:txBody>
            <a:bodyPr wrap="none" anchor="ctr">
              <a:flatTx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58" name="Group 157"/>
            <p:cNvGrpSpPr>
              <a:grpSpLocks/>
            </p:cNvGrpSpPr>
            <p:nvPr/>
          </p:nvGrpSpPr>
          <p:grpSpPr bwMode="auto">
            <a:xfrm>
              <a:off x="2870" y="3298"/>
              <a:ext cx="521" cy="485"/>
              <a:chOff x="2870" y="3298"/>
              <a:chExt cx="521" cy="485"/>
            </a:xfrm>
          </p:grpSpPr>
          <p:sp>
            <p:nvSpPr>
              <p:cNvPr id="159" name="Line 158"/>
              <p:cNvSpPr>
                <a:spLocks noChangeShapeType="1"/>
              </p:cNvSpPr>
              <p:nvPr/>
            </p:nvSpPr>
            <p:spPr bwMode="auto">
              <a:xfrm rot="2862505" flipH="1">
                <a:off x="3141" y="3513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Line 159"/>
              <p:cNvSpPr>
                <a:spLocks noChangeShapeType="1"/>
              </p:cNvSpPr>
              <p:nvPr/>
            </p:nvSpPr>
            <p:spPr bwMode="auto">
              <a:xfrm rot="2862505" flipH="1">
                <a:off x="3123" y="3493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Line 160"/>
              <p:cNvSpPr>
                <a:spLocks noChangeShapeType="1"/>
              </p:cNvSpPr>
              <p:nvPr/>
            </p:nvSpPr>
            <p:spPr bwMode="auto">
              <a:xfrm rot="2862505" flipH="1">
                <a:off x="3040" y="3557"/>
                <a:ext cx="5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Line 161"/>
              <p:cNvSpPr>
                <a:spLocks noChangeShapeType="1"/>
              </p:cNvSpPr>
              <p:nvPr/>
            </p:nvSpPr>
            <p:spPr bwMode="auto">
              <a:xfrm rot="2862505" flipH="1">
                <a:off x="3114" y="3489"/>
                <a:ext cx="5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Line 162"/>
              <p:cNvSpPr>
                <a:spLocks noChangeAspect="1" noChangeShapeType="1"/>
              </p:cNvSpPr>
              <p:nvPr/>
            </p:nvSpPr>
            <p:spPr bwMode="auto">
              <a:xfrm rot="2862505" flipH="1">
                <a:off x="2973" y="3502"/>
                <a:ext cx="0" cy="205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Line 163"/>
              <p:cNvSpPr>
                <a:spLocks noChangeShapeType="1"/>
              </p:cNvSpPr>
              <p:nvPr/>
            </p:nvSpPr>
            <p:spPr bwMode="auto">
              <a:xfrm rot="2862505" flipH="1">
                <a:off x="3151" y="3406"/>
                <a:ext cx="0" cy="76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Line 164"/>
              <p:cNvSpPr>
                <a:spLocks noChangeShapeType="1"/>
              </p:cNvSpPr>
              <p:nvPr/>
            </p:nvSpPr>
            <p:spPr bwMode="auto">
              <a:xfrm rot="2862505">
                <a:off x="3123" y="3603"/>
                <a:ext cx="107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Rectangle 165"/>
              <p:cNvSpPr>
                <a:spLocks noChangeArrowheads="1"/>
              </p:cNvSpPr>
              <p:nvPr/>
            </p:nvSpPr>
            <p:spPr bwMode="auto">
              <a:xfrm>
                <a:off x="3220" y="3639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7" name="Line 166"/>
              <p:cNvSpPr>
                <a:spLocks noChangeAspect="1" noChangeShapeType="1"/>
              </p:cNvSpPr>
              <p:nvPr/>
            </p:nvSpPr>
            <p:spPr bwMode="auto">
              <a:xfrm rot="2862505" flipH="1">
                <a:off x="3312" y="3224"/>
                <a:ext cx="0" cy="159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AutoShape 167"/>
              <p:cNvSpPr>
                <a:spLocks noChangeArrowheads="1"/>
              </p:cNvSpPr>
              <p:nvPr/>
            </p:nvSpPr>
            <p:spPr bwMode="auto">
              <a:xfrm rot="2725370">
                <a:off x="3165" y="3300"/>
                <a:ext cx="144" cy="140"/>
              </a:xfrm>
              <a:prstGeom prst="triangle">
                <a:avLst>
                  <a:gd name="adj" fmla="val 50000"/>
                </a:avLst>
              </a:prstGeom>
              <a:solidFill>
                <a:srgbClr val="99CC00"/>
              </a:solidFill>
              <a:ln w="2857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28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990725"/>
            <a:ext cx="7772400" cy="1362075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FPGA </a:t>
            </a:r>
            <a:r>
              <a:rPr lang="en-US" sz="4800" dirty="0" err="1">
                <a:solidFill>
                  <a:srgbClr val="FF0000"/>
                </a:solidFill>
              </a:rPr>
              <a:t>ArchitecturE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27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Development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FPGAs evolved from Gate Arrays</a:t>
            </a:r>
          </a:p>
          <a:p>
            <a:r>
              <a:rPr lang="en-US" altLang="en-US" sz="2800" dirty="0"/>
              <a:t>Parallel with development of CPLDs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2849563"/>
            <a:ext cx="6657975" cy="271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037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" y="3733800"/>
            <a:ext cx="397715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sz="1200" b="0" dirty="0">
                <a:solidFill>
                  <a:srgbClr val="000000"/>
                </a:solidFill>
                <a:cs typeface="Times New Roman" pitchFamily="18" charset="0"/>
              </a:rPr>
              <a:t>Silicon wafer containing XC4010E 10,000 gate FPGAs.</a:t>
            </a:r>
            <a:endParaRPr lang="en-US" altLang="en-US" sz="12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pic>
        <p:nvPicPr>
          <p:cNvPr id="7" name="Picture 4" descr="xc4000_waf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51" y="1341130"/>
            <a:ext cx="2348476" cy="237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xc4000_di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702" y="1524000"/>
            <a:ext cx="1733493" cy="172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607072" y="3276600"/>
            <a:ext cx="446072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en-US" sz="1200" b="0" dirty="0">
                <a:solidFill>
                  <a:srgbClr val="000000"/>
                </a:solidFill>
                <a:cs typeface="Times New Roman" pitchFamily="18" charset="0"/>
              </a:rPr>
              <a:t>die showing 20 by 20 array of logic elements and interconnect.</a:t>
            </a:r>
            <a:endParaRPr lang="en-US" altLang="en-US" sz="12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pic>
        <p:nvPicPr>
          <p:cNvPr id="10" name="Picture 3" descr="chip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138751"/>
            <a:ext cx="6477000" cy="264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21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41146"/>
            <a:ext cx="39528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 descr="[Unsegmented FPGA Routing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5" y="1755396"/>
            <a:ext cx="420052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858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B Mitra" panose="00000400000000000000" pitchFamily="2" charset="-78"/>
              </a:rPr>
              <a:t>Routing Criteria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cs typeface="B Mitra" panose="00000400000000000000" pitchFamily="2" charset="-78"/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cs typeface="B Mitra" panose="00000400000000000000" pitchFamily="2" charset="-78"/>
              </a:rPr>
              <a:pPr/>
              <a:t>20</a:t>
            </a:fld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cs typeface="B Mitra" panose="00000400000000000000" pitchFamily="2" charset="-78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71600" y="1390650"/>
            <a:ext cx="7162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 </a:t>
            </a:r>
            <a:r>
              <a:rPr lang="en-US" altLang="en-US" dirty="0" err="1">
                <a:cs typeface="B Mitra" panose="00000400000000000000" pitchFamily="2" charset="-78"/>
              </a:rPr>
              <a:t>Routability</a:t>
            </a:r>
            <a:endParaRPr lang="en-US" altLang="en-US" dirty="0">
              <a:cs typeface="B Mitra" panose="00000400000000000000" pitchFamily="2" charset="-78"/>
            </a:endParaRPr>
          </a:p>
          <a:p>
            <a:pPr algn="r" rtl="1">
              <a:spcBef>
                <a:spcPct val="50000"/>
              </a:spcBef>
              <a:buFontTx/>
              <a:buChar char="•"/>
            </a:pPr>
            <a:endParaRPr lang="fa-IR" altLang="en-US" dirty="0">
              <a:cs typeface="B Mitra" panose="00000400000000000000" pitchFamily="2" charset="-78"/>
            </a:endParaRPr>
          </a:p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  سرعت: تعداد سوييچها در مسير</a:t>
            </a:r>
            <a:endParaRPr lang="en-US" altLang="en-US" dirty="0">
              <a:cs typeface="B Mitra" panose="00000400000000000000" pitchFamily="2" charset="-78"/>
            </a:endParaRPr>
          </a:p>
          <a:p>
            <a:pPr algn="r" rtl="1">
              <a:spcBef>
                <a:spcPct val="50000"/>
              </a:spcBef>
              <a:buFontTx/>
              <a:buChar char="•"/>
            </a:pPr>
            <a:endParaRPr lang="fa-IR" altLang="en-US" dirty="0">
              <a:cs typeface="B Mitra" panose="00000400000000000000" pitchFamily="2" charset="-78"/>
            </a:endParaRPr>
          </a:p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  فضا.</a:t>
            </a:r>
            <a:endParaRPr lang="en-US" altLang="en-US" dirty="0">
              <a:cs typeface="B Mitra" panose="00000400000000000000" pitchFamily="2" charset="-78"/>
            </a:endParaRPr>
          </a:p>
          <a:p>
            <a:pPr lvl="1" algn="r" rtl="1">
              <a:spcBef>
                <a:spcPct val="50000"/>
              </a:spcBef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 منابع اتصالي کم </a:t>
            </a:r>
            <a:r>
              <a:rPr lang="en-US" altLang="en-US" dirty="0">
                <a:cs typeface="B Mitra" panose="00000400000000000000" pitchFamily="2" charset="-78"/>
                <a:sym typeface="Wingdings" pitchFamily="2" charset="2"/>
              </a:rPr>
              <a:t></a:t>
            </a:r>
            <a:r>
              <a:rPr lang="fa-IR" altLang="en-US" dirty="0">
                <a:cs typeface="B Mitra" panose="00000400000000000000" pitchFamily="2" charset="-78"/>
                <a:sym typeface="Wingdings" pitchFamily="2" charset="2"/>
              </a:rPr>
              <a:t> کاهش امکان پياده سازي مدار مورد نظر</a:t>
            </a:r>
          </a:p>
          <a:p>
            <a:pPr lvl="1" algn="r" rtl="1">
              <a:spcBef>
                <a:spcPct val="50000"/>
              </a:spcBef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  <a:sym typeface="Wingdings" pitchFamily="2" charset="2"/>
              </a:rPr>
              <a:t> </a:t>
            </a:r>
            <a:r>
              <a:rPr lang="fa-IR" altLang="en-US" dirty="0">
                <a:cs typeface="B Mitra" panose="00000400000000000000" pitchFamily="2" charset="-78"/>
              </a:rPr>
              <a:t>منابع اتصالي زياد </a:t>
            </a:r>
            <a:r>
              <a:rPr lang="en-US" altLang="en-US" dirty="0">
                <a:cs typeface="B Mitra" panose="00000400000000000000" pitchFamily="2" charset="-78"/>
                <a:sym typeface="Wingdings" pitchFamily="2" charset="2"/>
              </a:rPr>
              <a:t></a:t>
            </a:r>
            <a:r>
              <a:rPr lang="fa-IR" altLang="en-US" dirty="0">
                <a:cs typeface="B Mitra" panose="00000400000000000000" pitchFamily="2" charset="-78"/>
                <a:sym typeface="Wingdings" pitchFamily="2" charset="2"/>
              </a:rPr>
              <a:t> اتلاف مساحت و کاهش بخش هاي منطقي</a:t>
            </a:r>
            <a:endParaRPr lang="en-US" altLang="en-US" dirty="0">
              <a:cs typeface="B Mitra" panose="00000400000000000000" pitchFamily="2" charset="-78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76" y="1268698"/>
            <a:ext cx="3624924" cy="2998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41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cs typeface="B Mitra" panose="00000400000000000000" pitchFamily="2" charset="-7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Mitra" panose="00000400000000000000" pitchFamily="2" charset="-78"/>
              </a:rPr>
              <a:t>Terms Definition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B Mitra" panose="00000400000000000000" pitchFamily="2" charset="-78"/>
              </a:rPr>
              <a:t>Mahdi Aminian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cs typeface="B Mitra" panose="00000400000000000000" pitchFamily="2" charset="-78"/>
              </a:rPr>
              <a:pPr>
                <a:defRPr/>
              </a:pPr>
              <a:t>21</a:t>
            </a:fld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1000" y="1524000"/>
            <a:ext cx="80772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  </a:t>
            </a:r>
            <a:r>
              <a:rPr lang="en-US" altLang="en-US" sz="2000" dirty="0">
                <a:cs typeface="B Mitra" panose="00000400000000000000" pitchFamily="2" charset="-78"/>
              </a:rPr>
              <a:t>Wire Segment</a:t>
            </a:r>
            <a:r>
              <a:rPr lang="fa-IR" altLang="en-US" sz="2000" dirty="0">
                <a:cs typeface="B Mitra" panose="00000400000000000000" pitchFamily="2" charset="-78"/>
              </a:rPr>
              <a:t>: قطعه سيمي که به يک سوييچ برنامه پذير منتهي شده است.</a:t>
            </a:r>
          </a:p>
          <a:p>
            <a:pPr lvl="1" algn="r" rtl="1">
              <a:spcBef>
                <a:spcPct val="5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  يک يا چند سوييچ مي تواند به يک </a:t>
            </a:r>
            <a:r>
              <a:rPr lang="en-US" altLang="en-US" sz="2000" dirty="0">
                <a:cs typeface="B Mitra" panose="00000400000000000000" pitchFamily="2" charset="-78"/>
              </a:rPr>
              <a:t>wire segment </a:t>
            </a:r>
            <a:r>
              <a:rPr lang="fa-IR" altLang="en-US" sz="2000" dirty="0">
                <a:cs typeface="B Mitra" panose="00000400000000000000" pitchFamily="2" charset="-78"/>
              </a:rPr>
              <a:t> وصل شده باشد.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81000" y="2514600"/>
            <a:ext cx="80772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  </a:t>
            </a:r>
            <a:r>
              <a:rPr lang="en-US" altLang="en-US" sz="2000" dirty="0">
                <a:cs typeface="B Mitra" panose="00000400000000000000" pitchFamily="2" charset="-78"/>
              </a:rPr>
              <a:t>Track</a:t>
            </a:r>
            <a:r>
              <a:rPr lang="fa-IR" altLang="en-US" sz="2000" dirty="0">
                <a:cs typeface="B Mitra" panose="00000400000000000000" pitchFamily="2" charset="-78"/>
              </a:rPr>
              <a:t> (شيار): دنباله اي از يک يا چند </a:t>
            </a:r>
            <a:r>
              <a:rPr lang="en-US" altLang="en-US" sz="2000" dirty="0">
                <a:cs typeface="B Mitra" panose="00000400000000000000" pitchFamily="2" charset="-78"/>
              </a:rPr>
              <a:t>wire segment</a:t>
            </a:r>
            <a:r>
              <a:rPr lang="fa-IR" altLang="en-US" sz="2000" dirty="0">
                <a:cs typeface="B Mitra" panose="00000400000000000000" pitchFamily="2" charset="-78"/>
              </a:rPr>
              <a:t> در امتداد يک خط.</a:t>
            </a:r>
          </a:p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  </a:t>
            </a:r>
            <a:r>
              <a:rPr lang="en-US" altLang="en-US" sz="2000" dirty="0">
                <a:cs typeface="B Mitra" panose="00000400000000000000" pitchFamily="2" charset="-78"/>
              </a:rPr>
              <a:t>Channel</a:t>
            </a:r>
            <a:r>
              <a:rPr lang="fa-IR" altLang="en-US" sz="2000" dirty="0">
                <a:cs typeface="B Mitra" panose="00000400000000000000" pitchFamily="2" charset="-78"/>
              </a:rPr>
              <a:t>: گروهي از </a:t>
            </a:r>
            <a:r>
              <a:rPr lang="en-US" altLang="en-US" sz="2000" dirty="0">
                <a:cs typeface="B Mitra" panose="00000400000000000000" pitchFamily="2" charset="-78"/>
              </a:rPr>
              <a:t>Track</a:t>
            </a:r>
            <a:r>
              <a:rPr lang="fa-IR" altLang="en-US" sz="2000" dirty="0">
                <a:cs typeface="B Mitra" panose="00000400000000000000" pitchFamily="2" charset="-78"/>
              </a:rPr>
              <a:t>هاي موازي.</a:t>
            </a:r>
          </a:p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  </a:t>
            </a:r>
            <a:r>
              <a:rPr lang="en-US" altLang="en-US" sz="2000" dirty="0">
                <a:cs typeface="B Mitra" panose="00000400000000000000" pitchFamily="2" charset="-78"/>
              </a:rPr>
              <a:t>Connection Block</a:t>
            </a:r>
            <a:r>
              <a:rPr lang="fa-IR" altLang="en-US" sz="2000" dirty="0">
                <a:cs typeface="B Mitra" panose="00000400000000000000" pitchFamily="2" charset="-78"/>
              </a:rPr>
              <a:t>: اتصال از وروديها و خروجيهاي يک </a:t>
            </a:r>
            <a:r>
              <a:rPr lang="en-US" altLang="en-US" sz="2000" dirty="0">
                <a:cs typeface="B Mitra" panose="00000400000000000000" pitchFamily="2" charset="-78"/>
              </a:rPr>
              <a:t>LC </a:t>
            </a:r>
            <a:r>
              <a:rPr lang="fa-IR" altLang="en-US" sz="2000" dirty="0">
                <a:cs typeface="B Mitra" panose="00000400000000000000" pitchFamily="2" charset="-78"/>
              </a:rPr>
              <a:t> به </a:t>
            </a:r>
            <a:r>
              <a:rPr lang="en-US" altLang="en-US" sz="2000" dirty="0">
                <a:cs typeface="B Mitra" panose="00000400000000000000" pitchFamily="2" charset="-78"/>
              </a:rPr>
              <a:t>wire segment</a:t>
            </a:r>
            <a:r>
              <a:rPr lang="fa-IR" altLang="en-US" sz="2000" dirty="0">
                <a:cs typeface="B Mitra" panose="00000400000000000000" pitchFamily="2" charset="-78"/>
              </a:rPr>
              <a:t>هاي کانال.</a:t>
            </a:r>
          </a:p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2000" dirty="0">
                <a:cs typeface="B Mitra" panose="00000400000000000000" pitchFamily="2" charset="-78"/>
              </a:rPr>
              <a:t>  </a:t>
            </a:r>
            <a:r>
              <a:rPr lang="en-US" altLang="en-US" sz="2000" dirty="0">
                <a:cs typeface="B Mitra" panose="00000400000000000000" pitchFamily="2" charset="-78"/>
              </a:rPr>
              <a:t>Switch Block</a:t>
            </a:r>
            <a:r>
              <a:rPr lang="fa-IR" altLang="en-US" sz="2000" dirty="0">
                <a:cs typeface="B Mitra" panose="00000400000000000000" pitchFamily="2" charset="-78"/>
              </a:rPr>
              <a:t>: اتصال بين </a:t>
            </a:r>
            <a:r>
              <a:rPr lang="en-US" altLang="en-US" sz="2000" dirty="0">
                <a:cs typeface="B Mitra" panose="00000400000000000000" pitchFamily="2" charset="-78"/>
              </a:rPr>
              <a:t>wire segment</a:t>
            </a:r>
            <a:r>
              <a:rPr lang="fa-IR" altLang="en-US" sz="2000" dirty="0">
                <a:cs typeface="B Mitra" panose="00000400000000000000" pitchFamily="2" charset="-78"/>
              </a:rPr>
              <a:t>هاي افقي و عمودي.</a:t>
            </a:r>
          </a:p>
        </p:txBody>
      </p:sp>
    </p:spTree>
    <p:extLst>
      <p:ext uri="{BB962C8B-B14F-4D97-AF65-F5344CB8AC3E}">
        <p14:creationId xmlns:p14="http://schemas.microsoft.com/office/powerpoint/2010/main" val="79091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Structure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6" name="Picture 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4178165" cy="420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23999"/>
            <a:ext cx="4095750" cy="428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966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Spartan Logic Cell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234" y="0"/>
            <a:ext cx="537347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2400" y="2533650"/>
            <a:ext cx="1447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dirty="0"/>
              <a:t>Spartan Logic Cell</a:t>
            </a:r>
          </a:p>
        </p:txBody>
      </p:sp>
    </p:spTree>
    <p:extLst>
      <p:ext uri="{BB962C8B-B14F-4D97-AF65-F5344CB8AC3E}">
        <p14:creationId xmlns:p14="http://schemas.microsoft.com/office/powerpoint/2010/main" val="105226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Cyclone FPGA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SRAM-based</a:t>
            </a: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71ED04CE-D439-4E2B-B20D-7B5C75E0D788}" type="slidenum">
              <a:rPr lang="en-US" altLang="en-US" sz="1400" b="0" smtClean="0">
                <a:cs typeface="Times New Roman" pitchFamily="18" charset="0"/>
              </a:rPr>
              <a:pPr eaLnBrk="1" hangingPunct="1"/>
              <a:t>24</a:t>
            </a:fld>
            <a:endParaRPr lang="en-US" altLang="en-US" sz="1400" b="0">
              <a:cs typeface="Times New Roman" pitchFamily="18" charset="0"/>
            </a:endParaRPr>
          </a:p>
        </p:txBody>
      </p:sp>
      <p:pic>
        <p:nvPicPr>
          <p:cNvPr id="30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47975"/>
            <a:ext cx="4867275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520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4AF44E3-69CF-43C7-8BFB-5BA6251068D0}" type="slidenum">
              <a:rPr lang="en-US" altLang="en-US" sz="1400" b="0" smtClean="0">
                <a:cs typeface="Times New Roman" pitchFamily="18" charset="0"/>
              </a:rPr>
              <a:pPr eaLnBrk="1" hangingPunct="1"/>
              <a:t>25</a:t>
            </a:fld>
            <a:endParaRPr lang="en-US" altLang="en-US" sz="1400" b="0">
              <a:cs typeface="Times New Roman" pitchFamily="18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Cyclone V Architecture</a:t>
            </a:r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2550"/>
            <a:ext cx="5943600" cy="669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1219200" y="2133600"/>
            <a:ext cx="685800" cy="26670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 rot="-5400000">
            <a:off x="-1038225" y="3305175"/>
            <a:ext cx="3810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Gigabit Transceiver Blocks</a:t>
            </a:r>
          </a:p>
        </p:txBody>
      </p:sp>
    </p:spTree>
    <p:extLst>
      <p:ext uri="{BB962C8B-B14F-4D97-AF65-F5344CB8AC3E}">
        <p14:creationId xmlns:p14="http://schemas.microsoft.com/office/powerpoint/2010/main" val="92824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Cyclone V  Architecture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9B18516-91C3-48BD-9FFD-DF7FF954F0D8}" type="slidenum">
              <a:rPr lang="en-US" altLang="en-US" sz="1400" b="0" smtClean="0">
                <a:cs typeface="Times New Roman" pitchFamily="18" charset="0"/>
              </a:rPr>
              <a:pPr eaLnBrk="1" hangingPunct="1"/>
              <a:t>26</a:t>
            </a:fld>
            <a:endParaRPr lang="en-US" altLang="en-US" sz="1400" b="0">
              <a:cs typeface="Times New Roman" pitchFamily="18" charset="0"/>
            </a:endParaRPr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88" y="1143000"/>
            <a:ext cx="8967788" cy="572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953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ALM Structure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905DE16-931F-4C9B-B099-371D793A316D}" type="slidenum">
              <a:rPr lang="en-US" altLang="en-US" sz="1400" b="0" smtClean="0">
                <a:cs typeface="Times New Roman" pitchFamily="18" charset="0"/>
              </a:rPr>
              <a:pPr eaLnBrk="1" hangingPunct="1"/>
              <a:t>27</a:t>
            </a:fld>
            <a:endParaRPr lang="en-US" altLang="en-US" sz="1400" b="0">
              <a:cs typeface="Times New Roman" pitchFamily="18" charset="0"/>
            </a:endParaRP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"/>
            <a:ext cx="7629525" cy="598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689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Advanced FPGA Architectures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6386" name="Picture 2" descr="File:Xilinx Zynq-7000 AP So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93125"/>
            <a:ext cx="59436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4800" y="5007875"/>
            <a:ext cx="861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The Xilinx </a:t>
            </a:r>
            <a:r>
              <a:rPr lang="en-US" sz="1600" b="1" dirty="0"/>
              <a:t>Zynq-7000 AP</a:t>
            </a:r>
            <a:r>
              <a:rPr lang="en-US" sz="1600" dirty="0"/>
              <a:t> </a:t>
            </a:r>
            <a:r>
              <a:rPr lang="en-US" sz="1600" dirty="0" err="1"/>
              <a:t>SoC</a:t>
            </a:r>
            <a:r>
              <a:rPr lang="en-US" sz="1600" dirty="0"/>
              <a:t> product line provides scalable performance and configuration serving a wide range of applications needs. The combination of the ARM® dual-core Cortex™-A9 </a:t>
            </a:r>
            <a:r>
              <a:rPr lang="en-US" sz="1600" dirty="0" err="1"/>
              <a:t>MPCore</a:t>
            </a:r>
            <a:r>
              <a:rPr lang="en-US" sz="1600" dirty="0"/>
              <a:t>™ processing system and 7 series programmable logic provides a computing platform. Zynq-7000 AP </a:t>
            </a:r>
            <a:r>
              <a:rPr lang="en-US" sz="1600" dirty="0" err="1"/>
              <a:t>SoC</a:t>
            </a:r>
            <a:r>
              <a:rPr lang="en-US" sz="1600" dirty="0"/>
              <a:t> is ideal for solutions requiring advanced system control combined with sophisticated signal processing.</a:t>
            </a:r>
          </a:p>
        </p:txBody>
      </p:sp>
    </p:spTree>
    <p:extLst>
      <p:ext uri="{BB962C8B-B14F-4D97-AF65-F5344CB8AC3E}">
        <p14:creationId xmlns:p14="http://schemas.microsoft.com/office/powerpoint/2010/main" val="2877210254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14219</TotalTime>
  <Words>738</Words>
  <Application>Microsoft Macintosh PowerPoint</Application>
  <PresentationFormat>On-screen Show (4:3)</PresentationFormat>
  <Paragraphs>183</Paragraphs>
  <Slides>28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CommonBullets</vt:lpstr>
      <vt:lpstr>Helvetica</vt:lpstr>
      <vt:lpstr>Lucida Sans Unicode</vt:lpstr>
      <vt:lpstr>Times New Roman</vt:lpstr>
      <vt:lpstr>Wingdings</vt:lpstr>
      <vt:lpstr>Blank Presentation</vt:lpstr>
      <vt:lpstr>Computer-Aided Design    تراشه های منطقی برنامه پذیر</vt:lpstr>
      <vt:lpstr>Digital Circuits</vt:lpstr>
      <vt:lpstr>FPGA</vt:lpstr>
      <vt:lpstr>Field Programmable Logic Array (FPGA)</vt:lpstr>
      <vt:lpstr>FPGA vs. MicroController</vt:lpstr>
      <vt:lpstr>FPGA vs. MicroController</vt:lpstr>
      <vt:lpstr>Logic Blocks (LB)</vt:lpstr>
      <vt:lpstr>Look-Up Table (LUT)</vt:lpstr>
      <vt:lpstr>Look-Up Table (LUT)</vt:lpstr>
      <vt:lpstr>Implementation of Logic Functions using LUT</vt:lpstr>
      <vt:lpstr>Implementation of Logic Functions using LUT-3 &amp; MUX</vt:lpstr>
      <vt:lpstr>Implementation of a 3-input logic function using 4-input LUT</vt:lpstr>
      <vt:lpstr>Effects of Granularity on FPGA Density and Performance</vt:lpstr>
      <vt:lpstr>Programmable Switch Matrix (PSM)</vt:lpstr>
      <vt:lpstr>SRAM-Based FPGA</vt:lpstr>
      <vt:lpstr>FPGA ArchitecturE</vt:lpstr>
      <vt:lpstr>FPGA Development</vt:lpstr>
      <vt:lpstr>FPGA</vt:lpstr>
      <vt:lpstr>FPGA Architecture</vt:lpstr>
      <vt:lpstr>Routing Criteria</vt:lpstr>
      <vt:lpstr>Terms Definition</vt:lpstr>
      <vt:lpstr>Routing Structure Example</vt:lpstr>
      <vt:lpstr>Spartan Logic Cell</vt:lpstr>
      <vt:lpstr>Cyclone FPGA</vt:lpstr>
      <vt:lpstr>Cyclone V Architecture</vt:lpstr>
      <vt:lpstr>Cyclone V  Architecture</vt:lpstr>
      <vt:lpstr>ALM Structure</vt:lpstr>
      <vt:lpstr>Advanced FPGA Architectures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Microsoft Office User</cp:lastModifiedBy>
  <cp:revision>664</cp:revision>
  <cp:lastPrinted>2019-09-23T19:13:06Z</cp:lastPrinted>
  <dcterms:created xsi:type="dcterms:W3CDTF">2009-11-03T19:03:43Z</dcterms:created>
  <dcterms:modified xsi:type="dcterms:W3CDTF">2020-09-28T07:35:15Z</dcterms:modified>
</cp:coreProperties>
</file>