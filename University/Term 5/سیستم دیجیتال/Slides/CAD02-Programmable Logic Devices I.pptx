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8" r:id="rId2"/>
    <p:sldId id="463" r:id="rId3"/>
    <p:sldId id="464" r:id="rId4"/>
    <p:sldId id="465" r:id="rId5"/>
    <p:sldId id="466" r:id="rId6"/>
    <p:sldId id="472" r:id="rId7"/>
    <p:sldId id="473" r:id="rId8"/>
    <p:sldId id="475" r:id="rId9"/>
    <p:sldId id="467" r:id="rId10"/>
    <p:sldId id="498" r:id="rId11"/>
    <p:sldId id="517" r:id="rId12"/>
    <p:sldId id="476" r:id="rId13"/>
    <p:sldId id="523" r:id="rId14"/>
    <p:sldId id="488" r:id="rId15"/>
    <p:sldId id="522" r:id="rId16"/>
    <p:sldId id="489" r:id="rId17"/>
    <p:sldId id="490" r:id="rId18"/>
    <p:sldId id="524" r:id="rId19"/>
    <p:sldId id="525" r:id="rId20"/>
    <p:sldId id="526" r:id="rId21"/>
    <p:sldId id="518" r:id="rId22"/>
    <p:sldId id="500" r:id="rId23"/>
    <p:sldId id="540" r:id="rId24"/>
    <p:sldId id="503" r:id="rId25"/>
    <p:sldId id="527" r:id="rId26"/>
    <p:sldId id="528" r:id="rId27"/>
    <p:sldId id="477" r:id="rId28"/>
    <p:sldId id="530" r:id="rId29"/>
    <p:sldId id="529" r:id="rId30"/>
    <p:sldId id="531" r:id="rId31"/>
    <p:sldId id="532" r:id="rId32"/>
    <p:sldId id="533" r:id="rId33"/>
    <p:sldId id="520" r:id="rId34"/>
    <p:sldId id="479" r:id="rId35"/>
    <p:sldId id="505" r:id="rId36"/>
    <p:sldId id="506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5" autoAdjust="0"/>
    <p:restoredTop sz="96405" autoAdjust="0"/>
  </p:normalViewPr>
  <p:slideViewPr>
    <p:cSldViewPr>
      <p:cViewPr varScale="1">
        <p:scale>
          <a:sx n="126" d="100"/>
          <a:sy n="126" d="100"/>
        </p:scale>
        <p:origin x="170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9/28/20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6435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4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0187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5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6590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6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8485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7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8050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8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4429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9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6731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10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5204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13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14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15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16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17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18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19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20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24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92006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26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10085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27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20901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28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4541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29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36596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34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35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36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CAD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oleObject" Target="../embeddings/oleObject3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910107"/>
            <a:ext cx="8934450" cy="5033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1430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>
                <a:solidFill>
                  <a:schemeClr val="bg1"/>
                </a:solidFill>
                <a:cs typeface="B Mitra" panose="00000400000000000000" pitchFamily="2" charset="-78"/>
              </a:rPr>
              <a:t>تراشه های منطقی برنامه پذیر</a:t>
            </a:r>
            <a:endParaRPr lang="en-US" sz="4800" b="1" dirty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pic>
        <p:nvPicPr>
          <p:cNvPr id="7" name="Picture 6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4864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6135469"/>
            <a:ext cx="4343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CAD slides, Dr. </a:t>
            </a:r>
            <a:r>
              <a:rPr lang="en-US" sz="1400" dirty="0" err="1"/>
              <a:t>Saheb</a:t>
            </a:r>
            <a:r>
              <a:rPr lang="en-US" sz="1400" dirty="0"/>
              <a:t> </a:t>
            </a:r>
            <a:r>
              <a:rPr lang="en-US" sz="1400" dirty="0" err="1"/>
              <a:t>Zamani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allaboutcircuits.com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Circuits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648200"/>
          </a:xfrm>
        </p:spPr>
        <p:txBody>
          <a:bodyPr/>
          <a:lstStyle/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5" name="Text Box 41"/>
          <p:cNvSpPr txBox="1">
            <a:spLocks noChangeArrowheads="1"/>
          </p:cNvSpPr>
          <p:nvPr/>
        </p:nvSpPr>
        <p:spPr bwMode="auto">
          <a:xfrm>
            <a:off x="512763" y="4635500"/>
            <a:ext cx="37544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1400" b="1" u="sng">
                <a:latin typeface="Arial" pitchFamily="34" charset="0"/>
              </a:rPr>
              <a:t>Acronyms</a:t>
            </a:r>
            <a:endParaRPr lang="en-US" altLang="en-US" sz="1400">
              <a:latin typeface="Arial" pitchFamily="34" charset="0"/>
            </a:endParaRPr>
          </a:p>
          <a:p>
            <a:r>
              <a:rPr lang="en-US" altLang="en-US" sz="1400">
                <a:latin typeface="Arial" pitchFamily="34" charset="0"/>
              </a:rPr>
              <a:t>SPLD = Simple Programmable Logic Device </a:t>
            </a:r>
          </a:p>
          <a:p>
            <a:r>
              <a:rPr lang="en-US" altLang="en-US" sz="1400">
                <a:latin typeface="Arial" pitchFamily="34" charset="0"/>
              </a:rPr>
              <a:t>PAL    = Programmable Array Logic</a:t>
            </a:r>
          </a:p>
          <a:p>
            <a:r>
              <a:rPr lang="en-US" altLang="en-US" sz="1400">
                <a:latin typeface="Arial" pitchFamily="34" charset="0"/>
              </a:rPr>
              <a:t>CPLD = Complex PLD</a:t>
            </a:r>
          </a:p>
          <a:p>
            <a:r>
              <a:rPr lang="en-US" altLang="en-US" sz="1400">
                <a:latin typeface="Arial" pitchFamily="34" charset="0"/>
              </a:rPr>
              <a:t>FPGA = Field Programmable Gate Array</a:t>
            </a:r>
          </a:p>
          <a:p>
            <a:r>
              <a:rPr lang="en-US" altLang="en-US" sz="1400">
                <a:latin typeface="Arial" pitchFamily="34" charset="0"/>
              </a:rPr>
              <a:t>ASIC  = Application Specific IC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76348" y="1524000"/>
            <a:ext cx="7227856" cy="2667000"/>
            <a:chOff x="1276348" y="1524000"/>
            <a:chExt cx="7227856" cy="2667000"/>
          </a:xfrm>
        </p:grpSpPr>
        <p:sp>
          <p:nvSpPr>
            <p:cNvPr id="8" name="Line 43"/>
            <p:cNvSpPr>
              <a:spLocks noChangeShapeType="1"/>
            </p:cNvSpPr>
            <p:nvPr/>
          </p:nvSpPr>
          <p:spPr bwMode="auto">
            <a:xfrm>
              <a:off x="1711323" y="2049464"/>
              <a:ext cx="9525" cy="176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3248024" y="1524000"/>
              <a:ext cx="830263" cy="447676"/>
              <a:chOff x="2190" y="800"/>
              <a:chExt cx="453" cy="244"/>
            </a:xfrm>
          </p:grpSpPr>
          <p:sp>
            <p:nvSpPr>
              <p:cNvPr id="43" name="Rectangle 42"/>
              <p:cNvSpPr>
                <a:spLocks noChangeArrowheads="1"/>
              </p:cNvSpPr>
              <p:nvPr/>
            </p:nvSpPr>
            <p:spPr bwMode="auto">
              <a:xfrm>
                <a:off x="2190" y="800"/>
                <a:ext cx="453" cy="244"/>
              </a:xfrm>
              <a:prstGeom prst="rect">
                <a:avLst/>
              </a:prstGeom>
              <a:solidFill>
                <a:srgbClr val="9933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4" name="Rectangle 43"/>
              <p:cNvSpPr>
                <a:spLocks noChangeArrowheads="1"/>
              </p:cNvSpPr>
              <p:nvPr/>
            </p:nvSpPr>
            <p:spPr bwMode="auto">
              <a:xfrm>
                <a:off x="2276" y="862"/>
                <a:ext cx="307" cy="134"/>
              </a:xfrm>
              <a:prstGeom prst="rect">
                <a:avLst/>
              </a:prstGeom>
              <a:solidFill>
                <a:srgbClr val="99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788" tIns="39688" rIns="77788" bIns="39688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Logic</a:t>
                </a:r>
                <a:endParaRPr lang="en-US" altLang="en-US" sz="900" b="1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1276348" y="2149477"/>
              <a:ext cx="871538" cy="449264"/>
              <a:chOff x="1505" y="1151"/>
              <a:chExt cx="476" cy="246"/>
            </a:xfrm>
          </p:grpSpPr>
          <p:sp>
            <p:nvSpPr>
              <p:cNvPr id="41" name="Rectangle 40"/>
              <p:cNvSpPr>
                <a:spLocks noChangeArrowheads="1"/>
              </p:cNvSpPr>
              <p:nvPr/>
            </p:nvSpPr>
            <p:spPr bwMode="auto">
              <a:xfrm>
                <a:off x="1505" y="1151"/>
                <a:ext cx="476" cy="246"/>
              </a:xfrm>
              <a:prstGeom prst="rect">
                <a:avLst/>
              </a:prstGeom>
              <a:solidFill>
                <a:srgbClr val="CF0E3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2" name="Rectangle 41"/>
              <p:cNvSpPr>
                <a:spLocks noChangeArrowheads="1"/>
              </p:cNvSpPr>
              <p:nvPr/>
            </p:nvSpPr>
            <p:spPr bwMode="auto">
              <a:xfrm>
                <a:off x="1530" y="1171"/>
                <a:ext cx="446" cy="224"/>
              </a:xfrm>
              <a:prstGeom prst="rect">
                <a:avLst/>
              </a:prstGeom>
              <a:solidFill>
                <a:srgbClr val="CF0E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788" tIns="39688" rIns="77788" bIns="39688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Standard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Logic</a:t>
                </a:r>
                <a:endParaRPr lang="en-US" altLang="en-US" sz="900" b="1">
                  <a:solidFill>
                    <a:schemeClr val="bg1"/>
                  </a:solidFill>
                  <a:latin typeface="Arial" pitchFamily="34" charset="0"/>
                </a:endParaRPr>
              </a:p>
            </p:txBody>
          </p:sp>
        </p:grpSp>
        <p:grpSp>
          <p:nvGrpSpPr>
            <p:cNvPr id="11" name="Group 10"/>
            <p:cNvGrpSpPr>
              <a:grpSpLocks/>
            </p:cNvGrpSpPr>
            <p:nvPr/>
          </p:nvGrpSpPr>
          <p:grpSpPr bwMode="auto">
            <a:xfrm>
              <a:off x="5151437" y="2135189"/>
              <a:ext cx="835025" cy="479426"/>
              <a:chOff x="2776" y="1143"/>
              <a:chExt cx="455" cy="262"/>
            </a:xfrm>
          </p:grpSpPr>
          <p:sp>
            <p:nvSpPr>
              <p:cNvPr id="39" name="Rectangle 38"/>
              <p:cNvSpPr>
                <a:spLocks noChangeArrowheads="1"/>
              </p:cNvSpPr>
              <p:nvPr/>
            </p:nvSpPr>
            <p:spPr bwMode="auto">
              <a:xfrm>
                <a:off x="2776" y="1143"/>
                <a:ext cx="455" cy="262"/>
              </a:xfrm>
              <a:prstGeom prst="rect">
                <a:avLst/>
              </a:prstGeom>
              <a:solidFill>
                <a:srgbClr val="CF0E3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" name="Rectangle 39"/>
              <p:cNvSpPr>
                <a:spLocks noChangeArrowheads="1"/>
              </p:cNvSpPr>
              <p:nvPr/>
            </p:nvSpPr>
            <p:spPr bwMode="auto">
              <a:xfrm>
                <a:off x="2862" y="1213"/>
                <a:ext cx="282" cy="134"/>
              </a:xfrm>
              <a:prstGeom prst="rect">
                <a:avLst/>
              </a:prstGeom>
              <a:solidFill>
                <a:srgbClr val="CF0E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7788" tIns="39688" rIns="77788" bIns="39688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altLang="en-US" sz="1200" b="1">
                    <a:solidFill>
                      <a:schemeClr val="bg1"/>
                    </a:solidFill>
                    <a:latin typeface="Arial" pitchFamily="34" charset="0"/>
                  </a:rPr>
                  <a:t>ASIC</a:t>
                </a:r>
              </a:p>
            </p:txBody>
          </p:sp>
        </p:grp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105149" y="2749554"/>
              <a:ext cx="1073150" cy="490539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3067049" y="2744791"/>
              <a:ext cx="1157288" cy="523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000" b="1" dirty="0">
                  <a:solidFill>
                    <a:schemeClr val="bg1"/>
                  </a:solidFill>
                  <a:latin typeface="Arial" pitchFamily="34" charset="0"/>
                </a:rPr>
                <a:t>Programmable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000" b="1" dirty="0">
                  <a:solidFill>
                    <a:schemeClr val="bg1"/>
                  </a:solidFill>
                  <a:latin typeface="Arial" pitchFamily="34" charset="0"/>
                </a:rPr>
                <a:t>Logic Devices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 dirty="0">
                  <a:solidFill>
                    <a:schemeClr val="bg1"/>
                  </a:solidFill>
                  <a:latin typeface="Arial" pitchFamily="34" charset="0"/>
                </a:rPr>
                <a:t>(FPLDs)</a:t>
              </a:r>
              <a:endParaRPr lang="en-US" altLang="en-US" sz="900" b="1" dirty="0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4494211" y="2746379"/>
              <a:ext cx="938213" cy="492126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643437" y="2797179"/>
              <a:ext cx="655638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Gate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Arrays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5745162" y="2752729"/>
              <a:ext cx="939800" cy="492126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5735637" y="2801941"/>
              <a:ext cx="957263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Cell-Based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ICs</a:t>
              </a:r>
              <a:endParaRPr lang="en-US" altLang="en-US" sz="900" b="1">
                <a:solidFill>
                  <a:schemeClr val="bg1"/>
                </a:solidFill>
                <a:latin typeface="Arial" pitchFamily="34" charset="0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996112" y="2755904"/>
              <a:ext cx="939800" cy="490539"/>
            </a:xfrm>
            <a:prstGeom prst="rect">
              <a:avLst/>
            </a:prstGeom>
            <a:solidFill>
              <a:srgbClr val="E5405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6923087" y="2806704"/>
              <a:ext cx="1077913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Full Custom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chemeClr val="bg1"/>
                  </a:solidFill>
                  <a:latin typeface="Arial" pitchFamily="34" charset="0"/>
                </a:rPr>
                <a:t>ICs</a:t>
              </a: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194049" y="3684594"/>
              <a:ext cx="939800" cy="493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335336" y="3783019"/>
              <a:ext cx="654050" cy="244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CPLDs</a:t>
              </a:r>
              <a:endParaRPr lang="en-US" altLang="en-US" sz="900" b="1">
                <a:solidFill>
                  <a:srgbClr val="414141"/>
                </a:solidFill>
                <a:latin typeface="Arial" pitchFamily="34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1638298" y="3679831"/>
              <a:ext cx="920750" cy="5080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609723" y="3724282"/>
              <a:ext cx="995363" cy="409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SPLDs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(e.g., PALs)</a:t>
              </a:r>
              <a:endParaRPr lang="en-US" altLang="en-US" sz="900" b="1">
                <a:solidFill>
                  <a:srgbClr val="414141"/>
                </a:solidFill>
                <a:latin typeface="Arial" pitchFamily="34" charset="0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837112" y="3694119"/>
              <a:ext cx="1003300" cy="493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4981574" y="3816357"/>
              <a:ext cx="690563" cy="244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7788" tIns="39688" rIns="77788" bIns="39688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1200" b="1">
                  <a:solidFill>
                    <a:srgbClr val="414141"/>
                  </a:solidFill>
                  <a:latin typeface="Arial" pitchFamily="34" charset="0"/>
                </a:rPr>
                <a:t>FPGAs</a:t>
              </a:r>
              <a:endParaRPr lang="en-US" altLang="en-US" sz="900" b="1">
                <a:solidFill>
                  <a:srgbClr val="414141"/>
                </a:solidFill>
                <a:latin typeface="Arial" pitchFamily="34" charset="0"/>
              </a:endParaRPr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644899" y="1974851"/>
              <a:ext cx="0" cy="69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" name="Line 30"/>
            <p:cNvSpPr>
              <a:spLocks noChangeShapeType="1"/>
            </p:cNvSpPr>
            <p:nvPr/>
          </p:nvSpPr>
          <p:spPr bwMode="auto">
            <a:xfrm>
              <a:off x="5578474" y="2060577"/>
              <a:ext cx="0" cy="587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>
              <a:off x="5570537" y="2628903"/>
              <a:ext cx="0" cy="38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 flipH="1">
              <a:off x="3646486" y="2682878"/>
              <a:ext cx="38687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>
              <a:off x="4962524" y="2684466"/>
              <a:ext cx="0" cy="523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>
              <a:off x="3657599" y="2682878"/>
              <a:ext cx="0" cy="55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2" name="Line 35"/>
            <p:cNvSpPr>
              <a:spLocks noChangeShapeType="1"/>
            </p:cNvSpPr>
            <p:nvPr/>
          </p:nvSpPr>
          <p:spPr bwMode="auto">
            <a:xfrm>
              <a:off x="6211887" y="2689228"/>
              <a:ext cx="0" cy="52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7507287" y="2695579"/>
              <a:ext cx="0" cy="53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3667124" y="3243268"/>
              <a:ext cx="0" cy="4286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5" name="Line 38"/>
            <p:cNvSpPr>
              <a:spLocks noChangeShapeType="1"/>
            </p:cNvSpPr>
            <p:nvPr/>
          </p:nvSpPr>
          <p:spPr bwMode="auto">
            <a:xfrm>
              <a:off x="2111373" y="3517906"/>
              <a:ext cx="32258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6" name="Line 39"/>
            <p:cNvSpPr>
              <a:spLocks noChangeShapeType="1"/>
            </p:cNvSpPr>
            <p:nvPr/>
          </p:nvSpPr>
          <p:spPr bwMode="auto">
            <a:xfrm>
              <a:off x="2124073" y="3525844"/>
              <a:ext cx="0" cy="157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7" name="Line 40"/>
            <p:cNvSpPr>
              <a:spLocks noChangeShapeType="1"/>
            </p:cNvSpPr>
            <p:nvPr/>
          </p:nvSpPr>
          <p:spPr bwMode="auto">
            <a:xfrm>
              <a:off x="5326062" y="3525844"/>
              <a:ext cx="0" cy="157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8" name="Line 57"/>
            <p:cNvSpPr>
              <a:spLocks noChangeShapeType="1"/>
            </p:cNvSpPr>
            <p:nvPr/>
          </p:nvSpPr>
          <p:spPr bwMode="auto">
            <a:xfrm flipH="1">
              <a:off x="1714498" y="2055814"/>
              <a:ext cx="38687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7061199" y="3697286"/>
              <a:ext cx="1443005" cy="493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" name="Line 37"/>
            <p:cNvSpPr>
              <a:spLocks noChangeShapeType="1"/>
            </p:cNvSpPr>
            <p:nvPr/>
          </p:nvSpPr>
          <p:spPr bwMode="auto">
            <a:xfrm>
              <a:off x="7534275" y="3268668"/>
              <a:ext cx="0" cy="4159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7162800" y="3733800"/>
              <a:ext cx="1309655" cy="412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 anchor="ctr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1200" b="1" dirty="0">
                  <a:solidFill>
                    <a:srgbClr val="414141"/>
                  </a:solidFill>
                  <a:latin typeface="Arial" pitchFamily="34" charset="0"/>
                </a:rPr>
                <a:t>Microprocessor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 b="1" dirty="0">
                  <a:solidFill>
                    <a:srgbClr val="414141"/>
                  </a:solidFill>
                  <a:latin typeface="Arial" pitchFamily="34" charset="0"/>
                </a:rPr>
                <a:t>&amp; RAM</a:t>
              </a:r>
              <a:endParaRPr lang="en-US" altLang="en-US" sz="900" b="1" dirty="0">
                <a:solidFill>
                  <a:srgbClr val="414141"/>
                </a:solidFill>
                <a:latin typeface="Arial" pitchFamily="34" charset="0"/>
              </a:endParaRPr>
            </a:p>
          </p:txBody>
        </p:sp>
      </p:grpSp>
      <p:sp>
        <p:nvSpPr>
          <p:cNvPr id="53" name="Rectangle 52"/>
          <p:cNvSpPr>
            <a:spLocks noGrp="1" noChangeArrowheads="1"/>
          </p:cNvSpPr>
          <p:nvPr/>
        </p:nvSpPr>
        <p:spPr bwMode="auto">
          <a:xfrm>
            <a:off x="4572000" y="4638675"/>
            <a:ext cx="40386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6038" rIns="90488" bIns="46038" numCol="1" anchor="t" anchorCtr="0" compatLnSpc="1">
            <a:prstTxWarp prst="textNoShape">
              <a:avLst/>
            </a:prstTxWarp>
          </a:bodyPr>
          <a:lstStyle>
            <a:lvl1pPr marL="2270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860425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461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13731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18303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2875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27447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2019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 b="1" u="sng">
                <a:latin typeface="Arial" pitchFamily="34" charset="0"/>
              </a:rPr>
              <a:t>Common Resources</a:t>
            </a:r>
            <a:endParaRPr lang="en-US" altLang="en-US" sz="1400" u="sng">
              <a:latin typeface="Arial" pitchFamily="34" charset="0"/>
            </a:endParaRP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>
                <a:latin typeface="Arial" pitchFamily="34" charset="0"/>
              </a:rPr>
              <a:t>Configurable Logic Blocks (CLB)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Memory Look-Up Table (LUT)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AND-OR planes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Simple gates</a:t>
            </a: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>
                <a:latin typeface="Arial" pitchFamily="34" charset="0"/>
              </a:rPr>
              <a:t>Input / Output Blocks (IOB)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Bidirectional, latches, inverters, pullup/pulldowns</a:t>
            </a:r>
          </a:p>
          <a:p>
            <a:pPr>
              <a:spcBef>
                <a:spcPct val="0"/>
              </a:spcBef>
              <a:buClr>
                <a:schemeClr val="tx2"/>
              </a:buClr>
              <a:buFont typeface="CommonBullets"/>
              <a:buNone/>
            </a:pPr>
            <a:r>
              <a:rPr lang="en-US" altLang="en-US" sz="1400">
                <a:latin typeface="Arial" pitchFamily="34" charset="0"/>
              </a:rPr>
              <a:t>Interconnect or Routing</a:t>
            </a:r>
          </a:p>
          <a:p>
            <a:pPr lvl="1">
              <a:spcBef>
                <a:spcPct val="0"/>
              </a:spcBef>
            </a:pPr>
            <a:r>
              <a:rPr lang="en-US" altLang="en-US" sz="1200">
                <a:latin typeface="Arial" pitchFamily="34" charset="0"/>
              </a:rPr>
              <a:t>Local, internal feedback, and global</a:t>
            </a:r>
          </a:p>
        </p:txBody>
      </p:sp>
    </p:spTree>
    <p:extLst>
      <p:ext uri="{BB962C8B-B14F-4D97-AF65-F5344CB8AC3E}">
        <p14:creationId xmlns:p14="http://schemas.microsoft.com/office/powerpoint/2010/main" val="965728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Custom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74788"/>
            <a:ext cx="4981575" cy="454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://www.pldworld.biz/_hdl/1/erc.msstate.edu/www/mpl/education/classes/ee4253/inverte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95400"/>
            <a:ext cx="3242112" cy="488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55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ASIC (Application Specific IC)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648200"/>
          </a:xfrm>
        </p:spPr>
        <p:txBody>
          <a:bodyPr/>
          <a:lstStyle/>
          <a:p>
            <a:r>
              <a:rPr lang="en-US" altLang="en-US" sz="2800" dirty="0">
                <a:cs typeface="B Mitra" panose="00000400000000000000" pitchFamily="2" charset="-78"/>
              </a:rPr>
              <a:t>ASIC: Application-Specific Integrate</a:t>
            </a:r>
            <a:r>
              <a:rPr lang="en-US" altLang="en-US" sz="2800" dirty="0">
                <a:solidFill>
                  <a:srgbClr val="000000"/>
                </a:solidFill>
                <a:cs typeface="B Mitra" panose="00000400000000000000" pitchFamily="2" charset="-78"/>
              </a:rPr>
              <a:t>d</a:t>
            </a:r>
            <a:r>
              <a:rPr lang="en-US" altLang="en-US" sz="2800" dirty="0">
                <a:cs typeface="B Mitra" panose="00000400000000000000" pitchFamily="2" charset="-78"/>
              </a:rPr>
              <a:t> Circuits</a:t>
            </a:r>
            <a:endParaRPr lang="en-US" sz="2800" dirty="0">
              <a:cs typeface="B Mitra" panose="00000400000000000000" pitchFamily="2" charset="-78"/>
            </a:endParaRPr>
          </a:p>
          <a:p>
            <a:r>
              <a:rPr lang="en-US" sz="2800" b="1" dirty="0">
                <a:cs typeface="B Mitra" panose="00000400000000000000" pitchFamily="2" charset="-78"/>
              </a:rPr>
              <a:t>Semi-Custom ASIC:</a:t>
            </a: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Standard Cells</a:t>
            </a:r>
          </a:p>
          <a:p>
            <a:pPr lvl="2"/>
            <a:r>
              <a:rPr lang="fa-IR" altLang="en-US" sz="2000" dirty="0">
                <a:cs typeface="B Mitra" panose="00000400000000000000" pitchFamily="2" charset="-78"/>
              </a:rPr>
              <a:t>عناصر در رديفها چيده مي شوند</a:t>
            </a:r>
            <a:endParaRPr lang="en-US" altLang="en-US" sz="2000" dirty="0">
              <a:cs typeface="B Mitra" panose="00000400000000000000" pitchFamily="2" charset="-78"/>
            </a:endParaRPr>
          </a:p>
          <a:p>
            <a:pPr lvl="2"/>
            <a:r>
              <a:rPr lang="fa-IR" altLang="en-US" sz="2000" dirty="0">
                <a:cs typeface="B Mitra" panose="00000400000000000000" pitchFamily="2" charset="-78"/>
              </a:rPr>
              <a:t>پورتها در بالا و پايين سلولها (تکنولوژي جديد: روي سلولها)</a:t>
            </a:r>
            <a:endParaRPr lang="en-US" altLang="en-US" sz="20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Gate Array</a:t>
            </a:r>
          </a:p>
          <a:p>
            <a:pPr lvl="2"/>
            <a:r>
              <a:rPr lang="fa-IR" altLang="en-US" sz="2000" dirty="0">
                <a:cs typeface="B Mitra" panose="00000400000000000000" pitchFamily="2" charset="-78"/>
              </a:rPr>
              <a:t>آرايه اي از سلولهاي مشابه</a:t>
            </a:r>
            <a:endParaRPr lang="en-US" altLang="en-US" sz="2000" dirty="0">
              <a:cs typeface="B Mitra" panose="00000400000000000000" pitchFamily="2" charset="-78"/>
            </a:endParaRPr>
          </a:p>
          <a:p>
            <a:pPr lvl="2"/>
            <a:endParaRPr lang="en-US" sz="2000" dirty="0">
              <a:cs typeface="B Mitra" panose="00000400000000000000" pitchFamily="2" charset="-78"/>
            </a:endParaRPr>
          </a:p>
          <a:p>
            <a:pPr lvl="1"/>
            <a:r>
              <a:rPr lang="en-US" dirty="0">
                <a:cs typeface="B Mitra" panose="00000400000000000000" pitchFamily="2" charset="-78"/>
              </a:rPr>
              <a:t>PLD (Programmable Logic Device)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439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cs typeface="B Mitra" panose="00000400000000000000" pitchFamily="2" charset="-78"/>
              </a:rPr>
              <a:t>سلول های استاندارد</a:t>
            </a:r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76400"/>
            <a:ext cx="632460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270250" y="4343400"/>
            <a:ext cx="806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defRPr/>
            </a:pPr>
            <a:r>
              <a:rPr lang="en-US" sz="1800"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Adder</a:t>
            </a:r>
          </a:p>
        </p:txBody>
      </p: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1974850" y="4600575"/>
            <a:ext cx="1035050" cy="576263"/>
            <a:chOff x="1454" y="3474"/>
            <a:chExt cx="652" cy="363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1454" y="3606"/>
              <a:ext cx="5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 eaLnBrk="0" hangingPunct="0"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cs typeface="Times New Roman" pitchFamily="18" charset="0"/>
                </a:rPr>
                <a:t>NAND</a:t>
              </a: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V="1">
              <a:off x="1878" y="3474"/>
              <a:ext cx="22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346575" y="4352925"/>
            <a:ext cx="730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defRPr/>
            </a:pPr>
            <a:r>
              <a:rPr lang="en-US" sz="1800"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MUX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622675" y="4029075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>
              <a:defRPr/>
            </a:pPr>
            <a:r>
              <a:rPr lang="en-US" sz="1800"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Wires</a:t>
            </a:r>
          </a:p>
        </p:txBody>
      </p:sp>
    </p:spTree>
    <p:extLst>
      <p:ext uri="{BB962C8B-B14F-4D97-AF65-F5344CB8AC3E}">
        <p14:creationId xmlns:p14="http://schemas.microsoft.com/office/powerpoint/2010/main" val="124560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2" grpId="0" autoUpdateAnimBg="0"/>
      <p:bldP spid="1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custom &amp; Standard cells</a:t>
            </a:r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050" y="2114550"/>
            <a:ext cx="3714750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2222500" y="2333625"/>
            <a:ext cx="5054600" cy="2362200"/>
            <a:chOff x="1586" y="1674"/>
            <a:chExt cx="3184" cy="1488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2742" y="1680"/>
              <a:ext cx="744" cy="666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510" y="1674"/>
              <a:ext cx="1260" cy="666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3600" y="2340"/>
              <a:ext cx="546" cy="82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1586" y="2508"/>
              <a:ext cx="8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l"/>
              <a:r>
                <a:rPr lang="en-US" altLang="en-US" sz="1800" dirty="0">
                  <a:solidFill>
                    <a:srgbClr val="FFFF00"/>
                  </a:solidFill>
                  <a:cs typeface="Times New Roman" pitchFamily="18" charset="0"/>
                </a:rPr>
                <a:t>RAM/ROM</a:t>
              </a: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V="1">
              <a:off x="2322" y="2142"/>
              <a:ext cx="408" cy="40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V="1">
              <a:off x="2388" y="2352"/>
              <a:ext cx="1110" cy="31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2424" y="2688"/>
              <a:ext cx="1134" cy="6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" name="Group 12"/>
          <p:cNvGrpSpPr>
            <a:grpSpLocks/>
          </p:cNvGrpSpPr>
          <p:nvPr/>
        </p:nvGrpSpPr>
        <p:grpSpPr bwMode="auto">
          <a:xfrm>
            <a:off x="822325" y="3438525"/>
            <a:ext cx="4568825" cy="1257300"/>
            <a:chOff x="704" y="2370"/>
            <a:chExt cx="2878" cy="792"/>
          </a:xfrm>
        </p:grpSpPr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2958" y="2370"/>
              <a:ext cx="624" cy="7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704" y="2916"/>
              <a:ext cx="16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l"/>
              <a:r>
                <a:rPr lang="en-US" altLang="en-US" sz="1800" dirty="0">
                  <a:solidFill>
                    <a:srgbClr val="FF0000"/>
                  </a:solidFill>
                  <a:cs typeface="Times New Roman" pitchFamily="18" charset="0"/>
                </a:rPr>
                <a:t>Row based Control Logic</a:t>
              </a: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V="1">
              <a:off x="2346" y="2958"/>
              <a:ext cx="600" cy="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" name="Group 16"/>
          <p:cNvGrpSpPr>
            <a:grpSpLocks/>
          </p:cNvGrpSpPr>
          <p:nvPr/>
        </p:nvGrpSpPr>
        <p:grpSpPr bwMode="auto">
          <a:xfrm>
            <a:off x="1365250" y="3429000"/>
            <a:ext cx="5864225" cy="1852613"/>
            <a:chOff x="1046" y="2364"/>
            <a:chExt cx="3694" cy="1167"/>
          </a:xfrm>
        </p:grpSpPr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4164" y="2364"/>
              <a:ext cx="576" cy="792"/>
            </a:xfrm>
            <a:prstGeom prst="rect">
              <a:avLst/>
            </a:pr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1046" y="3300"/>
              <a:ext cx="1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FF00"/>
                  </a:solidFill>
                  <a:cs typeface="Times New Roman" pitchFamily="18" charset="0"/>
                </a:rPr>
                <a:t>Row based CPU</a:t>
              </a: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 flipV="1">
              <a:off x="2106" y="3156"/>
              <a:ext cx="2052" cy="276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766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 Array (Uncommitted)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10600" cy="4648200"/>
          </a:xfrm>
        </p:spPr>
        <p:txBody>
          <a:bodyPr/>
          <a:lstStyle/>
          <a:p>
            <a:r>
              <a:rPr lang="en-US" sz="2400" dirty="0"/>
              <a:t>Using a prefabricated chip with active devices like NAND-gates</a:t>
            </a:r>
          </a:p>
          <a:p>
            <a:r>
              <a:rPr lang="en-US" sz="2400" dirty="0"/>
              <a:t>Later, interconnected according to a custom order by adding metal layers in the factory environment</a:t>
            </a:r>
          </a:p>
          <a:p>
            <a:endParaRPr lang="en-US" sz="28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895600"/>
            <a:ext cx="5931562" cy="3733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258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95400"/>
            <a:ext cx="412115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 Array (Committed)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4953000" cy="4648200"/>
          </a:xfrm>
        </p:spPr>
        <p:txBody>
          <a:bodyPr/>
          <a:lstStyle/>
          <a:p>
            <a:r>
              <a:rPr lang="en-US" sz="2000" dirty="0"/>
              <a:t>MPGA: mask-programmed gate array</a:t>
            </a:r>
          </a:p>
          <a:p>
            <a:r>
              <a:rPr lang="en-US" sz="2000" dirty="0"/>
              <a:t>MPLD: mask-programmed logic device</a:t>
            </a:r>
          </a:p>
          <a:p>
            <a:r>
              <a:rPr lang="en-US" sz="2000" dirty="0"/>
              <a:t>A base of pre-designed transistors</a:t>
            </a:r>
          </a:p>
          <a:p>
            <a:r>
              <a:rPr lang="en-US" sz="2000" dirty="0"/>
              <a:t>Customized wiring during manufacturing process</a:t>
            </a:r>
          </a:p>
          <a:p>
            <a:pPr marL="0" indent="0">
              <a:buNone/>
            </a:pPr>
            <a:r>
              <a:rPr lang="en-US" sz="2000" dirty="0"/>
              <a:t>→ Each design requires custom masks for wiring</a:t>
            </a:r>
          </a:p>
          <a:p>
            <a:r>
              <a:rPr lang="en-US" sz="2000" dirty="0"/>
              <a:t>Mask-making costs</a:t>
            </a:r>
          </a:p>
          <a:p>
            <a:endParaRPr lang="en-US" sz="2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724400"/>
            <a:ext cx="319596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6070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Programmable Logic Device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05800" cy="4648200"/>
          </a:xfrm>
        </p:spPr>
        <p:txBody>
          <a:bodyPr/>
          <a:lstStyle/>
          <a:p>
            <a:r>
              <a:rPr lang="en-US" altLang="en-US" sz="2800" dirty="0"/>
              <a:t>A programmable logic device or PLD is an electronic component used to build digital circuits</a:t>
            </a:r>
          </a:p>
          <a:p>
            <a:endParaRPr lang="en-US" sz="2800" dirty="0"/>
          </a:p>
          <a:p>
            <a:r>
              <a:rPr lang="en-US" altLang="en-US" sz="2800" dirty="0"/>
              <a:t>Unlike a logic gate, which has a fixed function, a PLD has an undefined function at the time of manufacture</a:t>
            </a:r>
          </a:p>
          <a:p>
            <a:endParaRPr lang="en-US" altLang="en-US" sz="2800" dirty="0"/>
          </a:p>
          <a:p>
            <a:r>
              <a:rPr lang="en-US" altLang="en-US" sz="2800" dirty="0"/>
              <a:t>Before the PLD can perform in a circuit it must be programmed</a:t>
            </a:r>
            <a:endParaRPr lang="en-US" sz="28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02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itchFamily="34" charset="0"/>
              </a:rPr>
              <a:t>Digital Technology Tradeoffs</a:t>
            </a:r>
            <a:endParaRPr lang="en-US" dirty="0"/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auto">
          <a:xfrm>
            <a:off x="1828800" y="1428170"/>
            <a:ext cx="5410200" cy="3601029"/>
            <a:chOff x="693" y="960"/>
            <a:chExt cx="4375" cy="2912"/>
          </a:xfrm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" y="960"/>
              <a:ext cx="4375" cy="29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987" y="2948"/>
              <a:ext cx="288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400">
                  <a:solidFill>
                    <a:srgbClr val="000000"/>
                  </a:solidFill>
                  <a:latin typeface="Arial" pitchFamily="34" charset="0"/>
                </a:rPr>
                <a:t>S</a:t>
              </a:r>
            </a:p>
          </p:txBody>
        </p:sp>
      </p:grpSp>
      <p:grpSp>
        <p:nvGrpSpPr>
          <p:cNvPr id="9" name="Group 8"/>
          <p:cNvGrpSpPr>
            <a:grpSpLocks noChangeAspect="1"/>
          </p:cNvGrpSpPr>
          <p:nvPr/>
        </p:nvGrpSpPr>
        <p:grpSpPr bwMode="auto">
          <a:xfrm>
            <a:off x="304800" y="4343400"/>
            <a:ext cx="5227320" cy="2442249"/>
            <a:chOff x="838200" y="2607406"/>
            <a:chExt cx="7467600" cy="3488196"/>
          </a:xfrm>
        </p:grpSpPr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838200" y="3681809"/>
              <a:ext cx="1497013" cy="1379538"/>
            </a:xfrm>
            <a:prstGeom prst="roundRect">
              <a:avLst>
                <a:gd name="adj" fmla="val 32051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 sz="1600"/>
            </a:p>
          </p:txBody>
        </p:sp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>
              <a:off x="2038350" y="3681809"/>
              <a:ext cx="1493838" cy="1379538"/>
            </a:xfrm>
            <a:prstGeom prst="roundRect">
              <a:avLst>
                <a:gd name="adj" fmla="val 32051"/>
              </a:avLst>
            </a:prstGeom>
            <a:solidFill>
              <a:srgbClr val="FFFF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 sz="1600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457450" y="4231084"/>
              <a:ext cx="670971" cy="307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GB" altLang="en-US" sz="1400" dirty="0">
                  <a:solidFill>
                    <a:srgbClr val="000000"/>
                  </a:solidFill>
                  <a:latin typeface="Helv"/>
                </a:rPr>
                <a:t>SPLD</a:t>
              </a:r>
              <a:endParaRPr lang="en-GB" altLang="en-US" sz="1400" dirty="0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044576" y="4237434"/>
              <a:ext cx="941193" cy="307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Helv"/>
                </a:rPr>
                <a:t>SSI/MSI</a:t>
              </a:r>
              <a:endParaRPr lang="en-GB" altLang="en-US" sz="1400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3902503" y="5480178"/>
              <a:ext cx="1435833" cy="615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GB" sz="140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"/>
                </a:rPr>
                <a:t>semicustom </a:t>
              </a:r>
              <a:br>
                <a:rPr lang="en-GB" sz="140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"/>
                </a:rPr>
              </a:br>
              <a:r>
                <a:rPr lang="en-GB" sz="140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"/>
                </a:rPr>
                <a:t>technologies</a:t>
              </a:r>
              <a:endParaRPr lang="en-GB" sz="14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840536" y="2607406"/>
              <a:ext cx="1392324" cy="615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defRPr/>
              </a:pPr>
              <a:r>
                <a:rPr lang="en-GB" sz="140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"/>
                </a:rPr>
                <a:t>standard</a:t>
              </a:r>
              <a:br>
                <a:rPr lang="en-GB" sz="140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"/>
                </a:rPr>
              </a:br>
              <a:r>
                <a:rPr lang="en-GB" sz="140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elv"/>
                </a:rPr>
                <a:t>components</a:t>
              </a:r>
              <a:endParaRPr lang="en-GB" sz="14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AutoShape 24"/>
            <p:cNvSpPr>
              <a:spLocks noChangeArrowheads="1"/>
            </p:cNvSpPr>
            <p:nvPr/>
          </p:nvSpPr>
          <p:spPr bwMode="auto">
            <a:xfrm>
              <a:off x="3216275" y="3681809"/>
              <a:ext cx="1497013" cy="1379538"/>
            </a:xfrm>
            <a:prstGeom prst="roundRect">
              <a:avLst>
                <a:gd name="adj" fmla="val 32051"/>
              </a:avLst>
            </a:prstGeom>
            <a:solidFill>
              <a:srgbClr val="99FF0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 sz="1600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3636963" y="4085035"/>
              <a:ext cx="698451" cy="615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Helv"/>
                </a:rPr>
                <a:t>CPLD</a:t>
              </a:r>
              <a:br>
                <a:rPr lang="en-GB" altLang="en-US" sz="1400">
                  <a:solidFill>
                    <a:srgbClr val="000000"/>
                  </a:solidFill>
                  <a:latin typeface="Helv"/>
                </a:rPr>
              </a:br>
              <a:r>
                <a:rPr lang="en-GB" altLang="en-US" sz="1400">
                  <a:solidFill>
                    <a:srgbClr val="000000"/>
                  </a:solidFill>
                  <a:latin typeface="Helv"/>
                </a:rPr>
                <a:t>FPGA</a:t>
              </a:r>
              <a:endParaRPr lang="en-GB" altLang="en-US" sz="1400"/>
            </a:p>
          </p:txBody>
        </p:sp>
        <p:sp>
          <p:nvSpPr>
            <p:cNvPr id="18" name="AutoShape 26"/>
            <p:cNvSpPr>
              <a:spLocks/>
            </p:cNvSpPr>
            <p:nvPr/>
          </p:nvSpPr>
          <p:spPr bwMode="auto">
            <a:xfrm rot="-5400000">
              <a:off x="4457700" y="2827734"/>
              <a:ext cx="304800" cy="4953000"/>
            </a:xfrm>
            <a:prstGeom prst="leftBrace">
              <a:avLst>
                <a:gd name="adj1" fmla="val 102089"/>
                <a:gd name="adj2" fmla="val 50000"/>
              </a:avLst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 sz="1600"/>
            </a:p>
          </p:txBody>
        </p:sp>
        <p:sp>
          <p:nvSpPr>
            <p:cNvPr id="19" name="AutoShape 7"/>
            <p:cNvSpPr>
              <a:spLocks noChangeArrowheads="1"/>
            </p:cNvSpPr>
            <p:nvPr/>
          </p:nvSpPr>
          <p:spPr bwMode="auto">
            <a:xfrm>
              <a:off x="4414838" y="3681809"/>
              <a:ext cx="1495425" cy="1379538"/>
            </a:xfrm>
            <a:prstGeom prst="roundRect">
              <a:avLst>
                <a:gd name="adj" fmla="val 32051"/>
              </a:avLst>
            </a:prstGeom>
            <a:solidFill>
              <a:srgbClr val="99CCCC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 sz="1600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4894263" y="4094559"/>
              <a:ext cx="554181" cy="307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Helv"/>
                </a:rPr>
                <a:t>Gate</a:t>
              </a:r>
              <a:endParaRPr lang="en-GB" altLang="en-US" sz="1400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4865687" y="4393009"/>
              <a:ext cx="611431" cy="307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Helv"/>
                </a:rPr>
                <a:t>Array</a:t>
              </a:r>
              <a:endParaRPr lang="en-GB" altLang="en-US" sz="1400"/>
            </a:p>
          </p:txBody>
        </p:sp>
        <p:sp>
          <p:nvSpPr>
            <p:cNvPr id="22" name="AutoShape 8"/>
            <p:cNvSpPr>
              <a:spLocks noChangeArrowheads="1"/>
            </p:cNvSpPr>
            <p:nvPr/>
          </p:nvSpPr>
          <p:spPr bwMode="auto">
            <a:xfrm>
              <a:off x="5611813" y="3681809"/>
              <a:ext cx="1497012" cy="1379538"/>
            </a:xfrm>
            <a:prstGeom prst="roundRect">
              <a:avLst>
                <a:gd name="adj" fmla="val 32051"/>
              </a:avLst>
            </a:prstGeom>
            <a:solidFill>
              <a:srgbClr val="99CCCC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 sz="1600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6137274" y="4094559"/>
              <a:ext cx="455711" cy="307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Helv"/>
                </a:rPr>
                <a:t>Std.</a:t>
              </a:r>
              <a:endParaRPr lang="en-GB" altLang="en-US" sz="1400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6143624" y="4393009"/>
              <a:ext cx="441971" cy="307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Helv"/>
                </a:rPr>
                <a:t>Cell</a:t>
              </a:r>
              <a:endParaRPr lang="en-GB" altLang="en-US" sz="1400"/>
            </a:p>
          </p:txBody>
        </p:sp>
        <p:sp>
          <p:nvSpPr>
            <p:cNvPr id="25" name="AutoShape 9"/>
            <p:cNvSpPr>
              <a:spLocks noChangeArrowheads="1"/>
            </p:cNvSpPr>
            <p:nvPr/>
          </p:nvSpPr>
          <p:spPr bwMode="auto">
            <a:xfrm>
              <a:off x="6811963" y="3681809"/>
              <a:ext cx="1493837" cy="1379538"/>
            </a:xfrm>
            <a:prstGeom prst="roundRect">
              <a:avLst>
                <a:gd name="adj" fmla="val 32051"/>
              </a:avLst>
            </a:prstGeom>
            <a:solidFill>
              <a:srgbClr val="CC99CC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 sz="1600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7358063" y="4094559"/>
              <a:ext cx="412201" cy="307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Helv"/>
                </a:rPr>
                <a:t>Full</a:t>
              </a:r>
              <a:endParaRPr lang="en-GB" altLang="en-US" sz="1400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7126289" y="4393009"/>
              <a:ext cx="881653" cy="307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Helv"/>
                </a:rPr>
                <a:t>Custom</a:t>
              </a:r>
              <a:endParaRPr lang="en-GB" altLang="en-US" sz="1400"/>
            </a:p>
          </p:txBody>
        </p:sp>
        <p:sp>
          <p:nvSpPr>
            <p:cNvPr id="28" name="AutoShape 26"/>
            <p:cNvSpPr>
              <a:spLocks/>
            </p:cNvSpPr>
            <p:nvPr/>
          </p:nvSpPr>
          <p:spPr bwMode="auto">
            <a:xfrm rot="5400000" flipV="1">
              <a:off x="1371600" y="2726134"/>
              <a:ext cx="304800" cy="1371600"/>
            </a:xfrm>
            <a:prstGeom prst="leftBrace">
              <a:avLst>
                <a:gd name="adj1" fmla="val 102083"/>
                <a:gd name="adj2" fmla="val 50000"/>
              </a:avLst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 alt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2934296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1990725"/>
            <a:ext cx="7772400" cy="136207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“Programmable”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225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“Programmable”?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7772400" cy="4648200"/>
          </a:xfrm>
        </p:spPr>
        <p:txBody>
          <a:bodyPr/>
          <a:lstStyle/>
          <a:p>
            <a:r>
              <a:rPr lang="en-US" altLang="en-US" sz="2800" dirty="0"/>
              <a:t>One time programmable</a:t>
            </a:r>
          </a:p>
          <a:p>
            <a:pPr lvl="1"/>
            <a:r>
              <a:rPr lang="en-US" altLang="en-US" sz="2400" dirty="0"/>
              <a:t>Fuses </a:t>
            </a:r>
          </a:p>
          <a:p>
            <a:pPr marL="457200" lvl="1" indent="0">
              <a:buNone/>
            </a:pPr>
            <a:r>
              <a:rPr lang="en-US" altLang="en-US" sz="2400" dirty="0"/>
              <a:t>(destroy internal links with current)</a:t>
            </a:r>
          </a:p>
          <a:p>
            <a:pPr lvl="1"/>
            <a:r>
              <a:rPr lang="en-US" altLang="en-US" sz="2400" dirty="0"/>
              <a:t>Anti-fuses (grow internal links)</a:t>
            </a:r>
          </a:p>
          <a:p>
            <a:pPr lvl="1"/>
            <a:r>
              <a:rPr lang="en-US" altLang="en-US" sz="2400" dirty="0"/>
              <a:t>PROM</a:t>
            </a:r>
          </a:p>
          <a:p>
            <a:r>
              <a:rPr lang="en-US" altLang="en-US" sz="2800" dirty="0"/>
              <a:t>Reprogrammable</a:t>
            </a:r>
            <a:endParaRPr lang="en-US" sz="2800" dirty="0"/>
          </a:p>
          <a:p>
            <a:pPr lvl="1"/>
            <a:r>
              <a:rPr lang="en-US" altLang="en-US" sz="2400" dirty="0"/>
              <a:t>EPROM</a:t>
            </a:r>
          </a:p>
          <a:p>
            <a:pPr lvl="1"/>
            <a:r>
              <a:rPr lang="en-US" altLang="en-US" sz="2400" dirty="0"/>
              <a:t>EEPROM</a:t>
            </a:r>
          </a:p>
          <a:p>
            <a:pPr lvl="1"/>
            <a:r>
              <a:rPr lang="en-US" altLang="en-US" sz="2400" dirty="0"/>
              <a:t>Flash</a:t>
            </a:r>
          </a:p>
          <a:p>
            <a:pPr lvl="1"/>
            <a:r>
              <a:rPr lang="en-US" sz="2400" dirty="0"/>
              <a:t>SRAM → </a:t>
            </a:r>
            <a:r>
              <a:rPr lang="en-US" sz="2400" i="1" dirty="0"/>
              <a:t>volatile</a:t>
            </a:r>
          </a:p>
          <a:p>
            <a:endParaRPr lang="en-US" sz="28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573462" y="3962400"/>
            <a:ext cx="769938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l" eaLnBrk="1" hangingPunct="1"/>
            <a:r>
              <a:rPr lang="en-US" altLang="en-US" sz="9600" dirty="0"/>
              <a:t>}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349750" y="4648200"/>
            <a:ext cx="1746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l" eaLnBrk="1" hangingPunct="1"/>
            <a:r>
              <a:rPr lang="en-US" altLang="en-US" i="1" dirty="0">
                <a:latin typeface="Arial" pitchFamily="34" charset="0"/>
              </a:rPr>
              <a:t>non-volatile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600200"/>
            <a:ext cx="39909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647950"/>
            <a:ext cx="40005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3955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Antifuse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457200" y="2052637"/>
            <a:ext cx="784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dirty="0">
                <a:cs typeface="B Mitra" panose="00000400000000000000" pitchFamily="2" charset="-78"/>
              </a:rPr>
              <a:t>  جريان برنامه ريزي بالا </a:t>
            </a:r>
            <a:r>
              <a:rPr lang="en-US" altLang="en-US" dirty="0">
                <a:cs typeface="B Mitra" panose="00000400000000000000" pitchFamily="2" charset="-78"/>
                <a:sym typeface="Wingdings" pitchFamily="2" charset="2"/>
              </a:rPr>
              <a:t></a:t>
            </a:r>
            <a:r>
              <a:rPr lang="fa-IR" altLang="en-US" dirty="0">
                <a:cs typeface="B Mitra" panose="00000400000000000000" pitchFamily="2" charset="-78"/>
                <a:sym typeface="Wingdings" pitchFamily="2" charset="2"/>
              </a:rPr>
              <a:t> عايق </a:t>
            </a:r>
            <a:r>
              <a:rPr lang="en-US" altLang="en-US" dirty="0">
                <a:cs typeface="B Mitra" panose="00000400000000000000" pitchFamily="2" charset="-78"/>
                <a:sym typeface="Wingdings" pitchFamily="2" charset="2"/>
              </a:rPr>
              <a:t>ONO </a:t>
            </a:r>
            <a:r>
              <a:rPr lang="fa-IR" altLang="en-US" dirty="0">
                <a:cs typeface="B Mitra" panose="00000400000000000000" pitchFamily="2" charset="-78"/>
                <a:sym typeface="Wingdings" pitchFamily="2" charset="2"/>
              </a:rPr>
              <a:t> را ذوب مي کند </a:t>
            </a:r>
            <a:r>
              <a:rPr lang="en-US" altLang="en-US" dirty="0">
                <a:cs typeface="B Mitra" panose="00000400000000000000" pitchFamily="2" charset="-78"/>
                <a:sym typeface="Wingdings" pitchFamily="2" charset="2"/>
              </a:rPr>
              <a:t></a:t>
            </a:r>
            <a:r>
              <a:rPr lang="fa-IR" altLang="en-US" dirty="0">
                <a:cs typeface="B Mitra" panose="00000400000000000000" pitchFamily="2" charset="-78"/>
                <a:sym typeface="Wingdings" pitchFamily="2" charset="2"/>
              </a:rPr>
              <a:t> اتصال دايم.</a:t>
            </a:r>
            <a:endParaRPr lang="en-US" altLang="en-US" dirty="0">
              <a:cs typeface="B Mitra" panose="00000400000000000000" pitchFamily="2" charset="-78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81050" y="2967037"/>
            <a:ext cx="7524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>
                <a:cs typeface="B Mitra" panose="00000400000000000000" pitchFamily="2" charset="-78"/>
              </a:rPr>
              <a:t>  به علت کوچکي، </a:t>
            </a:r>
            <a:r>
              <a:rPr lang="en-US" altLang="en-US">
                <a:cs typeface="B Mitra" panose="00000400000000000000" pitchFamily="2" charset="-78"/>
              </a:rPr>
              <a:t>PLD </a:t>
            </a:r>
            <a:r>
              <a:rPr lang="fa-IR" altLang="en-US">
                <a:cs typeface="B Mitra" panose="00000400000000000000" pitchFamily="2" charset="-78"/>
              </a:rPr>
              <a:t>هاي آنتي فيوز ظرفيت بسيار بالايي دارند.</a:t>
            </a:r>
            <a:endParaRPr lang="en-US" altLang="en-US">
              <a:cs typeface="B Mitra" panose="00000400000000000000" pitchFamily="2" charset="-78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733800"/>
            <a:ext cx="4572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276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Antifuse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838200" y="1322387"/>
            <a:ext cx="7162800" cy="366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مزايا: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 عدم نياز به حافظه ي خارجي.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 مساحت بسيارکم (تقريبا هم اندازه با </a:t>
            </a:r>
            <a:r>
              <a:rPr lang="en-US" altLang="en-US" sz="1800" dirty="0">
                <a:cs typeface="B Mitra" panose="00000400000000000000" pitchFamily="2" charset="-78"/>
              </a:rPr>
              <a:t>via</a:t>
            </a:r>
            <a:r>
              <a:rPr lang="fa-IR" altLang="en-US" sz="1800" dirty="0">
                <a:cs typeface="B Mitra" panose="00000400000000000000" pitchFamily="2" charset="-78"/>
              </a:rPr>
              <a:t>ي سيمهاي فلزي).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 قابليت اطمينان بسيار بالا</a:t>
            </a:r>
          </a:p>
          <a:p>
            <a:pPr lvl="2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(</a:t>
            </a:r>
            <a:r>
              <a:rPr lang="en-US" altLang="en-US" sz="1800" dirty="0">
                <a:cs typeface="B Mitra" panose="00000400000000000000" pitchFamily="2" charset="-78"/>
              </a:rPr>
              <a:t>TDDB</a:t>
            </a:r>
            <a:r>
              <a:rPr lang="fa-IR" altLang="en-US" sz="1800" dirty="0">
                <a:cs typeface="B Mitra" panose="00000400000000000000" pitchFamily="2" charset="-78"/>
              </a:rPr>
              <a:t>:</a:t>
            </a:r>
            <a:r>
              <a:rPr lang="en-US" altLang="en-US" sz="1800" dirty="0">
                <a:cs typeface="B Mitra" panose="00000400000000000000" pitchFamily="2" charset="-78"/>
              </a:rPr>
              <a:t> Time-Dependent Dielectric Breakdown</a:t>
            </a:r>
            <a:r>
              <a:rPr lang="fa-IR" altLang="en-US" sz="1800" dirty="0">
                <a:cs typeface="B Mitra" panose="00000400000000000000" pitchFamily="2" charset="-78"/>
              </a:rPr>
              <a:t>) حدود 40 سال.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 مقاومت کم در حالت روشن (در طي زمان هم کم مي ماند).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 خازن پارازيتي بسيار کمتر.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 امنيت بالاي طرح در برابر سرقت.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توان مصرفي بسيار کمتر.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838200" y="4903787"/>
            <a:ext cx="71628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>
                <a:cs typeface="B Mitra" panose="00000400000000000000" pitchFamily="2" charset="-78"/>
              </a:rPr>
              <a:t> اشکالات: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>
                <a:cs typeface="B Mitra" panose="00000400000000000000" pitchFamily="2" charset="-78"/>
              </a:rPr>
              <a:t>  عدم امکان برنامه ريزي مجدد.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>
                <a:cs typeface="B Mitra" panose="00000400000000000000" pitchFamily="2" charset="-78"/>
              </a:rPr>
              <a:t>  برنامه ريزي آن نياز به مدار اضافي دارد (بايد ولتاژ و جريان بالا ايجاد کند).</a:t>
            </a:r>
          </a:p>
        </p:txBody>
      </p:sp>
    </p:spTree>
    <p:extLst>
      <p:ext uri="{BB962C8B-B14F-4D97-AF65-F5344CB8AC3E}">
        <p14:creationId xmlns:p14="http://schemas.microsoft.com/office/powerpoint/2010/main" val="316280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2" autoUpdateAnimBg="0"/>
      <p:bldP spid="8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Programmable ROM (PROM)</a:t>
            </a:r>
            <a:endParaRPr lang="en-US" dirty="0"/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First ones had fusible links</a:t>
            </a:r>
          </a:p>
          <a:p>
            <a:r>
              <a:rPr lang="en-US" altLang="en-US" dirty="0"/>
              <a:t>High voltage would blow out links</a:t>
            </a:r>
          </a:p>
          <a:p>
            <a:r>
              <a:rPr lang="en-US" altLang="en-US" dirty="0"/>
              <a:t>Fast to program</a:t>
            </a:r>
          </a:p>
          <a:p>
            <a:r>
              <a:rPr lang="en-US" altLang="en-US" dirty="0"/>
              <a:t>Single use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764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UV EPROM</a:t>
            </a:r>
            <a:endParaRPr lang="en-US" dirty="0"/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i="1" dirty="0"/>
              <a:t>Erasable</a:t>
            </a:r>
            <a:r>
              <a:rPr lang="en-US" altLang="en-US" sz="2800" dirty="0"/>
              <a:t> PROM</a:t>
            </a:r>
          </a:p>
          <a:p>
            <a:r>
              <a:rPr lang="en-US" altLang="en-US" sz="2800" dirty="0"/>
              <a:t>Common technologies used UV light to erase complete device</a:t>
            </a:r>
          </a:p>
          <a:p>
            <a:pPr lvl="1"/>
            <a:r>
              <a:rPr lang="en-US" altLang="en-US" sz="2400" dirty="0"/>
              <a:t>Took about 10 minutes</a:t>
            </a:r>
          </a:p>
          <a:p>
            <a:r>
              <a:rPr lang="en-US" altLang="en-US" sz="2800" dirty="0"/>
              <a:t>Holds state as charge in very well insulated areas of the chip</a:t>
            </a:r>
          </a:p>
          <a:p>
            <a:r>
              <a:rPr lang="en-US" altLang="en-US" sz="2800" dirty="0"/>
              <a:t>Nonvolatile for several (10?) years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098" name="Picture 2" descr="http://www.cafeparts.com/Images/big/eprom_27C256_32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50" y="3876675"/>
            <a:ext cx="3333750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608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EEPROM</a:t>
            </a:r>
            <a:endParaRPr lang="en-US" dirty="0"/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en-US" sz="2800" i="1" dirty="0"/>
              <a:t>Electrically Erasable</a:t>
            </a:r>
            <a:r>
              <a:rPr lang="en-US" altLang="en-US" sz="2800" dirty="0"/>
              <a:t> PROM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en-US" sz="2800" dirty="0"/>
              <a:t>Similar technology to UV EPROM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en-US" sz="2800" dirty="0"/>
              <a:t>Erased in blocks by higher voltage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en-US" sz="2800" dirty="0"/>
              <a:t>Programming slower than reading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en-US" sz="2800" dirty="0"/>
              <a:t>Some called </a:t>
            </a:r>
            <a:r>
              <a:rPr lang="en-US" altLang="en-US" sz="2800" i="1" dirty="0"/>
              <a:t>flash memory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 dirty="0"/>
              <a:t>Digital cameras, MP3 players, BIOS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 dirty="0"/>
              <a:t>Limited life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 dirty="0"/>
              <a:t>Some support individual word write, some block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 dirty="0"/>
              <a:t>Has a </a:t>
            </a:r>
            <a:r>
              <a:rPr lang="en-US" altLang="en-US" sz="2400" i="1" dirty="0"/>
              <a:t>boot block</a:t>
            </a:r>
            <a:r>
              <a:rPr lang="en-US" altLang="en-US" sz="2400" dirty="0"/>
              <a:t> that is carefully protected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78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EPROM/EEPROM/Flash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457200" y="990600"/>
            <a:ext cx="7712075" cy="2871788"/>
            <a:chOff x="0" y="2160"/>
            <a:chExt cx="4858" cy="1809"/>
          </a:xfrm>
        </p:grpSpPr>
        <p:pic>
          <p:nvPicPr>
            <p:cNvPr id="8" name="Picture 7" descr="CH04-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400"/>
              <a:ext cx="4858" cy="1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44" y="2160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altLang="en-US">
                <a:cs typeface="B Mitra" panose="00000400000000000000" pitchFamily="2" charset="-78"/>
              </a:endParaRPr>
            </a:p>
          </p:txBody>
        </p:sp>
      </p:grp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267200" y="3733800"/>
            <a:ext cx="4191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>
                <a:cs typeface="B Mitra" panose="00000400000000000000" pitchFamily="2" charset="-78"/>
              </a:rPr>
              <a:t>  ولتاژ برنامه ريزي بالا </a:t>
            </a:r>
            <a:r>
              <a:rPr lang="en-US" altLang="en-US" sz="1800">
                <a:cs typeface="B Mitra" panose="00000400000000000000" pitchFamily="2" charset="-78"/>
                <a:sym typeface="Wingdings" pitchFamily="2" charset="2"/>
              </a:rPr>
              <a:t></a:t>
            </a:r>
            <a:r>
              <a:rPr lang="fa-IR" altLang="en-US" sz="1800">
                <a:cs typeface="B Mitra" panose="00000400000000000000" pitchFamily="2" charset="-78"/>
                <a:sym typeface="Wingdings" pitchFamily="2" charset="2"/>
              </a:rPr>
              <a:t> محبوس شدن الکترونها </a:t>
            </a:r>
            <a:r>
              <a:rPr lang="en-US" altLang="en-US" sz="1800">
                <a:cs typeface="B Mitra" panose="00000400000000000000" pitchFamily="2" charset="-78"/>
                <a:sym typeface="Wingdings" pitchFamily="2" charset="2"/>
              </a:rPr>
              <a:t></a:t>
            </a:r>
            <a:r>
              <a:rPr lang="fa-IR" altLang="en-US" sz="1800">
                <a:cs typeface="B Mitra" panose="00000400000000000000" pitchFamily="2" charset="-78"/>
                <a:sym typeface="Wingdings" pitchFamily="2" charset="2"/>
              </a:rPr>
              <a:t> </a:t>
            </a:r>
            <a:r>
              <a:rPr lang="en-US" altLang="en-US" sz="1800">
                <a:cs typeface="B Mitra" panose="00000400000000000000" pitchFamily="2" charset="-78"/>
                <a:sym typeface="Wingdings" pitchFamily="2" charset="2"/>
              </a:rPr>
              <a:t>Vdd</a:t>
            </a:r>
            <a:r>
              <a:rPr lang="fa-IR" altLang="en-US" sz="1800">
                <a:cs typeface="B Mitra" panose="00000400000000000000" pitchFamily="2" charset="-78"/>
                <a:sym typeface="Wingdings" pitchFamily="2" charset="2"/>
              </a:rPr>
              <a:t> نمي تواند ترانزيستور را روشن کند</a:t>
            </a:r>
            <a:endParaRPr lang="en-US" altLang="en-US" sz="1800">
              <a:cs typeface="B Mitra" panose="00000400000000000000" pitchFamily="2" charset="-78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4800600" y="4714875"/>
            <a:ext cx="3657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>
                <a:cs typeface="B Mitra" panose="00000400000000000000" pitchFamily="2" charset="-78"/>
              </a:rPr>
              <a:t>   </a:t>
            </a:r>
            <a:r>
              <a:rPr lang="en-US" altLang="en-US" sz="1800">
                <a:cs typeface="B Mitra" panose="00000400000000000000" pitchFamily="2" charset="-78"/>
              </a:rPr>
              <a:t>EEPROM</a:t>
            </a:r>
            <a:r>
              <a:rPr lang="fa-IR" altLang="en-US" sz="1800">
                <a:cs typeface="B Mitra" panose="00000400000000000000" pitchFamily="2" charset="-78"/>
              </a:rPr>
              <a:t>: باز گرداندن الکترونها با ميدان الکتريکي (ظرفيت کمتر از </a:t>
            </a:r>
            <a:r>
              <a:rPr lang="en-US" altLang="en-US" sz="1800">
                <a:cs typeface="B Mitra" panose="00000400000000000000" pitchFamily="2" charset="-78"/>
              </a:rPr>
              <a:t>EPROM</a:t>
            </a:r>
            <a:r>
              <a:rPr lang="fa-IR" altLang="en-US" sz="1800">
                <a:cs typeface="B Mitra" panose="00000400000000000000" pitchFamily="2" charset="-78"/>
              </a:rPr>
              <a:t>).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779838"/>
            <a:ext cx="3409950" cy="246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747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SRAM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7" descr="CH04-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905000"/>
            <a:ext cx="5105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838200" y="2209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SRAM</a:t>
            </a:r>
          </a:p>
        </p:txBody>
      </p: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3280012" y="4000500"/>
            <a:ext cx="2209800" cy="1143000"/>
            <a:chOff x="384" y="2496"/>
            <a:chExt cx="1392" cy="720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384" y="2688"/>
              <a:ext cx="768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>
              <a:off x="1488" y="273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7"/>
            <p:cNvSpPr>
              <a:spLocks noChangeShapeType="1"/>
            </p:cNvSpPr>
            <p:nvPr/>
          </p:nvSpPr>
          <p:spPr bwMode="auto">
            <a:xfrm>
              <a:off x="1584" y="273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 flipH="1">
              <a:off x="1584" y="273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 flipH="1">
              <a:off x="1584" y="297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>
              <a:off x="1776" y="249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23"/>
            <p:cNvSpPr>
              <a:spLocks noChangeShapeType="1"/>
            </p:cNvSpPr>
            <p:nvPr/>
          </p:nvSpPr>
          <p:spPr bwMode="auto">
            <a:xfrm>
              <a:off x="1776" y="297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 flipH="1">
              <a:off x="1152" y="2832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25"/>
            <p:cNvSpPr txBox="1">
              <a:spLocks noChangeArrowheads="1"/>
            </p:cNvSpPr>
            <p:nvPr/>
          </p:nvSpPr>
          <p:spPr bwMode="auto">
            <a:xfrm>
              <a:off x="384" y="2736"/>
              <a:ext cx="9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itchFamily="18" charset="0"/>
                  <a:cs typeface="Lotus" pitchFamily="2" charset="-7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400" b="0" dirty="0"/>
                <a:t>SRAM Cell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241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SRAM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 Box 29"/>
          <p:cNvSpPr txBox="1">
            <a:spLocks noChangeArrowheads="1"/>
          </p:cNvSpPr>
          <p:nvPr/>
        </p:nvSpPr>
        <p:spPr bwMode="auto">
          <a:xfrm>
            <a:off x="838200" y="1219200"/>
            <a:ext cx="7620000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مزايا: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 برنامه ريزي مجدد سريع.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 برنامه ريزي </a:t>
            </a:r>
            <a:r>
              <a:rPr lang="en-US" altLang="en-US" sz="1800" dirty="0">
                <a:cs typeface="B Mitra" panose="00000400000000000000" pitchFamily="2" charset="-78"/>
              </a:rPr>
              <a:t>on-chip</a:t>
            </a:r>
            <a:r>
              <a:rPr lang="fa-IR" altLang="en-US" sz="1800" dirty="0">
                <a:cs typeface="B Mitra" panose="00000400000000000000" pitchFamily="2" charset="-78"/>
              </a:rPr>
              <a:t> به دفعات نامحدود.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 </a:t>
            </a:r>
            <a:r>
              <a:rPr lang="en-US" altLang="en-US" sz="1800" dirty="0">
                <a:cs typeface="B Mitra" panose="00000400000000000000" pitchFamily="2" charset="-78"/>
                <a:sym typeface="Wingdings" pitchFamily="2" charset="2"/>
              </a:rPr>
              <a:t></a:t>
            </a: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  </a:t>
            </a:r>
            <a:r>
              <a:rPr lang="en-US" altLang="en-US" sz="1800" dirty="0">
                <a:cs typeface="B Mitra" panose="00000400000000000000" pitchFamily="2" charset="-78"/>
                <a:sym typeface="Wingdings" pitchFamily="2" charset="2"/>
              </a:rPr>
              <a:t>prototyping</a:t>
            </a: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 در داخل سيکل طراحي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  کارخانه ي سازنده مي تواند همه ي مسيرها را با </a:t>
            </a:r>
            <a:r>
              <a:rPr lang="en-US" altLang="en-US" sz="1800" dirty="0">
                <a:cs typeface="B Mitra" panose="00000400000000000000" pitchFamily="2" charset="-78"/>
                <a:sym typeface="Wingdings" pitchFamily="2" charset="2"/>
              </a:rPr>
              <a:t>reprogram </a:t>
            </a: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 کردن </a:t>
            </a:r>
            <a:r>
              <a:rPr lang="en-US" altLang="en-US" sz="1800" dirty="0">
                <a:cs typeface="B Mitra" panose="00000400000000000000" pitchFamily="2" charset="-78"/>
                <a:sym typeface="Wingdings" pitchFamily="2" charset="2"/>
              </a:rPr>
              <a:t>FPGA</a:t>
            </a: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 تست کند (</a:t>
            </a:r>
            <a:r>
              <a:rPr lang="en-US" altLang="en-US" sz="1800" dirty="0">
                <a:cs typeface="B Mitra" panose="00000400000000000000" pitchFamily="2" charset="-78"/>
                <a:sym typeface="Wingdings" pitchFamily="2" charset="2"/>
              </a:rPr>
              <a:t></a:t>
            </a: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 کاربر، آي سي کاملا تست شده را مي گيرد و نيازي به ايجاد الگوهاي تست و مدارهاي </a:t>
            </a:r>
            <a:r>
              <a:rPr lang="en-US" altLang="en-US" sz="1800" dirty="0">
                <a:cs typeface="B Mitra" panose="00000400000000000000" pitchFamily="2" charset="-78"/>
                <a:sym typeface="Wingdings" pitchFamily="2" charset="2"/>
              </a:rPr>
              <a:t>DFT</a:t>
            </a: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 ندارد).</a:t>
            </a:r>
            <a:endParaRPr lang="en-US" altLang="en-US" sz="1800" dirty="0">
              <a:cs typeface="B Mitra" panose="00000400000000000000" pitchFamily="2" charset="-78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52400" y="3814763"/>
            <a:ext cx="8305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اشکالات: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 مساحت (اشکال اصلي): 5 ترانزيستور براي هر سلول </a:t>
            </a:r>
            <a:r>
              <a:rPr lang="en-US" altLang="en-US" sz="1800" dirty="0">
                <a:cs typeface="B Mitra" panose="00000400000000000000" pitchFamily="2" charset="-78"/>
              </a:rPr>
              <a:t>SRAM</a:t>
            </a:r>
            <a:r>
              <a:rPr lang="fa-IR" altLang="en-US" sz="1800" dirty="0">
                <a:cs typeface="B Mitra" panose="00000400000000000000" pitchFamily="2" charset="-78"/>
              </a:rPr>
              <a:t> + يک ترانزيستور براي سوييچ.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  نياز به حافظه ي خارجي </a:t>
            </a:r>
            <a:r>
              <a:rPr lang="en-US" altLang="en-US" sz="1800" dirty="0">
                <a:cs typeface="B Mitra" panose="00000400000000000000" pitchFamily="2" charset="-78"/>
                <a:sym typeface="Wingdings" pitchFamily="2" charset="2"/>
              </a:rPr>
              <a:t>non-volatile</a:t>
            </a: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 (داراي مدار حسگر </a:t>
            </a:r>
            <a:r>
              <a:rPr lang="en-US" altLang="en-US" sz="1800" dirty="0">
                <a:cs typeface="B Mitra" panose="00000400000000000000" pitchFamily="2" charset="-78"/>
                <a:sym typeface="Wingdings" pitchFamily="2" charset="2"/>
              </a:rPr>
              <a:t>power-on</a:t>
            </a: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 است براي </a:t>
            </a:r>
            <a:r>
              <a:rPr lang="en-US" altLang="en-US" sz="1800" dirty="0">
                <a:cs typeface="B Mitra" panose="00000400000000000000" pitchFamily="2" charset="-78"/>
                <a:sym typeface="Wingdings" pitchFamily="2" charset="2"/>
              </a:rPr>
              <a:t>initialization</a:t>
            </a:r>
            <a:r>
              <a:rPr lang="fa-IR" altLang="en-US" sz="1800" dirty="0">
                <a:cs typeface="B Mitra" panose="00000400000000000000" pitchFamily="2" charset="-78"/>
                <a:sym typeface="Wingdings" pitchFamily="2" charset="2"/>
              </a:rPr>
              <a:t>).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امنيت کم طرح در برابر سرقت (</a:t>
            </a:r>
            <a:r>
              <a:rPr lang="en-US" altLang="en-US" sz="1800" dirty="0">
                <a:cs typeface="B Mitra" panose="00000400000000000000" pitchFamily="2" charset="-78"/>
              </a:rPr>
              <a:t>intellectual property</a:t>
            </a:r>
            <a:r>
              <a:rPr lang="fa-IR" altLang="en-US" sz="1800" dirty="0">
                <a:cs typeface="B Mitra" panose="00000400000000000000" pitchFamily="2" charset="-78"/>
              </a:rPr>
              <a:t>)</a:t>
            </a:r>
          </a:p>
          <a:p>
            <a:pPr lvl="1" algn="r" rtl="1" eaLnBrk="1" hangingPunct="1">
              <a:spcBef>
                <a:spcPct val="50000"/>
              </a:spcBef>
              <a:buFontTx/>
              <a:buChar char="•"/>
            </a:pPr>
            <a:r>
              <a:rPr lang="fa-IR" altLang="en-US" sz="1800" dirty="0">
                <a:cs typeface="B Mitra" panose="00000400000000000000" pitchFamily="2" charset="-78"/>
              </a:rPr>
              <a:t> توان مصرفي بالاي سلول هاي </a:t>
            </a:r>
            <a:r>
              <a:rPr lang="en-US" altLang="en-US" sz="1800" dirty="0">
                <a:cs typeface="B Mitra" panose="00000400000000000000" pitchFamily="2" charset="-78"/>
              </a:rPr>
              <a:t>SRAM</a:t>
            </a:r>
            <a:r>
              <a:rPr lang="fa-IR" altLang="en-US" sz="1800" dirty="0">
                <a:cs typeface="B Mitra" panose="00000400000000000000" pitchFamily="2" charset="-78"/>
              </a:rPr>
              <a:t> (حتي وقتي که برنامة آن تغيير نمي کند).</a:t>
            </a:r>
          </a:p>
        </p:txBody>
      </p:sp>
    </p:spTree>
    <p:extLst>
      <p:ext uri="{BB962C8B-B14F-4D97-AF65-F5344CB8AC3E}">
        <p14:creationId xmlns:p14="http://schemas.microsoft.com/office/powerpoint/2010/main" val="161229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 autoUpdateAnimBg="0"/>
      <p:bldP spid="6" grpId="0" build="p" bldLvl="2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1990725"/>
            <a:ext cx="7772400" cy="1362075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Programmable Logic Device</a:t>
            </a:r>
            <a:br>
              <a:rPr lang="en-US" sz="3600" dirty="0">
                <a:solidFill>
                  <a:srgbClr val="FF0000"/>
                </a:solidFill>
              </a:rPr>
            </a:br>
            <a:r>
              <a:rPr lang="en-US" sz="3600" dirty="0">
                <a:solidFill>
                  <a:srgbClr val="FF0000"/>
                </a:solidFill>
              </a:rPr>
              <a:t>(PLD)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021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Three FPLD Types</a:t>
            </a:r>
            <a:endParaRPr lang="en-US" dirty="0"/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dirty="0"/>
              <a:t>Simple Programmable Logic Device (SPLD)</a:t>
            </a:r>
          </a:p>
          <a:p>
            <a:pPr lvl="1"/>
            <a:r>
              <a:rPr lang="en-US" altLang="en-US" sz="1800" dirty="0"/>
              <a:t>LSI device (Less than 1000 logic gates)</a:t>
            </a:r>
          </a:p>
          <a:p>
            <a:pPr lvl="1"/>
            <a:r>
              <a:rPr lang="en-US" altLang="en-US" sz="1800" dirty="0"/>
              <a:t>PLA or PAL</a:t>
            </a:r>
          </a:p>
          <a:p>
            <a:pPr lvl="1"/>
            <a:r>
              <a:rPr lang="en-US" altLang="en-US" sz="1800" dirty="0"/>
              <a:t>Fixed internal routing, deterministic propagation delays</a:t>
            </a:r>
          </a:p>
          <a:p>
            <a:r>
              <a:rPr lang="en-US" altLang="en-US" sz="2000" dirty="0"/>
              <a:t>Complex Programmable Logic Device (CPLD)</a:t>
            </a:r>
          </a:p>
          <a:p>
            <a:pPr lvl="1"/>
            <a:r>
              <a:rPr lang="en-US" altLang="en-US" sz="1800" dirty="0"/>
              <a:t>VLSI device (Higher logic capacity than SPLDs)</a:t>
            </a:r>
          </a:p>
          <a:p>
            <a:pPr lvl="1"/>
            <a:r>
              <a:rPr lang="en-US" altLang="en-US" sz="1800" dirty="0"/>
              <a:t>Multiple SPLDs onto a single chip</a:t>
            </a:r>
          </a:p>
          <a:p>
            <a:pPr lvl="1"/>
            <a:r>
              <a:rPr lang="en-US" altLang="en-US" sz="1800" dirty="0"/>
              <a:t>Programmable interconnect</a:t>
            </a:r>
          </a:p>
          <a:p>
            <a:r>
              <a:rPr lang="en-US" altLang="en-US" sz="2000" dirty="0"/>
              <a:t>Field Programmable Gate Array (FPGA)</a:t>
            </a:r>
          </a:p>
          <a:p>
            <a:pPr lvl="1"/>
            <a:r>
              <a:rPr lang="en-US" altLang="en-US" sz="1800" dirty="0"/>
              <a:t>VLSI device (Higher logic capacity than CPLDs)</a:t>
            </a:r>
          </a:p>
          <a:p>
            <a:pPr lvl="1"/>
            <a:r>
              <a:rPr lang="en-US" altLang="en-US" sz="1800" dirty="0"/>
              <a:t>An array of logic blocks</a:t>
            </a:r>
          </a:p>
          <a:p>
            <a:pPr lvl="1"/>
            <a:r>
              <a:rPr lang="en-US" altLang="en-US" sz="1800" dirty="0"/>
              <a:t>Large number of gates, user selectable interconnection, delays depending on design and routing</a:t>
            </a:r>
          </a:p>
          <a:p>
            <a:pPr lvl="1"/>
            <a:r>
              <a:rPr lang="en-US" altLang="en-US" sz="1800" dirty="0"/>
              <a:t>A high ratio of flip-flops to logic resources</a:t>
            </a:r>
            <a:endParaRPr lang="en-US" sz="1800" dirty="0"/>
          </a:p>
          <a:p>
            <a:endParaRPr lang="en-US" sz="2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60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1990725"/>
            <a:ext cx="7772400" cy="1362075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SPLD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663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PLD (SPLD)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Popular SPLD Architecture Types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Programmable Logic Array, PLA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Programmable Array Logic, PAL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General Array Logic, GAL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others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Architecture Differences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AND versus OR implementation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Programmability (e.g., EE)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Fundamental logic block</a:t>
            </a:r>
            <a:endParaRPr lang="en-US" sz="1800" dirty="0"/>
          </a:p>
          <a:p>
            <a:endParaRPr lang="en-US" sz="2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4312076"/>
            <a:ext cx="6667500" cy="2545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6990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 &amp; PAL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grpSp>
        <p:nvGrpSpPr>
          <p:cNvPr id="722" name="Group 361"/>
          <p:cNvGrpSpPr>
            <a:grpSpLocks/>
          </p:cNvGrpSpPr>
          <p:nvPr/>
        </p:nvGrpSpPr>
        <p:grpSpPr bwMode="auto">
          <a:xfrm>
            <a:off x="381000" y="1613693"/>
            <a:ext cx="3687763" cy="4162425"/>
            <a:chOff x="2976" y="1040"/>
            <a:chExt cx="2323" cy="2622"/>
          </a:xfrm>
        </p:grpSpPr>
        <p:sp>
          <p:nvSpPr>
            <p:cNvPr id="723" name="Line 4"/>
            <p:cNvSpPr>
              <a:spLocks noChangeShapeType="1"/>
            </p:cNvSpPr>
            <p:nvPr/>
          </p:nvSpPr>
          <p:spPr bwMode="auto">
            <a:xfrm flipH="1">
              <a:off x="3903" y="1562"/>
              <a:ext cx="106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24" name="Line 5"/>
            <p:cNvSpPr>
              <a:spLocks noChangeShapeType="1"/>
            </p:cNvSpPr>
            <p:nvPr/>
          </p:nvSpPr>
          <p:spPr bwMode="auto">
            <a:xfrm>
              <a:off x="3809" y="1562"/>
              <a:ext cx="93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25" name="Line 6"/>
            <p:cNvSpPr>
              <a:spLocks noChangeShapeType="1"/>
            </p:cNvSpPr>
            <p:nvPr/>
          </p:nvSpPr>
          <p:spPr bwMode="auto">
            <a:xfrm flipH="1">
              <a:off x="3809" y="1562"/>
              <a:ext cx="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26" name="Oval 7"/>
            <p:cNvSpPr>
              <a:spLocks noChangeArrowheads="1"/>
            </p:cNvSpPr>
            <p:nvPr/>
          </p:nvSpPr>
          <p:spPr bwMode="auto">
            <a:xfrm>
              <a:off x="3940" y="1646"/>
              <a:ext cx="40" cy="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27" name="Line 8"/>
            <p:cNvSpPr>
              <a:spLocks noChangeShapeType="1"/>
            </p:cNvSpPr>
            <p:nvPr/>
          </p:nvSpPr>
          <p:spPr bwMode="auto">
            <a:xfrm>
              <a:off x="3903" y="1454"/>
              <a:ext cx="0" cy="1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28" name="Line 9"/>
            <p:cNvSpPr>
              <a:spLocks noChangeShapeType="1"/>
            </p:cNvSpPr>
            <p:nvPr/>
          </p:nvSpPr>
          <p:spPr bwMode="auto">
            <a:xfrm>
              <a:off x="3956" y="1696"/>
              <a:ext cx="0" cy="1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29" name="Line 10"/>
            <p:cNvSpPr>
              <a:spLocks noChangeShapeType="1"/>
            </p:cNvSpPr>
            <p:nvPr/>
          </p:nvSpPr>
          <p:spPr bwMode="auto">
            <a:xfrm>
              <a:off x="3863" y="1642"/>
              <a:ext cx="0" cy="11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30" name="Line 11"/>
            <p:cNvSpPr>
              <a:spLocks noChangeShapeType="1"/>
            </p:cNvSpPr>
            <p:nvPr/>
          </p:nvSpPr>
          <p:spPr bwMode="auto">
            <a:xfrm>
              <a:off x="3077" y="1790"/>
              <a:ext cx="10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31" name="Line 12"/>
            <p:cNvSpPr>
              <a:spLocks noChangeShapeType="1"/>
            </p:cNvSpPr>
            <p:nvPr/>
          </p:nvSpPr>
          <p:spPr bwMode="auto">
            <a:xfrm>
              <a:off x="4502" y="1790"/>
              <a:ext cx="719" cy="0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32" name="Line 13"/>
            <p:cNvSpPr>
              <a:spLocks noChangeShapeType="1"/>
            </p:cNvSpPr>
            <p:nvPr/>
          </p:nvSpPr>
          <p:spPr bwMode="auto">
            <a:xfrm>
              <a:off x="3077" y="2073"/>
              <a:ext cx="10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33" name="Line 14"/>
            <p:cNvSpPr>
              <a:spLocks noChangeShapeType="1"/>
            </p:cNvSpPr>
            <p:nvPr/>
          </p:nvSpPr>
          <p:spPr bwMode="auto">
            <a:xfrm>
              <a:off x="4502" y="2073"/>
              <a:ext cx="733" cy="0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34" name="Line 15"/>
            <p:cNvSpPr>
              <a:spLocks noChangeShapeType="1"/>
            </p:cNvSpPr>
            <p:nvPr/>
          </p:nvSpPr>
          <p:spPr bwMode="auto">
            <a:xfrm>
              <a:off x="3077" y="2369"/>
              <a:ext cx="10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35" name="Line 16"/>
            <p:cNvSpPr>
              <a:spLocks noChangeShapeType="1"/>
            </p:cNvSpPr>
            <p:nvPr/>
          </p:nvSpPr>
          <p:spPr bwMode="auto">
            <a:xfrm>
              <a:off x="4502" y="2369"/>
              <a:ext cx="746" cy="0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36" name="Line 17"/>
            <p:cNvSpPr>
              <a:spLocks noChangeShapeType="1"/>
            </p:cNvSpPr>
            <p:nvPr/>
          </p:nvSpPr>
          <p:spPr bwMode="auto">
            <a:xfrm>
              <a:off x="3077" y="2651"/>
              <a:ext cx="10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37" name="Line 18"/>
            <p:cNvSpPr>
              <a:spLocks noChangeShapeType="1"/>
            </p:cNvSpPr>
            <p:nvPr/>
          </p:nvSpPr>
          <p:spPr bwMode="auto">
            <a:xfrm>
              <a:off x="4502" y="2651"/>
              <a:ext cx="746" cy="0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38" name="Group 19"/>
            <p:cNvGrpSpPr>
              <a:grpSpLocks/>
            </p:cNvGrpSpPr>
            <p:nvPr/>
          </p:nvGrpSpPr>
          <p:grpSpPr bwMode="auto">
            <a:xfrm>
              <a:off x="3916" y="1750"/>
              <a:ext cx="80" cy="80"/>
              <a:chOff x="3916" y="1352"/>
              <a:chExt cx="80" cy="80"/>
            </a:xfrm>
          </p:grpSpPr>
          <p:sp>
            <p:nvSpPr>
              <p:cNvPr id="911" name="Line 20"/>
              <p:cNvSpPr>
                <a:spLocks noChangeShapeType="1"/>
              </p:cNvSpPr>
              <p:nvPr/>
            </p:nvSpPr>
            <p:spPr bwMode="auto">
              <a:xfrm>
                <a:off x="3916" y="1352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12" name="Line 21"/>
              <p:cNvSpPr>
                <a:spLocks noChangeShapeType="1"/>
              </p:cNvSpPr>
              <p:nvPr/>
            </p:nvSpPr>
            <p:spPr bwMode="auto">
              <a:xfrm flipH="1">
                <a:off x="3916" y="1352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39" name="Group 22"/>
            <p:cNvGrpSpPr>
              <a:grpSpLocks/>
            </p:cNvGrpSpPr>
            <p:nvPr/>
          </p:nvGrpSpPr>
          <p:grpSpPr bwMode="auto">
            <a:xfrm>
              <a:off x="3916" y="2032"/>
              <a:ext cx="80" cy="80"/>
              <a:chOff x="3916" y="1634"/>
              <a:chExt cx="80" cy="80"/>
            </a:xfrm>
          </p:grpSpPr>
          <p:sp>
            <p:nvSpPr>
              <p:cNvPr id="909" name="Line 23"/>
              <p:cNvSpPr>
                <a:spLocks noChangeShapeType="1"/>
              </p:cNvSpPr>
              <p:nvPr/>
            </p:nvSpPr>
            <p:spPr bwMode="auto">
              <a:xfrm>
                <a:off x="3916" y="1634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10" name="Line 24"/>
              <p:cNvSpPr>
                <a:spLocks noChangeShapeType="1"/>
              </p:cNvSpPr>
              <p:nvPr/>
            </p:nvSpPr>
            <p:spPr bwMode="auto">
              <a:xfrm flipH="1">
                <a:off x="3916" y="1634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40" name="Group 25"/>
            <p:cNvGrpSpPr>
              <a:grpSpLocks/>
            </p:cNvGrpSpPr>
            <p:nvPr/>
          </p:nvGrpSpPr>
          <p:grpSpPr bwMode="auto">
            <a:xfrm>
              <a:off x="3916" y="2328"/>
              <a:ext cx="80" cy="67"/>
              <a:chOff x="3916" y="1930"/>
              <a:chExt cx="80" cy="67"/>
            </a:xfrm>
          </p:grpSpPr>
          <p:sp>
            <p:nvSpPr>
              <p:cNvPr id="907" name="Line 26"/>
              <p:cNvSpPr>
                <a:spLocks noChangeShapeType="1"/>
              </p:cNvSpPr>
              <p:nvPr/>
            </p:nvSpPr>
            <p:spPr bwMode="auto">
              <a:xfrm>
                <a:off x="3916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08" name="Line 27"/>
              <p:cNvSpPr>
                <a:spLocks noChangeShapeType="1"/>
              </p:cNvSpPr>
              <p:nvPr/>
            </p:nvSpPr>
            <p:spPr bwMode="auto">
              <a:xfrm flipH="1">
                <a:off x="3916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41" name="Group 28"/>
            <p:cNvGrpSpPr>
              <a:grpSpLocks/>
            </p:cNvGrpSpPr>
            <p:nvPr/>
          </p:nvGrpSpPr>
          <p:grpSpPr bwMode="auto">
            <a:xfrm>
              <a:off x="3916" y="2611"/>
              <a:ext cx="80" cy="80"/>
              <a:chOff x="3916" y="2213"/>
              <a:chExt cx="80" cy="80"/>
            </a:xfrm>
          </p:grpSpPr>
          <p:sp>
            <p:nvSpPr>
              <p:cNvPr id="905" name="Line 29"/>
              <p:cNvSpPr>
                <a:spLocks noChangeShapeType="1"/>
              </p:cNvSpPr>
              <p:nvPr/>
            </p:nvSpPr>
            <p:spPr bwMode="auto">
              <a:xfrm>
                <a:off x="3916" y="2213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06" name="Line 30"/>
              <p:cNvSpPr>
                <a:spLocks noChangeShapeType="1"/>
              </p:cNvSpPr>
              <p:nvPr/>
            </p:nvSpPr>
            <p:spPr bwMode="auto">
              <a:xfrm flipH="1">
                <a:off x="3916" y="2213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42" name="Group 31"/>
            <p:cNvGrpSpPr>
              <a:grpSpLocks/>
            </p:cNvGrpSpPr>
            <p:nvPr/>
          </p:nvGrpSpPr>
          <p:grpSpPr bwMode="auto">
            <a:xfrm>
              <a:off x="3823" y="1750"/>
              <a:ext cx="80" cy="80"/>
              <a:chOff x="3823" y="1352"/>
              <a:chExt cx="80" cy="80"/>
            </a:xfrm>
          </p:grpSpPr>
          <p:sp>
            <p:nvSpPr>
              <p:cNvPr id="903" name="Line 32"/>
              <p:cNvSpPr>
                <a:spLocks noChangeShapeType="1"/>
              </p:cNvSpPr>
              <p:nvPr/>
            </p:nvSpPr>
            <p:spPr bwMode="auto">
              <a:xfrm>
                <a:off x="3823" y="1352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04" name="Line 33"/>
              <p:cNvSpPr>
                <a:spLocks noChangeShapeType="1"/>
              </p:cNvSpPr>
              <p:nvPr/>
            </p:nvSpPr>
            <p:spPr bwMode="auto">
              <a:xfrm flipH="1">
                <a:off x="3823" y="1352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43" name="Group 34"/>
            <p:cNvGrpSpPr>
              <a:grpSpLocks/>
            </p:cNvGrpSpPr>
            <p:nvPr/>
          </p:nvGrpSpPr>
          <p:grpSpPr bwMode="auto">
            <a:xfrm>
              <a:off x="3823" y="2032"/>
              <a:ext cx="80" cy="80"/>
              <a:chOff x="3823" y="1634"/>
              <a:chExt cx="80" cy="80"/>
            </a:xfrm>
          </p:grpSpPr>
          <p:sp>
            <p:nvSpPr>
              <p:cNvPr id="901" name="Line 35"/>
              <p:cNvSpPr>
                <a:spLocks noChangeShapeType="1"/>
              </p:cNvSpPr>
              <p:nvPr/>
            </p:nvSpPr>
            <p:spPr bwMode="auto">
              <a:xfrm>
                <a:off x="3823" y="1634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02" name="Line 36"/>
              <p:cNvSpPr>
                <a:spLocks noChangeShapeType="1"/>
              </p:cNvSpPr>
              <p:nvPr/>
            </p:nvSpPr>
            <p:spPr bwMode="auto">
              <a:xfrm flipH="1">
                <a:off x="3823" y="1634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44" name="Group 37"/>
            <p:cNvGrpSpPr>
              <a:grpSpLocks/>
            </p:cNvGrpSpPr>
            <p:nvPr/>
          </p:nvGrpSpPr>
          <p:grpSpPr bwMode="auto">
            <a:xfrm>
              <a:off x="3823" y="2328"/>
              <a:ext cx="80" cy="67"/>
              <a:chOff x="3823" y="1930"/>
              <a:chExt cx="80" cy="67"/>
            </a:xfrm>
          </p:grpSpPr>
          <p:sp>
            <p:nvSpPr>
              <p:cNvPr id="899" name="Line 38"/>
              <p:cNvSpPr>
                <a:spLocks noChangeShapeType="1"/>
              </p:cNvSpPr>
              <p:nvPr/>
            </p:nvSpPr>
            <p:spPr bwMode="auto">
              <a:xfrm>
                <a:off x="3823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00" name="Line 39"/>
              <p:cNvSpPr>
                <a:spLocks noChangeShapeType="1"/>
              </p:cNvSpPr>
              <p:nvPr/>
            </p:nvSpPr>
            <p:spPr bwMode="auto">
              <a:xfrm flipH="1">
                <a:off x="3823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45" name="Group 40"/>
            <p:cNvGrpSpPr>
              <a:grpSpLocks/>
            </p:cNvGrpSpPr>
            <p:nvPr/>
          </p:nvGrpSpPr>
          <p:grpSpPr bwMode="auto">
            <a:xfrm>
              <a:off x="3823" y="2611"/>
              <a:ext cx="80" cy="80"/>
              <a:chOff x="3823" y="2213"/>
              <a:chExt cx="80" cy="80"/>
            </a:xfrm>
          </p:grpSpPr>
          <p:sp>
            <p:nvSpPr>
              <p:cNvPr id="897" name="Line 41"/>
              <p:cNvSpPr>
                <a:spLocks noChangeShapeType="1"/>
              </p:cNvSpPr>
              <p:nvPr/>
            </p:nvSpPr>
            <p:spPr bwMode="auto">
              <a:xfrm>
                <a:off x="3823" y="2213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98" name="Line 42"/>
              <p:cNvSpPr>
                <a:spLocks noChangeShapeType="1"/>
              </p:cNvSpPr>
              <p:nvPr/>
            </p:nvSpPr>
            <p:spPr bwMode="auto">
              <a:xfrm flipH="1">
                <a:off x="3823" y="2213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746" name="Line 43"/>
            <p:cNvSpPr>
              <a:spLocks noChangeShapeType="1"/>
            </p:cNvSpPr>
            <p:nvPr/>
          </p:nvSpPr>
          <p:spPr bwMode="auto">
            <a:xfrm flipH="1">
              <a:off x="3690" y="1562"/>
              <a:ext cx="93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47" name="Line 44"/>
            <p:cNvSpPr>
              <a:spLocks noChangeShapeType="1"/>
            </p:cNvSpPr>
            <p:nvPr/>
          </p:nvSpPr>
          <p:spPr bwMode="auto">
            <a:xfrm>
              <a:off x="3583" y="1562"/>
              <a:ext cx="106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48" name="Line 45"/>
            <p:cNvSpPr>
              <a:spLocks noChangeShapeType="1"/>
            </p:cNvSpPr>
            <p:nvPr/>
          </p:nvSpPr>
          <p:spPr bwMode="auto">
            <a:xfrm flipH="1">
              <a:off x="3583" y="1562"/>
              <a:ext cx="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49" name="Oval 46"/>
            <p:cNvSpPr>
              <a:spLocks noChangeArrowheads="1"/>
            </p:cNvSpPr>
            <p:nvPr/>
          </p:nvSpPr>
          <p:spPr bwMode="auto">
            <a:xfrm>
              <a:off x="3727" y="1646"/>
              <a:ext cx="26" cy="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50" name="Line 47"/>
            <p:cNvSpPr>
              <a:spLocks noChangeShapeType="1"/>
            </p:cNvSpPr>
            <p:nvPr/>
          </p:nvSpPr>
          <p:spPr bwMode="auto">
            <a:xfrm>
              <a:off x="3689" y="1454"/>
              <a:ext cx="0" cy="1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51" name="Line 48"/>
            <p:cNvSpPr>
              <a:spLocks noChangeShapeType="1"/>
            </p:cNvSpPr>
            <p:nvPr/>
          </p:nvSpPr>
          <p:spPr bwMode="auto">
            <a:xfrm>
              <a:off x="3729" y="1696"/>
              <a:ext cx="0" cy="1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52" name="Line 49"/>
            <p:cNvSpPr>
              <a:spLocks noChangeShapeType="1"/>
            </p:cNvSpPr>
            <p:nvPr/>
          </p:nvSpPr>
          <p:spPr bwMode="auto">
            <a:xfrm>
              <a:off x="3636" y="1642"/>
              <a:ext cx="0" cy="11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53" name="Group 50"/>
            <p:cNvGrpSpPr>
              <a:grpSpLocks/>
            </p:cNvGrpSpPr>
            <p:nvPr/>
          </p:nvGrpSpPr>
          <p:grpSpPr bwMode="auto">
            <a:xfrm>
              <a:off x="3689" y="1750"/>
              <a:ext cx="80" cy="81"/>
              <a:chOff x="3689" y="1352"/>
              <a:chExt cx="80" cy="81"/>
            </a:xfrm>
          </p:grpSpPr>
          <p:sp>
            <p:nvSpPr>
              <p:cNvPr id="895" name="Line 51"/>
              <p:cNvSpPr>
                <a:spLocks noChangeShapeType="1"/>
              </p:cNvSpPr>
              <p:nvPr/>
            </p:nvSpPr>
            <p:spPr bwMode="auto">
              <a:xfrm>
                <a:off x="3690" y="1352"/>
                <a:ext cx="79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96" name="Line 52"/>
              <p:cNvSpPr>
                <a:spLocks noChangeShapeType="1"/>
              </p:cNvSpPr>
              <p:nvPr/>
            </p:nvSpPr>
            <p:spPr bwMode="auto">
              <a:xfrm flipH="1">
                <a:off x="3689" y="1352"/>
                <a:ext cx="80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54" name="Group 53"/>
            <p:cNvGrpSpPr>
              <a:grpSpLocks/>
            </p:cNvGrpSpPr>
            <p:nvPr/>
          </p:nvGrpSpPr>
          <p:grpSpPr bwMode="auto">
            <a:xfrm>
              <a:off x="3689" y="2032"/>
              <a:ext cx="80" cy="81"/>
              <a:chOff x="3689" y="1634"/>
              <a:chExt cx="80" cy="81"/>
            </a:xfrm>
          </p:grpSpPr>
          <p:sp>
            <p:nvSpPr>
              <p:cNvPr id="893" name="Line 54"/>
              <p:cNvSpPr>
                <a:spLocks noChangeShapeType="1"/>
              </p:cNvSpPr>
              <p:nvPr/>
            </p:nvSpPr>
            <p:spPr bwMode="auto">
              <a:xfrm>
                <a:off x="3689" y="1634"/>
                <a:ext cx="80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94" name="Line 55"/>
              <p:cNvSpPr>
                <a:spLocks noChangeShapeType="1"/>
              </p:cNvSpPr>
              <p:nvPr/>
            </p:nvSpPr>
            <p:spPr bwMode="auto">
              <a:xfrm flipH="1">
                <a:off x="3690" y="1635"/>
                <a:ext cx="79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55" name="Group 56"/>
            <p:cNvGrpSpPr>
              <a:grpSpLocks/>
            </p:cNvGrpSpPr>
            <p:nvPr/>
          </p:nvGrpSpPr>
          <p:grpSpPr bwMode="auto">
            <a:xfrm>
              <a:off x="3689" y="2328"/>
              <a:ext cx="80" cy="67"/>
              <a:chOff x="3689" y="1930"/>
              <a:chExt cx="80" cy="67"/>
            </a:xfrm>
          </p:grpSpPr>
          <p:sp>
            <p:nvSpPr>
              <p:cNvPr id="891" name="Line 57"/>
              <p:cNvSpPr>
                <a:spLocks noChangeShapeType="1"/>
              </p:cNvSpPr>
              <p:nvPr/>
            </p:nvSpPr>
            <p:spPr bwMode="auto">
              <a:xfrm>
                <a:off x="3690" y="1930"/>
                <a:ext cx="79" cy="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92" name="Line 58"/>
              <p:cNvSpPr>
                <a:spLocks noChangeShapeType="1"/>
              </p:cNvSpPr>
              <p:nvPr/>
            </p:nvSpPr>
            <p:spPr bwMode="auto">
              <a:xfrm flipH="1">
                <a:off x="3689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56" name="Group 59"/>
            <p:cNvGrpSpPr>
              <a:grpSpLocks/>
            </p:cNvGrpSpPr>
            <p:nvPr/>
          </p:nvGrpSpPr>
          <p:grpSpPr bwMode="auto">
            <a:xfrm>
              <a:off x="3689" y="2611"/>
              <a:ext cx="80" cy="81"/>
              <a:chOff x="3689" y="2213"/>
              <a:chExt cx="80" cy="81"/>
            </a:xfrm>
          </p:grpSpPr>
          <p:sp>
            <p:nvSpPr>
              <p:cNvPr id="889" name="Line 60"/>
              <p:cNvSpPr>
                <a:spLocks noChangeShapeType="1"/>
              </p:cNvSpPr>
              <p:nvPr/>
            </p:nvSpPr>
            <p:spPr bwMode="auto">
              <a:xfrm>
                <a:off x="3690" y="2213"/>
                <a:ext cx="79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90" name="Line 61"/>
              <p:cNvSpPr>
                <a:spLocks noChangeShapeType="1"/>
              </p:cNvSpPr>
              <p:nvPr/>
            </p:nvSpPr>
            <p:spPr bwMode="auto">
              <a:xfrm flipH="1">
                <a:off x="3689" y="2213"/>
                <a:ext cx="80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57" name="Group 62"/>
            <p:cNvGrpSpPr>
              <a:grpSpLocks/>
            </p:cNvGrpSpPr>
            <p:nvPr/>
          </p:nvGrpSpPr>
          <p:grpSpPr bwMode="auto">
            <a:xfrm>
              <a:off x="3596" y="1750"/>
              <a:ext cx="80" cy="80"/>
              <a:chOff x="3596" y="1352"/>
              <a:chExt cx="80" cy="80"/>
            </a:xfrm>
          </p:grpSpPr>
          <p:sp>
            <p:nvSpPr>
              <p:cNvPr id="887" name="Line 63"/>
              <p:cNvSpPr>
                <a:spLocks noChangeShapeType="1"/>
              </p:cNvSpPr>
              <p:nvPr/>
            </p:nvSpPr>
            <p:spPr bwMode="auto">
              <a:xfrm>
                <a:off x="3596" y="1352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88" name="Line 64"/>
              <p:cNvSpPr>
                <a:spLocks noChangeShapeType="1"/>
              </p:cNvSpPr>
              <p:nvPr/>
            </p:nvSpPr>
            <p:spPr bwMode="auto">
              <a:xfrm flipH="1">
                <a:off x="3596" y="1352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58" name="Group 65"/>
            <p:cNvGrpSpPr>
              <a:grpSpLocks/>
            </p:cNvGrpSpPr>
            <p:nvPr/>
          </p:nvGrpSpPr>
          <p:grpSpPr bwMode="auto">
            <a:xfrm>
              <a:off x="3596" y="2032"/>
              <a:ext cx="80" cy="80"/>
              <a:chOff x="3596" y="1634"/>
              <a:chExt cx="80" cy="80"/>
            </a:xfrm>
          </p:grpSpPr>
          <p:sp>
            <p:nvSpPr>
              <p:cNvPr id="885" name="Line 66"/>
              <p:cNvSpPr>
                <a:spLocks noChangeShapeType="1"/>
              </p:cNvSpPr>
              <p:nvPr/>
            </p:nvSpPr>
            <p:spPr bwMode="auto">
              <a:xfrm>
                <a:off x="3596" y="1634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86" name="Line 67"/>
              <p:cNvSpPr>
                <a:spLocks noChangeShapeType="1"/>
              </p:cNvSpPr>
              <p:nvPr/>
            </p:nvSpPr>
            <p:spPr bwMode="auto">
              <a:xfrm flipH="1">
                <a:off x="3596" y="1634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59" name="Group 68"/>
            <p:cNvGrpSpPr>
              <a:grpSpLocks/>
            </p:cNvGrpSpPr>
            <p:nvPr/>
          </p:nvGrpSpPr>
          <p:grpSpPr bwMode="auto">
            <a:xfrm>
              <a:off x="3596" y="2328"/>
              <a:ext cx="80" cy="67"/>
              <a:chOff x="3596" y="1930"/>
              <a:chExt cx="80" cy="67"/>
            </a:xfrm>
          </p:grpSpPr>
          <p:sp>
            <p:nvSpPr>
              <p:cNvPr id="883" name="Line 69"/>
              <p:cNvSpPr>
                <a:spLocks noChangeShapeType="1"/>
              </p:cNvSpPr>
              <p:nvPr/>
            </p:nvSpPr>
            <p:spPr bwMode="auto">
              <a:xfrm>
                <a:off x="3596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84" name="Line 70"/>
              <p:cNvSpPr>
                <a:spLocks noChangeShapeType="1"/>
              </p:cNvSpPr>
              <p:nvPr/>
            </p:nvSpPr>
            <p:spPr bwMode="auto">
              <a:xfrm flipH="1">
                <a:off x="3596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60" name="Group 71"/>
            <p:cNvGrpSpPr>
              <a:grpSpLocks/>
            </p:cNvGrpSpPr>
            <p:nvPr/>
          </p:nvGrpSpPr>
          <p:grpSpPr bwMode="auto">
            <a:xfrm>
              <a:off x="3596" y="2611"/>
              <a:ext cx="80" cy="80"/>
              <a:chOff x="3596" y="2213"/>
              <a:chExt cx="80" cy="80"/>
            </a:xfrm>
          </p:grpSpPr>
          <p:sp>
            <p:nvSpPr>
              <p:cNvPr id="881" name="Line 72"/>
              <p:cNvSpPr>
                <a:spLocks noChangeShapeType="1"/>
              </p:cNvSpPr>
              <p:nvPr/>
            </p:nvSpPr>
            <p:spPr bwMode="auto">
              <a:xfrm>
                <a:off x="3596" y="2213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82" name="Line 73"/>
              <p:cNvSpPr>
                <a:spLocks noChangeShapeType="1"/>
              </p:cNvSpPr>
              <p:nvPr/>
            </p:nvSpPr>
            <p:spPr bwMode="auto">
              <a:xfrm flipH="1">
                <a:off x="3596" y="2213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761" name="Line 74"/>
            <p:cNvSpPr>
              <a:spLocks noChangeShapeType="1"/>
            </p:cNvSpPr>
            <p:nvPr/>
          </p:nvSpPr>
          <p:spPr bwMode="auto">
            <a:xfrm flipH="1">
              <a:off x="3463" y="1562"/>
              <a:ext cx="93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62" name="Line 75"/>
            <p:cNvSpPr>
              <a:spLocks noChangeShapeType="1"/>
            </p:cNvSpPr>
            <p:nvPr/>
          </p:nvSpPr>
          <p:spPr bwMode="auto">
            <a:xfrm>
              <a:off x="3370" y="1563"/>
              <a:ext cx="93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63" name="Line 76"/>
            <p:cNvSpPr>
              <a:spLocks noChangeShapeType="1"/>
            </p:cNvSpPr>
            <p:nvPr/>
          </p:nvSpPr>
          <p:spPr bwMode="auto">
            <a:xfrm flipH="1">
              <a:off x="3370" y="1562"/>
              <a:ext cx="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64" name="Oval 77"/>
            <p:cNvSpPr>
              <a:spLocks noChangeArrowheads="1"/>
            </p:cNvSpPr>
            <p:nvPr/>
          </p:nvSpPr>
          <p:spPr bwMode="auto">
            <a:xfrm>
              <a:off x="3494" y="1646"/>
              <a:ext cx="39" cy="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65" name="Line 78"/>
            <p:cNvSpPr>
              <a:spLocks noChangeShapeType="1"/>
            </p:cNvSpPr>
            <p:nvPr/>
          </p:nvSpPr>
          <p:spPr bwMode="auto">
            <a:xfrm>
              <a:off x="3463" y="1454"/>
              <a:ext cx="0" cy="1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66" name="Line 79"/>
            <p:cNvSpPr>
              <a:spLocks noChangeShapeType="1"/>
            </p:cNvSpPr>
            <p:nvPr/>
          </p:nvSpPr>
          <p:spPr bwMode="auto">
            <a:xfrm>
              <a:off x="3503" y="1696"/>
              <a:ext cx="0" cy="1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67" name="Line 80"/>
            <p:cNvSpPr>
              <a:spLocks noChangeShapeType="1"/>
            </p:cNvSpPr>
            <p:nvPr/>
          </p:nvSpPr>
          <p:spPr bwMode="auto">
            <a:xfrm>
              <a:off x="3410" y="1642"/>
              <a:ext cx="0" cy="11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68" name="Group 81"/>
            <p:cNvGrpSpPr>
              <a:grpSpLocks/>
            </p:cNvGrpSpPr>
            <p:nvPr/>
          </p:nvGrpSpPr>
          <p:grpSpPr bwMode="auto">
            <a:xfrm>
              <a:off x="3476" y="1750"/>
              <a:ext cx="67" cy="81"/>
              <a:chOff x="3476" y="1352"/>
              <a:chExt cx="67" cy="81"/>
            </a:xfrm>
          </p:grpSpPr>
          <p:sp>
            <p:nvSpPr>
              <p:cNvPr id="879" name="Line 82"/>
              <p:cNvSpPr>
                <a:spLocks noChangeShapeType="1"/>
              </p:cNvSpPr>
              <p:nvPr/>
            </p:nvSpPr>
            <p:spPr bwMode="auto">
              <a:xfrm>
                <a:off x="3477" y="1352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80" name="Line 83"/>
              <p:cNvSpPr>
                <a:spLocks noChangeShapeType="1"/>
              </p:cNvSpPr>
              <p:nvPr/>
            </p:nvSpPr>
            <p:spPr bwMode="auto">
              <a:xfrm flipH="1">
                <a:off x="3476" y="1352"/>
                <a:ext cx="67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69" name="Group 84"/>
            <p:cNvGrpSpPr>
              <a:grpSpLocks/>
            </p:cNvGrpSpPr>
            <p:nvPr/>
          </p:nvGrpSpPr>
          <p:grpSpPr bwMode="auto">
            <a:xfrm>
              <a:off x="3476" y="2032"/>
              <a:ext cx="67" cy="81"/>
              <a:chOff x="3476" y="1634"/>
              <a:chExt cx="67" cy="81"/>
            </a:xfrm>
          </p:grpSpPr>
          <p:sp>
            <p:nvSpPr>
              <p:cNvPr id="877" name="Line 85"/>
              <p:cNvSpPr>
                <a:spLocks noChangeShapeType="1"/>
              </p:cNvSpPr>
              <p:nvPr/>
            </p:nvSpPr>
            <p:spPr bwMode="auto">
              <a:xfrm>
                <a:off x="3476" y="1634"/>
                <a:ext cx="67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78" name="Line 86"/>
              <p:cNvSpPr>
                <a:spLocks noChangeShapeType="1"/>
              </p:cNvSpPr>
              <p:nvPr/>
            </p:nvSpPr>
            <p:spPr bwMode="auto">
              <a:xfrm flipH="1">
                <a:off x="3477" y="1635"/>
                <a:ext cx="66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70" name="Group 87"/>
            <p:cNvGrpSpPr>
              <a:grpSpLocks/>
            </p:cNvGrpSpPr>
            <p:nvPr/>
          </p:nvGrpSpPr>
          <p:grpSpPr bwMode="auto">
            <a:xfrm>
              <a:off x="3476" y="2328"/>
              <a:ext cx="67" cy="67"/>
              <a:chOff x="3476" y="1930"/>
              <a:chExt cx="67" cy="67"/>
            </a:xfrm>
          </p:grpSpPr>
          <p:sp>
            <p:nvSpPr>
              <p:cNvPr id="875" name="Line 88"/>
              <p:cNvSpPr>
                <a:spLocks noChangeShapeType="1"/>
              </p:cNvSpPr>
              <p:nvPr/>
            </p:nvSpPr>
            <p:spPr bwMode="auto">
              <a:xfrm>
                <a:off x="3476" y="1930"/>
                <a:ext cx="67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76" name="Line 89"/>
              <p:cNvSpPr>
                <a:spLocks noChangeShapeType="1"/>
              </p:cNvSpPr>
              <p:nvPr/>
            </p:nvSpPr>
            <p:spPr bwMode="auto">
              <a:xfrm flipH="1">
                <a:off x="3476" y="1930"/>
                <a:ext cx="67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71" name="Group 90"/>
            <p:cNvGrpSpPr>
              <a:grpSpLocks/>
            </p:cNvGrpSpPr>
            <p:nvPr/>
          </p:nvGrpSpPr>
          <p:grpSpPr bwMode="auto">
            <a:xfrm>
              <a:off x="3476" y="2611"/>
              <a:ext cx="67" cy="81"/>
              <a:chOff x="3476" y="2213"/>
              <a:chExt cx="67" cy="81"/>
            </a:xfrm>
          </p:grpSpPr>
          <p:sp>
            <p:nvSpPr>
              <p:cNvPr id="873" name="Line 91"/>
              <p:cNvSpPr>
                <a:spLocks noChangeShapeType="1"/>
              </p:cNvSpPr>
              <p:nvPr/>
            </p:nvSpPr>
            <p:spPr bwMode="auto">
              <a:xfrm>
                <a:off x="3477" y="2213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74" name="Line 92"/>
              <p:cNvSpPr>
                <a:spLocks noChangeShapeType="1"/>
              </p:cNvSpPr>
              <p:nvPr/>
            </p:nvSpPr>
            <p:spPr bwMode="auto">
              <a:xfrm flipH="1">
                <a:off x="3476" y="2213"/>
                <a:ext cx="67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72" name="Group 93"/>
            <p:cNvGrpSpPr>
              <a:grpSpLocks/>
            </p:cNvGrpSpPr>
            <p:nvPr/>
          </p:nvGrpSpPr>
          <p:grpSpPr bwMode="auto">
            <a:xfrm>
              <a:off x="3370" y="1750"/>
              <a:ext cx="80" cy="80"/>
              <a:chOff x="3370" y="1352"/>
              <a:chExt cx="80" cy="80"/>
            </a:xfrm>
          </p:grpSpPr>
          <p:sp>
            <p:nvSpPr>
              <p:cNvPr id="871" name="Line 94"/>
              <p:cNvSpPr>
                <a:spLocks noChangeShapeType="1"/>
              </p:cNvSpPr>
              <p:nvPr/>
            </p:nvSpPr>
            <p:spPr bwMode="auto">
              <a:xfrm>
                <a:off x="3370" y="1352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72" name="Line 95"/>
              <p:cNvSpPr>
                <a:spLocks noChangeShapeType="1"/>
              </p:cNvSpPr>
              <p:nvPr/>
            </p:nvSpPr>
            <p:spPr bwMode="auto">
              <a:xfrm flipH="1">
                <a:off x="3370" y="1352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73" name="Group 96"/>
            <p:cNvGrpSpPr>
              <a:grpSpLocks/>
            </p:cNvGrpSpPr>
            <p:nvPr/>
          </p:nvGrpSpPr>
          <p:grpSpPr bwMode="auto">
            <a:xfrm>
              <a:off x="3370" y="2032"/>
              <a:ext cx="80" cy="80"/>
              <a:chOff x="3370" y="1634"/>
              <a:chExt cx="80" cy="80"/>
            </a:xfrm>
          </p:grpSpPr>
          <p:sp>
            <p:nvSpPr>
              <p:cNvPr id="869" name="Line 97"/>
              <p:cNvSpPr>
                <a:spLocks noChangeShapeType="1"/>
              </p:cNvSpPr>
              <p:nvPr/>
            </p:nvSpPr>
            <p:spPr bwMode="auto">
              <a:xfrm>
                <a:off x="3370" y="1634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70" name="Line 98"/>
              <p:cNvSpPr>
                <a:spLocks noChangeShapeType="1"/>
              </p:cNvSpPr>
              <p:nvPr/>
            </p:nvSpPr>
            <p:spPr bwMode="auto">
              <a:xfrm flipH="1">
                <a:off x="3370" y="1634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74" name="Group 99"/>
            <p:cNvGrpSpPr>
              <a:grpSpLocks/>
            </p:cNvGrpSpPr>
            <p:nvPr/>
          </p:nvGrpSpPr>
          <p:grpSpPr bwMode="auto">
            <a:xfrm>
              <a:off x="3370" y="2328"/>
              <a:ext cx="80" cy="67"/>
              <a:chOff x="3370" y="1930"/>
              <a:chExt cx="80" cy="67"/>
            </a:xfrm>
          </p:grpSpPr>
          <p:sp>
            <p:nvSpPr>
              <p:cNvPr id="867" name="Line 100"/>
              <p:cNvSpPr>
                <a:spLocks noChangeShapeType="1"/>
              </p:cNvSpPr>
              <p:nvPr/>
            </p:nvSpPr>
            <p:spPr bwMode="auto">
              <a:xfrm>
                <a:off x="3370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68" name="Line 101"/>
              <p:cNvSpPr>
                <a:spLocks noChangeShapeType="1"/>
              </p:cNvSpPr>
              <p:nvPr/>
            </p:nvSpPr>
            <p:spPr bwMode="auto">
              <a:xfrm flipH="1">
                <a:off x="3370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75" name="Group 102"/>
            <p:cNvGrpSpPr>
              <a:grpSpLocks/>
            </p:cNvGrpSpPr>
            <p:nvPr/>
          </p:nvGrpSpPr>
          <p:grpSpPr bwMode="auto">
            <a:xfrm>
              <a:off x="3370" y="2611"/>
              <a:ext cx="80" cy="80"/>
              <a:chOff x="3370" y="2213"/>
              <a:chExt cx="80" cy="80"/>
            </a:xfrm>
          </p:grpSpPr>
          <p:sp>
            <p:nvSpPr>
              <p:cNvPr id="865" name="Line 103"/>
              <p:cNvSpPr>
                <a:spLocks noChangeShapeType="1"/>
              </p:cNvSpPr>
              <p:nvPr/>
            </p:nvSpPr>
            <p:spPr bwMode="auto">
              <a:xfrm>
                <a:off x="3370" y="2213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66" name="Line 104"/>
              <p:cNvSpPr>
                <a:spLocks noChangeShapeType="1"/>
              </p:cNvSpPr>
              <p:nvPr/>
            </p:nvSpPr>
            <p:spPr bwMode="auto">
              <a:xfrm flipH="1">
                <a:off x="3370" y="2213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776" name="Line 105"/>
            <p:cNvSpPr>
              <a:spLocks noChangeShapeType="1"/>
            </p:cNvSpPr>
            <p:nvPr/>
          </p:nvSpPr>
          <p:spPr bwMode="auto">
            <a:xfrm flipH="1">
              <a:off x="3237" y="1562"/>
              <a:ext cx="93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77" name="Line 106"/>
            <p:cNvSpPr>
              <a:spLocks noChangeShapeType="1"/>
            </p:cNvSpPr>
            <p:nvPr/>
          </p:nvSpPr>
          <p:spPr bwMode="auto">
            <a:xfrm>
              <a:off x="3143" y="1562"/>
              <a:ext cx="93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78" name="Line 107"/>
            <p:cNvSpPr>
              <a:spLocks noChangeShapeType="1"/>
            </p:cNvSpPr>
            <p:nvPr/>
          </p:nvSpPr>
          <p:spPr bwMode="auto">
            <a:xfrm flipH="1">
              <a:off x="3143" y="1562"/>
              <a:ext cx="18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79" name="Oval 108"/>
            <p:cNvSpPr>
              <a:spLocks noChangeArrowheads="1"/>
            </p:cNvSpPr>
            <p:nvPr/>
          </p:nvSpPr>
          <p:spPr bwMode="auto">
            <a:xfrm>
              <a:off x="3267" y="1646"/>
              <a:ext cx="39" cy="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80" name="Line 109"/>
            <p:cNvSpPr>
              <a:spLocks noChangeShapeType="1"/>
            </p:cNvSpPr>
            <p:nvPr/>
          </p:nvSpPr>
          <p:spPr bwMode="auto">
            <a:xfrm>
              <a:off x="3237" y="1454"/>
              <a:ext cx="0" cy="1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81" name="Line 110"/>
            <p:cNvSpPr>
              <a:spLocks noChangeShapeType="1"/>
            </p:cNvSpPr>
            <p:nvPr/>
          </p:nvSpPr>
          <p:spPr bwMode="auto">
            <a:xfrm>
              <a:off x="3290" y="1696"/>
              <a:ext cx="0" cy="1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82" name="Line 111"/>
            <p:cNvSpPr>
              <a:spLocks noChangeShapeType="1"/>
            </p:cNvSpPr>
            <p:nvPr/>
          </p:nvSpPr>
          <p:spPr bwMode="auto">
            <a:xfrm>
              <a:off x="3183" y="1642"/>
              <a:ext cx="0" cy="11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83" name="Group 112"/>
            <p:cNvGrpSpPr>
              <a:grpSpLocks/>
            </p:cNvGrpSpPr>
            <p:nvPr/>
          </p:nvGrpSpPr>
          <p:grpSpPr bwMode="auto">
            <a:xfrm>
              <a:off x="3250" y="1750"/>
              <a:ext cx="80" cy="80"/>
              <a:chOff x="3250" y="1352"/>
              <a:chExt cx="80" cy="80"/>
            </a:xfrm>
          </p:grpSpPr>
          <p:sp>
            <p:nvSpPr>
              <p:cNvPr id="863" name="Line 113"/>
              <p:cNvSpPr>
                <a:spLocks noChangeShapeType="1"/>
              </p:cNvSpPr>
              <p:nvPr/>
            </p:nvSpPr>
            <p:spPr bwMode="auto">
              <a:xfrm>
                <a:off x="3250" y="1352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64" name="Line 114"/>
              <p:cNvSpPr>
                <a:spLocks noChangeShapeType="1"/>
              </p:cNvSpPr>
              <p:nvPr/>
            </p:nvSpPr>
            <p:spPr bwMode="auto">
              <a:xfrm flipH="1">
                <a:off x="3250" y="1352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84" name="Group 115"/>
            <p:cNvGrpSpPr>
              <a:grpSpLocks/>
            </p:cNvGrpSpPr>
            <p:nvPr/>
          </p:nvGrpSpPr>
          <p:grpSpPr bwMode="auto">
            <a:xfrm>
              <a:off x="3250" y="2032"/>
              <a:ext cx="80" cy="80"/>
              <a:chOff x="3250" y="1634"/>
              <a:chExt cx="80" cy="80"/>
            </a:xfrm>
          </p:grpSpPr>
          <p:sp>
            <p:nvSpPr>
              <p:cNvPr id="861" name="Line 116"/>
              <p:cNvSpPr>
                <a:spLocks noChangeShapeType="1"/>
              </p:cNvSpPr>
              <p:nvPr/>
            </p:nvSpPr>
            <p:spPr bwMode="auto">
              <a:xfrm>
                <a:off x="3250" y="1634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62" name="Line 117"/>
              <p:cNvSpPr>
                <a:spLocks noChangeShapeType="1"/>
              </p:cNvSpPr>
              <p:nvPr/>
            </p:nvSpPr>
            <p:spPr bwMode="auto">
              <a:xfrm flipH="1">
                <a:off x="3250" y="1634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85" name="Group 118"/>
            <p:cNvGrpSpPr>
              <a:grpSpLocks/>
            </p:cNvGrpSpPr>
            <p:nvPr/>
          </p:nvGrpSpPr>
          <p:grpSpPr bwMode="auto">
            <a:xfrm>
              <a:off x="3250" y="2328"/>
              <a:ext cx="80" cy="67"/>
              <a:chOff x="3250" y="1930"/>
              <a:chExt cx="80" cy="67"/>
            </a:xfrm>
          </p:grpSpPr>
          <p:sp>
            <p:nvSpPr>
              <p:cNvPr id="859" name="Line 119"/>
              <p:cNvSpPr>
                <a:spLocks noChangeShapeType="1"/>
              </p:cNvSpPr>
              <p:nvPr/>
            </p:nvSpPr>
            <p:spPr bwMode="auto">
              <a:xfrm>
                <a:off x="3250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60" name="Line 120"/>
              <p:cNvSpPr>
                <a:spLocks noChangeShapeType="1"/>
              </p:cNvSpPr>
              <p:nvPr/>
            </p:nvSpPr>
            <p:spPr bwMode="auto">
              <a:xfrm flipH="1">
                <a:off x="3250" y="1930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86" name="Group 121"/>
            <p:cNvGrpSpPr>
              <a:grpSpLocks/>
            </p:cNvGrpSpPr>
            <p:nvPr/>
          </p:nvGrpSpPr>
          <p:grpSpPr bwMode="auto">
            <a:xfrm>
              <a:off x="3250" y="2611"/>
              <a:ext cx="80" cy="80"/>
              <a:chOff x="3250" y="2213"/>
              <a:chExt cx="80" cy="80"/>
            </a:xfrm>
          </p:grpSpPr>
          <p:sp>
            <p:nvSpPr>
              <p:cNvPr id="857" name="Line 122"/>
              <p:cNvSpPr>
                <a:spLocks noChangeShapeType="1"/>
              </p:cNvSpPr>
              <p:nvPr/>
            </p:nvSpPr>
            <p:spPr bwMode="auto">
              <a:xfrm>
                <a:off x="3250" y="2213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58" name="Line 123"/>
              <p:cNvSpPr>
                <a:spLocks noChangeShapeType="1"/>
              </p:cNvSpPr>
              <p:nvPr/>
            </p:nvSpPr>
            <p:spPr bwMode="auto">
              <a:xfrm flipH="1">
                <a:off x="3250" y="2213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87" name="Group 124"/>
            <p:cNvGrpSpPr>
              <a:grpSpLocks/>
            </p:cNvGrpSpPr>
            <p:nvPr/>
          </p:nvGrpSpPr>
          <p:grpSpPr bwMode="auto">
            <a:xfrm>
              <a:off x="3157" y="1750"/>
              <a:ext cx="66" cy="79"/>
              <a:chOff x="3157" y="1352"/>
              <a:chExt cx="66" cy="79"/>
            </a:xfrm>
          </p:grpSpPr>
          <p:sp>
            <p:nvSpPr>
              <p:cNvPr id="855" name="Line 125"/>
              <p:cNvSpPr>
                <a:spLocks noChangeShapeType="1"/>
              </p:cNvSpPr>
              <p:nvPr/>
            </p:nvSpPr>
            <p:spPr bwMode="auto">
              <a:xfrm>
                <a:off x="3157" y="1352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56" name="Line 126"/>
              <p:cNvSpPr>
                <a:spLocks noChangeShapeType="1"/>
              </p:cNvSpPr>
              <p:nvPr/>
            </p:nvSpPr>
            <p:spPr bwMode="auto">
              <a:xfrm flipH="1">
                <a:off x="3157" y="1352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88" name="Group 127"/>
            <p:cNvGrpSpPr>
              <a:grpSpLocks/>
            </p:cNvGrpSpPr>
            <p:nvPr/>
          </p:nvGrpSpPr>
          <p:grpSpPr bwMode="auto">
            <a:xfrm>
              <a:off x="3157" y="2033"/>
              <a:ext cx="66" cy="79"/>
              <a:chOff x="3157" y="1635"/>
              <a:chExt cx="66" cy="79"/>
            </a:xfrm>
          </p:grpSpPr>
          <p:sp>
            <p:nvSpPr>
              <p:cNvPr id="853" name="Line 128"/>
              <p:cNvSpPr>
                <a:spLocks noChangeShapeType="1"/>
              </p:cNvSpPr>
              <p:nvPr/>
            </p:nvSpPr>
            <p:spPr bwMode="auto">
              <a:xfrm>
                <a:off x="3157" y="1635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54" name="Line 129"/>
              <p:cNvSpPr>
                <a:spLocks noChangeShapeType="1"/>
              </p:cNvSpPr>
              <p:nvPr/>
            </p:nvSpPr>
            <p:spPr bwMode="auto">
              <a:xfrm flipH="1">
                <a:off x="3157" y="1635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89" name="Group 130"/>
            <p:cNvGrpSpPr>
              <a:grpSpLocks/>
            </p:cNvGrpSpPr>
            <p:nvPr/>
          </p:nvGrpSpPr>
          <p:grpSpPr bwMode="auto">
            <a:xfrm>
              <a:off x="3157" y="2328"/>
              <a:ext cx="66" cy="66"/>
              <a:chOff x="3157" y="1930"/>
              <a:chExt cx="66" cy="66"/>
            </a:xfrm>
          </p:grpSpPr>
          <p:sp>
            <p:nvSpPr>
              <p:cNvPr id="851" name="Line 131"/>
              <p:cNvSpPr>
                <a:spLocks noChangeShapeType="1"/>
              </p:cNvSpPr>
              <p:nvPr/>
            </p:nvSpPr>
            <p:spPr bwMode="auto">
              <a:xfrm>
                <a:off x="3157" y="1930"/>
                <a:ext cx="66" cy="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52" name="Line 132"/>
              <p:cNvSpPr>
                <a:spLocks noChangeShapeType="1"/>
              </p:cNvSpPr>
              <p:nvPr/>
            </p:nvSpPr>
            <p:spPr bwMode="auto">
              <a:xfrm flipH="1">
                <a:off x="3157" y="1930"/>
                <a:ext cx="66" cy="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90" name="Group 133"/>
            <p:cNvGrpSpPr>
              <a:grpSpLocks/>
            </p:cNvGrpSpPr>
            <p:nvPr/>
          </p:nvGrpSpPr>
          <p:grpSpPr bwMode="auto">
            <a:xfrm>
              <a:off x="3157" y="2611"/>
              <a:ext cx="66" cy="79"/>
              <a:chOff x="3157" y="2213"/>
              <a:chExt cx="66" cy="79"/>
            </a:xfrm>
          </p:grpSpPr>
          <p:sp>
            <p:nvSpPr>
              <p:cNvPr id="849" name="Line 134"/>
              <p:cNvSpPr>
                <a:spLocks noChangeShapeType="1"/>
              </p:cNvSpPr>
              <p:nvPr/>
            </p:nvSpPr>
            <p:spPr bwMode="auto">
              <a:xfrm>
                <a:off x="3157" y="2213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50" name="Line 135"/>
              <p:cNvSpPr>
                <a:spLocks noChangeShapeType="1"/>
              </p:cNvSpPr>
              <p:nvPr/>
            </p:nvSpPr>
            <p:spPr bwMode="auto">
              <a:xfrm flipH="1">
                <a:off x="3157" y="2213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791" name="Line 136"/>
            <p:cNvSpPr>
              <a:spLocks noChangeShapeType="1"/>
            </p:cNvSpPr>
            <p:nvPr/>
          </p:nvSpPr>
          <p:spPr bwMode="auto">
            <a:xfrm flipH="1">
              <a:off x="4688" y="1642"/>
              <a:ext cx="1" cy="1241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92" name="Line 137"/>
            <p:cNvSpPr>
              <a:spLocks noChangeShapeType="1"/>
            </p:cNvSpPr>
            <p:nvPr/>
          </p:nvSpPr>
          <p:spPr bwMode="auto">
            <a:xfrm>
              <a:off x="4689" y="3176"/>
              <a:ext cx="0" cy="94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93" name="Line 138"/>
            <p:cNvSpPr>
              <a:spLocks noChangeShapeType="1"/>
            </p:cNvSpPr>
            <p:nvPr/>
          </p:nvSpPr>
          <p:spPr bwMode="auto">
            <a:xfrm>
              <a:off x="4968" y="1642"/>
              <a:ext cx="2" cy="1248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794" name="Line 139"/>
            <p:cNvSpPr>
              <a:spLocks noChangeShapeType="1"/>
            </p:cNvSpPr>
            <p:nvPr/>
          </p:nvSpPr>
          <p:spPr bwMode="auto">
            <a:xfrm>
              <a:off x="4968" y="3176"/>
              <a:ext cx="0" cy="94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795" name="Group 140"/>
            <p:cNvGrpSpPr>
              <a:grpSpLocks/>
            </p:cNvGrpSpPr>
            <p:nvPr/>
          </p:nvGrpSpPr>
          <p:grpSpPr bwMode="auto">
            <a:xfrm>
              <a:off x="4159" y="1646"/>
              <a:ext cx="340" cy="276"/>
              <a:chOff x="4159" y="1248"/>
              <a:chExt cx="340" cy="276"/>
            </a:xfrm>
          </p:grpSpPr>
          <p:sp>
            <p:nvSpPr>
              <p:cNvPr id="845" name="Line 141"/>
              <p:cNvSpPr>
                <a:spLocks noChangeShapeType="1"/>
              </p:cNvSpPr>
              <p:nvPr/>
            </p:nvSpPr>
            <p:spPr bwMode="auto">
              <a:xfrm>
                <a:off x="4159" y="1251"/>
                <a:ext cx="0" cy="268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46" name="Line 142"/>
              <p:cNvSpPr>
                <a:spLocks noChangeShapeType="1"/>
              </p:cNvSpPr>
              <p:nvPr/>
            </p:nvSpPr>
            <p:spPr bwMode="auto">
              <a:xfrm flipH="1">
                <a:off x="4159" y="1524"/>
                <a:ext cx="118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47" name="Line 143"/>
              <p:cNvSpPr>
                <a:spLocks noChangeShapeType="1"/>
              </p:cNvSpPr>
              <p:nvPr/>
            </p:nvSpPr>
            <p:spPr bwMode="auto">
              <a:xfrm flipH="1">
                <a:off x="4159" y="1251"/>
                <a:ext cx="118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48" name="Arc 144"/>
              <p:cNvSpPr>
                <a:spLocks/>
              </p:cNvSpPr>
              <p:nvPr/>
            </p:nvSpPr>
            <p:spPr bwMode="auto">
              <a:xfrm>
                <a:off x="4278" y="1248"/>
                <a:ext cx="221" cy="275"/>
              </a:xfrm>
              <a:custGeom>
                <a:avLst/>
                <a:gdLst>
                  <a:gd name="G0" fmla="+- 99 0 0"/>
                  <a:gd name="G1" fmla="+- 21600 0 0"/>
                  <a:gd name="G2" fmla="+- 21600 0 0"/>
                  <a:gd name="T0" fmla="*/ 1 w 21699"/>
                  <a:gd name="T1" fmla="*/ 0 h 43200"/>
                  <a:gd name="T2" fmla="*/ 0 w 21699"/>
                  <a:gd name="T3" fmla="*/ 43200 h 43200"/>
                  <a:gd name="T4" fmla="*/ 99 w 2169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9" h="43200" fill="none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</a:path>
                  <a:path w="21699" h="43200" stroke="0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  <a:lnTo>
                      <a:pt x="99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96" name="Group 145"/>
            <p:cNvGrpSpPr>
              <a:grpSpLocks/>
            </p:cNvGrpSpPr>
            <p:nvPr/>
          </p:nvGrpSpPr>
          <p:grpSpPr bwMode="auto">
            <a:xfrm>
              <a:off x="4159" y="1935"/>
              <a:ext cx="340" cy="276"/>
              <a:chOff x="4159" y="1537"/>
              <a:chExt cx="340" cy="276"/>
            </a:xfrm>
          </p:grpSpPr>
          <p:sp>
            <p:nvSpPr>
              <p:cNvPr id="841" name="Line 146"/>
              <p:cNvSpPr>
                <a:spLocks noChangeShapeType="1"/>
              </p:cNvSpPr>
              <p:nvPr/>
            </p:nvSpPr>
            <p:spPr bwMode="auto">
              <a:xfrm>
                <a:off x="4159" y="1540"/>
                <a:ext cx="0" cy="268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42" name="Line 147"/>
              <p:cNvSpPr>
                <a:spLocks noChangeShapeType="1"/>
              </p:cNvSpPr>
              <p:nvPr/>
            </p:nvSpPr>
            <p:spPr bwMode="auto">
              <a:xfrm flipH="1">
                <a:off x="4159" y="1813"/>
                <a:ext cx="118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43" name="Line 148"/>
              <p:cNvSpPr>
                <a:spLocks noChangeShapeType="1"/>
              </p:cNvSpPr>
              <p:nvPr/>
            </p:nvSpPr>
            <p:spPr bwMode="auto">
              <a:xfrm flipH="1">
                <a:off x="4159" y="1540"/>
                <a:ext cx="118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44" name="Arc 149"/>
              <p:cNvSpPr>
                <a:spLocks/>
              </p:cNvSpPr>
              <p:nvPr/>
            </p:nvSpPr>
            <p:spPr bwMode="auto">
              <a:xfrm>
                <a:off x="4278" y="1537"/>
                <a:ext cx="221" cy="275"/>
              </a:xfrm>
              <a:custGeom>
                <a:avLst/>
                <a:gdLst>
                  <a:gd name="G0" fmla="+- 99 0 0"/>
                  <a:gd name="G1" fmla="+- 21600 0 0"/>
                  <a:gd name="G2" fmla="+- 21600 0 0"/>
                  <a:gd name="T0" fmla="*/ 1 w 21699"/>
                  <a:gd name="T1" fmla="*/ 0 h 43200"/>
                  <a:gd name="T2" fmla="*/ 0 w 21699"/>
                  <a:gd name="T3" fmla="*/ 43200 h 43200"/>
                  <a:gd name="T4" fmla="*/ 99 w 2169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9" h="43200" fill="none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</a:path>
                  <a:path w="21699" h="43200" stroke="0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  <a:lnTo>
                      <a:pt x="99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97" name="Group 150"/>
            <p:cNvGrpSpPr>
              <a:grpSpLocks/>
            </p:cNvGrpSpPr>
            <p:nvPr/>
          </p:nvGrpSpPr>
          <p:grpSpPr bwMode="auto">
            <a:xfrm>
              <a:off x="4159" y="2224"/>
              <a:ext cx="340" cy="276"/>
              <a:chOff x="4159" y="1826"/>
              <a:chExt cx="340" cy="276"/>
            </a:xfrm>
          </p:grpSpPr>
          <p:sp>
            <p:nvSpPr>
              <p:cNvPr id="837" name="Line 151"/>
              <p:cNvSpPr>
                <a:spLocks noChangeShapeType="1"/>
              </p:cNvSpPr>
              <p:nvPr/>
            </p:nvSpPr>
            <p:spPr bwMode="auto">
              <a:xfrm>
                <a:off x="4159" y="1829"/>
                <a:ext cx="0" cy="268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38" name="Line 152"/>
              <p:cNvSpPr>
                <a:spLocks noChangeShapeType="1"/>
              </p:cNvSpPr>
              <p:nvPr/>
            </p:nvSpPr>
            <p:spPr bwMode="auto">
              <a:xfrm flipH="1">
                <a:off x="4159" y="2102"/>
                <a:ext cx="118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39" name="Line 153"/>
              <p:cNvSpPr>
                <a:spLocks noChangeShapeType="1"/>
              </p:cNvSpPr>
              <p:nvPr/>
            </p:nvSpPr>
            <p:spPr bwMode="auto">
              <a:xfrm flipH="1">
                <a:off x="4159" y="1829"/>
                <a:ext cx="118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40" name="Arc 154"/>
              <p:cNvSpPr>
                <a:spLocks/>
              </p:cNvSpPr>
              <p:nvPr/>
            </p:nvSpPr>
            <p:spPr bwMode="auto">
              <a:xfrm>
                <a:off x="4278" y="1826"/>
                <a:ext cx="221" cy="275"/>
              </a:xfrm>
              <a:custGeom>
                <a:avLst/>
                <a:gdLst>
                  <a:gd name="G0" fmla="+- 99 0 0"/>
                  <a:gd name="G1" fmla="+- 21600 0 0"/>
                  <a:gd name="G2" fmla="+- 21600 0 0"/>
                  <a:gd name="T0" fmla="*/ 1 w 21699"/>
                  <a:gd name="T1" fmla="*/ 0 h 43200"/>
                  <a:gd name="T2" fmla="*/ 0 w 21699"/>
                  <a:gd name="T3" fmla="*/ 43200 h 43200"/>
                  <a:gd name="T4" fmla="*/ 99 w 2169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9" h="43200" fill="none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</a:path>
                  <a:path w="21699" h="43200" stroke="0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  <a:lnTo>
                      <a:pt x="99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98" name="Group 155"/>
            <p:cNvGrpSpPr>
              <a:grpSpLocks/>
            </p:cNvGrpSpPr>
            <p:nvPr/>
          </p:nvGrpSpPr>
          <p:grpSpPr bwMode="auto">
            <a:xfrm>
              <a:off x="4159" y="2514"/>
              <a:ext cx="340" cy="276"/>
              <a:chOff x="4159" y="2116"/>
              <a:chExt cx="340" cy="276"/>
            </a:xfrm>
          </p:grpSpPr>
          <p:sp>
            <p:nvSpPr>
              <p:cNvPr id="833" name="Line 156"/>
              <p:cNvSpPr>
                <a:spLocks noChangeShapeType="1"/>
              </p:cNvSpPr>
              <p:nvPr/>
            </p:nvSpPr>
            <p:spPr bwMode="auto">
              <a:xfrm>
                <a:off x="4159" y="2119"/>
                <a:ext cx="0" cy="268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34" name="Line 157"/>
              <p:cNvSpPr>
                <a:spLocks noChangeShapeType="1"/>
              </p:cNvSpPr>
              <p:nvPr/>
            </p:nvSpPr>
            <p:spPr bwMode="auto">
              <a:xfrm flipH="1">
                <a:off x="4159" y="2392"/>
                <a:ext cx="118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35" name="Line 158"/>
              <p:cNvSpPr>
                <a:spLocks noChangeShapeType="1"/>
              </p:cNvSpPr>
              <p:nvPr/>
            </p:nvSpPr>
            <p:spPr bwMode="auto">
              <a:xfrm flipH="1">
                <a:off x="4159" y="2119"/>
                <a:ext cx="118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36" name="Arc 159"/>
              <p:cNvSpPr>
                <a:spLocks/>
              </p:cNvSpPr>
              <p:nvPr/>
            </p:nvSpPr>
            <p:spPr bwMode="auto">
              <a:xfrm>
                <a:off x="4278" y="2116"/>
                <a:ext cx="221" cy="275"/>
              </a:xfrm>
              <a:custGeom>
                <a:avLst/>
                <a:gdLst>
                  <a:gd name="G0" fmla="+- 99 0 0"/>
                  <a:gd name="G1" fmla="+- 21600 0 0"/>
                  <a:gd name="G2" fmla="+- 21600 0 0"/>
                  <a:gd name="T0" fmla="*/ 1 w 21699"/>
                  <a:gd name="T1" fmla="*/ 0 h 43200"/>
                  <a:gd name="T2" fmla="*/ 0 w 21699"/>
                  <a:gd name="T3" fmla="*/ 43200 h 43200"/>
                  <a:gd name="T4" fmla="*/ 99 w 2169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9" h="43200" fill="none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</a:path>
                  <a:path w="21699" h="43200" stroke="0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  <a:lnTo>
                      <a:pt x="99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799" name="Group 160"/>
            <p:cNvGrpSpPr>
              <a:grpSpLocks/>
            </p:cNvGrpSpPr>
            <p:nvPr/>
          </p:nvGrpSpPr>
          <p:grpSpPr bwMode="auto">
            <a:xfrm>
              <a:off x="4833" y="2836"/>
              <a:ext cx="273" cy="336"/>
              <a:chOff x="4833" y="2438"/>
              <a:chExt cx="273" cy="336"/>
            </a:xfrm>
          </p:grpSpPr>
          <p:sp>
            <p:nvSpPr>
              <p:cNvPr id="830" name="Arc 161"/>
              <p:cNvSpPr>
                <a:spLocks/>
              </p:cNvSpPr>
              <p:nvPr/>
            </p:nvSpPr>
            <p:spPr bwMode="auto">
              <a:xfrm>
                <a:off x="4958" y="2439"/>
                <a:ext cx="148" cy="335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439"/>
                  <a:gd name="T2" fmla="*/ 2631 w 21600"/>
                  <a:gd name="T3" fmla="*/ 21439 h 21439"/>
                  <a:gd name="T4" fmla="*/ 0 w 21600"/>
                  <a:gd name="T5" fmla="*/ 0 h 21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39" fill="none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</a:path>
                  <a:path w="21600" h="21439" stroke="0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31" name="Arc 162"/>
              <p:cNvSpPr>
                <a:spLocks/>
              </p:cNvSpPr>
              <p:nvPr/>
            </p:nvSpPr>
            <p:spPr bwMode="auto">
              <a:xfrm>
                <a:off x="4833" y="2438"/>
                <a:ext cx="148" cy="33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19265 w 21600"/>
                  <a:gd name="T1" fmla="*/ 21473 h 21473"/>
                  <a:gd name="T2" fmla="*/ 0 w 21600"/>
                  <a:gd name="T3" fmla="*/ 0 h 21473"/>
                  <a:gd name="T4" fmla="*/ 21600 w 21600"/>
                  <a:gd name="T5" fmla="*/ 0 h 21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73" fill="none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</a:path>
                  <a:path w="21600" h="21473" stroke="0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32" name="Arc 163"/>
              <p:cNvSpPr>
                <a:spLocks/>
              </p:cNvSpPr>
              <p:nvPr/>
            </p:nvSpPr>
            <p:spPr bwMode="auto">
              <a:xfrm>
                <a:off x="4841" y="2453"/>
                <a:ext cx="255" cy="37"/>
              </a:xfrm>
              <a:custGeom>
                <a:avLst/>
                <a:gdLst>
                  <a:gd name="G0" fmla="+- 21600 0 0"/>
                  <a:gd name="G1" fmla="+- 611 0 0"/>
                  <a:gd name="G2" fmla="+- 21600 0 0"/>
                  <a:gd name="T0" fmla="*/ 43191 w 43200"/>
                  <a:gd name="T1" fmla="*/ 0 h 22211"/>
                  <a:gd name="T2" fmla="*/ 8 w 43200"/>
                  <a:gd name="T3" fmla="*/ 5 h 22211"/>
                  <a:gd name="T4" fmla="*/ 21600 w 43200"/>
                  <a:gd name="T5" fmla="*/ 611 h 22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211" fill="none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</a:path>
                  <a:path w="43200" h="22211" stroke="0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  <a:lnTo>
                      <a:pt x="21600" y="611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800" name="Group 164"/>
            <p:cNvGrpSpPr>
              <a:grpSpLocks/>
            </p:cNvGrpSpPr>
            <p:nvPr/>
          </p:nvGrpSpPr>
          <p:grpSpPr bwMode="auto">
            <a:xfrm>
              <a:off x="4557" y="2836"/>
              <a:ext cx="273" cy="336"/>
              <a:chOff x="4557" y="2438"/>
              <a:chExt cx="273" cy="336"/>
            </a:xfrm>
          </p:grpSpPr>
          <p:sp>
            <p:nvSpPr>
              <p:cNvPr id="827" name="Arc 165"/>
              <p:cNvSpPr>
                <a:spLocks/>
              </p:cNvSpPr>
              <p:nvPr/>
            </p:nvSpPr>
            <p:spPr bwMode="auto">
              <a:xfrm>
                <a:off x="4682" y="2439"/>
                <a:ext cx="148" cy="335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439"/>
                  <a:gd name="T2" fmla="*/ 2631 w 21600"/>
                  <a:gd name="T3" fmla="*/ 21439 h 21439"/>
                  <a:gd name="T4" fmla="*/ 0 w 21600"/>
                  <a:gd name="T5" fmla="*/ 0 h 21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39" fill="none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</a:path>
                  <a:path w="21600" h="21439" stroke="0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28" name="Arc 166"/>
              <p:cNvSpPr>
                <a:spLocks/>
              </p:cNvSpPr>
              <p:nvPr/>
            </p:nvSpPr>
            <p:spPr bwMode="auto">
              <a:xfrm>
                <a:off x="4557" y="2438"/>
                <a:ext cx="148" cy="33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19265 w 21600"/>
                  <a:gd name="T1" fmla="*/ 21473 h 21473"/>
                  <a:gd name="T2" fmla="*/ 0 w 21600"/>
                  <a:gd name="T3" fmla="*/ 0 h 21473"/>
                  <a:gd name="T4" fmla="*/ 21600 w 21600"/>
                  <a:gd name="T5" fmla="*/ 0 h 21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73" fill="none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</a:path>
                  <a:path w="21600" h="21473" stroke="0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29" name="Arc 167"/>
              <p:cNvSpPr>
                <a:spLocks/>
              </p:cNvSpPr>
              <p:nvPr/>
            </p:nvSpPr>
            <p:spPr bwMode="auto">
              <a:xfrm>
                <a:off x="4565" y="2453"/>
                <a:ext cx="255" cy="37"/>
              </a:xfrm>
              <a:custGeom>
                <a:avLst/>
                <a:gdLst>
                  <a:gd name="G0" fmla="+- 21600 0 0"/>
                  <a:gd name="G1" fmla="+- 611 0 0"/>
                  <a:gd name="G2" fmla="+- 21600 0 0"/>
                  <a:gd name="T0" fmla="*/ 43191 w 43200"/>
                  <a:gd name="T1" fmla="*/ 0 h 22211"/>
                  <a:gd name="T2" fmla="*/ 8 w 43200"/>
                  <a:gd name="T3" fmla="*/ 5 h 22211"/>
                  <a:gd name="T4" fmla="*/ 21600 w 43200"/>
                  <a:gd name="T5" fmla="*/ 611 h 22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211" fill="none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</a:path>
                  <a:path w="43200" h="22211" stroke="0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  <a:lnTo>
                      <a:pt x="21600" y="611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801" name="Group 168"/>
            <p:cNvGrpSpPr>
              <a:grpSpLocks/>
            </p:cNvGrpSpPr>
            <p:nvPr/>
          </p:nvGrpSpPr>
          <p:grpSpPr bwMode="auto">
            <a:xfrm>
              <a:off x="4653" y="1750"/>
              <a:ext cx="66" cy="79"/>
              <a:chOff x="4653" y="1352"/>
              <a:chExt cx="66" cy="79"/>
            </a:xfrm>
          </p:grpSpPr>
          <p:sp>
            <p:nvSpPr>
              <p:cNvPr id="825" name="Line 169"/>
              <p:cNvSpPr>
                <a:spLocks noChangeShapeType="1"/>
              </p:cNvSpPr>
              <p:nvPr/>
            </p:nvSpPr>
            <p:spPr bwMode="auto">
              <a:xfrm>
                <a:off x="4653" y="1352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26" name="Line 170"/>
              <p:cNvSpPr>
                <a:spLocks noChangeShapeType="1"/>
              </p:cNvSpPr>
              <p:nvPr/>
            </p:nvSpPr>
            <p:spPr bwMode="auto">
              <a:xfrm flipH="1">
                <a:off x="4653" y="1352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802" name="Group 171"/>
            <p:cNvGrpSpPr>
              <a:grpSpLocks/>
            </p:cNvGrpSpPr>
            <p:nvPr/>
          </p:nvGrpSpPr>
          <p:grpSpPr bwMode="auto">
            <a:xfrm>
              <a:off x="4936" y="1750"/>
              <a:ext cx="66" cy="79"/>
              <a:chOff x="4936" y="1352"/>
              <a:chExt cx="66" cy="79"/>
            </a:xfrm>
          </p:grpSpPr>
          <p:sp>
            <p:nvSpPr>
              <p:cNvPr id="823" name="Line 172"/>
              <p:cNvSpPr>
                <a:spLocks noChangeShapeType="1"/>
              </p:cNvSpPr>
              <p:nvPr/>
            </p:nvSpPr>
            <p:spPr bwMode="auto">
              <a:xfrm>
                <a:off x="4936" y="1352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24" name="Line 173"/>
              <p:cNvSpPr>
                <a:spLocks noChangeShapeType="1"/>
              </p:cNvSpPr>
              <p:nvPr/>
            </p:nvSpPr>
            <p:spPr bwMode="auto">
              <a:xfrm flipH="1">
                <a:off x="4936" y="1352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803" name="Group 174"/>
            <p:cNvGrpSpPr>
              <a:grpSpLocks/>
            </p:cNvGrpSpPr>
            <p:nvPr/>
          </p:nvGrpSpPr>
          <p:grpSpPr bwMode="auto">
            <a:xfrm>
              <a:off x="4653" y="2032"/>
              <a:ext cx="66" cy="79"/>
              <a:chOff x="4653" y="1634"/>
              <a:chExt cx="66" cy="79"/>
            </a:xfrm>
          </p:grpSpPr>
          <p:sp>
            <p:nvSpPr>
              <p:cNvPr id="821" name="Line 175"/>
              <p:cNvSpPr>
                <a:spLocks noChangeShapeType="1"/>
              </p:cNvSpPr>
              <p:nvPr/>
            </p:nvSpPr>
            <p:spPr bwMode="auto">
              <a:xfrm>
                <a:off x="4653" y="1634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22" name="Line 176"/>
              <p:cNvSpPr>
                <a:spLocks noChangeShapeType="1"/>
              </p:cNvSpPr>
              <p:nvPr/>
            </p:nvSpPr>
            <p:spPr bwMode="auto">
              <a:xfrm flipH="1">
                <a:off x="4653" y="1634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804" name="Group 177"/>
            <p:cNvGrpSpPr>
              <a:grpSpLocks/>
            </p:cNvGrpSpPr>
            <p:nvPr/>
          </p:nvGrpSpPr>
          <p:grpSpPr bwMode="auto">
            <a:xfrm>
              <a:off x="4936" y="2032"/>
              <a:ext cx="66" cy="79"/>
              <a:chOff x="4936" y="1634"/>
              <a:chExt cx="66" cy="79"/>
            </a:xfrm>
          </p:grpSpPr>
          <p:sp>
            <p:nvSpPr>
              <p:cNvPr id="819" name="Line 178"/>
              <p:cNvSpPr>
                <a:spLocks noChangeShapeType="1"/>
              </p:cNvSpPr>
              <p:nvPr/>
            </p:nvSpPr>
            <p:spPr bwMode="auto">
              <a:xfrm>
                <a:off x="4936" y="1634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20" name="Line 179"/>
              <p:cNvSpPr>
                <a:spLocks noChangeShapeType="1"/>
              </p:cNvSpPr>
              <p:nvPr/>
            </p:nvSpPr>
            <p:spPr bwMode="auto">
              <a:xfrm flipH="1">
                <a:off x="4936" y="1634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805" name="Group 180"/>
            <p:cNvGrpSpPr>
              <a:grpSpLocks/>
            </p:cNvGrpSpPr>
            <p:nvPr/>
          </p:nvGrpSpPr>
          <p:grpSpPr bwMode="auto">
            <a:xfrm>
              <a:off x="4653" y="2328"/>
              <a:ext cx="66" cy="79"/>
              <a:chOff x="4653" y="1930"/>
              <a:chExt cx="66" cy="79"/>
            </a:xfrm>
          </p:grpSpPr>
          <p:sp>
            <p:nvSpPr>
              <p:cNvPr id="817" name="Line 181"/>
              <p:cNvSpPr>
                <a:spLocks noChangeShapeType="1"/>
              </p:cNvSpPr>
              <p:nvPr/>
            </p:nvSpPr>
            <p:spPr bwMode="auto">
              <a:xfrm>
                <a:off x="4653" y="1930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18" name="Line 182"/>
              <p:cNvSpPr>
                <a:spLocks noChangeShapeType="1"/>
              </p:cNvSpPr>
              <p:nvPr/>
            </p:nvSpPr>
            <p:spPr bwMode="auto">
              <a:xfrm flipH="1">
                <a:off x="4653" y="1930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806" name="Group 183"/>
            <p:cNvGrpSpPr>
              <a:grpSpLocks/>
            </p:cNvGrpSpPr>
            <p:nvPr/>
          </p:nvGrpSpPr>
          <p:grpSpPr bwMode="auto">
            <a:xfrm>
              <a:off x="4936" y="2328"/>
              <a:ext cx="66" cy="79"/>
              <a:chOff x="4936" y="1930"/>
              <a:chExt cx="66" cy="79"/>
            </a:xfrm>
          </p:grpSpPr>
          <p:sp>
            <p:nvSpPr>
              <p:cNvPr id="815" name="Line 184"/>
              <p:cNvSpPr>
                <a:spLocks noChangeShapeType="1"/>
              </p:cNvSpPr>
              <p:nvPr/>
            </p:nvSpPr>
            <p:spPr bwMode="auto">
              <a:xfrm>
                <a:off x="4936" y="1930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16" name="Line 185"/>
              <p:cNvSpPr>
                <a:spLocks noChangeShapeType="1"/>
              </p:cNvSpPr>
              <p:nvPr/>
            </p:nvSpPr>
            <p:spPr bwMode="auto">
              <a:xfrm flipH="1">
                <a:off x="4936" y="1930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807" name="Group 186"/>
            <p:cNvGrpSpPr>
              <a:grpSpLocks/>
            </p:cNvGrpSpPr>
            <p:nvPr/>
          </p:nvGrpSpPr>
          <p:grpSpPr bwMode="auto">
            <a:xfrm>
              <a:off x="4653" y="2611"/>
              <a:ext cx="66" cy="79"/>
              <a:chOff x="4653" y="2213"/>
              <a:chExt cx="66" cy="79"/>
            </a:xfrm>
          </p:grpSpPr>
          <p:sp>
            <p:nvSpPr>
              <p:cNvPr id="813" name="Line 187"/>
              <p:cNvSpPr>
                <a:spLocks noChangeShapeType="1"/>
              </p:cNvSpPr>
              <p:nvPr/>
            </p:nvSpPr>
            <p:spPr bwMode="auto">
              <a:xfrm>
                <a:off x="4653" y="2213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14" name="Line 188"/>
              <p:cNvSpPr>
                <a:spLocks noChangeShapeType="1"/>
              </p:cNvSpPr>
              <p:nvPr/>
            </p:nvSpPr>
            <p:spPr bwMode="auto">
              <a:xfrm flipH="1">
                <a:off x="4653" y="2213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808" name="Group 189"/>
            <p:cNvGrpSpPr>
              <a:grpSpLocks/>
            </p:cNvGrpSpPr>
            <p:nvPr/>
          </p:nvGrpSpPr>
          <p:grpSpPr bwMode="auto">
            <a:xfrm>
              <a:off x="4936" y="2611"/>
              <a:ext cx="66" cy="79"/>
              <a:chOff x="4936" y="2213"/>
              <a:chExt cx="66" cy="79"/>
            </a:xfrm>
          </p:grpSpPr>
          <p:sp>
            <p:nvSpPr>
              <p:cNvPr id="811" name="Line 190"/>
              <p:cNvSpPr>
                <a:spLocks noChangeShapeType="1"/>
              </p:cNvSpPr>
              <p:nvPr/>
            </p:nvSpPr>
            <p:spPr bwMode="auto">
              <a:xfrm>
                <a:off x="4936" y="2213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812" name="Line 191"/>
              <p:cNvSpPr>
                <a:spLocks noChangeShapeType="1"/>
              </p:cNvSpPr>
              <p:nvPr/>
            </p:nvSpPr>
            <p:spPr bwMode="auto">
              <a:xfrm flipH="1">
                <a:off x="4936" y="2213"/>
                <a:ext cx="66" cy="79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809" name="Rectangle 192"/>
            <p:cNvSpPr>
              <a:spLocks noChangeArrowheads="1"/>
            </p:cNvSpPr>
            <p:nvPr/>
          </p:nvSpPr>
          <p:spPr bwMode="auto">
            <a:xfrm>
              <a:off x="2976" y="3028"/>
              <a:ext cx="1689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ea typeface="+mn-ea"/>
                </a:rPr>
                <a:t>A PLA has complete flexibility of its sum-of-products groupings.</a:t>
              </a:r>
            </a:p>
          </p:txBody>
        </p:sp>
        <p:sp>
          <p:nvSpPr>
            <p:cNvPr id="810" name="Rectangle 193"/>
            <p:cNvSpPr>
              <a:spLocks noChangeArrowheads="1"/>
            </p:cNvSpPr>
            <p:nvPr/>
          </p:nvSpPr>
          <p:spPr bwMode="auto">
            <a:xfrm>
              <a:off x="3222" y="1040"/>
              <a:ext cx="2077" cy="243"/>
            </a:xfrm>
            <a:prstGeom prst="rect">
              <a:avLst/>
            </a:prstGeom>
            <a:solidFill>
              <a:srgbClr val="F8EEBE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ea typeface="+mn-ea"/>
                </a:rPr>
                <a:t>Programmable Logic Array</a:t>
              </a:r>
            </a:p>
          </p:txBody>
        </p:sp>
      </p:grpSp>
      <p:grpSp>
        <p:nvGrpSpPr>
          <p:cNvPr id="913" name="Group 194"/>
          <p:cNvGrpSpPr>
            <a:grpSpLocks/>
          </p:cNvGrpSpPr>
          <p:nvPr/>
        </p:nvGrpSpPr>
        <p:grpSpPr bwMode="auto">
          <a:xfrm>
            <a:off x="4876800" y="1615281"/>
            <a:ext cx="3576638" cy="4160837"/>
            <a:chOff x="366" y="621"/>
            <a:chExt cx="2253" cy="2621"/>
          </a:xfrm>
        </p:grpSpPr>
        <p:sp>
          <p:nvSpPr>
            <p:cNvPr id="914" name="Line 195"/>
            <p:cNvSpPr>
              <a:spLocks noChangeShapeType="1"/>
            </p:cNvSpPr>
            <p:nvPr/>
          </p:nvSpPr>
          <p:spPr bwMode="auto">
            <a:xfrm flipH="1">
              <a:off x="1296" y="1049"/>
              <a:ext cx="106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15" name="Line 196"/>
            <p:cNvSpPr>
              <a:spLocks noChangeShapeType="1"/>
            </p:cNvSpPr>
            <p:nvPr/>
          </p:nvSpPr>
          <p:spPr bwMode="auto">
            <a:xfrm>
              <a:off x="1202" y="1049"/>
              <a:ext cx="93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16" name="Line 197"/>
            <p:cNvSpPr>
              <a:spLocks noChangeShapeType="1"/>
            </p:cNvSpPr>
            <p:nvPr/>
          </p:nvSpPr>
          <p:spPr bwMode="auto">
            <a:xfrm flipH="1">
              <a:off x="1202" y="1049"/>
              <a:ext cx="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17" name="Oval 198"/>
            <p:cNvSpPr>
              <a:spLocks noChangeArrowheads="1"/>
            </p:cNvSpPr>
            <p:nvPr/>
          </p:nvSpPr>
          <p:spPr bwMode="auto">
            <a:xfrm>
              <a:off x="1326" y="1133"/>
              <a:ext cx="40" cy="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18" name="Line 199"/>
            <p:cNvSpPr>
              <a:spLocks noChangeShapeType="1"/>
            </p:cNvSpPr>
            <p:nvPr/>
          </p:nvSpPr>
          <p:spPr bwMode="auto">
            <a:xfrm>
              <a:off x="1296" y="941"/>
              <a:ext cx="0" cy="1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19" name="Line 200"/>
            <p:cNvSpPr>
              <a:spLocks noChangeShapeType="1"/>
            </p:cNvSpPr>
            <p:nvPr/>
          </p:nvSpPr>
          <p:spPr bwMode="auto">
            <a:xfrm>
              <a:off x="1349" y="1183"/>
              <a:ext cx="0" cy="1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20" name="Line 201"/>
            <p:cNvSpPr>
              <a:spLocks noChangeShapeType="1"/>
            </p:cNvSpPr>
            <p:nvPr/>
          </p:nvSpPr>
          <p:spPr bwMode="auto">
            <a:xfrm>
              <a:off x="1256" y="1129"/>
              <a:ext cx="0" cy="11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21" name="Line 202"/>
            <p:cNvSpPr>
              <a:spLocks noChangeShapeType="1"/>
            </p:cNvSpPr>
            <p:nvPr/>
          </p:nvSpPr>
          <p:spPr bwMode="auto">
            <a:xfrm>
              <a:off x="470" y="1277"/>
              <a:ext cx="10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22" name="Line 203"/>
            <p:cNvSpPr>
              <a:spLocks noChangeShapeType="1"/>
            </p:cNvSpPr>
            <p:nvPr/>
          </p:nvSpPr>
          <p:spPr bwMode="auto">
            <a:xfrm>
              <a:off x="470" y="1560"/>
              <a:ext cx="10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23" name="Line 204"/>
            <p:cNvSpPr>
              <a:spLocks noChangeShapeType="1"/>
            </p:cNvSpPr>
            <p:nvPr/>
          </p:nvSpPr>
          <p:spPr bwMode="auto">
            <a:xfrm>
              <a:off x="470" y="1856"/>
              <a:ext cx="10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24" name="Line 205"/>
            <p:cNvSpPr>
              <a:spLocks noChangeShapeType="1"/>
            </p:cNvSpPr>
            <p:nvPr/>
          </p:nvSpPr>
          <p:spPr bwMode="auto">
            <a:xfrm>
              <a:off x="470" y="2138"/>
              <a:ext cx="10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925" name="Group 206"/>
            <p:cNvGrpSpPr>
              <a:grpSpLocks/>
            </p:cNvGrpSpPr>
            <p:nvPr/>
          </p:nvGrpSpPr>
          <p:grpSpPr bwMode="auto">
            <a:xfrm>
              <a:off x="1309" y="1237"/>
              <a:ext cx="80" cy="80"/>
              <a:chOff x="1309" y="1237"/>
              <a:chExt cx="80" cy="80"/>
            </a:xfrm>
          </p:grpSpPr>
          <p:sp>
            <p:nvSpPr>
              <p:cNvPr id="1078" name="Line 207"/>
              <p:cNvSpPr>
                <a:spLocks noChangeShapeType="1"/>
              </p:cNvSpPr>
              <p:nvPr/>
            </p:nvSpPr>
            <p:spPr bwMode="auto">
              <a:xfrm>
                <a:off x="1309" y="1237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79" name="Line 208"/>
              <p:cNvSpPr>
                <a:spLocks noChangeShapeType="1"/>
              </p:cNvSpPr>
              <p:nvPr/>
            </p:nvSpPr>
            <p:spPr bwMode="auto">
              <a:xfrm flipH="1">
                <a:off x="1309" y="1237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26" name="Group 209"/>
            <p:cNvGrpSpPr>
              <a:grpSpLocks/>
            </p:cNvGrpSpPr>
            <p:nvPr/>
          </p:nvGrpSpPr>
          <p:grpSpPr bwMode="auto">
            <a:xfrm>
              <a:off x="1309" y="1519"/>
              <a:ext cx="80" cy="80"/>
              <a:chOff x="1309" y="1519"/>
              <a:chExt cx="80" cy="80"/>
            </a:xfrm>
          </p:grpSpPr>
          <p:sp>
            <p:nvSpPr>
              <p:cNvPr id="1076" name="Line 210"/>
              <p:cNvSpPr>
                <a:spLocks noChangeShapeType="1"/>
              </p:cNvSpPr>
              <p:nvPr/>
            </p:nvSpPr>
            <p:spPr bwMode="auto">
              <a:xfrm>
                <a:off x="1309" y="1519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77" name="Line 211"/>
              <p:cNvSpPr>
                <a:spLocks noChangeShapeType="1"/>
              </p:cNvSpPr>
              <p:nvPr/>
            </p:nvSpPr>
            <p:spPr bwMode="auto">
              <a:xfrm flipH="1">
                <a:off x="1309" y="1519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27" name="Group 212"/>
            <p:cNvGrpSpPr>
              <a:grpSpLocks/>
            </p:cNvGrpSpPr>
            <p:nvPr/>
          </p:nvGrpSpPr>
          <p:grpSpPr bwMode="auto">
            <a:xfrm>
              <a:off x="1309" y="1815"/>
              <a:ext cx="80" cy="67"/>
              <a:chOff x="1309" y="1815"/>
              <a:chExt cx="80" cy="67"/>
            </a:xfrm>
          </p:grpSpPr>
          <p:sp>
            <p:nvSpPr>
              <p:cNvPr id="1074" name="Line 213"/>
              <p:cNvSpPr>
                <a:spLocks noChangeShapeType="1"/>
              </p:cNvSpPr>
              <p:nvPr/>
            </p:nvSpPr>
            <p:spPr bwMode="auto">
              <a:xfrm>
                <a:off x="1309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75" name="Line 214"/>
              <p:cNvSpPr>
                <a:spLocks noChangeShapeType="1"/>
              </p:cNvSpPr>
              <p:nvPr/>
            </p:nvSpPr>
            <p:spPr bwMode="auto">
              <a:xfrm flipH="1">
                <a:off x="1309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28" name="Group 215"/>
            <p:cNvGrpSpPr>
              <a:grpSpLocks/>
            </p:cNvGrpSpPr>
            <p:nvPr/>
          </p:nvGrpSpPr>
          <p:grpSpPr bwMode="auto">
            <a:xfrm>
              <a:off x="1309" y="2098"/>
              <a:ext cx="80" cy="80"/>
              <a:chOff x="1309" y="2098"/>
              <a:chExt cx="80" cy="80"/>
            </a:xfrm>
          </p:grpSpPr>
          <p:sp>
            <p:nvSpPr>
              <p:cNvPr id="1072" name="Line 216"/>
              <p:cNvSpPr>
                <a:spLocks noChangeShapeType="1"/>
              </p:cNvSpPr>
              <p:nvPr/>
            </p:nvSpPr>
            <p:spPr bwMode="auto">
              <a:xfrm>
                <a:off x="1309" y="2098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73" name="Line 217"/>
              <p:cNvSpPr>
                <a:spLocks noChangeShapeType="1"/>
              </p:cNvSpPr>
              <p:nvPr/>
            </p:nvSpPr>
            <p:spPr bwMode="auto">
              <a:xfrm flipH="1">
                <a:off x="1309" y="2098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29" name="Group 218"/>
            <p:cNvGrpSpPr>
              <a:grpSpLocks/>
            </p:cNvGrpSpPr>
            <p:nvPr/>
          </p:nvGrpSpPr>
          <p:grpSpPr bwMode="auto">
            <a:xfrm>
              <a:off x="1216" y="1237"/>
              <a:ext cx="80" cy="80"/>
              <a:chOff x="1216" y="1237"/>
              <a:chExt cx="80" cy="80"/>
            </a:xfrm>
          </p:grpSpPr>
          <p:sp>
            <p:nvSpPr>
              <p:cNvPr id="1070" name="Line 219"/>
              <p:cNvSpPr>
                <a:spLocks noChangeShapeType="1"/>
              </p:cNvSpPr>
              <p:nvPr/>
            </p:nvSpPr>
            <p:spPr bwMode="auto">
              <a:xfrm>
                <a:off x="1216" y="1237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71" name="Line 220"/>
              <p:cNvSpPr>
                <a:spLocks noChangeShapeType="1"/>
              </p:cNvSpPr>
              <p:nvPr/>
            </p:nvSpPr>
            <p:spPr bwMode="auto">
              <a:xfrm flipH="1">
                <a:off x="1216" y="1237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30" name="Group 221"/>
            <p:cNvGrpSpPr>
              <a:grpSpLocks/>
            </p:cNvGrpSpPr>
            <p:nvPr/>
          </p:nvGrpSpPr>
          <p:grpSpPr bwMode="auto">
            <a:xfrm>
              <a:off x="1216" y="1519"/>
              <a:ext cx="80" cy="80"/>
              <a:chOff x="1216" y="1519"/>
              <a:chExt cx="80" cy="80"/>
            </a:xfrm>
          </p:grpSpPr>
          <p:sp>
            <p:nvSpPr>
              <p:cNvPr id="1068" name="Line 222"/>
              <p:cNvSpPr>
                <a:spLocks noChangeShapeType="1"/>
              </p:cNvSpPr>
              <p:nvPr/>
            </p:nvSpPr>
            <p:spPr bwMode="auto">
              <a:xfrm>
                <a:off x="1216" y="1519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69" name="Line 223"/>
              <p:cNvSpPr>
                <a:spLocks noChangeShapeType="1"/>
              </p:cNvSpPr>
              <p:nvPr/>
            </p:nvSpPr>
            <p:spPr bwMode="auto">
              <a:xfrm flipH="1">
                <a:off x="1216" y="1519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31" name="Group 224"/>
            <p:cNvGrpSpPr>
              <a:grpSpLocks/>
            </p:cNvGrpSpPr>
            <p:nvPr/>
          </p:nvGrpSpPr>
          <p:grpSpPr bwMode="auto">
            <a:xfrm>
              <a:off x="1216" y="1815"/>
              <a:ext cx="80" cy="67"/>
              <a:chOff x="1216" y="1815"/>
              <a:chExt cx="80" cy="67"/>
            </a:xfrm>
          </p:grpSpPr>
          <p:sp>
            <p:nvSpPr>
              <p:cNvPr id="1066" name="Line 225"/>
              <p:cNvSpPr>
                <a:spLocks noChangeShapeType="1"/>
              </p:cNvSpPr>
              <p:nvPr/>
            </p:nvSpPr>
            <p:spPr bwMode="auto">
              <a:xfrm>
                <a:off x="1216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67" name="Line 226"/>
              <p:cNvSpPr>
                <a:spLocks noChangeShapeType="1"/>
              </p:cNvSpPr>
              <p:nvPr/>
            </p:nvSpPr>
            <p:spPr bwMode="auto">
              <a:xfrm flipH="1">
                <a:off x="1216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32" name="Group 227"/>
            <p:cNvGrpSpPr>
              <a:grpSpLocks/>
            </p:cNvGrpSpPr>
            <p:nvPr/>
          </p:nvGrpSpPr>
          <p:grpSpPr bwMode="auto">
            <a:xfrm>
              <a:off x="1216" y="2098"/>
              <a:ext cx="80" cy="80"/>
              <a:chOff x="1216" y="2098"/>
              <a:chExt cx="80" cy="80"/>
            </a:xfrm>
          </p:grpSpPr>
          <p:sp>
            <p:nvSpPr>
              <p:cNvPr id="1064" name="Line 228"/>
              <p:cNvSpPr>
                <a:spLocks noChangeShapeType="1"/>
              </p:cNvSpPr>
              <p:nvPr/>
            </p:nvSpPr>
            <p:spPr bwMode="auto">
              <a:xfrm>
                <a:off x="1216" y="2098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65" name="Line 229"/>
              <p:cNvSpPr>
                <a:spLocks noChangeShapeType="1"/>
              </p:cNvSpPr>
              <p:nvPr/>
            </p:nvSpPr>
            <p:spPr bwMode="auto">
              <a:xfrm flipH="1">
                <a:off x="1216" y="2098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933" name="Line 230"/>
            <p:cNvSpPr>
              <a:spLocks noChangeShapeType="1"/>
            </p:cNvSpPr>
            <p:nvPr/>
          </p:nvSpPr>
          <p:spPr bwMode="auto">
            <a:xfrm flipH="1">
              <a:off x="1083" y="1049"/>
              <a:ext cx="93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34" name="Line 231"/>
            <p:cNvSpPr>
              <a:spLocks noChangeShapeType="1"/>
            </p:cNvSpPr>
            <p:nvPr/>
          </p:nvSpPr>
          <p:spPr bwMode="auto">
            <a:xfrm>
              <a:off x="976" y="1049"/>
              <a:ext cx="106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35" name="Line 232"/>
            <p:cNvSpPr>
              <a:spLocks noChangeShapeType="1"/>
            </p:cNvSpPr>
            <p:nvPr/>
          </p:nvSpPr>
          <p:spPr bwMode="auto">
            <a:xfrm flipH="1">
              <a:off x="976" y="1049"/>
              <a:ext cx="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36" name="Oval 233"/>
            <p:cNvSpPr>
              <a:spLocks noChangeArrowheads="1"/>
            </p:cNvSpPr>
            <p:nvPr/>
          </p:nvSpPr>
          <p:spPr bwMode="auto">
            <a:xfrm>
              <a:off x="1113" y="1133"/>
              <a:ext cx="26" cy="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37" name="Line 234"/>
            <p:cNvSpPr>
              <a:spLocks noChangeShapeType="1"/>
            </p:cNvSpPr>
            <p:nvPr/>
          </p:nvSpPr>
          <p:spPr bwMode="auto">
            <a:xfrm>
              <a:off x="1082" y="941"/>
              <a:ext cx="0" cy="1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38" name="Line 235"/>
            <p:cNvSpPr>
              <a:spLocks noChangeShapeType="1"/>
            </p:cNvSpPr>
            <p:nvPr/>
          </p:nvSpPr>
          <p:spPr bwMode="auto">
            <a:xfrm>
              <a:off x="1122" y="1183"/>
              <a:ext cx="0" cy="1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39" name="Line 236"/>
            <p:cNvSpPr>
              <a:spLocks noChangeShapeType="1"/>
            </p:cNvSpPr>
            <p:nvPr/>
          </p:nvSpPr>
          <p:spPr bwMode="auto">
            <a:xfrm>
              <a:off x="1029" y="1129"/>
              <a:ext cx="0" cy="11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940" name="Group 237"/>
            <p:cNvGrpSpPr>
              <a:grpSpLocks/>
            </p:cNvGrpSpPr>
            <p:nvPr/>
          </p:nvGrpSpPr>
          <p:grpSpPr bwMode="auto">
            <a:xfrm>
              <a:off x="1082" y="1237"/>
              <a:ext cx="80" cy="81"/>
              <a:chOff x="1082" y="1237"/>
              <a:chExt cx="80" cy="81"/>
            </a:xfrm>
          </p:grpSpPr>
          <p:sp>
            <p:nvSpPr>
              <p:cNvPr id="1062" name="Line 238"/>
              <p:cNvSpPr>
                <a:spLocks noChangeShapeType="1"/>
              </p:cNvSpPr>
              <p:nvPr/>
            </p:nvSpPr>
            <p:spPr bwMode="auto">
              <a:xfrm>
                <a:off x="1083" y="1237"/>
                <a:ext cx="79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63" name="Line 239"/>
              <p:cNvSpPr>
                <a:spLocks noChangeShapeType="1"/>
              </p:cNvSpPr>
              <p:nvPr/>
            </p:nvSpPr>
            <p:spPr bwMode="auto">
              <a:xfrm flipH="1">
                <a:off x="1082" y="1237"/>
                <a:ext cx="80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41" name="Group 240"/>
            <p:cNvGrpSpPr>
              <a:grpSpLocks/>
            </p:cNvGrpSpPr>
            <p:nvPr/>
          </p:nvGrpSpPr>
          <p:grpSpPr bwMode="auto">
            <a:xfrm>
              <a:off x="1082" y="1519"/>
              <a:ext cx="80" cy="81"/>
              <a:chOff x="1082" y="1519"/>
              <a:chExt cx="80" cy="81"/>
            </a:xfrm>
          </p:grpSpPr>
          <p:sp>
            <p:nvSpPr>
              <p:cNvPr id="1060" name="Line 241"/>
              <p:cNvSpPr>
                <a:spLocks noChangeShapeType="1"/>
              </p:cNvSpPr>
              <p:nvPr/>
            </p:nvSpPr>
            <p:spPr bwMode="auto">
              <a:xfrm>
                <a:off x="1082" y="1519"/>
                <a:ext cx="80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61" name="Line 242"/>
              <p:cNvSpPr>
                <a:spLocks noChangeShapeType="1"/>
              </p:cNvSpPr>
              <p:nvPr/>
            </p:nvSpPr>
            <p:spPr bwMode="auto">
              <a:xfrm flipH="1">
                <a:off x="1083" y="1520"/>
                <a:ext cx="79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42" name="Group 243"/>
            <p:cNvGrpSpPr>
              <a:grpSpLocks/>
            </p:cNvGrpSpPr>
            <p:nvPr/>
          </p:nvGrpSpPr>
          <p:grpSpPr bwMode="auto">
            <a:xfrm>
              <a:off x="1082" y="1815"/>
              <a:ext cx="80" cy="67"/>
              <a:chOff x="1082" y="1815"/>
              <a:chExt cx="80" cy="67"/>
            </a:xfrm>
          </p:grpSpPr>
          <p:sp>
            <p:nvSpPr>
              <p:cNvPr id="1058" name="Line 244"/>
              <p:cNvSpPr>
                <a:spLocks noChangeShapeType="1"/>
              </p:cNvSpPr>
              <p:nvPr/>
            </p:nvSpPr>
            <p:spPr bwMode="auto">
              <a:xfrm>
                <a:off x="1083" y="1815"/>
                <a:ext cx="79" cy="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59" name="Line 245"/>
              <p:cNvSpPr>
                <a:spLocks noChangeShapeType="1"/>
              </p:cNvSpPr>
              <p:nvPr/>
            </p:nvSpPr>
            <p:spPr bwMode="auto">
              <a:xfrm flipH="1">
                <a:off x="1082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43" name="Group 246"/>
            <p:cNvGrpSpPr>
              <a:grpSpLocks/>
            </p:cNvGrpSpPr>
            <p:nvPr/>
          </p:nvGrpSpPr>
          <p:grpSpPr bwMode="auto">
            <a:xfrm>
              <a:off x="1082" y="2098"/>
              <a:ext cx="80" cy="81"/>
              <a:chOff x="1082" y="2098"/>
              <a:chExt cx="80" cy="81"/>
            </a:xfrm>
          </p:grpSpPr>
          <p:sp>
            <p:nvSpPr>
              <p:cNvPr id="1056" name="Line 247"/>
              <p:cNvSpPr>
                <a:spLocks noChangeShapeType="1"/>
              </p:cNvSpPr>
              <p:nvPr/>
            </p:nvSpPr>
            <p:spPr bwMode="auto">
              <a:xfrm>
                <a:off x="1083" y="2098"/>
                <a:ext cx="79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57" name="Line 248"/>
              <p:cNvSpPr>
                <a:spLocks noChangeShapeType="1"/>
              </p:cNvSpPr>
              <p:nvPr/>
            </p:nvSpPr>
            <p:spPr bwMode="auto">
              <a:xfrm flipH="1">
                <a:off x="1082" y="2098"/>
                <a:ext cx="80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44" name="Group 249"/>
            <p:cNvGrpSpPr>
              <a:grpSpLocks/>
            </p:cNvGrpSpPr>
            <p:nvPr/>
          </p:nvGrpSpPr>
          <p:grpSpPr bwMode="auto">
            <a:xfrm>
              <a:off x="989" y="1237"/>
              <a:ext cx="80" cy="80"/>
              <a:chOff x="989" y="1237"/>
              <a:chExt cx="80" cy="80"/>
            </a:xfrm>
          </p:grpSpPr>
          <p:sp>
            <p:nvSpPr>
              <p:cNvPr id="1054" name="Line 250"/>
              <p:cNvSpPr>
                <a:spLocks noChangeShapeType="1"/>
              </p:cNvSpPr>
              <p:nvPr/>
            </p:nvSpPr>
            <p:spPr bwMode="auto">
              <a:xfrm>
                <a:off x="989" y="1237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55" name="Line 251"/>
              <p:cNvSpPr>
                <a:spLocks noChangeShapeType="1"/>
              </p:cNvSpPr>
              <p:nvPr/>
            </p:nvSpPr>
            <p:spPr bwMode="auto">
              <a:xfrm flipH="1">
                <a:off x="989" y="1237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45" name="Group 252"/>
            <p:cNvGrpSpPr>
              <a:grpSpLocks/>
            </p:cNvGrpSpPr>
            <p:nvPr/>
          </p:nvGrpSpPr>
          <p:grpSpPr bwMode="auto">
            <a:xfrm>
              <a:off x="989" y="1519"/>
              <a:ext cx="80" cy="80"/>
              <a:chOff x="989" y="1519"/>
              <a:chExt cx="80" cy="80"/>
            </a:xfrm>
          </p:grpSpPr>
          <p:sp>
            <p:nvSpPr>
              <p:cNvPr id="1052" name="Line 253"/>
              <p:cNvSpPr>
                <a:spLocks noChangeShapeType="1"/>
              </p:cNvSpPr>
              <p:nvPr/>
            </p:nvSpPr>
            <p:spPr bwMode="auto">
              <a:xfrm>
                <a:off x="989" y="1519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53" name="Line 254"/>
              <p:cNvSpPr>
                <a:spLocks noChangeShapeType="1"/>
              </p:cNvSpPr>
              <p:nvPr/>
            </p:nvSpPr>
            <p:spPr bwMode="auto">
              <a:xfrm flipH="1">
                <a:off x="989" y="1519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46" name="Group 255"/>
            <p:cNvGrpSpPr>
              <a:grpSpLocks/>
            </p:cNvGrpSpPr>
            <p:nvPr/>
          </p:nvGrpSpPr>
          <p:grpSpPr bwMode="auto">
            <a:xfrm>
              <a:off x="989" y="1815"/>
              <a:ext cx="80" cy="67"/>
              <a:chOff x="989" y="1815"/>
              <a:chExt cx="80" cy="67"/>
            </a:xfrm>
          </p:grpSpPr>
          <p:sp>
            <p:nvSpPr>
              <p:cNvPr id="1050" name="Line 256"/>
              <p:cNvSpPr>
                <a:spLocks noChangeShapeType="1"/>
              </p:cNvSpPr>
              <p:nvPr/>
            </p:nvSpPr>
            <p:spPr bwMode="auto">
              <a:xfrm>
                <a:off x="989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51" name="Line 257"/>
              <p:cNvSpPr>
                <a:spLocks noChangeShapeType="1"/>
              </p:cNvSpPr>
              <p:nvPr/>
            </p:nvSpPr>
            <p:spPr bwMode="auto">
              <a:xfrm flipH="1">
                <a:off x="989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47" name="Group 258"/>
            <p:cNvGrpSpPr>
              <a:grpSpLocks/>
            </p:cNvGrpSpPr>
            <p:nvPr/>
          </p:nvGrpSpPr>
          <p:grpSpPr bwMode="auto">
            <a:xfrm>
              <a:off x="989" y="2098"/>
              <a:ext cx="80" cy="80"/>
              <a:chOff x="989" y="2098"/>
              <a:chExt cx="80" cy="80"/>
            </a:xfrm>
          </p:grpSpPr>
          <p:sp>
            <p:nvSpPr>
              <p:cNvPr id="1048" name="Line 259"/>
              <p:cNvSpPr>
                <a:spLocks noChangeShapeType="1"/>
              </p:cNvSpPr>
              <p:nvPr/>
            </p:nvSpPr>
            <p:spPr bwMode="auto">
              <a:xfrm>
                <a:off x="989" y="2098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49" name="Line 260"/>
              <p:cNvSpPr>
                <a:spLocks noChangeShapeType="1"/>
              </p:cNvSpPr>
              <p:nvPr/>
            </p:nvSpPr>
            <p:spPr bwMode="auto">
              <a:xfrm flipH="1">
                <a:off x="989" y="2098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948" name="Line 261"/>
            <p:cNvSpPr>
              <a:spLocks noChangeShapeType="1"/>
            </p:cNvSpPr>
            <p:nvPr/>
          </p:nvSpPr>
          <p:spPr bwMode="auto">
            <a:xfrm flipH="1">
              <a:off x="856" y="1049"/>
              <a:ext cx="93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49" name="Line 262"/>
            <p:cNvSpPr>
              <a:spLocks noChangeShapeType="1"/>
            </p:cNvSpPr>
            <p:nvPr/>
          </p:nvSpPr>
          <p:spPr bwMode="auto">
            <a:xfrm>
              <a:off x="763" y="1050"/>
              <a:ext cx="93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50" name="Line 263"/>
            <p:cNvSpPr>
              <a:spLocks noChangeShapeType="1"/>
            </p:cNvSpPr>
            <p:nvPr/>
          </p:nvSpPr>
          <p:spPr bwMode="auto">
            <a:xfrm flipH="1">
              <a:off x="763" y="1049"/>
              <a:ext cx="1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51" name="Oval 264"/>
            <p:cNvSpPr>
              <a:spLocks noChangeArrowheads="1"/>
            </p:cNvSpPr>
            <p:nvPr/>
          </p:nvSpPr>
          <p:spPr bwMode="auto">
            <a:xfrm>
              <a:off x="887" y="1133"/>
              <a:ext cx="39" cy="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52" name="Line 265"/>
            <p:cNvSpPr>
              <a:spLocks noChangeShapeType="1"/>
            </p:cNvSpPr>
            <p:nvPr/>
          </p:nvSpPr>
          <p:spPr bwMode="auto">
            <a:xfrm>
              <a:off x="856" y="941"/>
              <a:ext cx="0" cy="1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53" name="Line 266"/>
            <p:cNvSpPr>
              <a:spLocks noChangeShapeType="1"/>
            </p:cNvSpPr>
            <p:nvPr/>
          </p:nvSpPr>
          <p:spPr bwMode="auto">
            <a:xfrm>
              <a:off x="896" y="1183"/>
              <a:ext cx="0" cy="1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54" name="Line 267"/>
            <p:cNvSpPr>
              <a:spLocks noChangeShapeType="1"/>
            </p:cNvSpPr>
            <p:nvPr/>
          </p:nvSpPr>
          <p:spPr bwMode="auto">
            <a:xfrm>
              <a:off x="803" y="1129"/>
              <a:ext cx="0" cy="11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955" name="Group 268"/>
            <p:cNvGrpSpPr>
              <a:grpSpLocks/>
            </p:cNvGrpSpPr>
            <p:nvPr/>
          </p:nvGrpSpPr>
          <p:grpSpPr bwMode="auto">
            <a:xfrm>
              <a:off x="869" y="1237"/>
              <a:ext cx="67" cy="81"/>
              <a:chOff x="869" y="1237"/>
              <a:chExt cx="67" cy="81"/>
            </a:xfrm>
          </p:grpSpPr>
          <p:sp>
            <p:nvSpPr>
              <p:cNvPr id="1046" name="Line 269"/>
              <p:cNvSpPr>
                <a:spLocks noChangeShapeType="1"/>
              </p:cNvSpPr>
              <p:nvPr/>
            </p:nvSpPr>
            <p:spPr bwMode="auto">
              <a:xfrm>
                <a:off x="870" y="1237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47" name="Line 270"/>
              <p:cNvSpPr>
                <a:spLocks noChangeShapeType="1"/>
              </p:cNvSpPr>
              <p:nvPr/>
            </p:nvSpPr>
            <p:spPr bwMode="auto">
              <a:xfrm flipH="1">
                <a:off x="869" y="1237"/>
                <a:ext cx="67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56" name="Group 271"/>
            <p:cNvGrpSpPr>
              <a:grpSpLocks/>
            </p:cNvGrpSpPr>
            <p:nvPr/>
          </p:nvGrpSpPr>
          <p:grpSpPr bwMode="auto">
            <a:xfrm>
              <a:off x="869" y="1519"/>
              <a:ext cx="67" cy="81"/>
              <a:chOff x="869" y="1519"/>
              <a:chExt cx="67" cy="81"/>
            </a:xfrm>
          </p:grpSpPr>
          <p:sp>
            <p:nvSpPr>
              <p:cNvPr id="1044" name="Line 272"/>
              <p:cNvSpPr>
                <a:spLocks noChangeShapeType="1"/>
              </p:cNvSpPr>
              <p:nvPr/>
            </p:nvSpPr>
            <p:spPr bwMode="auto">
              <a:xfrm>
                <a:off x="869" y="1519"/>
                <a:ext cx="67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45" name="Line 273"/>
              <p:cNvSpPr>
                <a:spLocks noChangeShapeType="1"/>
              </p:cNvSpPr>
              <p:nvPr/>
            </p:nvSpPr>
            <p:spPr bwMode="auto">
              <a:xfrm flipH="1">
                <a:off x="870" y="1520"/>
                <a:ext cx="66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57" name="Group 274"/>
            <p:cNvGrpSpPr>
              <a:grpSpLocks/>
            </p:cNvGrpSpPr>
            <p:nvPr/>
          </p:nvGrpSpPr>
          <p:grpSpPr bwMode="auto">
            <a:xfrm>
              <a:off x="869" y="1815"/>
              <a:ext cx="67" cy="67"/>
              <a:chOff x="869" y="1815"/>
              <a:chExt cx="67" cy="67"/>
            </a:xfrm>
          </p:grpSpPr>
          <p:sp>
            <p:nvSpPr>
              <p:cNvPr id="1042" name="Line 275"/>
              <p:cNvSpPr>
                <a:spLocks noChangeShapeType="1"/>
              </p:cNvSpPr>
              <p:nvPr/>
            </p:nvSpPr>
            <p:spPr bwMode="auto">
              <a:xfrm>
                <a:off x="869" y="1815"/>
                <a:ext cx="67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43" name="Line 276"/>
              <p:cNvSpPr>
                <a:spLocks noChangeShapeType="1"/>
              </p:cNvSpPr>
              <p:nvPr/>
            </p:nvSpPr>
            <p:spPr bwMode="auto">
              <a:xfrm flipH="1">
                <a:off x="869" y="1815"/>
                <a:ext cx="67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58" name="Group 277"/>
            <p:cNvGrpSpPr>
              <a:grpSpLocks/>
            </p:cNvGrpSpPr>
            <p:nvPr/>
          </p:nvGrpSpPr>
          <p:grpSpPr bwMode="auto">
            <a:xfrm>
              <a:off x="869" y="2098"/>
              <a:ext cx="67" cy="81"/>
              <a:chOff x="869" y="2098"/>
              <a:chExt cx="67" cy="81"/>
            </a:xfrm>
          </p:grpSpPr>
          <p:sp>
            <p:nvSpPr>
              <p:cNvPr id="1040" name="Line 278"/>
              <p:cNvSpPr>
                <a:spLocks noChangeShapeType="1"/>
              </p:cNvSpPr>
              <p:nvPr/>
            </p:nvSpPr>
            <p:spPr bwMode="auto">
              <a:xfrm>
                <a:off x="870" y="2098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41" name="Line 279"/>
              <p:cNvSpPr>
                <a:spLocks noChangeShapeType="1"/>
              </p:cNvSpPr>
              <p:nvPr/>
            </p:nvSpPr>
            <p:spPr bwMode="auto">
              <a:xfrm flipH="1">
                <a:off x="869" y="2098"/>
                <a:ext cx="67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59" name="Group 280"/>
            <p:cNvGrpSpPr>
              <a:grpSpLocks/>
            </p:cNvGrpSpPr>
            <p:nvPr/>
          </p:nvGrpSpPr>
          <p:grpSpPr bwMode="auto">
            <a:xfrm>
              <a:off x="763" y="1237"/>
              <a:ext cx="80" cy="80"/>
              <a:chOff x="763" y="1237"/>
              <a:chExt cx="80" cy="80"/>
            </a:xfrm>
          </p:grpSpPr>
          <p:sp>
            <p:nvSpPr>
              <p:cNvPr id="1038" name="Line 281"/>
              <p:cNvSpPr>
                <a:spLocks noChangeShapeType="1"/>
              </p:cNvSpPr>
              <p:nvPr/>
            </p:nvSpPr>
            <p:spPr bwMode="auto">
              <a:xfrm>
                <a:off x="763" y="1237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39" name="Line 282"/>
              <p:cNvSpPr>
                <a:spLocks noChangeShapeType="1"/>
              </p:cNvSpPr>
              <p:nvPr/>
            </p:nvSpPr>
            <p:spPr bwMode="auto">
              <a:xfrm flipH="1">
                <a:off x="763" y="1237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60" name="Group 283"/>
            <p:cNvGrpSpPr>
              <a:grpSpLocks/>
            </p:cNvGrpSpPr>
            <p:nvPr/>
          </p:nvGrpSpPr>
          <p:grpSpPr bwMode="auto">
            <a:xfrm>
              <a:off x="763" y="1519"/>
              <a:ext cx="80" cy="80"/>
              <a:chOff x="763" y="1519"/>
              <a:chExt cx="80" cy="80"/>
            </a:xfrm>
          </p:grpSpPr>
          <p:sp>
            <p:nvSpPr>
              <p:cNvPr id="1036" name="Line 284"/>
              <p:cNvSpPr>
                <a:spLocks noChangeShapeType="1"/>
              </p:cNvSpPr>
              <p:nvPr/>
            </p:nvSpPr>
            <p:spPr bwMode="auto">
              <a:xfrm>
                <a:off x="763" y="1519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37" name="Line 285"/>
              <p:cNvSpPr>
                <a:spLocks noChangeShapeType="1"/>
              </p:cNvSpPr>
              <p:nvPr/>
            </p:nvSpPr>
            <p:spPr bwMode="auto">
              <a:xfrm flipH="1">
                <a:off x="763" y="1519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61" name="Group 286"/>
            <p:cNvGrpSpPr>
              <a:grpSpLocks/>
            </p:cNvGrpSpPr>
            <p:nvPr/>
          </p:nvGrpSpPr>
          <p:grpSpPr bwMode="auto">
            <a:xfrm>
              <a:off x="763" y="1815"/>
              <a:ext cx="80" cy="67"/>
              <a:chOff x="763" y="1815"/>
              <a:chExt cx="80" cy="67"/>
            </a:xfrm>
          </p:grpSpPr>
          <p:sp>
            <p:nvSpPr>
              <p:cNvPr id="1034" name="Line 287"/>
              <p:cNvSpPr>
                <a:spLocks noChangeShapeType="1"/>
              </p:cNvSpPr>
              <p:nvPr/>
            </p:nvSpPr>
            <p:spPr bwMode="auto">
              <a:xfrm>
                <a:off x="763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35" name="Line 288"/>
              <p:cNvSpPr>
                <a:spLocks noChangeShapeType="1"/>
              </p:cNvSpPr>
              <p:nvPr/>
            </p:nvSpPr>
            <p:spPr bwMode="auto">
              <a:xfrm flipH="1">
                <a:off x="763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62" name="Group 289"/>
            <p:cNvGrpSpPr>
              <a:grpSpLocks/>
            </p:cNvGrpSpPr>
            <p:nvPr/>
          </p:nvGrpSpPr>
          <p:grpSpPr bwMode="auto">
            <a:xfrm>
              <a:off x="763" y="2098"/>
              <a:ext cx="80" cy="80"/>
              <a:chOff x="763" y="2098"/>
              <a:chExt cx="80" cy="80"/>
            </a:xfrm>
          </p:grpSpPr>
          <p:sp>
            <p:nvSpPr>
              <p:cNvPr id="1032" name="Line 290"/>
              <p:cNvSpPr>
                <a:spLocks noChangeShapeType="1"/>
              </p:cNvSpPr>
              <p:nvPr/>
            </p:nvSpPr>
            <p:spPr bwMode="auto">
              <a:xfrm>
                <a:off x="763" y="2098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33" name="Line 291"/>
              <p:cNvSpPr>
                <a:spLocks noChangeShapeType="1"/>
              </p:cNvSpPr>
              <p:nvPr/>
            </p:nvSpPr>
            <p:spPr bwMode="auto">
              <a:xfrm flipH="1">
                <a:off x="763" y="2098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963" name="Line 292"/>
            <p:cNvSpPr>
              <a:spLocks noChangeShapeType="1"/>
            </p:cNvSpPr>
            <p:nvPr/>
          </p:nvSpPr>
          <p:spPr bwMode="auto">
            <a:xfrm flipH="1">
              <a:off x="630" y="1049"/>
              <a:ext cx="93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64" name="Line 293"/>
            <p:cNvSpPr>
              <a:spLocks noChangeShapeType="1"/>
            </p:cNvSpPr>
            <p:nvPr/>
          </p:nvSpPr>
          <p:spPr bwMode="auto">
            <a:xfrm>
              <a:off x="536" y="1049"/>
              <a:ext cx="93" cy="1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65" name="Line 294"/>
            <p:cNvSpPr>
              <a:spLocks noChangeShapeType="1"/>
            </p:cNvSpPr>
            <p:nvPr/>
          </p:nvSpPr>
          <p:spPr bwMode="auto">
            <a:xfrm flipH="1">
              <a:off x="536" y="1049"/>
              <a:ext cx="18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66" name="Oval 295"/>
            <p:cNvSpPr>
              <a:spLocks noChangeArrowheads="1"/>
            </p:cNvSpPr>
            <p:nvPr/>
          </p:nvSpPr>
          <p:spPr bwMode="auto">
            <a:xfrm>
              <a:off x="660" y="1133"/>
              <a:ext cx="39" cy="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67" name="Line 296"/>
            <p:cNvSpPr>
              <a:spLocks noChangeShapeType="1"/>
            </p:cNvSpPr>
            <p:nvPr/>
          </p:nvSpPr>
          <p:spPr bwMode="auto">
            <a:xfrm>
              <a:off x="630" y="941"/>
              <a:ext cx="0" cy="1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68" name="Line 297"/>
            <p:cNvSpPr>
              <a:spLocks noChangeShapeType="1"/>
            </p:cNvSpPr>
            <p:nvPr/>
          </p:nvSpPr>
          <p:spPr bwMode="auto">
            <a:xfrm>
              <a:off x="683" y="1183"/>
              <a:ext cx="0" cy="1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69" name="Line 298"/>
            <p:cNvSpPr>
              <a:spLocks noChangeShapeType="1"/>
            </p:cNvSpPr>
            <p:nvPr/>
          </p:nvSpPr>
          <p:spPr bwMode="auto">
            <a:xfrm>
              <a:off x="576" y="1129"/>
              <a:ext cx="0" cy="11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970" name="Group 299"/>
            <p:cNvGrpSpPr>
              <a:grpSpLocks/>
            </p:cNvGrpSpPr>
            <p:nvPr/>
          </p:nvGrpSpPr>
          <p:grpSpPr bwMode="auto">
            <a:xfrm>
              <a:off x="643" y="1237"/>
              <a:ext cx="80" cy="80"/>
              <a:chOff x="643" y="1237"/>
              <a:chExt cx="80" cy="80"/>
            </a:xfrm>
          </p:grpSpPr>
          <p:sp>
            <p:nvSpPr>
              <p:cNvPr id="1030" name="Line 300"/>
              <p:cNvSpPr>
                <a:spLocks noChangeShapeType="1"/>
              </p:cNvSpPr>
              <p:nvPr/>
            </p:nvSpPr>
            <p:spPr bwMode="auto">
              <a:xfrm>
                <a:off x="643" y="1237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31" name="Line 301"/>
              <p:cNvSpPr>
                <a:spLocks noChangeShapeType="1"/>
              </p:cNvSpPr>
              <p:nvPr/>
            </p:nvSpPr>
            <p:spPr bwMode="auto">
              <a:xfrm flipH="1">
                <a:off x="643" y="1237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71" name="Group 302"/>
            <p:cNvGrpSpPr>
              <a:grpSpLocks/>
            </p:cNvGrpSpPr>
            <p:nvPr/>
          </p:nvGrpSpPr>
          <p:grpSpPr bwMode="auto">
            <a:xfrm>
              <a:off x="643" y="1519"/>
              <a:ext cx="80" cy="80"/>
              <a:chOff x="643" y="1519"/>
              <a:chExt cx="80" cy="80"/>
            </a:xfrm>
          </p:grpSpPr>
          <p:sp>
            <p:nvSpPr>
              <p:cNvPr id="1028" name="Line 303"/>
              <p:cNvSpPr>
                <a:spLocks noChangeShapeType="1"/>
              </p:cNvSpPr>
              <p:nvPr/>
            </p:nvSpPr>
            <p:spPr bwMode="auto">
              <a:xfrm>
                <a:off x="643" y="1519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29" name="Line 304"/>
              <p:cNvSpPr>
                <a:spLocks noChangeShapeType="1"/>
              </p:cNvSpPr>
              <p:nvPr/>
            </p:nvSpPr>
            <p:spPr bwMode="auto">
              <a:xfrm flipH="1">
                <a:off x="643" y="1519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72" name="Group 305"/>
            <p:cNvGrpSpPr>
              <a:grpSpLocks/>
            </p:cNvGrpSpPr>
            <p:nvPr/>
          </p:nvGrpSpPr>
          <p:grpSpPr bwMode="auto">
            <a:xfrm>
              <a:off x="643" y="1815"/>
              <a:ext cx="80" cy="67"/>
              <a:chOff x="643" y="1815"/>
              <a:chExt cx="80" cy="67"/>
            </a:xfrm>
          </p:grpSpPr>
          <p:sp>
            <p:nvSpPr>
              <p:cNvPr id="1026" name="Line 306"/>
              <p:cNvSpPr>
                <a:spLocks noChangeShapeType="1"/>
              </p:cNvSpPr>
              <p:nvPr/>
            </p:nvSpPr>
            <p:spPr bwMode="auto">
              <a:xfrm>
                <a:off x="643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27" name="Line 307"/>
              <p:cNvSpPr>
                <a:spLocks noChangeShapeType="1"/>
              </p:cNvSpPr>
              <p:nvPr/>
            </p:nvSpPr>
            <p:spPr bwMode="auto">
              <a:xfrm flipH="1">
                <a:off x="643" y="1815"/>
                <a:ext cx="80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73" name="Group 308"/>
            <p:cNvGrpSpPr>
              <a:grpSpLocks/>
            </p:cNvGrpSpPr>
            <p:nvPr/>
          </p:nvGrpSpPr>
          <p:grpSpPr bwMode="auto">
            <a:xfrm>
              <a:off x="643" y="2098"/>
              <a:ext cx="80" cy="80"/>
              <a:chOff x="643" y="2098"/>
              <a:chExt cx="80" cy="80"/>
            </a:xfrm>
          </p:grpSpPr>
          <p:sp>
            <p:nvSpPr>
              <p:cNvPr id="1024" name="Line 309"/>
              <p:cNvSpPr>
                <a:spLocks noChangeShapeType="1"/>
              </p:cNvSpPr>
              <p:nvPr/>
            </p:nvSpPr>
            <p:spPr bwMode="auto">
              <a:xfrm>
                <a:off x="643" y="2098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25" name="Line 310"/>
              <p:cNvSpPr>
                <a:spLocks noChangeShapeType="1"/>
              </p:cNvSpPr>
              <p:nvPr/>
            </p:nvSpPr>
            <p:spPr bwMode="auto">
              <a:xfrm flipH="1">
                <a:off x="643" y="2098"/>
                <a:ext cx="80" cy="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74" name="Group 311"/>
            <p:cNvGrpSpPr>
              <a:grpSpLocks/>
            </p:cNvGrpSpPr>
            <p:nvPr/>
          </p:nvGrpSpPr>
          <p:grpSpPr bwMode="auto">
            <a:xfrm>
              <a:off x="550" y="1237"/>
              <a:ext cx="66" cy="79"/>
              <a:chOff x="550" y="1237"/>
              <a:chExt cx="66" cy="79"/>
            </a:xfrm>
          </p:grpSpPr>
          <p:sp>
            <p:nvSpPr>
              <p:cNvPr id="1022" name="Line 312"/>
              <p:cNvSpPr>
                <a:spLocks noChangeShapeType="1"/>
              </p:cNvSpPr>
              <p:nvPr/>
            </p:nvSpPr>
            <p:spPr bwMode="auto">
              <a:xfrm>
                <a:off x="550" y="1237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23" name="Line 313"/>
              <p:cNvSpPr>
                <a:spLocks noChangeShapeType="1"/>
              </p:cNvSpPr>
              <p:nvPr/>
            </p:nvSpPr>
            <p:spPr bwMode="auto">
              <a:xfrm flipH="1">
                <a:off x="550" y="1237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75" name="Group 314"/>
            <p:cNvGrpSpPr>
              <a:grpSpLocks/>
            </p:cNvGrpSpPr>
            <p:nvPr/>
          </p:nvGrpSpPr>
          <p:grpSpPr bwMode="auto">
            <a:xfrm>
              <a:off x="550" y="1520"/>
              <a:ext cx="66" cy="79"/>
              <a:chOff x="550" y="1520"/>
              <a:chExt cx="66" cy="79"/>
            </a:xfrm>
          </p:grpSpPr>
          <p:sp>
            <p:nvSpPr>
              <p:cNvPr id="1020" name="Line 315"/>
              <p:cNvSpPr>
                <a:spLocks noChangeShapeType="1"/>
              </p:cNvSpPr>
              <p:nvPr/>
            </p:nvSpPr>
            <p:spPr bwMode="auto">
              <a:xfrm>
                <a:off x="550" y="1520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21" name="Line 316"/>
              <p:cNvSpPr>
                <a:spLocks noChangeShapeType="1"/>
              </p:cNvSpPr>
              <p:nvPr/>
            </p:nvSpPr>
            <p:spPr bwMode="auto">
              <a:xfrm flipH="1">
                <a:off x="550" y="1520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76" name="Group 317"/>
            <p:cNvGrpSpPr>
              <a:grpSpLocks/>
            </p:cNvGrpSpPr>
            <p:nvPr/>
          </p:nvGrpSpPr>
          <p:grpSpPr bwMode="auto">
            <a:xfrm>
              <a:off x="550" y="1815"/>
              <a:ext cx="66" cy="66"/>
              <a:chOff x="550" y="1815"/>
              <a:chExt cx="66" cy="66"/>
            </a:xfrm>
          </p:grpSpPr>
          <p:sp>
            <p:nvSpPr>
              <p:cNvPr id="1018" name="Line 318"/>
              <p:cNvSpPr>
                <a:spLocks noChangeShapeType="1"/>
              </p:cNvSpPr>
              <p:nvPr/>
            </p:nvSpPr>
            <p:spPr bwMode="auto">
              <a:xfrm>
                <a:off x="550" y="1815"/>
                <a:ext cx="66" cy="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19" name="Line 319"/>
              <p:cNvSpPr>
                <a:spLocks noChangeShapeType="1"/>
              </p:cNvSpPr>
              <p:nvPr/>
            </p:nvSpPr>
            <p:spPr bwMode="auto">
              <a:xfrm flipH="1">
                <a:off x="550" y="1815"/>
                <a:ext cx="66" cy="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77" name="Group 320"/>
            <p:cNvGrpSpPr>
              <a:grpSpLocks/>
            </p:cNvGrpSpPr>
            <p:nvPr/>
          </p:nvGrpSpPr>
          <p:grpSpPr bwMode="auto">
            <a:xfrm>
              <a:off x="550" y="2098"/>
              <a:ext cx="66" cy="79"/>
              <a:chOff x="550" y="2098"/>
              <a:chExt cx="66" cy="79"/>
            </a:xfrm>
          </p:grpSpPr>
          <p:sp>
            <p:nvSpPr>
              <p:cNvPr id="1016" name="Line 321"/>
              <p:cNvSpPr>
                <a:spLocks noChangeShapeType="1"/>
              </p:cNvSpPr>
              <p:nvPr/>
            </p:nvSpPr>
            <p:spPr bwMode="auto">
              <a:xfrm>
                <a:off x="550" y="2098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17" name="Line 322"/>
              <p:cNvSpPr>
                <a:spLocks noChangeShapeType="1"/>
              </p:cNvSpPr>
              <p:nvPr/>
            </p:nvSpPr>
            <p:spPr bwMode="auto">
              <a:xfrm flipH="1">
                <a:off x="550" y="2098"/>
                <a:ext cx="66" cy="7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78" name="Group 323"/>
            <p:cNvGrpSpPr>
              <a:grpSpLocks/>
            </p:cNvGrpSpPr>
            <p:nvPr/>
          </p:nvGrpSpPr>
          <p:grpSpPr bwMode="auto">
            <a:xfrm>
              <a:off x="1523" y="1114"/>
              <a:ext cx="295" cy="278"/>
              <a:chOff x="1523" y="1114"/>
              <a:chExt cx="295" cy="278"/>
            </a:xfrm>
          </p:grpSpPr>
          <p:sp>
            <p:nvSpPr>
              <p:cNvPr id="1011" name="Line 324"/>
              <p:cNvSpPr>
                <a:spLocks noChangeShapeType="1"/>
              </p:cNvSpPr>
              <p:nvPr/>
            </p:nvSpPr>
            <p:spPr bwMode="auto">
              <a:xfrm>
                <a:off x="1523" y="1114"/>
                <a:ext cx="0" cy="277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12" name="Arc 325"/>
              <p:cNvSpPr>
                <a:spLocks/>
              </p:cNvSpPr>
              <p:nvPr/>
            </p:nvSpPr>
            <p:spPr bwMode="auto">
              <a:xfrm>
                <a:off x="1635" y="1115"/>
                <a:ext cx="183" cy="139"/>
              </a:xfrm>
              <a:custGeom>
                <a:avLst/>
                <a:gdLst>
                  <a:gd name="G0" fmla="+- 118 0 0"/>
                  <a:gd name="G1" fmla="+- 21600 0 0"/>
                  <a:gd name="G2" fmla="+- 21600 0 0"/>
                  <a:gd name="T0" fmla="*/ 0 w 21717"/>
                  <a:gd name="T1" fmla="*/ 0 h 21600"/>
                  <a:gd name="T2" fmla="*/ 21717 w 21717"/>
                  <a:gd name="T3" fmla="*/ 21444 h 21600"/>
                  <a:gd name="T4" fmla="*/ 118 w 2171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717" h="21600" fill="none" extrusionOk="0">
                    <a:moveTo>
                      <a:pt x="0" y="0"/>
                    </a:moveTo>
                    <a:cubicBezTo>
                      <a:pt x="39" y="0"/>
                      <a:pt x="78" y="-1"/>
                      <a:pt x="118" y="0"/>
                    </a:cubicBezTo>
                    <a:cubicBezTo>
                      <a:pt x="11986" y="0"/>
                      <a:pt x="21631" y="9575"/>
                      <a:pt x="21717" y="21443"/>
                    </a:cubicBezTo>
                  </a:path>
                  <a:path w="21717" h="21600" stroke="0" extrusionOk="0">
                    <a:moveTo>
                      <a:pt x="0" y="0"/>
                    </a:moveTo>
                    <a:cubicBezTo>
                      <a:pt x="39" y="0"/>
                      <a:pt x="78" y="-1"/>
                      <a:pt x="118" y="0"/>
                    </a:cubicBezTo>
                    <a:cubicBezTo>
                      <a:pt x="11986" y="0"/>
                      <a:pt x="21631" y="9575"/>
                      <a:pt x="21717" y="21443"/>
                    </a:cubicBezTo>
                    <a:lnTo>
                      <a:pt x="118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13" name="Arc 326"/>
              <p:cNvSpPr>
                <a:spLocks/>
              </p:cNvSpPr>
              <p:nvPr/>
            </p:nvSpPr>
            <p:spPr bwMode="auto">
              <a:xfrm>
                <a:off x="1633" y="1252"/>
                <a:ext cx="183" cy="140"/>
              </a:xfrm>
              <a:custGeom>
                <a:avLst/>
                <a:gdLst>
                  <a:gd name="G0" fmla="+- 0 0 0"/>
                  <a:gd name="G1" fmla="+- 156 0 0"/>
                  <a:gd name="G2" fmla="+- 21600 0 0"/>
                  <a:gd name="T0" fmla="*/ 21599 w 21600"/>
                  <a:gd name="T1" fmla="*/ 0 h 21756"/>
                  <a:gd name="T2" fmla="*/ 0 w 21600"/>
                  <a:gd name="T3" fmla="*/ 21756 h 21756"/>
                  <a:gd name="T4" fmla="*/ 0 w 21600"/>
                  <a:gd name="T5" fmla="*/ 156 h 21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756" fill="none" extrusionOk="0">
                    <a:moveTo>
                      <a:pt x="21599" y="-1"/>
                    </a:moveTo>
                    <a:cubicBezTo>
                      <a:pt x="21599" y="51"/>
                      <a:pt x="21600" y="103"/>
                      <a:pt x="21600" y="156"/>
                    </a:cubicBezTo>
                    <a:cubicBezTo>
                      <a:pt x="21600" y="12085"/>
                      <a:pt x="11929" y="21755"/>
                      <a:pt x="0" y="21756"/>
                    </a:cubicBezTo>
                  </a:path>
                  <a:path w="21600" h="21756" stroke="0" extrusionOk="0">
                    <a:moveTo>
                      <a:pt x="21599" y="-1"/>
                    </a:moveTo>
                    <a:cubicBezTo>
                      <a:pt x="21599" y="51"/>
                      <a:pt x="21600" y="103"/>
                      <a:pt x="21600" y="156"/>
                    </a:cubicBezTo>
                    <a:cubicBezTo>
                      <a:pt x="21600" y="12085"/>
                      <a:pt x="11929" y="21755"/>
                      <a:pt x="0" y="21756"/>
                    </a:cubicBezTo>
                    <a:lnTo>
                      <a:pt x="0" y="156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14" name="Line 327"/>
              <p:cNvSpPr>
                <a:spLocks noChangeShapeType="1"/>
              </p:cNvSpPr>
              <p:nvPr/>
            </p:nvSpPr>
            <p:spPr bwMode="auto">
              <a:xfrm flipH="1">
                <a:off x="1523" y="1391"/>
                <a:ext cx="111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15" name="Line 328"/>
              <p:cNvSpPr>
                <a:spLocks noChangeShapeType="1"/>
              </p:cNvSpPr>
              <p:nvPr/>
            </p:nvSpPr>
            <p:spPr bwMode="auto">
              <a:xfrm flipH="1">
                <a:off x="1523" y="1114"/>
                <a:ext cx="111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79" name="Group 329"/>
            <p:cNvGrpSpPr>
              <a:grpSpLocks/>
            </p:cNvGrpSpPr>
            <p:nvPr/>
          </p:nvGrpSpPr>
          <p:grpSpPr bwMode="auto">
            <a:xfrm>
              <a:off x="1820" y="1269"/>
              <a:ext cx="322" cy="292"/>
              <a:chOff x="1820" y="1269"/>
              <a:chExt cx="322" cy="292"/>
            </a:xfrm>
          </p:grpSpPr>
          <p:sp>
            <p:nvSpPr>
              <p:cNvPr id="1007" name="Arc 330"/>
              <p:cNvSpPr>
                <a:spLocks/>
              </p:cNvSpPr>
              <p:nvPr/>
            </p:nvSpPr>
            <p:spPr bwMode="auto">
              <a:xfrm>
                <a:off x="1822" y="1269"/>
                <a:ext cx="320" cy="167"/>
              </a:xfrm>
              <a:custGeom>
                <a:avLst/>
                <a:gdLst>
                  <a:gd name="G0" fmla="+- 68 0 0"/>
                  <a:gd name="G1" fmla="+- 21600 0 0"/>
                  <a:gd name="G2" fmla="+- 21600 0 0"/>
                  <a:gd name="T0" fmla="*/ 0 w 21668"/>
                  <a:gd name="T1" fmla="*/ 0 h 21600"/>
                  <a:gd name="T2" fmla="*/ 21668 w 21668"/>
                  <a:gd name="T3" fmla="*/ 21470 h 21600"/>
                  <a:gd name="T4" fmla="*/ 68 w 21668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68" h="21600" fill="none" extrusionOk="0">
                    <a:moveTo>
                      <a:pt x="0" y="0"/>
                    </a:moveTo>
                    <a:cubicBezTo>
                      <a:pt x="22" y="0"/>
                      <a:pt x="45" y="-1"/>
                      <a:pt x="68" y="0"/>
                    </a:cubicBezTo>
                    <a:cubicBezTo>
                      <a:pt x="11946" y="0"/>
                      <a:pt x="21596" y="9591"/>
                      <a:pt x="21667" y="21470"/>
                    </a:cubicBezTo>
                  </a:path>
                  <a:path w="21668" h="21600" stroke="0" extrusionOk="0">
                    <a:moveTo>
                      <a:pt x="0" y="0"/>
                    </a:moveTo>
                    <a:cubicBezTo>
                      <a:pt x="22" y="0"/>
                      <a:pt x="45" y="-1"/>
                      <a:pt x="68" y="0"/>
                    </a:cubicBezTo>
                    <a:cubicBezTo>
                      <a:pt x="11946" y="0"/>
                      <a:pt x="21596" y="9591"/>
                      <a:pt x="21667" y="21470"/>
                    </a:cubicBezTo>
                    <a:lnTo>
                      <a:pt x="68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08" name="Arc 331"/>
              <p:cNvSpPr>
                <a:spLocks/>
              </p:cNvSpPr>
              <p:nvPr/>
            </p:nvSpPr>
            <p:spPr bwMode="auto">
              <a:xfrm>
                <a:off x="1821" y="1393"/>
                <a:ext cx="320" cy="168"/>
              </a:xfrm>
              <a:custGeom>
                <a:avLst/>
                <a:gdLst>
                  <a:gd name="G0" fmla="+- 68 0 0"/>
                  <a:gd name="G1" fmla="+- 130 0 0"/>
                  <a:gd name="G2" fmla="+- 21600 0 0"/>
                  <a:gd name="T0" fmla="*/ 21668 w 21668"/>
                  <a:gd name="T1" fmla="*/ 0 h 21730"/>
                  <a:gd name="T2" fmla="*/ 0 w 21668"/>
                  <a:gd name="T3" fmla="*/ 21730 h 21730"/>
                  <a:gd name="T4" fmla="*/ 68 w 21668"/>
                  <a:gd name="T5" fmla="*/ 130 h 21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68" h="21730" fill="none" extrusionOk="0">
                    <a:moveTo>
                      <a:pt x="21667" y="0"/>
                    </a:moveTo>
                    <a:cubicBezTo>
                      <a:pt x="21667" y="43"/>
                      <a:pt x="21668" y="86"/>
                      <a:pt x="21668" y="130"/>
                    </a:cubicBezTo>
                    <a:cubicBezTo>
                      <a:pt x="21668" y="12059"/>
                      <a:pt x="11997" y="21730"/>
                      <a:pt x="68" y="21730"/>
                    </a:cubicBezTo>
                    <a:cubicBezTo>
                      <a:pt x="45" y="21730"/>
                      <a:pt x="22" y="21729"/>
                      <a:pt x="0" y="21729"/>
                    </a:cubicBezTo>
                  </a:path>
                  <a:path w="21668" h="21730" stroke="0" extrusionOk="0">
                    <a:moveTo>
                      <a:pt x="21667" y="0"/>
                    </a:moveTo>
                    <a:cubicBezTo>
                      <a:pt x="21667" y="43"/>
                      <a:pt x="21668" y="86"/>
                      <a:pt x="21668" y="130"/>
                    </a:cubicBezTo>
                    <a:cubicBezTo>
                      <a:pt x="21668" y="12059"/>
                      <a:pt x="11997" y="21730"/>
                      <a:pt x="68" y="21730"/>
                    </a:cubicBezTo>
                    <a:cubicBezTo>
                      <a:pt x="45" y="21730"/>
                      <a:pt x="22" y="21729"/>
                      <a:pt x="0" y="21729"/>
                    </a:cubicBezTo>
                    <a:lnTo>
                      <a:pt x="68" y="13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09" name="Arc 332"/>
              <p:cNvSpPr>
                <a:spLocks/>
              </p:cNvSpPr>
              <p:nvPr/>
            </p:nvSpPr>
            <p:spPr bwMode="auto">
              <a:xfrm>
                <a:off x="1822" y="1269"/>
                <a:ext cx="40" cy="167"/>
              </a:xfrm>
              <a:custGeom>
                <a:avLst/>
                <a:gdLst>
                  <a:gd name="G0" fmla="+- 545 0 0"/>
                  <a:gd name="G1" fmla="+- 21600 0 0"/>
                  <a:gd name="G2" fmla="+- 21600 0 0"/>
                  <a:gd name="T0" fmla="*/ 0 w 22145"/>
                  <a:gd name="T1" fmla="*/ 7 h 21600"/>
                  <a:gd name="T2" fmla="*/ 22145 w 22145"/>
                  <a:gd name="T3" fmla="*/ 21469 h 21600"/>
                  <a:gd name="T4" fmla="*/ 545 w 2214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145" h="21600" fill="none" extrusionOk="0">
                    <a:moveTo>
                      <a:pt x="-1" y="6"/>
                    </a:moveTo>
                    <a:cubicBezTo>
                      <a:pt x="181" y="2"/>
                      <a:pt x="363" y="-1"/>
                      <a:pt x="545" y="0"/>
                    </a:cubicBezTo>
                    <a:cubicBezTo>
                      <a:pt x="12423" y="0"/>
                      <a:pt x="22072" y="9590"/>
                      <a:pt x="22144" y="21469"/>
                    </a:cubicBezTo>
                  </a:path>
                  <a:path w="22145" h="21600" stroke="0" extrusionOk="0">
                    <a:moveTo>
                      <a:pt x="-1" y="6"/>
                    </a:moveTo>
                    <a:cubicBezTo>
                      <a:pt x="181" y="2"/>
                      <a:pt x="363" y="-1"/>
                      <a:pt x="545" y="0"/>
                    </a:cubicBezTo>
                    <a:cubicBezTo>
                      <a:pt x="12423" y="0"/>
                      <a:pt x="22072" y="9590"/>
                      <a:pt x="22144" y="21469"/>
                    </a:cubicBezTo>
                    <a:lnTo>
                      <a:pt x="545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10" name="Arc 333"/>
              <p:cNvSpPr>
                <a:spLocks/>
              </p:cNvSpPr>
              <p:nvPr/>
            </p:nvSpPr>
            <p:spPr bwMode="auto">
              <a:xfrm>
                <a:off x="1820" y="1393"/>
                <a:ext cx="41" cy="168"/>
              </a:xfrm>
              <a:custGeom>
                <a:avLst/>
                <a:gdLst>
                  <a:gd name="G0" fmla="+- 548 0 0"/>
                  <a:gd name="G1" fmla="+- 131 0 0"/>
                  <a:gd name="G2" fmla="+- 21600 0 0"/>
                  <a:gd name="T0" fmla="*/ 22148 w 22148"/>
                  <a:gd name="T1" fmla="*/ 0 h 21731"/>
                  <a:gd name="T2" fmla="*/ 0 w 22148"/>
                  <a:gd name="T3" fmla="*/ 21724 h 21731"/>
                  <a:gd name="T4" fmla="*/ 548 w 22148"/>
                  <a:gd name="T5" fmla="*/ 131 h 2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148" h="21731" fill="none" extrusionOk="0">
                    <a:moveTo>
                      <a:pt x="22147" y="0"/>
                    </a:moveTo>
                    <a:cubicBezTo>
                      <a:pt x="22147" y="43"/>
                      <a:pt x="22148" y="87"/>
                      <a:pt x="22148" y="131"/>
                    </a:cubicBezTo>
                    <a:cubicBezTo>
                      <a:pt x="22148" y="12060"/>
                      <a:pt x="12477" y="21731"/>
                      <a:pt x="548" y="21731"/>
                    </a:cubicBezTo>
                    <a:cubicBezTo>
                      <a:pt x="365" y="21731"/>
                      <a:pt x="182" y="21728"/>
                      <a:pt x="-1" y="21724"/>
                    </a:cubicBezTo>
                  </a:path>
                  <a:path w="22148" h="21731" stroke="0" extrusionOk="0">
                    <a:moveTo>
                      <a:pt x="22147" y="0"/>
                    </a:moveTo>
                    <a:cubicBezTo>
                      <a:pt x="22147" y="43"/>
                      <a:pt x="22148" y="87"/>
                      <a:pt x="22148" y="131"/>
                    </a:cubicBezTo>
                    <a:cubicBezTo>
                      <a:pt x="22148" y="12060"/>
                      <a:pt x="12477" y="21731"/>
                      <a:pt x="548" y="21731"/>
                    </a:cubicBezTo>
                    <a:cubicBezTo>
                      <a:pt x="365" y="21731"/>
                      <a:pt x="182" y="21728"/>
                      <a:pt x="-1" y="21724"/>
                    </a:cubicBezTo>
                    <a:lnTo>
                      <a:pt x="548" y="131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80" name="Group 334"/>
            <p:cNvGrpSpPr>
              <a:grpSpLocks/>
            </p:cNvGrpSpPr>
            <p:nvPr/>
          </p:nvGrpSpPr>
          <p:grpSpPr bwMode="auto">
            <a:xfrm>
              <a:off x="1522" y="1405"/>
              <a:ext cx="294" cy="278"/>
              <a:chOff x="1522" y="1405"/>
              <a:chExt cx="294" cy="278"/>
            </a:xfrm>
          </p:grpSpPr>
          <p:sp>
            <p:nvSpPr>
              <p:cNvPr id="1002" name="Line 335"/>
              <p:cNvSpPr>
                <a:spLocks noChangeShapeType="1"/>
              </p:cNvSpPr>
              <p:nvPr/>
            </p:nvSpPr>
            <p:spPr bwMode="auto">
              <a:xfrm>
                <a:off x="1522" y="1405"/>
                <a:ext cx="0" cy="277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03" name="Arc 336"/>
              <p:cNvSpPr>
                <a:spLocks/>
              </p:cNvSpPr>
              <p:nvPr/>
            </p:nvSpPr>
            <p:spPr bwMode="auto">
              <a:xfrm>
                <a:off x="1632" y="1406"/>
                <a:ext cx="183" cy="13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599"/>
                  <a:gd name="T1" fmla="*/ 0 h 21600"/>
                  <a:gd name="T2" fmla="*/ 21599 w 21599"/>
                  <a:gd name="T3" fmla="*/ 21444 h 21600"/>
                  <a:gd name="T4" fmla="*/ 0 w 2159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0" y="0"/>
                    </a:moveTo>
                    <a:cubicBezTo>
                      <a:pt x="11868" y="0"/>
                      <a:pt x="21513" y="9575"/>
                      <a:pt x="21599" y="21443"/>
                    </a:cubicBezTo>
                  </a:path>
                  <a:path w="21599" h="21600" stroke="0" extrusionOk="0">
                    <a:moveTo>
                      <a:pt x="0" y="0"/>
                    </a:moveTo>
                    <a:cubicBezTo>
                      <a:pt x="11868" y="0"/>
                      <a:pt x="21513" y="9575"/>
                      <a:pt x="21599" y="21443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04" name="Arc 337"/>
              <p:cNvSpPr>
                <a:spLocks/>
              </p:cNvSpPr>
              <p:nvPr/>
            </p:nvSpPr>
            <p:spPr bwMode="auto">
              <a:xfrm>
                <a:off x="1632" y="1543"/>
                <a:ext cx="184" cy="140"/>
              </a:xfrm>
              <a:custGeom>
                <a:avLst/>
                <a:gdLst>
                  <a:gd name="G0" fmla="+- 119 0 0"/>
                  <a:gd name="G1" fmla="+- 156 0 0"/>
                  <a:gd name="G2" fmla="+- 21600 0 0"/>
                  <a:gd name="T0" fmla="*/ 21718 w 21719"/>
                  <a:gd name="T1" fmla="*/ 0 h 21756"/>
                  <a:gd name="T2" fmla="*/ 0 w 21719"/>
                  <a:gd name="T3" fmla="*/ 21756 h 21756"/>
                  <a:gd name="T4" fmla="*/ 119 w 21719"/>
                  <a:gd name="T5" fmla="*/ 156 h 21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719" h="21756" fill="none" extrusionOk="0">
                    <a:moveTo>
                      <a:pt x="21718" y="-1"/>
                    </a:moveTo>
                    <a:cubicBezTo>
                      <a:pt x="21718" y="51"/>
                      <a:pt x="21719" y="103"/>
                      <a:pt x="21719" y="156"/>
                    </a:cubicBezTo>
                    <a:cubicBezTo>
                      <a:pt x="21719" y="12085"/>
                      <a:pt x="12048" y="21756"/>
                      <a:pt x="119" y="21756"/>
                    </a:cubicBezTo>
                    <a:cubicBezTo>
                      <a:pt x="79" y="21756"/>
                      <a:pt x="39" y="21755"/>
                      <a:pt x="0" y="21755"/>
                    </a:cubicBezTo>
                  </a:path>
                  <a:path w="21719" h="21756" stroke="0" extrusionOk="0">
                    <a:moveTo>
                      <a:pt x="21718" y="-1"/>
                    </a:moveTo>
                    <a:cubicBezTo>
                      <a:pt x="21718" y="51"/>
                      <a:pt x="21719" y="103"/>
                      <a:pt x="21719" y="156"/>
                    </a:cubicBezTo>
                    <a:cubicBezTo>
                      <a:pt x="21719" y="12085"/>
                      <a:pt x="12048" y="21756"/>
                      <a:pt x="119" y="21756"/>
                    </a:cubicBezTo>
                    <a:cubicBezTo>
                      <a:pt x="79" y="21756"/>
                      <a:pt x="39" y="21755"/>
                      <a:pt x="0" y="21755"/>
                    </a:cubicBezTo>
                    <a:lnTo>
                      <a:pt x="119" y="156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05" name="Line 338"/>
              <p:cNvSpPr>
                <a:spLocks noChangeShapeType="1"/>
              </p:cNvSpPr>
              <p:nvPr/>
            </p:nvSpPr>
            <p:spPr bwMode="auto">
              <a:xfrm flipH="1">
                <a:off x="1522" y="1682"/>
                <a:ext cx="111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06" name="Line 339"/>
              <p:cNvSpPr>
                <a:spLocks noChangeShapeType="1"/>
              </p:cNvSpPr>
              <p:nvPr/>
            </p:nvSpPr>
            <p:spPr bwMode="auto">
              <a:xfrm flipH="1">
                <a:off x="1522" y="1405"/>
                <a:ext cx="111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981" name="Line 340"/>
            <p:cNvSpPr>
              <a:spLocks noChangeShapeType="1"/>
            </p:cNvSpPr>
            <p:nvPr/>
          </p:nvSpPr>
          <p:spPr bwMode="auto">
            <a:xfrm>
              <a:off x="2141" y="1417"/>
              <a:ext cx="43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982" name="Group 341"/>
            <p:cNvGrpSpPr>
              <a:grpSpLocks/>
            </p:cNvGrpSpPr>
            <p:nvPr/>
          </p:nvGrpSpPr>
          <p:grpSpPr bwMode="auto">
            <a:xfrm>
              <a:off x="1539" y="1730"/>
              <a:ext cx="299" cy="274"/>
              <a:chOff x="1539" y="1730"/>
              <a:chExt cx="299" cy="274"/>
            </a:xfrm>
          </p:grpSpPr>
          <p:sp>
            <p:nvSpPr>
              <p:cNvPr id="997" name="Line 342"/>
              <p:cNvSpPr>
                <a:spLocks noChangeShapeType="1"/>
              </p:cNvSpPr>
              <p:nvPr/>
            </p:nvSpPr>
            <p:spPr bwMode="auto">
              <a:xfrm>
                <a:off x="1539" y="1730"/>
                <a:ext cx="0" cy="273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98" name="Arc 343"/>
              <p:cNvSpPr>
                <a:spLocks/>
              </p:cNvSpPr>
              <p:nvPr/>
            </p:nvSpPr>
            <p:spPr bwMode="auto">
              <a:xfrm>
                <a:off x="1652" y="1731"/>
                <a:ext cx="186" cy="137"/>
              </a:xfrm>
              <a:custGeom>
                <a:avLst/>
                <a:gdLst>
                  <a:gd name="G0" fmla="+- 116 0 0"/>
                  <a:gd name="G1" fmla="+- 21600 0 0"/>
                  <a:gd name="G2" fmla="+- 21600 0 0"/>
                  <a:gd name="T0" fmla="*/ 0 w 21715"/>
                  <a:gd name="T1" fmla="*/ 0 h 21600"/>
                  <a:gd name="T2" fmla="*/ 21715 w 21715"/>
                  <a:gd name="T3" fmla="*/ 21441 h 21600"/>
                  <a:gd name="T4" fmla="*/ 116 w 2171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715" h="21600" fill="none" extrusionOk="0">
                    <a:moveTo>
                      <a:pt x="0" y="0"/>
                    </a:moveTo>
                    <a:cubicBezTo>
                      <a:pt x="38" y="0"/>
                      <a:pt x="77" y="-1"/>
                      <a:pt x="116" y="0"/>
                    </a:cubicBezTo>
                    <a:cubicBezTo>
                      <a:pt x="11983" y="0"/>
                      <a:pt x="21628" y="9574"/>
                      <a:pt x="21715" y="21440"/>
                    </a:cubicBezTo>
                  </a:path>
                  <a:path w="21715" h="21600" stroke="0" extrusionOk="0">
                    <a:moveTo>
                      <a:pt x="0" y="0"/>
                    </a:moveTo>
                    <a:cubicBezTo>
                      <a:pt x="38" y="0"/>
                      <a:pt x="77" y="-1"/>
                      <a:pt x="116" y="0"/>
                    </a:cubicBezTo>
                    <a:cubicBezTo>
                      <a:pt x="11983" y="0"/>
                      <a:pt x="21628" y="9574"/>
                      <a:pt x="21715" y="21440"/>
                    </a:cubicBezTo>
                    <a:lnTo>
                      <a:pt x="116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99" name="Arc 344"/>
              <p:cNvSpPr>
                <a:spLocks/>
              </p:cNvSpPr>
              <p:nvPr/>
            </p:nvSpPr>
            <p:spPr bwMode="auto">
              <a:xfrm>
                <a:off x="1650" y="1867"/>
                <a:ext cx="186" cy="137"/>
              </a:xfrm>
              <a:custGeom>
                <a:avLst/>
                <a:gdLst>
                  <a:gd name="G0" fmla="+- 0 0 0"/>
                  <a:gd name="G1" fmla="+- 158 0 0"/>
                  <a:gd name="G2" fmla="+- 21600 0 0"/>
                  <a:gd name="T0" fmla="*/ 21599 w 21600"/>
                  <a:gd name="T1" fmla="*/ 0 h 21758"/>
                  <a:gd name="T2" fmla="*/ 0 w 21600"/>
                  <a:gd name="T3" fmla="*/ 21758 h 21758"/>
                  <a:gd name="T4" fmla="*/ 0 w 21600"/>
                  <a:gd name="T5" fmla="*/ 158 h 217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758" fill="none" extrusionOk="0">
                    <a:moveTo>
                      <a:pt x="21599" y="-1"/>
                    </a:moveTo>
                    <a:cubicBezTo>
                      <a:pt x="21599" y="52"/>
                      <a:pt x="21600" y="105"/>
                      <a:pt x="21600" y="158"/>
                    </a:cubicBezTo>
                    <a:cubicBezTo>
                      <a:pt x="21600" y="12087"/>
                      <a:pt x="11929" y="21757"/>
                      <a:pt x="0" y="21758"/>
                    </a:cubicBezTo>
                  </a:path>
                  <a:path w="21600" h="21758" stroke="0" extrusionOk="0">
                    <a:moveTo>
                      <a:pt x="21599" y="-1"/>
                    </a:moveTo>
                    <a:cubicBezTo>
                      <a:pt x="21599" y="52"/>
                      <a:pt x="21600" y="105"/>
                      <a:pt x="21600" y="158"/>
                    </a:cubicBezTo>
                    <a:cubicBezTo>
                      <a:pt x="21600" y="12087"/>
                      <a:pt x="11929" y="21757"/>
                      <a:pt x="0" y="21758"/>
                    </a:cubicBezTo>
                    <a:lnTo>
                      <a:pt x="0" y="158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00" name="Line 345"/>
              <p:cNvSpPr>
                <a:spLocks noChangeShapeType="1"/>
              </p:cNvSpPr>
              <p:nvPr/>
            </p:nvSpPr>
            <p:spPr bwMode="auto">
              <a:xfrm flipH="1">
                <a:off x="1539" y="2003"/>
                <a:ext cx="111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001" name="Line 346"/>
              <p:cNvSpPr>
                <a:spLocks noChangeShapeType="1"/>
              </p:cNvSpPr>
              <p:nvPr/>
            </p:nvSpPr>
            <p:spPr bwMode="auto">
              <a:xfrm flipH="1">
                <a:off x="1539" y="1730"/>
                <a:ext cx="111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83" name="Group 347"/>
            <p:cNvGrpSpPr>
              <a:grpSpLocks/>
            </p:cNvGrpSpPr>
            <p:nvPr/>
          </p:nvGrpSpPr>
          <p:grpSpPr bwMode="auto">
            <a:xfrm>
              <a:off x="1840" y="1883"/>
              <a:ext cx="328" cy="288"/>
              <a:chOff x="1840" y="1883"/>
              <a:chExt cx="328" cy="288"/>
            </a:xfrm>
          </p:grpSpPr>
          <p:sp>
            <p:nvSpPr>
              <p:cNvPr id="993" name="Arc 348"/>
              <p:cNvSpPr>
                <a:spLocks/>
              </p:cNvSpPr>
              <p:nvPr/>
            </p:nvSpPr>
            <p:spPr bwMode="auto">
              <a:xfrm>
                <a:off x="1842" y="1883"/>
                <a:ext cx="326" cy="164"/>
              </a:xfrm>
              <a:custGeom>
                <a:avLst/>
                <a:gdLst>
                  <a:gd name="G0" fmla="+- 67 0 0"/>
                  <a:gd name="G1" fmla="+- 21600 0 0"/>
                  <a:gd name="G2" fmla="+- 21600 0 0"/>
                  <a:gd name="T0" fmla="*/ 0 w 21667"/>
                  <a:gd name="T1" fmla="*/ 0 h 21600"/>
                  <a:gd name="T2" fmla="*/ 21667 w 21667"/>
                  <a:gd name="T3" fmla="*/ 21600 h 21600"/>
                  <a:gd name="T4" fmla="*/ 67 w 2166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67" h="21600" fill="none" extrusionOk="0">
                    <a:moveTo>
                      <a:pt x="0" y="0"/>
                    </a:moveTo>
                    <a:cubicBezTo>
                      <a:pt x="22" y="0"/>
                      <a:pt x="44" y="-1"/>
                      <a:pt x="67" y="0"/>
                    </a:cubicBezTo>
                    <a:cubicBezTo>
                      <a:pt x="11996" y="0"/>
                      <a:pt x="21667" y="9670"/>
                      <a:pt x="21667" y="21600"/>
                    </a:cubicBezTo>
                  </a:path>
                  <a:path w="21667" h="21600" stroke="0" extrusionOk="0">
                    <a:moveTo>
                      <a:pt x="0" y="0"/>
                    </a:moveTo>
                    <a:cubicBezTo>
                      <a:pt x="22" y="0"/>
                      <a:pt x="44" y="-1"/>
                      <a:pt x="67" y="0"/>
                    </a:cubicBezTo>
                    <a:cubicBezTo>
                      <a:pt x="11996" y="0"/>
                      <a:pt x="21667" y="9670"/>
                      <a:pt x="21667" y="21600"/>
                    </a:cubicBezTo>
                    <a:lnTo>
                      <a:pt x="67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94" name="Arc 349"/>
              <p:cNvSpPr>
                <a:spLocks/>
              </p:cNvSpPr>
              <p:nvPr/>
            </p:nvSpPr>
            <p:spPr bwMode="auto">
              <a:xfrm>
                <a:off x="1840" y="2005"/>
                <a:ext cx="325" cy="166"/>
              </a:xfrm>
              <a:custGeom>
                <a:avLst/>
                <a:gdLst>
                  <a:gd name="G0" fmla="+- 67 0 0"/>
                  <a:gd name="G1" fmla="+- 132 0 0"/>
                  <a:gd name="G2" fmla="+- 21600 0 0"/>
                  <a:gd name="T0" fmla="*/ 21667 w 21667"/>
                  <a:gd name="T1" fmla="*/ 0 h 21732"/>
                  <a:gd name="T2" fmla="*/ 0 w 21667"/>
                  <a:gd name="T3" fmla="*/ 21732 h 21732"/>
                  <a:gd name="T4" fmla="*/ 67 w 21667"/>
                  <a:gd name="T5" fmla="*/ 132 h 217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67" h="21732" fill="none" extrusionOk="0">
                    <a:moveTo>
                      <a:pt x="21666" y="0"/>
                    </a:moveTo>
                    <a:cubicBezTo>
                      <a:pt x="21666" y="44"/>
                      <a:pt x="21667" y="88"/>
                      <a:pt x="21667" y="132"/>
                    </a:cubicBezTo>
                    <a:cubicBezTo>
                      <a:pt x="21667" y="12061"/>
                      <a:pt x="11996" y="21732"/>
                      <a:pt x="67" y="21732"/>
                    </a:cubicBezTo>
                    <a:cubicBezTo>
                      <a:pt x="44" y="21732"/>
                      <a:pt x="22" y="21731"/>
                      <a:pt x="0" y="21731"/>
                    </a:cubicBezTo>
                  </a:path>
                  <a:path w="21667" h="21732" stroke="0" extrusionOk="0">
                    <a:moveTo>
                      <a:pt x="21666" y="0"/>
                    </a:moveTo>
                    <a:cubicBezTo>
                      <a:pt x="21666" y="44"/>
                      <a:pt x="21667" y="88"/>
                      <a:pt x="21667" y="132"/>
                    </a:cubicBezTo>
                    <a:cubicBezTo>
                      <a:pt x="21667" y="12061"/>
                      <a:pt x="11996" y="21732"/>
                      <a:pt x="67" y="21732"/>
                    </a:cubicBezTo>
                    <a:cubicBezTo>
                      <a:pt x="44" y="21732"/>
                      <a:pt x="22" y="21731"/>
                      <a:pt x="0" y="21731"/>
                    </a:cubicBezTo>
                    <a:lnTo>
                      <a:pt x="67" y="132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95" name="Arc 350"/>
              <p:cNvSpPr>
                <a:spLocks/>
              </p:cNvSpPr>
              <p:nvPr/>
            </p:nvSpPr>
            <p:spPr bwMode="auto">
              <a:xfrm>
                <a:off x="1841" y="1883"/>
                <a:ext cx="41" cy="164"/>
              </a:xfrm>
              <a:custGeom>
                <a:avLst/>
                <a:gdLst>
                  <a:gd name="G0" fmla="+- 547 0 0"/>
                  <a:gd name="G1" fmla="+- 21600 0 0"/>
                  <a:gd name="G2" fmla="+- 21600 0 0"/>
                  <a:gd name="T0" fmla="*/ 0 w 22147"/>
                  <a:gd name="T1" fmla="*/ 7 h 21600"/>
                  <a:gd name="T2" fmla="*/ 22147 w 22147"/>
                  <a:gd name="T3" fmla="*/ 21600 h 21600"/>
                  <a:gd name="T4" fmla="*/ 547 w 2214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147" h="21600" fill="none" extrusionOk="0">
                    <a:moveTo>
                      <a:pt x="-1" y="6"/>
                    </a:moveTo>
                    <a:cubicBezTo>
                      <a:pt x="182" y="2"/>
                      <a:pt x="364" y="-1"/>
                      <a:pt x="547" y="0"/>
                    </a:cubicBezTo>
                    <a:cubicBezTo>
                      <a:pt x="12476" y="0"/>
                      <a:pt x="22147" y="9670"/>
                      <a:pt x="22147" y="21600"/>
                    </a:cubicBezTo>
                  </a:path>
                  <a:path w="22147" h="21600" stroke="0" extrusionOk="0">
                    <a:moveTo>
                      <a:pt x="-1" y="6"/>
                    </a:moveTo>
                    <a:cubicBezTo>
                      <a:pt x="182" y="2"/>
                      <a:pt x="364" y="-1"/>
                      <a:pt x="547" y="0"/>
                    </a:cubicBezTo>
                    <a:cubicBezTo>
                      <a:pt x="12476" y="0"/>
                      <a:pt x="22147" y="9670"/>
                      <a:pt x="22147" y="21600"/>
                    </a:cubicBezTo>
                    <a:lnTo>
                      <a:pt x="547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96" name="Arc 351"/>
              <p:cNvSpPr>
                <a:spLocks/>
              </p:cNvSpPr>
              <p:nvPr/>
            </p:nvSpPr>
            <p:spPr bwMode="auto">
              <a:xfrm>
                <a:off x="1841" y="2005"/>
                <a:ext cx="42" cy="166"/>
              </a:xfrm>
              <a:custGeom>
                <a:avLst/>
                <a:gdLst>
                  <a:gd name="G0" fmla="+- 535 0 0"/>
                  <a:gd name="G1" fmla="+- 133 0 0"/>
                  <a:gd name="G2" fmla="+- 21600 0 0"/>
                  <a:gd name="T0" fmla="*/ 22135 w 22135"/>
                  <a:gd name="T1" fmla="*/ 0 h 21733"/>
                  <a:gd name="T2" fmla="*/ 0 w 22135"/>
                  <a:gd name="T3" fmla="*/ 21726 h 21733"/>
                  <a:gd name="T4" fmla="*/ 535 w 22135"/>
                  <a:gd name="T5" fmla="*/ 133 h 21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135" h="21733" fill="none" extrusionOk="0">
                    <a:moveTo>
                      <a:pt x="22134" y="0"/>
                    </a:moveTo>
                    <a:cubicBezTo>
                      <a:pt x="22134" y="44"/>
                      <a:pt x="22135" y="88"/>
                      <a:pt x="22135" y="133"/>
                    </a:cubicBezTo>
                    <a:cubicBezTo>
                      <a:pt x="22135" y="12062"/>
                      <a:pt x="12464" y="21733"/>
                      <a:pt x="535" y="21733"/>
                    </a:cubicBezTo>
                    <a:cubicBezTo>
                      <a:pt x="356" y="21733"/>
                      <a:pt x="178" y="21730"/>
                      <a:pt x="-1" y="21726"/>
                    </a:cubicBezTo>
                  </a:path>
                  <a:path w="22135" h="21733" stroke="0" extrusionOk="0">
                    <a:moveTo>
                      <a:pt x="22134" y="0"/>
                    </a:moveTo>
                    <a:cubicBezTo>
                      <a:pt x="22134" y="44"/>
                      <a:pt x="22135" y="88"/>
                      <a:pt x="22135" y="133"/>
                    </a:cubicBezTo>
                    <a:cubicBezTo>
                      <a:pt x="22135" y="12062"/>
                      <a:pt x="12464" y="21733"/>
                      <a:pt x="535" y="21733"/>
                    </a:cubicBezTo>
                    <a:cubicBezTo>
                      <a:pt x="356" y="21733"/>
                      <a:pt x="178" y="21730"/>
                      <a:pt x="-1" y="21726"/>
                    </a:cubicBezTo>
                    <a:lnTo>
                      <a:pt x="535" y="133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984" name="Group 352"/>
            <p:cNvGrpSpPr>
              <a:grpSpLocks/>
            </p:cNvGrpSpPr>
            <p:nvPr/>
          </p:nvGrpSpPr>
          <p:grpSpPr bwMode="auto">
            <a:xfrm>
              <a:off x="1538" y="2017"/>
              <a:ext cx="297" cy="274"/>
              <a:chOff x="1538" y="2017"/>
              <a:chExt cx="297" cy="274"/>
            </a:xfrm>
          </p:grpSpPr>
          <p:sp>
            <p:nvSpPr>
              <p:cNvPr id="988" name="Line 353"/>
              <p:cNvSpPr>
                <a:spLocks noChangeShapeType="1"/>
              </p:cNvSpPr>
              <p:nvPr/>
            </p:nvSpPr>
            <p:spPr bwMode="auto">
              <a:xfrm>
                <a:off x="1538" y="2017"/>
                <a:ext cx="0" cy="273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89" name="Arc 354"/>
              <p:cNvSpPr>
                <a:spLocks/>
              </p:cNvSpPr>
              <p:nvPr/>
            </p:nvSpPr>
            <p:spPr bwMode="auto">
              <a:xfrm>
                <a:off x="1649" y="2018"/>
                <a:ext cx="186" cy="13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599"/>
                  <a:gd name="T1" fmla="*/ 0 h 21600"/>
                  <a:gd name="T2" fmla="*/ 21599 w 21599"/>
                  <a:gd name="T3" fmla="*/ 21442 h 21600"/>
                  <a:gd name="T4" fmla="*/ 0 w 2159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0" y="0"/>
                    </a:moveTo>
                    <a:cubicBezTo>
                      <a:pt x="11867" y="0"/>
                      <a:pt x="21512" y="9574"/>
                      <a:pt x="21599" y="21441"/>
                    </a:cubicBezTo>
                  </a:path>
                  <a:path w="21599" h="21600" stroke="0" extrusionOk="0">
                    <a:moveTo>
                      <a:pt x="0" y="0"/>
                    </a:moveTo>
                    <a:cubicBezTo>
                      <a:pt x="11867" y="0"/>
                      <a:pt x="21512" y="9574"/>
                      <a:pt x="21599" y="2144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90" name="Arc 355"/>
              <p:cNvSpPr>
                <a:spLocks/>
              </p:cNvSpPr>
              <p:nvPr/>
            </p:nvSpPr>
            <p:spPr bwMode="auto">
              <a:xfrm>
                <a:off x="1647" y="2153"/>
                <a:ext cx="187" cy="138"/>
              </a:xfrm>
              <a:custGeom>
                <a:avLst/>
                <a:gdLst>
                  <a:gd name="G0" fmla="+- 117 0 0"/>
                  <a:gd name="G1" fmla="+- 159 0 0"/>
                  <a:gd name="G2" fmla="+- 21600 0 0"/>
                  <a:gd name="T0" fmla="*/ 21716 w 21717"/>
                  <a:gd name="T1" fmla="*/ 0 h 21759"/>
                  <a:gd name="T2" fmla="*/ 0 w 21717"/>
                  <a:gd name="T3" fmla="*/ 21759 h 21759"/>
                  <a:gd name="T4" fmla="*/ 117 w 21717"/>
                  <a:gd name="T5" fmla="*/ 159 h 217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717" h="21759" fill="none" extrusionOk="0">
                    <a:moveTo>
                      <a:pt x="21716" y="-1"/>
                    </a:moveTo>
                    <a:cubicBezTo>
                      <a:pt x="21716" y="52"/>
                      <a:pt x="21717" y="105"/>
                      <a:pt x="21717" y="159"/>
                    </a:cubicBezTo>
                    <a:cubicBezTo>
                      <a:pt x="21717" y="12088"/>
                      <a:pt x="12046" y="21759"/>
                      <a:pt x="117" y="21759"/>
                    </a:cubicBezTo>
                    <a:cubicBezTo>
                      <a:pt x="78" y="21759"/>
                      <a:pt x="39" y="21758"/>
                      <a:pt x="0" y="21758"/>
                    </a:cubicBezTo>
                  </a:path>
                  <a:path w="21717" h="21759" stroke="0" extrusionOk="0">
                    <a:moveTo>
                      <a:pt x="21716" y="-1"/>
                    </a:moveTo>
                    <a:cubicBezTo>
                      <a:pt x="21716" y="52"/>
                      <a:pt x="21717" y="105"/>
                      <a:pt x="21717" y="159"/>
                    </a:cubicBezTo>
                    <a:cubicBezTo>
                      <a:pt x="21717" y="12088"/>
                      <a:pt x="12046" y="21759"/>
                      <a:pt x="117" y="21759"/>
                    </a:cubicBezTo>
                    <a:cubicBezTo>
                      <a:pt x="78" y="21759"/>
                      <a:pt x="39" y="21758"/>
                      <a:pt x="0" y="21758"/>
                    </a:cubicBezTo>
                    <a:lnTo>
                      <a:pt x="117" y="159"/>
                    </a:lnTo>
                    <a:close/>
                  </a:path>
                </a:pathLst>
              </a:custGeom>
              <a:noFill/>
              <a:ln w="12700" cap="rnd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91" name="Line 356"/>
              <p:cNvSpPr>
                <a:spLocks noChangeShapeType="1"/>
              </p:cNvSpPr>
              <p:nvPr/>
            </p:nvSpPr>
            <p:spPr bwMode="auto">
              <a:xfrm flipH="1">
                <a:off x="1538" y="2290"/>
                <a:ext cx="111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992" name="Line 357"/>
              <p:cNvSpPr>
                <a:spLocks noChangeShapeType="1"/>
              </p:cNvSpPr>
              <p:nvPr/>
            </p:nvSpPr>
            <p:spPr bwMode="auto">
              <a:xfrm flipH="1">
                <a:off x="1538" y="2017"/>
                <a:ext cx="111" cy="0"/>
              </a:xfrm>
              <a:prstGeom prst="line">
                <a:avLst/>
              </a:prstGeom>
              <a:noFill/>
              <a:ln w="12700">
                <a:solidFill>
                  <a:srgbClr val="0033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985" name="Line 358"/>
            <p:cNvSpPr>
              <a:spLocks noChangeShapeType="1"/>
            </p:cNvSpPr>
            <p:nvPr/>
          </p:nvSpPr>
          <p:spPr bwMode="auto">
            <a:xfrm flipV="1">
              <a:off x="2167" y="2026"/>
              <a:ext cx="45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986" name="Rectangle 359"/>
            <p:cNvSpPr>
              <a:spLocks noChangeArrowheads="1"/>
            </p:cNvSpPr>
            <p:nvPr/>
          </p:nvSpPr>
          <p:spPr bwMode="auto">
            <a:xfrm>
              <a:off x="366" y="2608"/>
              <a:ext cx="2069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ea typeface="+mn-ea"/>
                </a:rPr>
                <a:t>A PAL has limits on the arrangement of its sum-of-products groupings.</a:t>
              </a:r>
            </a:p>
          </p:txBody>
        </p:sp>
        <p:sp>
          <p:nvSpPr>
            <p:cNvPr id="987" name="Rectangle 360"/>
            <p:cNvSpPr>
              <a:spLocks noChangeArrowheads="1"/>
            </p:cNvSpPr>
            <p:nvPr/>
          </p:nvSpPr>
          <p:spPr bwMode="auto">
            <a:xfrm>
              <a:off x="476" y="621"/>
              <a:ext cx="2077" cy="233"/>
            </a:xfrm>
            <a:prstGeom prst="rect">
              <a:avLst/>
            </a:prstGeom>
            <a:solidFill>
              <a:srgbClr val="F8EEBE"/>
            </a:solidFill>
            <a:ln w="19050">
              <a:solidFill>
                <a:srgbClr val="00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ea typeface="+mn-ea"/>
                </a:rPr>
                <a:t>Programmable Array Logic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268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SPLD - PLA</a:t>
            </a:r>
            <a:endParaRPr lang="en-US" dirty="0"/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/>
        </p:nvSpPr>
        <p:spPr bwMode="auto">
          <a:xfrm>
            <a:off x="4495800" y="1485900"/>
            <a:ext cx="45720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2317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</a:defRPr>
            </a:lvl2pPr>
            <a:lvl3pPr marL="860425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461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13731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18303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2875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27447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201988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dirty="0"/>
              <a:t>SPLDs are good alternative to using SSI and MSI devices</a:t>
            </a:r>
          </a:p>
          <a:p>
            <a:pPr lvl="1"/>
            <a:r>
              <a:rPr lang="en-US" altLang="en-US" dirty="0"/>
              <a:t>Especially if re-programmable</a:t>
            </a:r>
          </a:p>
          <a:p>
            <a:endParaRPr lang="en-US" altLang="en-US" dirty="0"/>
          </a:p>
        </p:txBody>
      </p:sp>
      <p:grpSp>
        <p:nvGrpSpPr>
          <p:cNvPr id="27" name="Group 9"/>
          <p:cNvGrpSpPr>
            <a:grpSpLocks/>
          </p:cNvGrpSpPr>
          <p:nvPr/>
        </p:nvGrpSpPr>
        <p:grpSpPr bwMode="auto">
          <a:xfrm>
            <a:off x="500063" y="1600200"/>
            <a:ext cx="4148137" cy="4521200"/>
            <a:chOff x="246" y="633"/>
            <a:chExt cx="2613" cy="2848"/>
          </a:xfrm>
        </p:grpSpPr>
        <p:sp>
          <p:nvSpPr>
            <p:cNvPr id="28" name="Line 10"/>
            <p:cNvSpPr>
              <a:spLocks noChangeShapeType="1"/>
            </p:cNvSpPr>
            <p:nvPr/>
          </p:nvSpPr>
          <p:spPr bwMode="auto">
            <a:xfrm flipH="1">
              <a:off x="1072" y="924"/>
              <a:ext cx="106" cy="147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1"/>
            <p:cNvSpPr>
              <a:spLocks noChangeShapeType="1"/>
            </p:cNvSpPr>
            <p:nvPr/>
          </p:nvSpPr>
          <p:spPr bwMode="auto">
            <a:xfrm>
              <a:off x="978" y="924"/>
              <a:ext cx="93" cy="14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2"/>
            <p:cNvSpPr>
              <a:spLocks noChangeShapeType="1"/>
            </p:cNvSpPr>
            <p:nvPr/>
          </p:nvSpPr>
          <p:spPr bwMode="auto">
            <a:xfrm flipH="1">
              <a:off x="978" y="924"/>
              <a:ext cx="20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Oval 13"/>
            <p:cNvSpPr>
              <a:spLocks noChangeArrowheads="1"/>
            </p:cNvSpPr>
            <p:nvPr/>
          </p:nvSpPr>
          <p:spPr bwMode="auto">
            <a:xfrm>
              <a:off x="1109" y="1008"/>
              <a:ext cx="40" cy="40"/>
            </a:xfrm>
            <a:prstGeom prst="ellips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1072" y="816"/>
              <a:ext cx="0" cy="10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15"/>
            <p:cNvSpPr>
              <a:spLocks noChangeShapeType="1"/>
            </p:cNvSpPr>
            <p:nvPr/>
          </p:nvSpPr>
          <p:spPr bwMode="auto">
            <a:xfrm>
              <a:off x="246" y="1152"/>
              <a:ext cx="106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>
              <a:off x="246" y="1435"/>
              <a:ext cx="106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17"/>
            <p:cNvSpPr>
              <a:spLocks noChangeShapeType="1"/>
            </p:cNvSpPr>
            <p:nvPr/>
          </p:nvSpPr>
          <p:spPr bwMode="auto">
            <a:xfrm>
              <a:off x="246" y="1731"/>
              <a:ext cx="106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8"/>
            <p:cNvSpPr>
              <a:spLocks noChangeShapeType="1"/>
            </p:cNvSpPr>
            <p:nvPr/>
          </p:nvSpPr>
          <p:spPr bwMode="auto">
            <a:xfrm>
              <a:off x="246" y="2013"/>
              <a:ext cx="106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9"/>
            <p:cNvSpPr>
              <a:spLocks noChangeShapeType="1"/>
            </p:cNvSpPr>
            <p:nvPr/>
          </p:nvSpPr>
          <p:spPr bwMode="auto">
            <a:xfrm flipH="1">
              <a:off x="859" y="924"/>
              <a:ext cx="93" cy="14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20"/>
            <p:cNvSpPr>
              <a:spLocks noChangeShapeType="1"/>
            </p:cNvSpPr>
            <p:nvPr/>
          </p:nvSpPr>
          <p:spPr bwMode="auto">
            <a:xfrm>
              <a:off x="752" y="924"/>
              <a:ext cx="106" cy="147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21"/>
            <p:cNvSpPr>
              <a:spLocks noChangeShapeType="1"/>
            </p:cNvSpPr>
            <p:nvPr/>
          </p:nvSpPr>
          <p:spPr bwMode="auto">
            <a:xfrm flipH="1">
              <a:off x="752" y="924"/>
              <a:ext cx="20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22"/>
            <p:cNvSpPr>
              <a:spLocks noChangeArrowheads="1"/>
            </p:cNvSpPr>
            <p:nvPr/>
          </p:nvSpPr>
          <p:spPr bwMode="auto">
            <a:xfrm>
              <a:off x="896" y="1008"/>
              <a:ext cx="26" cy="40"/>
            </a:xfrm>
            <a:prstGeom prst="ellips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23"/>
            <p:cNvSpPr>
              <a:spLocks noChangeShapeType="1"/>
            </p:cNvSpPr>
            <p:nvPr/>
          </p:nvSpPr>
          <p:spPr bwMode="auto">
            <a:xfrm>
              <a:off x="858" y="816"/>
              <a:ext cx="0" cy="10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24"/>
            <p:cNvSpPr>
              <a:spLocks noChangeShapeType="1"/>
            </p:cNvSpPr>
            <p:nvPr/>
          </p:nvSpPr>
          <p:spPr bwMode="auto">
            <a:xfrm flipH="1">
              <a:off x="632" y="924"/>
              <a:ext cx="93" cy="14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25"/>
            <p:cNvSpPr>
              <a:spLocks noChangeShapeType="1"/>
            </p:cNvSpPr>
            <p:nvPr/>
          </p:nvSpPr>
          <p:spPr bwMode="auto">
            <a:xfrm>
              <a:off x="539" y="925"/>
              <a:ext cx="93" cy="147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26"/>
            <p:cNvSpPr>
              <a:spLocks noChangeShapeType="1"/>
            </p:cNvSpPr>
            <p:nvPr/>
          </p:nvSpPr>
          <p:spPr bwMode="auto">
            <a:xfrm flipH="1">
              <a:off x="539" y="924"/>
              <a:ext cx="186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Oval 27"/>
            <p:cNvSpPr>
              <a:spLocks noChangeArrowheads="1"/>
            </p:cNvSpPr>
            <p:nvPr/>
          </p:nvSpPr>
          <p:spPr bwMode="auto">
            <a:xfrm>
              <a:off x="663" y="1008"/>
              <a:ext cx="39" cy="40"/>
            </a:xfrm>
            <a:prstGeom prst="ellips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28"/>
            <p:cNvSpPr>
              <a:spLocks noChangeShapeType="1"/>
            </p:cNvSpPr>
            <p:nvPr/>
          </p:nvSpPr>
          <p:spPr bwMode="auto">
            <a:xfrm>
              <a:off x="632" y="816"/>
              <a:ext cx="0" cy="10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29"/>
            <p:cNvSpPr>
              <a:spLocks noChangeShapeType="1"/>
            </p:cNvSpPr>
            <p:nvPr/>
          </p:nvSpPr>
          <p:spPr bwMode="auto">
            <a:xfrm flipH="1">
              <a:off x="406" y="924"/>
              <a:ext cx="93" cy="147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30"/>
            <p:cNvSpPr>
              <a:spLocks noChangeShapeType="1"/>
            </p:cNvSpPr>
            <p:nvPr/>
          </p:nvSpPr>
          <p:spPr bwMode="auto">
            <a:xfrm>
              <a:off x="312" y="924"/>
              <a:ext cx="93" cy="14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31"/>
            <p:cNvSpPr>
              <a:spLocks noChangeShapeType="1"/>
            </p:cNvSpPr>
            <p:nvPr/>
          </p:nvSpPr>
          <p:spPr bwMode="auto">
            <a:xfrm flipH="1">
              <a:off x="312" y="924"/>
              <a:ext cx="1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Oval 32"/>
            <p:cNvSpPr>
              <a:spLocks noChangeArrowheads="1"/>
            </p:cNvSpPr>
            <p:nvPr/>
          </p:nvSpPr>
          <p:spPr bwMode="auto">
            <a:xfrm>
              <a:off x="436" y="1008"/>
              <a:ext cx="39" cy="40"/>
            </a:xfrm>
            <a:prstGeom prst="ellips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33"/>
            <p:cNvSpPr>
              <a:spLocks noChangeShapeType="1"/>
            </p:cNvSpPr>
            <p:nvPr/>
          </p:nvSpPr>
          <p:spPr bwMode="auto">
            <a:xfrm>
              <a:off x="406" y="816"/>
              <a:ext cx="0" cy="10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34"/>
            <p:cNvSpPr>
              <a:spLocks noChangeShapeType="1"/>
            </p:cNvSpPr>
            <p:nvPr/>
          </p:nvSpPr>
          <p:spPr bwMode="auto">
            <a:xfrm>
              <a:off x="1125" y="1045"/>
              <a:ext cx="0" cy="1687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35"/>
            <p:cNvSpPr>
              <a:spLocks noChangeShapeType="1"/>
            </p:cNvSpPr>
            <p:nvPr/>
          </p:nvSpPr>
          <p:spPr bwMode="auto">
            <a:xfrm>
              <a:off x="1032" y="1004"/>
              <a:ext cx="0" cy="172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36"/>
            <p:cNvSpPr>
              <a:spLocks noChangeShapeType="1"/>
            </p:cNvSpPr>
            <p:nvPr/>
          </p:nvSpPr>
          <p:spPr bwMode="auto">
            <a:xfrm>
              <a:off x="898" y="1059"/>
              <a:ext cx="0" cy="167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37"/>
            <p:cNvSpPr>
              <a:spLocks noChangeShapeType="1"/>
            </p:cNvSpPr>
            <p:nvPr/>
          </p:nvSpPr>
          <p:spPr bwMode="auto">
            <a:xfrm>
              <a:off x="805" y="1004"/>
              <a:ext cx="0" cy="172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38"/>
            <p:cNvSpPr>
              <a:spLocks noChangeShapeType="1"/>
            </p:cNvSpPr>
            <p:nvPr/>
          </p:nvSpPr>
          <p:spPr bwMode="auto">
            <a:xfrm>
              <a:off x="672" y="1059"/>
              <a:ext cx="0" cy="167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39"/>
            <p:cNvSpPr>
              <a:spLocks noChangeShapeType="1"/>
            </p:cNvSpPr>
            <p:nvPr/>
          </p:nvSpPr>
          <p:spPr bwMode="auto">
            <a:xfrm>
              <a:off x="579" y="1004"/>
              <a:ext cx="0" cy="172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40"/>
            <p:cNvSpPr>
              <a:spLocks noChangeShapeType="1"/>
            </p:cNvSpPr>
            <p:nvPr/>
          </p:nvSpPr>
          <p:spPr bwMode="auto">
            <a:xfrm>
              <a:off x="459" y="1045"/>
              <a:ext cx="0" cy="1687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41"/>
            <p:cNvSpPr>
              <a:spLocks noChangeShapeType="1"/>
            </p:cNvSpPr>
            <p:nvPr/>
          </p:nvSpPr>
          <p:spPr bwMode="auto">
            <a:xfrm>
              <a:off x="352" y="1004"/>
              <a:ext cx="0" cy="170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42"/>
            <p:cNvSpPr>
              <a:spLocks noChangeShapeType="1"/>
            </p:cNvSpPr>
            <p:nvPr/>
          </p:nvSpPr>
          <p:spPr bwMode="auto">
            <a:xfrm>
              <a:off x="1858" y="3131"/>
              <a:ext cx="0" cy="94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" name="Group 43"/>
            <p:cNvGrpSpPr>
              <a:grpSpLocks/>
            </p:cNvGrpSpPr>
            <p:nvPr/>
          </p:nvGrpSpPr>
          <p:grpSpPr bwMode="auto">
            <a:xfrm>
              <a:off x="1857" y="1004"/>
              <a:ext cx="282" cy="1855"/>
              <a:chOff x="1857" y="1004"/>
              <a:chExt cx="282" cy="1855"/>
            </a:xfrm>
          </p:grpSpPr>
          <p:sp>
            <p:nvSpPr>
              <p:cNvPr id="131" name="Line 44"/>
              <p:cNvSpPr>
                <a:spLocks noChangeShapeType="1"/>
              </p:cNvSpPr>
              <p:nvPr/>
            </p:nvSpPr>
            <p:spPr bwMode="auto">
              <a:xfrm flipH="1">
                <a:off x="1857" y="1004"/>
                <a:ext cx="1" cy="1845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Line 45"/>
              <p:cNvSpPr>
                <a:spLocks noChangeShapeType="1"/>
              </p:cNvSpPr>
              <p:nvPr/>
            </p:nvSpPr>
            <p:spPr bwMode="auto">
              <a:xfrm>
                <a:off x="2137" y="1004"/>
                <a:ext cx="2" cy="1855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" name="Line 46"/>
            <p:cNvSpPr>
              <a:spLocks noChangeShapeType="1"/>
            </p:cNvSpPr>
            <p:nvPr/>
          </p:nvSpPr>
          <p:spPr bwMode="auto">
            <a:xfrm>
              <a:off x="2137" y="3131"/>
              <a:ext cx="0" cy="94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3" name="Group 47"/>
            <p:cNvGrpSpPr>
              <a:grpSpLocks/>
            </p:cNvGrpSpPr>
            <p:nvPr/>
          </p:nvGrpSpPr>
          <p:grpSpPr bwMode="auto">
            <a:xfrm>
              <a:off x="1328" y="1008"/>
              <a:ext cx="340" cy="276"/>
              <a:chOff x="1328" y="1008"/>
              <a:chExt cx="340" cy="276"/>
            </a:xfrm>
          </p:grpSpPr>
          <p:sp>
            <p:nvSpPr>
              <p:cNvPr id="127" name="Line 48"/>
              <p:cNvSpPr>
                <a:spLocks noChangeShapeType="1"/>
              </p:cNvSpPr>
              <p:nvPr/>
            </p:nvSpPr>
            <p:spPr bwMode="auto">
              <a:xfrm>
                <a:off x="1328" y="1011"/>
                <a:ext cx="0" cy="26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Line 49"/>
              <p:cNvSpPr>
                <a:spLocks noChangeShapeType="1"/>
              </p:cNvSpPr>
              <p:nvPr/>
            </p:nvSpPr>
            <p:spPr bwMode="auto">
              <a:xfrm flipH="1">
                <a:off x="1328" y="1284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Line 50"/>
              <p:cNvSpPr>
                <a:spLocks noChangeShapeType="1"/>
              </p:cNvSpPr>
              <p:nvPr/>
            </p:nvSpPr>
            <p:spPr bwMode="auto">
              <a:xfrm flipH="1">
                <a:off x="1328" y="1011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Arc 51"/>
              <p:cNvSpPr>
                <a:spLocks/>
              </p:cNvSpPr>
              <p:nvPr/>
            </p:nvSpPr>
            <p:spPr bwMode="auto">
              <a:xfrm>
                <a:off x="1447" y="1008"/>
                <a:ext cx="221" cy="275"/>
              </a:xfrm>
              <a:custGeom>
                <a:avLst/>
                <a:gdLst>
                  <a:gd name="G0" fmla="+- 99 0 0"/>
                  <a:gd name="G1" fmla="+- 21600 0 0"/>
                  <a:gd name="G2" fmla="+- 21600 0 0"/>
                  <a:gd name="T0" fmla="*/ 1 w 21699"/>
                  <a:gd name="T1" fmla="*/ 0 h 43200"/>
                  <a:gd name="T2" fmla="*/ 0 w 21699"/>
                  <a:gd name="T3" fmla="*/ 43200 h 43200"/>
                  <a:gd name="T4" fmla="*/ 99 w 2169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9" h="43200" fill="none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</a:path>
                  <a:path w="21699" h="43200" stroke="0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  <a:lnTo>
                      <a:pt x="99" y="2160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4" name="Group 52"/>
            <p:cNvGrpSpPr>
              <a:grpSpLocks/>
            </p:cNvGrpSpPr>
            <p:nvPr/>
          </p:nvGrpSpPr>
          <p:grpSpPr bwMode="auto">
            <a:xfrm>
              <a:off x="1328" y="1297"/>
              <a:ext cx="340" cy="276"/>
              <a:chOff x="1328" y="1297"/>
              <a:chExt cx="340" cy="276"/>
            </a:xfrm>
          </p:grpSpPr>
          <p:sp>
            <p:nvSpPr>
              <p:cNvPr id="123" name="Line 53"/>
              <p:cNvSpPr>
                <a:spLocks noChangeShapeType="1"/>
              </p:cNvSpPr>
              <p:nvPr/>
            </p:nvSpPr>
            <p:spPr bwMode="auto">
              <a:xfrm>
                <a:off x="1328" y="1300"/>
                <a:ext cx="0" cy="26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Line 54"/>
              <p:cNvSpPr>
                <a:spLocks noChangeShapeType="1"/>
              </p:cNvSpPr>
              <p:nvPr/>
            </p:nvSpPr>
            <p:spPr bwMode="auto">
              <a:xfrm flipH="1">
                <a:off x="1328" y="1573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Line 55"/>
              <p:cNvSpPr>
                <a:spLocks noChangeShapeType="1"/>
              </p:cNvSpPr>
              <p:nvPr/>
            </p:nvSpPr>
            <p:spPr bwMode="auto">
              <a:xfrm flipH="1">
                <a:off x="1328" y="1300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Arc 56"/>
              <p:cNvSpPr>
                <a:spLocks/>
              </p:cNvSpPr>
              <p:nvPr/>
            </p:nvSpPr>
            <p:spPr bwMode="auto">
              <a:xfrm>
                <a:off x="1447" y="1297"/>
                <a:ext cx="221" cy="275"/>
              </a:xfrm>
              <a:custGeom>
                <a:avLst/>
                <a:gdLst>
                  <a:gd name="G0" fmla="+- 99 0 0"/>
                  <a:gd name="G1" fmla="+- 21600 0 0"/>
                  <a:gd name="G2" fmla="+- 21600 0 0"/>
                  <a:gd name="T0" fmla="*/ 1 w 21699"/>
                  <a:gd name="T1" fmla="*/ 0 h 43200"/>
                  <a:gd name="T2" fmla="*/ 0 w 21699"/>
                  <a:gd name="T3" fmla="*/ 43200 h 43200"/>
                  <a:gd name="T4" fmla="*/ 99 w 2169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9" h="43200" fill="none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</a:path>
                  <a:path w="21699" h="43200" stroke="0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  <a:lnTo>
                      <a:pt x="99" y="2160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5" name="Group 57"/>
            <p:cNvGrpSpPr>
              <a:grpSpLocks/>
            </p:cNvGrpSpPr>
            <p:nvPr/>
          </p:nvGrpSpPr>
          <p:grpSpPr bwMode="auto">
            <a:xfrm>
              <a:off x="1328" y="1586"/>
              <a:ext cx="340" cy="276"/>
              <a:chOff x="1328" y="1586"/>
              <a:chExt cx="340" cy="276"/>
            </a:xfrm>
          </p:grpSpPr>
          <p:sp>
            <p:nvSpPr>
              <p:cNvPr id="119" name="Line 58"/>
              <p:cNvSpPr>
                <a:spLocks noChangeShapeType="1"/>
              </p:cNvSpPr>
              <p:nvPr/>
            </p:nvSpPr>
            <p:spPr bwMode="auto">
              <a:xfrm>
                <a:off x="1328" y="1589"/>
                <a:ext cx="0" cy="26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Line 59"/>
              <p:cNvSpPr>
                <a:spLocks noChangeShapeType="1"/>
              </p:cNvSpPr>
              <p:nvPr/>
            </p:nvSpPr>
            <p:spPr bwMode="auto">
              <a:xfrm flipH="1">
                <a:off x="1328" y="1862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Line 60"/>
              <p:cNvSpPr>
                <a:spLocks noChangeShapeType="1"/>
              </p:cNvSpPr>
              <p:nvPr/>
            </p:nvSpPr>
            <p:spPr bwMode="auto">
              <a:xfrm flipH="1">
                <a:off x="1328" y="1589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Arc 61"/>
              <p:cNvSpPr>
                <a:spLocks/>
              </p:cNvSpPr>
              <p:nvPr/>
            </p:nvSpPr>
            <p:spPr bwMode="auto">
              <a:xfrm>
                <a:off x="1447" y="1586"/>
                <a:ext cx="221" cy="275"/>
              </a:xfrm>
              <a:custGeom>
                <a:avLst/>
                <a:gdLst>
                  <a:gd name="G0" fmla="+- 99 0 0"/>
                  <a:gd name="G1" fmla="+- 21600 0 0"/>
                  <a:gd name="G2" fmla="+- 21600 0 0"/>
                  <a:gd name="T0" fmla="*/ 1 w 21699"/>
                  <a:gd name="T1" fmla="*/ 0 h 43200"/>
                  <a:gd name="T2" fmla="*/ 0 w 21699"/>
                  <a:gd name="T3" fmla="*/ 43200 h 43200"/>
                  <a:gd name="T4" fmla="*/ 99 w 2169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9" h="43200" fill="none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</a:path>
                  <a:path w="21699" h="43200" stroke="0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  <a:lnTo>
                      <a:pt x="99" y="2160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6" name="Group 62"/>
            <p:cNvGrpSpPr>
              <a:grpSpLocks/>
            </p:cNvGrpSpPr>
            <p:nvPr/>
          </p:nvGrpSpPr>
          <p:grpSpPr bwMode="auto">
            <a:xfrm>
              <a:off x="1328" y="1876"/>
              <a:ext cx="340" cy="276"/>
              <a:chOff x="1328" y="1876"/>
              <a:chExt cx="340" cy="276"/>
            </a:xfrm>
          </p:grpSpPr>
          <p:sp>
            <p:nvSpPr>
              <p:cNvPr id="115" name="Line 63"/>
              <p:cNvSpPr>
                <a:spLocks noChangeShapeType="1"/>
              </p:cNvSpPr>
              <p:nvPr/>
            </p:nvSpPr>
            <p:spPr bwMode="auto">
              <a:xfrm>
                <a:off x="1328" y="1879"/>
                <a:ext cx="0" cy="26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Line 64"/>
              <p:cNvSpPr>
                <a:spLocks noChangeShapeType="1"/>
              </p:cNvSpPr>
              <p:nvPr/>
            </p:nvSpPr>
            <p:spPr bwMode="auto">
              <a:xfrm flipH="1">
                <a:off x="1328" y="2152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65"/>
              <p:cNvSpPr>
                <a:spLocks noChangeShapeType="1"/>
              </p:cNvSpPr>
              <p:nvPr/>
            </p:nvSpPr>
            <p:spPr bwMode="auto">
              <a:xfrm flipH="1">
                <a:off x="1328" y="1879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Arc 66"/>
              <p:cNvSpPr>
                <a:spLocks/>
              </p:cNvSpPr>
              <p:nvPr/>
            </p:nvSpPr>
            <p:spPr bwMode="auto">
              <a:xfrm>
                <a:off x="1447" y="1876"/>
                <a:ext cx="221" cy="275"/>
              </a:xfrm>
              <a:custGeom>
                <a:avLst/>
                <a:gdLst>
                  <a:gd name="G0" fmla="+- 99 0 0"/>
                  <a:gd name="G1" fmla="+- 21600 0 0"/>
                  <a:gd name="G2" fmla="+- 21600 0 0"/>
                  <a:gd name="T0" fmla="*/ 1 w 21699"/>
                  <a:gd name="T1" fmla="*/ 0 h 43200"/>
                  <a:gd name="T2" fmla="*/ 0 w 21699"/>
                  <a:gd name="T3" fmla="*/ 43200 h 43200"/>
                  <a:gd name="T4" fmla="*/ 99 w 2169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9" h="43200" fill="none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</a:path>
                  <a:path w="21699" h="43200" stroke="0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  <a:lnTo>
                      <a:pt x="99" y="2160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7" name="Group 67"/>
            <p:cNvGrpSpPr>
              <a:grpSpLocks/>
            </p:cNvGrpSpPr>
            <p:nvPr/>
          </p:nvGrpSpPr>
          <p:grpSpPr bwMode="auto">
            <a:xfrm>
              <a:off x="2002" y="2805"/>
              <a:ext cx="273" cy="336"/>
              <a:chOff x="2002" y="2805"/>
              <a:chExt cx="273" cy="336"/>
            </a:xfrm>
          </p:grpSpPr>
          <p:sp>
            <p:nvSpPr>
              <p:cNvPr id="112" name="Arc 68"/>
              <p:cNvSpPr>
                <a:spLocks/>
              </p:cNvSpPr>
              <p:nvPr/>
            </p:nvSpPr>
            <p:spPr bwMode="auto">
              <a:xfrm>
                <a:off x="2127" y="2806"/>
                <a:ext cx="148" cy="335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439"/>
                  <a:gd name="T2" fmla="*/ 2631 w 21600"/>
                  <a:gd name="T3" fmla="*/ 21439 h 21439"/>
                  <a:gd name="T4" fmla="*/ 0 w 21600"/>
                  <a:gd name="T5" fmla="*/ 0 h 21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39" fill="none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</a:path>
                  <a:path w="21600" h="21439" stroke="0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Arc 69"/>
              <p:cNvSpPr>
                <a:spLocks/>
              </p:cNvSpPr>
              <p:nvPr/>
            </p:nvSpPr>
            <p:spPr bwMode="auto">
              <a:xfrm>
                <a:off x="2002" y="2805"/>
                <a:ext cx="148" cy="33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19265 w 21600"/>
                  <a:gd name="T1" fmla="*/ 21473 h 21473"/>
                  <a:gd name="T2" fmla="*/ 0 w 21600"/>
                  <a:gd name="T3" fmla="*/ 0 h 21473"/>
                  <a:gd name="T4" fmla="*/ 21600 w 21600"/>
                  <a:gd name="T5" fmla="*/ 0 h 21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73" fill="none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</a:path>
                  <a:path w="21600" h="21473" stroke="0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Arc 70"/>
              <p:cNvSpPr>
                <a:spLocks/>
              </p:cNvSpPr>
              <p:nvPr/>
            </p:nvSpPr>
            <p:spPr bwMode="auto">
              <a:xfrm>
                <a:off x="2010" y="2820"/>
                <a:ext cx="255" cy="37"/>
              </a:xfrm>
              <a:custGeom>
                <a:avLst/>
                <a:gdLst>
                  <a:gd name="G0" fmla="+- 21600 0 0"/>
                  <a:gd name="G1" fmla="+- 611 0 0"/>
                  <a:gd name="G2" fmla="+- 21600 0 0"/>
                  <a:gd name="T0" fmla="*/ 43191 w 43200"/>
                  <a:gd name="T1" fmla="*/ 0 h 22211"/>
                  <a:gd name="T2" fmla="*/ 8 w 43200"/>
                  <a:gd name="T3" fmla="*/ 5 h 22211"/>
                  <a:gd name="T4" fmla="*/ 21600 w 43200"/>
                  <a:gd name="T5" fmla="*/ 611 h 22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211" fill="none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</a:path>
                  <a:path w="43200" h="22211" stroke="0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  <a:lnTo>
                      <a:pt x="21600" y="611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8" name="Group 71"/>
            <p:cNvGrpSpPr>
              <a:grpSpLocks/>
            </p:cNvGrpSpPr>
            <p:nvPr/>
          </p:nvGrpSpPr>
          <p:grpSpPr bwMode="auto">
            <a:xfrm>
              <a:off x="1726" y="2805"/>
              <a:ext cx="273" cy="336"/>
              <a:chOff x="1726" y="2805"/>
              <a:chExt cx="273" cy="336"/>
            </a:xfrm>
          </p:grpSpPr>
          <p:sp>
            <p:nvSpPr>
              <p:cNvPr id="109" name="Arc 72"/>
              <p:cNvSpPr>
                <a:spLocks/>
              </p:cNvSpPr>
              <p:nvPr/>
            </p:nvSpPr>
            <p:spPr bwMode="auto">
              <a:xfrm>
                <a:off x="1851" y="2806"/>
                <a:ext cx="148" cy="335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439"/>
                  <a:gd name="T2" fmla="*/ 2631 w 21600"/>
                  <a:gd name="T3" fmla="*/ 21439 h 21439"/>
                  <a:gd name="T4" fmla="*/ 0 w 21600"/>
                  <a:gd name="T5" fmla="*/ 0 h 21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39" fill="none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</a:path>
                  <a:path w="21600" h="21439" stroke="0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Arc 73"/>
              <p:cNvSpPr>
                <a:spLocks/>
              </p:cNvSpPr>
              <p:nvPr/>
            </p:nvSpPr>
            <p:spPr bwMode="auto">
              <a:xfrm>
                <a:off x="1726" y="2805"/>
                <a:ext cx="148" cy="33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19265 w 21600"/>
                  <a:gd name="T1" fmla="*/ 21473 h 21473"/>
                  <a:gd name="T2" fmla="*/ 0 w 21600"/>
                  <a:gd name="T3" fmla="*/ 0 h 21473"/>
                  <a:gd name="T4" fmla="*/ 21600 w 21600"/>
                  <a:gd name="T5" fmla="*/ 0 h 21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73" fill="none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</a:path>
                  <a:path w="21600" h="21473" stroke="0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Arc 74"/>
              <p:cNvSpPr>
                <a:spLocks/>
              </p:cNvSpPr>
              <p:nvPr/>
            </p:nvSpPr>
            <p:spPr bwMode="auto">
              <a:xfrm>
                <a:off x="1734" y="2820"/>
                <a:ext cx="255" cy="37"/>
              </a:xfrm>
              <a:custGeom>
                <a:avLst/>
                <a:gdLst>
                  <a:gd name="G0" fmla="+- 21600 0 0"/>
                  <a:gd name="G1" fmla="+- 611 0 0"/>
                  <a:gd name="G2" fmla="+- 21600 0 0"/>
                  <a:gd name="T0" fmla="*/ 43191 w 43200"/>
                  <a:gd name="T1" fmla="*/ 0 h 22211"/>
                  <a:gd name="T2" fmla="*/ 8 w 43200"/>
                  <a:gd name="T3" fmla="*/ 5 h 22211"/>
                  <a:gd name="T4" fmla="*/ 21600 w 43200"/>
                  <a:gd name="T5" fmla="*/ 611 h 22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211" fill="none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</a:path>
                  <a:path w="43200" h="22211" stroke="0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  <a:lnTo>
                      <a:pt x="21600" y="611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9" name="Line 75"/>
            <p:cNvSpPr>
              <a:spLocks noChangeShapeType="1"/>
            </p:cNvSpPr>
            <p:nvPr/>
          </p:nvSpPr>
          <p:spPr bwMode="auto">
            <a:xfrm>
              <a:off x="246" y="2302"/>
              <a:ext cx="106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0" name="Group 76"/>
            <p:cNvGrpSpPr>
              <a:grpSpLocks/>
            </p:cNvGrpSpPr>
            <p:nvPr/>
          </p:nvGrpSpPr>
          <p:grpSpPr bwMode="auto">
            <a:xfrm>
              <a:off x="1328" y="2165"/>
              <a:ext cx="340" cy="276"/>
              <a:chOff x="1328" y="2165"/>
              <a:chExt cx="340" cy="276"/>
            </a:xfrm>
          </p:grpSpPr>
          <p:sp>
            <p:nvSpPr>
              <p:cNvPr id="105" name="Line 77"/>
              <p:cNvSpPr>
                <a:spLocks noChangeShapeType="1"/>
              </p:cNvSpPr>
              <p:nvPr/>
            </p:nvSpPr>
            <p:spPr bwMode="auto">
              <a:xfrm>
                <a:off x="1328" y="2168"/>
                <a:ext cx="0" cy="26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Line 78"/>
              <p:cNvSpPr>
                <a:spLocks noChangeShapeType="1"/>
              </p:cNvSpPr>
              <p:nvPr/>
            </p:nvSpPr>
            <p:spPr bwMode="auto">
              <a:xfrm flipH="1">
                <a:off x="1328" y="2441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Line 79"/>
              <p:cNvSpPr>
                <a:spLocks noChangeShapeType="1"/>
              </p:cNvSpPr>
              <p:nvPr/>
            </p:nvSpPr>
            <p:spPr bwMode="auto">
              <a:xfrm flipH="1">
                <a:off x="1328" y="2168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Arc 80"/>
              <p:cNvSpPr>
                <a:spLocks/>
              </p:cNvSpPr>
              <p:nvPr/>
            </p:nvSpPr>
            <p:spPr bwMode="auto">
              <a:xfrm>
                <a:off x="1447" y="2165"/>
                <a:ext cx="221" cy="275"/>
              </a:xfrm>
              <a:custGeom>
                <a:avLst/>
                <a:gdLst>
                  <a:gd name="G0" fmla="+- 99 0 0"/>
                  <a:gd name="G1" fmla="+- 21600 0 0"/>
                  <a:gd name="G2" fmla="+- 21600 0 0"/>
                  <a:gd name="T0" fmla="*/ 1 w 21699"/>
                  <a:gd name="T1" fmla="*/ 0 h 43200"/>
                  <a:gd name="T2" fmla="*/ 0 w 21699"/>
                  <a:gd name="T3" fmla="*/ 43200 h 43200"/>
                  <a:gd name="T4" fmla="*/ 99 w 2169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9" h="43200" fill="none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</a:path>
                  <a:path w="21699" h="43200" stroke="0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  <a:lnTo>
                      <a:pt x="99" y="2160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" name="Line 81"/>
            <p:cNvSpPr>
              <a:spLocks noChangeShapeType="1"/>
            </p:cNvSpPr>
            <p:nvPr/>
          </p:nvSpPr>
          <p:spPr bwMode="auto">
            <a:xfrm>
              <a:off x="246" y="2592"/>
              <a:ext cx="106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" name="Group 82"/>
            <p:cNvGrpSpPr>
              <a:grpSpLocks/>
            </p:cNvGrpSpPr>
            <p:nvPr/>
          </p:nvGrpSpPr>
          <p:grpSpPr bwMode="auto">
            <a:xfrm>
              <a:off x="1671" y="1152"/>
              <a:ext cx="1188" cy="1440"/>
              <a:chOff x="1671" y="1152"/>
              <a:chExt cx="1188" cy="1440"/>
            </a:xfrm>
          </p:grpSpPr>
          <p:sp>
            <p:nvSpPr>
              <p:cNvPr id="99" name="Line 83"/>
              <p:cNvSpPr>
                <a:spLocks noChangeShapeType="1"/>
              </p:cNvSpPr>
              <p:nvPr/>
            </p:nvSpPr>
            <p:spPr bwMode="auto">
              <a:xfrm>
                <a:off x="1671" y="1152"/>
                <a:ext cx="1145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Line 84"/>
              <p:cNvSpPr>
                <a:spLocks noChangeShapeType="1"/>
              </p:cNvSpPr>
              <p:nvPr/>
            </p:nvSpPr>
            <p:spPr bwMode="auto">
              <a:xfrm>
                <a:off x="1671" y="1435"/>
                <a:ext cx="1167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Line 85"/>
              <p:cNvSpPr>
                <a:spLocks noChangeShapeType="1"/>
              </p:cNvSpPr>
              <p:nvPr/>
            </p:nvSpPr>
            <p:spPr bwMode="auto">
              <a:xfrm>
                <a:off x="1671" y="1731"/>
                <a:ext cx="118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Line 86"/>
              <p:cNvSpPr>
                <a:spLocks noChangeShapeType="1"/>
              </p:cNvSpPr>
              <p:nvPr/>
            </p:nvSpPr>
            <p:spPr bwMode="auto">
              <a:xfrm>
                <a:off x="1671" y="2013"/>
                <a:ext cx="118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Line 87"/>
              <p:cNvSpPr>
                <a:spLocks noChangeShapeType="1"/>
              </p:cNvSpPr>
              <p:nvPr/>
            </p:nvSpPr>
            <p:spPr bwMode="auto">
              <a:xfrm>
                <a:off x="1671" y="2302"/>
                <a:ext cx="118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Line 88"/>
              <p:cNvSpPr>
                <a:spLocks noChangeShapeType="1"/>
              </p:cNvSpPr>
              <p:nvPr/>
            </p:nvSpPr>
            <p:spPr bwMode="auto">
              <a:xfrm>
                <a:off x="1671" y="2592"/>
                <a:ext cx="118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3" name="Group 89"/>
            <p:cNvGrpSpPr>
              <a:grpSpLocks/>
            </p:cNvGrpSpPr>
            <p:nvPr/>
          </p:nvGrpSpPr>
          <p:grpSpPr bwMode="auto">
            <a:xfrm>
              <a:off x="1328" y="2455"/>
              <a:ext cx="340" cy="276"/>
              <a:chOff x="1328" y="2455"/>
              <a:chExt cx="340" cy="276"/>
            </a:xfrm>
          </p:grpSpPr>
          <p:sp>
            <p:nvSpPr>
              <p:cNvPr id="95" name="Line 90"/>
              <p:cNvSpPr>
                <a:spLocks noChangeShapeType="1"/>
              </p:cNvSpPr>
              <p:nvPr/>
            </p:nvSpPr>
            <p:spPr bwMode="auto">
              <a:xfrm>
                <a:off x="1328" y="2458"/>
                <a:ext cx="0" cy="268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91"/>
              <p:cNvSpPr>
                <a:spLocks noChangeShapeType="1"/>
              </p:cNvSpPr>
              <p:nvPr/>
            </p:nvSpPr>
            <p:spPr bwMode="auto">
              <a:xfrm flipH="1">
                <a:off x="1328" y="2731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92"/>
              <p:cNvSpPr>
                <a:spLocks noChangeShapeType="1"/>
              </p:cNvSpPr>
              <p:nvPr/>
            </p:nvSpPr>
            <p:spPr bwMode="auto">
              <a:xfrm flipH="1">
                <a:off x="1328" y="2458"/>
                <a:ext cx="11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Arc 93"/>
              <p:cNvSpPr>
                <a:spLocks/>
              </p:cNvSpPr>
              <p:nvPr/>
            </p:nvSpPr>
            <p:spPr bwMode="auto">
              <a:xfrm>
                <a:off x="1447" y="2455"/>
                <a:ext cx="221" cy="275"/>
              </a:xfrm>
              <a:custGeom>
                <a:avLst/>
                <a:gdLst>
                  <a:gd name="G0" fmla="+- 99 0 0"/>
                  <a:gd name="G1" fmla="+- 21600 0 0"/>
                  <a:gd name="G2" fmla="+- 21600 0 0"/>
                  <a:gd name="T0" fmla="*/ 1 w 21699"/>
                  <a:gd name="T1" fmla="*/ 0 h 43200"/>
                  <a:gd name="T2" fmla="*/ 0 w 21699"/>
                  <a:gd name="T3" fmla="*/ 43200 h 43200"/>
                  <a:gd name="T4" fmla="*/ 99 w 2169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9" h="43200" fill="none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</a:path>
                  <a:path w="21699" h="43200" stroke="0" extrusionOk="0">
                    <a:moveTo>
                      <a:pt x="1" y="0"/>
                    </a:moveTo>
                    <a:cubicBezTo>
                      <a:pt x="33" y="0"/>
                      <a:pt x="66" y="-1"/>
                      <a:pt x="99" y="0"/>
                    </a:cubicBezTo>
                    <a:cubicBezTo>
                      <a:pt x="12028" y="0"/>
                      <a:pt x="21699" y="9670"/>
                      <a:pt x="21699" y="21600"/>
                    </a:cubicBezTo>
                    <a:cubicBezTo>
                      <a:pt x="21699" y="33529"/>
                      <a:pt x="12028" y="43200"/>
                      <a:pt x="99" y="43200"/>
                    </a:cubicBezTo>
                    <a:cubicBezTo>
                      <a:pt x="66" y="43200"/>
                      <a:pt x="33" y="43199"/>
                      <a:pt x="0" y="43199"/>
                    </a:cubicBezTo>
                    <a:lnTo>
                      <a:pt x="99" y="2160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4" name="Line 94"/>
            <p:cNvSpPr>
              <a:spLocks noChangeShapeType="1"/>
            </p:cNvSpPr>
            <p:nvPr/>
          </p:nvSpPr>
          <p:spPr bwMode="auto">
            <a:xfrm>
              <a:off x="2422" y="3131"/>
              <a:ext cx="0" cy="94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5" name="Group 95"/>
            <p:cNvGrpSpPr>
              <a:grpSpLocks/>
            </p:cNvGrpSpPr>
            <p:nvPr/>
          </p:nvGrpSpPr>
          <p:grpSpPr bwMode="auto">
            <a:xfrm>
              <a:off x="2421" y="1004"/>
              <a:ext cx="282" cy="1855"/>
              <a:chOff x="2421" y="1004"/>
              <a:chExt cx="282" cy="1855"/>
            </a:xfrm>
          </p:grpSpPr>
          <p:sp>
            <p:nvSpPr>
              <p:cNvPr id="93" name="Line 96"/>
              <p:cNvSpPr>
                <a:spLocks noChangeShapeType="1"/>
              </p:cNvSpPr>
              <p:nvPr/>
            </p:nvSpPr>
            <p:spPr bwMode="auto">
              <a:xfrm flipH="1">
                <a:off x="2421" y="1004"/>
                <a:ext cx="1" cy="1845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Line 97"/>
              <p:cNvSpPr>
                <a:spLocks noChangeShapeType="1"/>
              </p:cNvSpPr>
              <p:nvPr/>
            </p:nvSpPr>
            <p:spPr bwMode="auto">
              <a:xfrm>
                <a:off x="2701" y="1004"/>
                <a:ext cx="2" cy="1855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6" name="Line 98"/>
            <p:cNvSpPr>
              <a:spLocks noChangeShapeType="1"/>
            </p:cNvSpPr>
            <p:nvPr/>
          </p:nvSpPr>
          <p:spPr bwMode="auto">
            <a:xfrm>
              <a:off x="2701" y="3131"/>
              <a:ext cx="0" cy="94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7" name="Group 99"/>
            <p:cNvGrpSpPr>
              <a:grpSpLocks/>
            </p:cNvGrpSpPr>
            <p:nvPr/>
          </p:nvGrpSpPr>
          <p:grpSpPr bwMode="auto">
            <a:xfrm>
              <a:off x="2566" y="2805"/>
              <a:ext cx="273" cy="336"/>
              <a:chOff x="2566" y="2805"/>
              <a:chExt cx="273" cy="336"/>
            </a:xfrm>
          </p:grpSpPr>
          <p:sp>
            <p:nvSpPr>
              <p:cNvPr id="90" name="Arc 100"/>
              <p:cNvSpPr>
                <a:spLocks/>
              </p:cNvSpPr>
              <p:nvPr/>
            </p:nvSpPr>
            <p:spPr bwMode="auto">
              <a:xfrm>
                <a:off x="2691" y="2806"/>
                <a:ext cx="148" cy="335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439"/>
                  <a:gd name="T2" fmla="*/ 2631 w 21600"/>
                  <a:gd name="T3" fmla="*/ 21439 h 21439"/>
                  <a:gd name="T4" fmla="*/ 0 w 21600"/>
                  <a:gd name="T5" fmla="*/ 0 h 21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39" fill="none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</a:path>
                  <a:path w="21600" h="21439" stroke="0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Arc 101"/>
              <p:cNvSpPr>
                <a:spLocks/>
              </p:cNvSpPr>
              <p:nvPr/>
            </p:nvSpPr>
            <p:spPr bwMode="auto">
              <a:xfrm>
                <a:off x="2566" y="2805"/>
                <a:ext cx="148" cy="33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19265 w 21600"/>
                  <a:gd name="T1" fmla="*/ 21473 h 21473"/>
                  <a:gd name="T2" fmla="*/ 0 w 21600"/>
                  <a:gd name="T3" fmla="*/ 0 h 21473"/>
                  <a:gd name="T4" fmla="*/ 21600 w 21600"/>
                  <a:gd name="T5" fmla="*/ 0 h 21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73" fill="none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</a:path>
                  <a:path w="21600" h="21473" stroke="0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Arc 102"/>
              <p:cNvSpPr>
                <a:spLocks/>
              </p:cNvSpPr>
              <p:nvPr/>
            </p:nvSpPr>
            <p:spPr bwMode="auto">
              <a:xfrm>
                <a:off x="2574" y="2820"/>
                <a:ext cx="255" cy="37"/>
              </a:xfrm>
              <a:custGeom>
                <a:avLst/>
                <a:gdLst>
                  <a:gd name="G0" fmla="+- 21600 0 0"/>
                  <a:gd name="G1" fmla="+- 611 0 0"/>
                  <a:gd name="G2" fmla="+- 21600 0 0"/>
                  <a:gd name="T0" fmla="*/ 43191 w 43200"/>
                  <a:gd name="T1" fmla="*/ 0 h 22211"/>
                  <a:gd name="T2" fmla="*/ 8 w 43200"/>
                  <a:gd name="T3" fmla="*/ 5 h 22211"/>
                  <a:gd name="T4" fmla="*/ 21600 w 43200"/>
                  <a:gd name="T5" fmla="*/ 611 h 22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211" fill="none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</a:path>
                  <a:path w="43200" h="22211" stroke="0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  <a:lnTo>
                      <a:pt x="21600" y="611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8" name="Group 103"/>
            <p:cNvGrpSpPr>
              <a:grpSpLocks/>
            </p:cNvGrpSpPr>
            <p:nvPr/>
          </p:nvGrpSpPr>
          <p:grpSpPr bwMode="auto">
            <a:xfrm>
              <a:off x="2290" y="2805"/>
              <a:ext cx="273" cy="336"/>
              <a:chOff x="2290" y="2805"/>
              <a:chExt cx="273" cy="336"/>
            </a:xfrm>
          </p:grpSpPr>
          <p:sp>
            <p:nvSpPr>
              <p:cNvPr id="87" name="Arc 104"/>
              <p:cNvSpPr>
                <a:spLocks/>
              </p:cNvSpPr>
              <p:nvPr/>
            </p:nvSpPr>
            <p:spPr bwMode="auto">
              <a:xfrm>
                <a:off x="2415" y="2806"/>
                <a:ext cx="148" cy="335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439"/>
                  <a:gd name="T2" fmla="*/ 2631 w 21600"/>
                  <a:gd name="T3" fmla="*/ 21439 h 21439"/>
                  <a:gd name="T4" fmla="*/ 0 w 21600"/>
                  <a:gd name="T5" fmla="*/ 0 h 21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39" fill="none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</a:path>
                  <a:path w="21600" h="21439" stroke="0" extrusionOk="0">
                    <a:moveTo>
                      <a:pt x="21600" y="0"/>
                    </a:moveTo>
                    <a:cubicBezTo>
                      <a:pt x="21600" y="10911"/>
                      <a:pt x="13461" y="20110"/>
                      <a:pt x="2631" y="21439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Arc 105"/>
              <p:cNvSpPr>
                <a:spLocks/>
              </p:cNvSpPr>
              <p:nvPr/>
            </p:nvSpPr>
            <p:spPr bwMode="auto">
              <a:xfrm>
                <a:off x="2290" y="2805"/>
                <a:ext cx="148" cy="33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19265 w 21600"/>
                  <a:gd name="T1" fmla="*/ 21473 h 21473"/>
                  <a:gd name="T2" fmla="*/ 0 w 21600"/>
                  <a:gd name="T3" fmla="*/ 0 h 21473"/>
                  <a:gd name="T4" fmla="*/ 21600 w 21600"/>
                  <a:gd name="T5" fmla="*/ 0 h 214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473" fill="none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</a:path>
                  <a:path w="21600" h="21473" stroke="0" extrusionOk="0">
                    <a:moveTo>
                      <a:pt x="19264" y="21473"/>
                    </a:moveTo>
                    <a:cubicBezTo>
                      <a:pt x="8303" y="20281"/>
                      <a:pt x="0" y="11025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Arc 106"/>
              <p:cNvSpPr>
                <a:spLocks/>
              </p:cNvSpPr>
              <p:nvPr/>
            </p:nvSpPr>
            <p:spPr bwMode="auto">
              <a:xfrm>
                <a:off x="2298" y="2820"/>
                <a:ext cx="255" cy="37"/>
              </a:xfrm>
              <a:custGeom>
                <a:avLst/>
                <a:gdLst>
                  <a:gd name="G0" fmla="+- 21600 0 0"/>
                  <a:gd name="G1" fmla="+- 611 0 0"/>
                  <a:gd name="G2" fmla="+- 21600 0 0"/>
                  <a:gd name="T0" fmla="*/ 43191 w 43200"/>
                  <a:gd name="T1" fmla="*/ 0 h 22211"/>
                  <a:gd name="T2" fmla="*/ 8 w 43200"/>
                  <a:gd name="T3" fmla="*/ 5 h 22211"/>
                  <a:gd name="T4" fmla="*/ 21600 w 43200"/>
                  <a:gd name="T5" fmla="*/ 611 h 22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211" fill="none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</a:path>
                  <a:path w="43200" h="22211" stroke="0" extrusionOk="0">
                    <a:moveTo>
                      <a:pt x="43191" y="-1"/>
                    </a:moveTo>
                    <a:cubicBezTo>
                      <a:pt x="43197" y="203"/>
                      <a:pt x="43200" y="407"/>
                      <a:pt x="43200" y="611"/>
                    </a:cubicBezTo>
                    <a:cubicBezTo>
                      <a:pt x="43200" y="12540"/>
                      <a:pt x="33529" y="22211"/>
                      <a:pt x="21600" y="22211"/>
                    </a:cubicBezTo>
                    <a:cubicBezTo>
                      <a:pt x="9670" y="22211"/>
                      <a:pt x="0" y="12540"/>
                      <a:pt x="0" y="611"/>
                    </a:cubicBezTo>
                    <a:cubicBezTo>
                      <a:pt x="-1" y="408"/>
                      <a:pt x="2" y="206"/>
                      <a:pt x="8" y="5"/>
                    </a:cubicBezTo>
                    <a:lnTo>
                      <a:pt x="21600" y="611"/>
                    </a:lnTo>
                    <a:close/>
                  </a:path>
                </a:pathLst>
              </a:custGeom>
              <a:noFill/>
              <a:ln w="19050" cap="rnd">
                <a:solidFill>
                  <a:srgbClr val="000099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9" name="Rectangle 107"/>
            <p:cNvSpPr>
              <a:spLocks noChangeArrowheads="1"/>
            </p:cNvSpPr>
            <p:nvPr/>
          </p:nvSpPr>
          <p:spPr bwMode="auto">
            <a:xfrm>
              <a:off x="767" y="633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2000">
                  <a:latin typeface="Arial" charset="0"/>
                </a:rPr>
                <a:t>B</a:t>
              </a:r>
            </a:p>
          </p:txBody>
        </p:sp>
        <p:sp>
          <p:nvSpPr>
            <p:cNvPr id="80" name="Rectangle 108"/>
            <p:cNvSpPr>
              <a:spLocks noChangeArrowheads="1"/>
            </p:cNvSpPr>
            <p:nvPr/>
          </p:nvSpPr>
          <p:spPr bwMode="auto">
            <a:xfrm>
              <a:off x="958" y="633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2000">
                  <a:latin typeface="Arial" charset="0"/>
                </a:rPr>
                <a:t>A</a:t>
              </a:r>
            </a:p>
          </p:txBody>
        </p:sp>
        <p:sp>
          <p:nvSpPr>
            <p:cNvPr id="81" name="Rectangle 109"/>
            <p:cNvSpPr>
              <a:spLocks noChangeArrowheads="1"/>
            </p:cNvSpPr>
            <p:nvPr/>
          </p:nvSpPr>
          <p:spPr bwMode="auto">
            <a:xfrm>
              <a:off x="534" y="633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2000">
                  <a:latin typeface="Arial" charset="0"/>
                </a:rPr>
                <a:t>C</a:t>
              </a:r>
            </a:p>
          </p:txBody>
        </p:sp>
        <p:sp>
          <p:nvSpPr>
            <p:cNvPr id="82" name="Rectangle 110"/>
            <p:cNvSpPr>
              <a:spLocks noChangeArrowheads="1"/>
            </p:cNvSpPr>
            <p:nvPr/>
          </p:nvSpPr>
          <p:spPr bwMode="auto">
            <a:xfrm>
              <a:off x="308" y="633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2000">
                  <a:latin typeface="Arial" charset="0"/>
                </a:rPr>
                <a:t>D</a:t>
              </a:r>
            </a:p>
          </p:txBody>
        </p:sp>
        <p:sp>
          <p:nvSpPr>
            <p:cNvPr id="83" name="Rectangle 111"/>
            <p:cNvSpPr>
              <a:spLocks noChangeArrowheads="1"/>
            </p:cNvSpPr>
            <p:nvPr/>
          </p:nvSpPr>
          <p:spPr bwMode="auto">
            <a:xfrm>
              <a:off x="1742" y="3231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2000">
                  <a:latin typeface="Arial" charset="0"/>
                </a:rPr>
                <a:t>F</a:t>
              </a:r>
            </a:p>
          </p:txBody>
        </p:sp>
        <p:sp>
          <p:nvSpPr>
            <p:cNvPr id="84" name="Rectangle 112"/>
            <p:cNvSpPr>
              <a:spLocks noChangeArrowheads="1"/>
            </p:cNvSpPr>
            <p:nvPr/>
          </p:nvSpPr>
          <p:spPr bwMode="auto">
            <a:xfrm>
              <a:off x="2032" y="3231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2000">
                  <a:latin typeface="Arial" charset="0"/>
                </a:rPr>
                <a:t>G</a:t>
              </a:r>
            </a:p>
          </p:txBody>
        </p:sp>
        <p:sp>
          <p:nvSpPr>
            <p:cNvPr id="85" name="Rectangle 113"/>
            <p:cNvSpPr>
              <a:spLocks noChangeArrowheads="1"/>
            </p:cNvSpPr>
            <p:nvPr/>
          </p:nvSpPr>
          <p:spPr bwMode="auto">
            <a:xfrm>
              <a:off x="2322" y="3231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2000">
                  <a:latin typeface="Arial" charset="0"/>
                </a:rPr>
                <a:t>H</a:t>
              </a:r>
            </a:p>
          </p:txBody>
        </p:sp>
        <p:sp>
          <p:nvSpPr>
            <p:cNvPr id="86" name="Rectangle 114"/>
            <p:cNvSpPr>
              <a:spLocks noChangeArrowheads="1"/>
            </p:cNvSpPr>
            <p:nvPr/>
          </p:nvSpPr>
          <p:spPr bwMode="auto">
            <a:xfrm>
              <a:off x="2597" y="323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2000">
                  <a:latin typeface="Arial" charset="0"/>
                </a:rPr>
                <a:t>J</a:t>
              </a:r>
            </a:p>
          </p:txBody>
        </p:sp>
      </p:grpSp>
      <p:grpSp>
        <p:nvGrpSpPr>
          <p:cNvPr id="133" name="Group 125"/>
          <p:cNvGrpSpPr>
            <a:grpSpLocks/>
          </p:cNvGrpSpPr>
          <p:nvPr/>
        </p:nvGrpSpPr>
        <p:grpSpPr bwMode="auto">
          <a:xfrm>
            <a:off x="947738" y="2709863"/>
            <a:ext cx="1820862" cy="336550"/>
            <a:chOff x="528" y="1332"/>
            <a:chExt cx="1147" cy="212"/>
          </a:xfrm>
        </p:grpSpPr>
        <p:sp>
          <p:nvSpPr>
            <p:cNvPr id="134" name="Rectangle 126"/>
            <p:cNvSpPr>
              <a:spLocks noChangeArrowheads="1"/>
            </p:cNvSpPr>
            <p:nvPr/>
          </p:nvSpPr>
          <p:spPr bwMode="auto">
            <a:xfrm>
              <a:off x="1296" y="1332"/>
              <a:ext cx="379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1600">
                  <a:latin typeface="Arial" charset="0"/>
                </a:rPr>
                <a:t>ABC</a:t>
              </a:r>
            </a:p>
          </p:txBody>
        </p:sp>
        <p:grpSp>
          <p:nvGrpSpPr>
            <p:cNvPr id="135" name="Group 127"/>
            <p:cNvGrpSpPr>
              <a:grpSpLocks/>
            </p:cNvGrpSpPr>
            <p:nvPr/>
          </p:nvGrpSpPr>
          <p:grpSpPr bwMode="auto">
            <a:xfrm>
              <a:off x="528" y="1392"/>
              <a:ext cx="84" cy="84"/>
              <a:chOff x="1343" y="1632"/>
              <a:chExt cx="64" cy="64"/>
            </a:xfrm>
          </p:grpSpPr>
          <p:sp>
            <p:nvSpPr>
              <p:cNvPr id="142" name="Line 128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Line 129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6" name="Group 130"/>
            <p:cNvGrpSpPr>
              <a:grpSpLocks/>
            </p:cNvGrpSpPr>
            <p:nvPr/>
          </p:nvGrpSpPr>
          <p:grpSpPr bwMode="auto">
            <a:xfrm>
              <a:off x="987" y="1392"/>
              <a:ext cx="84" cy="84"/>
              <a:chOff x="1343" y="1632"/>
              <a:chExt cx="64" cy="64"/>
            </a:xfrm>
          </p:grpSpPr>
          <p:sp>
            <p:nvSpPr>
              <p:cNvPr id="140" name="Line 131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Line 132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7" name="Group 133"/>
            <p:cNvGrpSpPr>
              <a:grpSpLocks/>
            </p:cNvGrpSpPr>
            <p:nvPr/>
          </p:nvGrpSpPr>
          <p:grpSpPr bwMode="auto">
            <a:xfrm>
              <a:off x="768" y="1392"/>
              <a:ext cx="84" cy="84"/>
              <a:chOff x="1343" y="1632"/>
              <a:chExt cx="64" cy="64"/>
            </a:xfrm>
          </p:grpSpPr>
          <p:sp>
            <p:nvSpPr>
              <p:cNvPr id="138" name="Line 134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Line 135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44" name="Group 136"/>
          <p:cNvGrpSpPr>
            <a:grpSpLocks/>
          </p:cNvGrpSpPr>
          <p:nvPr/>
        </p:nvGrpSpPr>
        <p:grpSpPr bwMode="auto">
          <a:xfrm>
            <a:off x="600075" y="3168650"/>
            <a:ext cx="2033588" cy="336550"/>
            <a:chOff x="309" y="1621"/>
            <a:chExt cx="1281" cy="212"/>
          </a:xfrm>
        </p:grpSpPr>
        <p:grpSp>
          <p:nvGrpSpPr>
            <p:cNvPr id="145" name="Group 137"/>
            <p:cNvGrpSpPr>
              <a:grpSpLocks/>
            </p:cNvGrpSpPr>
            <p:nvPr/>
          </p:nvGrpSpPr>
          <p:grpSpPr bwMode="auto">
            <a:xfrm>
              <a:off x="1296" y="1621"/>
              <a:ext cx="294" cy="212"/>
              <a:chOff x="4143" y="2505"/>
              <a:chExt cx="294" cy="212"/>
            </a:xfrm>
          </p:grpSpPr>
          <p:sp>
            <p:nvSpPr>
              <p:cNvPr id="152" name="Line 138"/>
              <p:cNvSpPr>
                <a:spLocks noChangeShapeType="1"/>
              </p:cNvSpPr>
              <p:nvPr/>
            </p:nvSpPr>
            <p:spPr bwMode="auto">
              <a:xfrm>
                <a:off x="4203" y="2537"/>
                <a:ext cx="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Rectangle 139"/>
              <p:cNvSpPr>
                <a:spLocks noChangeArrowheads="1"/>
              </p:cNvSpPr>
              <p:nvPr/>
            </p:nvSpPr>
            <p:spPr bwMode="auto">
              <a:xfrm>
                <a:off x="4143" y="2505"/>
                <a:ext cx="2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>
                  <a:spcBef>
                    <a:spcPct val="10000"/>
                  </a:spcBef>
                </a:pPr>
                <a:r>
                  <a:rPr lang="en-US" altLang="en-US" sz="1600">
                    <a:latin typeface="Arial" charset="0"/>
                  </a:rPr>
                  <a:t>AD</a:t>
                </a:r>
              </a:p>
            </p:txBody>
          </p:sp>
        </p:grpSp>
        <p:grpSp>
          <p:nvGrpSpPr>
            <p:cNvPr id="146" name="Group 140"/>
            <p:cNvGrpSpPr>
              <a:grpSpLocks/>
            </p:cNvGrpSpPr>
            <p:nvPr/>
          </p:nvGrpSpPr>
          <p:grpSpPr bwMode="auto">
            <a:xfrm>
              <a:off x="1090" y="1680"/>
              <a:ext cx="84" cy="84"/>
              <a:chOff x="1343" y="1632"/>
              <a:chExt cx="64" cy="64"/>
            </a:xfrm>
          </p:grpSpPr>
          <p:sp>
            <p:nvSpPr>
              <p:cNvPr id="150" name="Line 141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Line 142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7" name="Group 143"/>
            <p:cNvGrpSpPr>
              <a:grpSpLocks/>
            </p:cNvGrpSpPr>
            <p:nvPr/>
          </p:nvGrpSpPr>
          <p:grpSpPr bwMode="auto">
            <a:xfrm>
              <a:off x="309" y="1680"/>
              <a:ext cx="84" cy="84"/>
              <a:chOff x="1343" y="1632"/>
              <a:chExt cx="64" cy="64"/>
            </a:xfrm>
          </p:grpSpPr>
          <p:sp>
            <p:nvSpPr>
              <p:cNvPr id="148" name="Line 144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Line 145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54" name="Group 146"/>
          <p:cNvGrpSpPr>
            <a:grpSpLocks/>
          </p:cNvGrpSpPr>
          <p:nvPr/>
        </p:nvGrpSpPr>
        <p:grpSpPr bwMode="auto">
          <a:xfrm>
            <a:off x="600075" y="3606800"/>
            <a:ext cx="2033588" cy="336550"/>
            <a:chOff x="309" y="1897"/>
            <a:chExt cx="1281" cy="212"/>
          </a:xfrm>
        </p:grpSpPr>
        <p:sp>
          <p:nvSpPr>
            <p:cNvPr id="155" name="Rectangle 147"/>
            <p:cNvSpPr>
              <a:spLocks noChangeArrowheads="1"/>
            </p:cNvSpPr>
            <p:nvPr/>
          </p:nvSpPr>
          <p:spPr bwMode="auto">
            <a:xfrm>
              <a:off x="1296" y="1897"/>
              <a:ext cx="2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1600">
                  <a:latin typeface="Arial" charset="0"/>
                </a:rPr>
                <a:t>AD</a:t>
              </a:r>
            </a:p>
          </p:txBody>
        </p:sp>
        <p:grpSp>
          <p:nvGrpSpPr>
            <p:cNvPr id="156" name="Group 148"/>
            <p:cNvGrpSpPr>
              <a:grpSpLocks/>
            </p:cNvGrpSpPr>
            <p:nvPr/>
          </p:nvGrpSpPr>
          <p:grpSpPr bwMode="auto">
            <a:xfrm>
              <a:off x="987" y="1968"/>
              <a:ext cx="84" cy="84"/>
              <a:chOff x="1343" y="1632"/>
              <a:chExt cx="64" cy="64"/>
            </a:xfrm>
          </p:grpSpPr>
          <p:sp>
            <p:nvSpPr>
              <p:cNvPr id="160" name="Line 149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Line 150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7" name="Group 151"/>
            <p:cNvGrpSpPr>
              <a:grpSpLocks/>
            </p:cNvGrpSpPr>
            <p:nvPr/>
          </p:nvGrpSpPr>
          <p:grpSpPr bwMode="auto">
            <a:xfrm>
              <a:off x="309" y="1968"/>
              <a:ext cx="84" cy="84"/>
              <a:chOff x="1343" y="1632"/>
              <a:chExt cx="64" cy="64"/>
            </a:xfrm>
          </p:grpSpPr>
          <p:sp>
            <p:nvSpPr>
              <p:cNvPr id="158" name="Line 152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Line 153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62" name="Group 154"/>
          <p:cNvGrpSpPr>
            <a:grpSpLocks/>
          </p:cNvGrpSpPr>
          <p:nvPr/>
        </p:nvGrpSpPr>
        <p:grpSpPr bwMode="auto">
          <a:xfrm>
            <a:off x="600075" y="4076700"/>
            <a:ext cx="2035175" cy="336550"/>
            <a:chOff x="309" y="2193"/>
            <a:chExt cx="1282" cy="212"/>
          </a:xfrm>
        </p:grpSpPr>
        <p:sp>
          <p:nvSpPr>
            <p:cNvPr id="163" name="Rectangle 155"/>
            <p:cNvSpPr>
              <a:spLocks noChangeArrowheads="1"/>
            </p:cNvSpPr>
            <p:nvPr/>
          </p:nvSpPr>
          <p:spPr bwMode="auto">
            <a:xfrm>
              <a:off x="1297" y="2193"/>
              <a:ext cx="2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1600">
                  <a:latin typeface="Arial" charset="0"/>
                </a:rPr>
                <a:t>BD</a:t>
              </a:r>
            </a:p>
          </p:txBody>
        </p:sp>
        <p:grpSp>
          <p:nvGrpSpPr>
            <p:cNvPr id="164" name="Group 156"/>
            <p:cNvGrpSpPr>
              <a:grpSpLocks/>
            </p:cNvGrpSpPr>
            <p:nvPr/>
          </p:nvGrpSpPr>
          <p:grpSpPr bwMode="auto">
            <a:xfrm>
              <a:off x="768" y="2256"/>
              <a:ext cx="84" cy="84"/>
              <a:chOff x="1343" y="1632"/>
              <a:chExt cx="64" cy="64"/>
            </a:xfrm>
          </p:grpSpPr>
          <p:sp>
            <p:nvSpPr>
              <p:cNvPr id="168" name="Line 157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Line 158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" name="Group 159"/>
            <p:cNvGrpSpPr>
              <a:grpSpLocks/>
            </p:cNvGrpSpPr>
            <p:nvPr/>
          </p:nvGrpSpPr>
          <p:grpSpPr bwMode="auto">
            <a:xfrm>
              <a:off x="309" y="2256"/>
              <a:ext cx="84" cy="84"/>
              <a:chOff x="1343" y="1632"/>
              <a:chExt cx="64" cy="64"/>
            </a:xfrm>
          </p:grpSpPr>
          <p:sp>
            <p:nvSpPr>
              <p:cNvPr id="166" name="Line 160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Line 161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70" name="Group 162"/>
          <p:cNvGrpSpPr>
            <a:grpSpLocks/>
          </p:cNvGrpSpPr>
          <p:nvPr/>
        </p:nvGrpSpPr>
        <p:grpSpPr bwMode="auto">
          <a:xfrm>
            <a:off x="1328738" y="4525963"/>
            <a:ext cx="1158875" cy="336550"/>
            <a:chOff x="768" y="2476"/>
            <a:chExt cx="730" cy="212"/>
          </a:xfrm>
        </p:grpSpPr>
        <p:sp>
          <p:nvSpPr>
            <p:cNvPr id="171" name="Rectangle 163"/>
            <p:cNvSpPr>
              <a:spLocks noChangeArrowheads="1"/>
            </p:cNvSpPr>
            <p:nvPr/>
          </p:nvSpPr>
          <p:spPr bwMode="auto">
            <a:xfrm>
              <a:off x="1297" y="2476"/>
              <a:ext cx="20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>
                <a:spcBef>
                  <a:spcPct val="10000"/>
                </a:spcBef>
              </a:pPr>
              <a:r>
                <a:rPr lang="en-US" altLang="en-US" sz="1600">
                  <a:latin typeface="Arial" charset="0"/>
                </a:rPr>
                <a:t>B</a:t>
              </a:r>
            </a:p>
          </p:txBody>
        </p:sp>
        <p:grpSp>
          <p:nvGrpSpPr>
            <p:cNvPr id="172" name="Group 164"/>
            <p:cNvGrpSpPr>
              <a:grpSpLocks/>
            </p:cNvGrpSpPr>
            <p:nvPr/>
          </p:nvGrpSpPr>
          <p:grpSpPr bwMode="auto">
            <a:xfrm>
              <a:off x="768" y="2544"/>
              <a:ext cx="84" cy="84"/>
              <a:chOff x="1343" y="1632"/>
              <a:chExt cx="64" cy="64"/>
            </a:xfrm>
          </p:grpSpPr>
          <p:sp>
            <p:nvSpPr>
              <p:cNvPr id="173" name="Line 165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Line 166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A5002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75" name="Group 167"/>
          <p:cNvGrpSpPr>
            <a:grpSpLocks/>
          </p:cNvGrpSpPr>
          <p:nvPr/>
        </p:nvGrpSpPr>
        <p:grpSpPr bwMode="auto">
          <a:xfrm>
            <a:off x="3005138" y="2347913"/>
            <a:ext cx="133350" cy="1504950"/>
            <a:chOff x="1824" y="1104"/>
            <a:chExt cx="84" cy="948"/>
          </a:xfrm>
        </p:grpSpPr>
        <p:grpSp>
          <p:nvGrpSpPr>
            <p:cNvPr id="176" name="Group 168"/>
            <p:cNvGrpSpPr>
              <a:grpSpLocks/>
            </p:cNvGrpSpPr>
            <p:nvPr/>
          </p:nvGrpSpPr>
          <p:grpSpPr bwMode="auto">
            <a:xfrm>
              <a:off x="1824" y="1104"/>
              <a:ext cx="84" cy="84"/>
              <a:chOff x="1343" y="1632"/>
              <a:chExt cx="64" cy="64"/>
            </a:xfrm>
          </p:grpSpPr>
          <p:sp>
            <p:nvSpPr>
              <p:cNvPr id="183" name="Line 169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Line 170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7" name="Group 171"/>
            <p:cNvGrpSpPr>
              <a:grpSpLocks/>
            </p:cNvGrpSpPr>
            <p:nvPr/>
          </p:nvGrpSpPr>
          <p:grpSpPr bwMode="auto">
            <a:xfrm>
              <a:off x="1824" y="1968"/>
              <a:ext cx="84" cy="84"/>
              <a:chOff x="1343" y="1632"/>
              <a:chExt cx="64" cy="64"/>
            </a:xfrm>
          </p:grpSpPr>
          <p:sp>
            <p:nvSpPr>
              <p:cNvPr id="181" name="Line 172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Line 173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8" name="Group 174"/>
            <p:cNvGrpSpPr>
              <a:grpSpLocks/>
            </p:cNvGrpSpPr>
            <p:nvPr/>
          </p:nvGrpSpPr>
          <p:grpSpPr bwMode="auto">
            <a:xfrm>
              <a:off x="1824" y="1680"/>
              <a:ext cx="84" cy="84"/>
              <a:chOff x="1343" y="1632"/>
              <a:chExt cx="64" cy="64"/>
            </a:xfrm>
          </p:grpSpPr>
          <p:sp>
            <p:nvSpPr>
              <p:cNvPr id="179" name="Line 175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Line 176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85" name="Group 177"/>
          <p:cNvGrpSpPr>
            <a:grpSpLocks/>
          </p:cNvGrpSpPr>
          <p:nvPr/>
        </p:nvGrpSpPr>
        <p:grpSpPr bwMode="auto">
          <a:xfrm>
            <a:off x="3440113" y="2347913"/>
            <a:ext cx="133350" cy="1047750"/>
            <a:chOff x="2098" y="1104"/>
            <a:chExt cx="84" cy="660"/>
          </a:xfrm>
        </p:grpSpPr>
        <p:grpSp>
          <p:nvGrpSpPr>
            <p:cNvPr id="186" name="Group 178"/>
            <p:cNvGrpSpPr>
              <a:grpSpLocks/>
            </p:cNvGrpSpPr>
            <p:nvPr/>
          </p:nvGrpSpPr>
          <p:grpSpPr bwMode="auto">
            <a:xfrm>
              <a:off x="2098" y="1392"/>
              <a:ext cx="84" cy="84"/>
              <a:chOff x="1343" y="1632"/>
              <a:chExt cx="64" cy="64"/>
            </a:xfrm>
          </p:grpSpPr>
          <p:sp>
            <p:nvSpPr>
              <p:cNvPr id="193" name="Line 179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Line 180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7" name="Group 181"/>
            <p:cNvGrpSpPr>
              <a:grpSpLocks/>
            </p:cNvGrpSpPr>
            <p:nvPr/>
          </p:nvGrpSpPr>
          <p:grpSpPr bwMode="auto">
            <a:xfrm>
              <a:off x="2098" y="1104"/>
              <a:ext cx="84" cy="84"/>
              <a:chOff x="1343" y="1632"/>
              <a:chExt cx="64" cy="64"/>
            </a:xfrm>
          </p:grpSpPr>
          <p:sp>
            <p:nvSpPr>
              <p:cNvPr id="191" name="Line 182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Line 183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8" name="Group 184"/>
            <p:cNvGrpSpPr>
              <a:grpSpLocks/>
            </p:cNvGrpSpPr>
            <p:nvPr/>
          </p:nvGrpSpPr>
          <p:grpSpPr bwMode="auto">
            <a:xfrm>
              <a:off x="2098" y="1680"/>
              <a:ext cx="84" cy="84"/>
              <a:chOff x="1343" y="1632"/>
              <a:chExt cx="64" cy="64"/>
            </a:xfrm>
          </p:grpSpPr>
          <p:sp>
            <p:nvSpPr>
              <p:cNvPr id="189" name="Line 185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Line 186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95" name="Group 187"/>
          <p:cNvGrpSpPr>
            <a:grpSpLocks/>
          </p:cNvGrpSpPr>
          <p:nvPr/>
        </p:nvGrpSpPr>
        <p:grpSpPr bwMode="auto">
          <a:xfrm>
            <a:off x="3886200" y="2805113"/>
            <a:ext cx="133350" cy="1504950"/>
            <a:chOff x="2379" y="1392"/>
            <a:chExt cx="84" cy="948"/>
          </a:xfrm>
        </p:grpSpPr>
        <p:grpSp>
          <p:nvGrpSpPr>
            <p:cNvPr id="196" name="Group 188"/>
            <p:cNvGrpSpPr>
              <a:grpSpLocks/>
            </p:cNvGrpSpPr>
            <p:nvPr/>
          </p:nvGrpSpPr>
          <p:grpSpPr bwMode="auto">
            <a:xfrm>
              <a:off x="2379" y="1392"/>
              <a:ext cx="84" cy="84"/>
              <a:chOff x="1343" y="1632"/>
              <a:chExt cx="64" cy="64"/>
            </a:xfrm>
          </p:grpSpPr>
          <p:sp>
            <p:nvSpPr>
              <p:cNvPr id="200" name="Line 189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Line 190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7" name="Group 191"/>
            <p:cNvGrpSpPr>
              <a:grpSpLocks/>
            </p:cNvGrpSpPr>
            <p:nvPr/>
          </p:nvGrpSpPr>
          <p:grpSpPr bwMode="auto">
            <a:xfrm>
              <a:off x="2379" y="2256"/>
              <a:ext cx="84" cy="84"/>
              <a:chOff x="1343" y="1632"/>
              <a:chExt cx="64" cy="64"/>
            </a:xfrm>
          </p:grpSpPr>
          <p:sp>
            <p:nvSpPr>
              <p:cNvPr id="198" name="Line 192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Line 193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02" name="Group 194"/>
          <p:cNvGrpSpPr>
            <a:grpSpLocks/>
          </p:cNvGrpSpPr>
          <p:nvPr/>
        </p:nvGrpSpPr>
        <p:grpSpPr bwMode="auto">
          <a:xfrm>
            <a:off x="4332288" y="3719513"/>
            <a:ext cx="146050" cy="1047750"/>
            <a:chOff x="2660" y="1968"/>
            <a:chExt cx="92" cy="660"/>
          </a:xfrm>
        </p:grpSpPr>
        <p:grpSp>
          <p:nvGrpSpPr>
            <p:cNvPr id="203" name="Group 195"/>
            <p:cNvGrpSpPr>
              <a:grpSpLocks/>
            </p:cNvGrpSpPr>
            <p:nvPr/>
          </p:nvGrpSpPr>
          <p:grpSpPr bwMode="auto">
            <a:xfrm>
              <a:off x="2660" y="2544"/>
              <a:ext cx="84" cy="84"/>
              <a:chOff x="1343" y="1632"/>
              <a:chExt cx="64" cy="64"/>
            </a:xfrm>
          </p:grpSpPr>
          <p:sp>
            <p:nvSpPr>
              <p:cNvPr id="207" name="Line 196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Line 197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4" name="Group 198"/>
            <p:cNvGrpSpPr>
              <a:grpSpLocks/>
            </p:cNvGrpSpPr>
            <p:nvPr/>
          </p:nvGrpSpPr>
          <p:grpSpPr bwMode="auto">
            <a:xfrm>
              <a:off x="2668" y="1968"/>
              <a:ext cx="84" cy="84"/>
              <a:chOff x="1343" y="1632"/>
              <a:chExt cx="64" cy="64"/>
            </a:xfrm>
          </p:grpSpPr>
          <p:sp>
            <p:nvSpPr>
              <p:cNvPr id="205" name="Line 199"/>
              <p:cNvSpPr>
                <a:spLocks noChangeShapeType="1"/>
              </p:cNvSpPr>
              <p:nvPr/>
            </p:nvSpPr>
            <p:spPr bwMode="auto">
              <a:xfrm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Line 200"/>
              <p:cNvSpPr>
                <a:spLocks noChangeShapeType="1"/>
              </p:cNvSpPr>
              <p:nvPr/>
            </p:nvSpPr>
            <p:spPr bwMode="auto">
              <a:xfrm flipH="1">
                <a:off x="1343" y="1632"/>
                <a:ext cx="64" cy="6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09" name="Group 207"/>
          <p:cNvGrpSpPr>
            <a:grpSpLocks/>
          </p:cNvGrpSpPr>
          <p:nvPr/>
        </p:nvGrpSpPr>
        <p:grpSpPr bwMode="auto">
          <a:xfrm>
            <a:off x="1101725" y="2239963"/>
            <a:ext cx="1666875" cy="336550"/>
            <a:chOff x="948" y="1411"/>
            <a:chExt cx="1050" cy="212"/>
          </a:xfrm>
        </p:grpSpPr>
        <p:sp>
          <p:nvSpPr>
            <p:cNvPr id="210" name="Line 117"/>
            <p:cNvSpPr>
              <a:spLocks noChangeShapeType="1"/>
            </p:cNvSpPr>
            <p:nvPr/>
          </p:nvSpPr>
          <p:spPr bwMode="auto">
            <a:xfrm>
              <a:off x="1855" y="1451"/>
              <a:ext cx="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1" name="Group 206"/>
            <p:cNvGrpSpPr>
              <a:grpSpLocks/>
            </p:cNvGrpSpPr>
            <p:nvPr/>
          </p:nvGrpSpPr>
          <p:grpSpPr bwMode="auto">
            <a:xfrm>
              <a:off x="948" y="1411"/>
              <a:ext cx="1050" cy="212"/>
              <a:chOff x="948" y="1411"/>
              <a:chExt cx="1050" cy="212"/>
            </a:xfrm>
          </p:grpSpPr>
          <p:sp>
            <p:nvSpPr>
              <p:cNvPr id="212" name="Rectangle 118"/>
              <p:cNvSpPr>
                <a:spLocks noChangeArrowheads="1"/>
              </p:cNvSpPr>
              <p:nvPr/>
            </p:nvSpPr>
            <p:spPr bwMode="auto">
              <a:xfrm>
                <a:off x="1619" y="1411"/>
                <a:ext cx="37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>
                  <a:spcBef>
                    <a:spcPct val="10000"/>
                  </a:spcBef>
                </a:pPr>
                <a:r>
                  <a:rPr lang="en-US" altLang="en-US" sz="1600">
                    <a:latin typeface="Arial" charset="0"/>
                  </a:rPr>
                  <a:t>ABC</a:t>
                </a:r>
              </a:p>
            </p:txBody>
          </p:sp>
          <p:grpSp>
            <p:nvGrpSpPr>
              <p:cNvPr id="213" name="Group 119"/>
              <p:cNvGrpSpPr>
                <a:grpSpLocks/>
              </p:cNvGrpSpPr>
              <p:nvPr/>
            </p:nvGrpSpPr>
            <p:grpSpPr bwMode="auto">
              <a:xfrm>
                <a:off x="1315" y="1479"/>
                <a:ext cx="84" cy="84"/>
                <a:chOff x="1343" y="1632"/>
                <a:chExt cx="64" cy="64"/>
              </a:xfrm>
            </p:grpSpPr>
            <p:sp>
              <p:nvSpPr>
                <p:cNvPr id="220" name="Line 120"/>
                <p:cNvSpPr>
                  <a:spLocks noChangeShapeType="1"/>
                </p:cNvSpPr>
                <p:nvPr/>
              </p:nvSpPr>
              <p:spPr bwMode="auto">
                <a:xfrm>
                  <a:off x="1343" y="1632"/>
                  <a:ext cx="64" cy="64"/>
                </a:xfrm>
                <a:prstGeom prst="line">
                  <a:avLst/>
                </a:prstGeom>
                <a:noFill/>
                <a:ln w="28575">
                  <a:solidFill>
                    <a:srgbClr val="A5002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Line 121"/>
                <p:cNvSpPr>
                  <a:spLocks noChangeShapeType="1"/>
                </p:cNvSpPr>
                <p:nvPr/>
              </p:nvSpPr>
              <p:spPr bwMode="auto">
                <a:xfrm flipH="1">
                  <a:off x="1343" y="1632"/>
                  <a:ext cx="64" cy="64"/>
                </a:xfrm>
                <a:prstGeom prst="line">
                  <a:avLst/>
                </a:prstGeom>
                <a:noFill/>
                <a:ln w="28575">
                  <a:solidFill>
                    <a:srgbClr val="A5002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4" name="Group 122"/>
              <p:cNvGrpSpPr>
                <a:grpSpLocks/>
              </p:cNvGrpSpPr>
              <p:nvPr/>
            </p:nvGrpSpPr>
            <p:grpSpPr bwMode="auto">
              <a:xfrm>
                <a:off x="1091" y="1479"/>
                <a:ext cx="84" cy="84"/>
                <a:chOff x="1343" y="1632"/>
                <a:chExt cx="64" cy="64"/>
              </a:xfrm>
            </p:grpSpPr>
            <p:sp>
              <p:nvSpPr>
                <p:cNvPr id="218" name="Line 123"/>
                <p:cNvSpPr>
                  <a:spLocks noChangeShapeType="1"/>
                </p:cNvSpPr>
                <p:nvPr/>
              </p:nvSpPr>
              <p:spPr bwMode="auto">
                <a:xfrm>
                  <a:off x="1343" y="1632"/>
                  <a:ext cx="64" cy="64"/>
                </a:xfrm>
                <a:prstGeom prst="line">
                  <a:avLst/>
                </a:prstGeom>
                <a:noFill/>
                <a:ln w="28575">
                  <a:solidFill>
                    <a:srgbClr val="A5002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1343" y="1632"/>
                  <a:ext cx="64" cy="64"/>
                </a:xfrm>
                <a:prstGeom prst="line">
                  <a:avLst/>
                </a:prstGeom>
                <a:noFill/>
                <a:ln w="28575">
                  <a:solidFill>
                    <a:srgbClr val="A5002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5" name="Group 202"/>
              <p:cNvGrpSpPr>
                <a:grpSpLocks/>
              </p:cNvGrpSpPr>
              <p:nvPr/>
            </p:nvGrpSpPr>
            <p:grpSpPr bwMode="auto">
              <a:xfrm>
                <a:off x="948" y="1480"/>
                <a:ext cx="84" cy="84"/>
                <a:chOff x="1343" y="1632"/>
                <a:chExt cx="64" cy="64"/>
              </a:xfrm>
            </p:grpSpPr>
            <p:sp>
              <p:nvSpPr>
                <p:cNvPr id="216" name="Line 203"/>
                <p:cNvSpPr>
                  <a:spLocks noChangeShapeType="1"/>
                </p:cNvSpPr>
                <p:nvPr/>
              </p:nvSpPr>
              <p:spPr bwMode="auto">
                <a:xfrm>
                  <a:off x="1343" y="1632"/>
                  <a:ext cx="64" cy="64"/>
                </a:xfrm>
                <a:prstGeom prst="line">
                  <a:avLst/>
                </a:prstGeom>
                <a:noFill/>
                <a:ln w="28575">
                  <a:solidFill>
                    <a:srgbClr val="A5002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Line 204"/>
                <p:cNvSpPr>
                  <a:spLocks noChangeShapeType="1"/>
                </p:cNvSpPr>
                <p:nvPr/>
              </p:nvSpPr>
              <p:spPr bwMode="auto">
                <a:xfrm flipH="1">
                  <a:off x="1343" y="1632"/>
                  <a:ext cx="64" cy="64"/>
                </a:xfrm>
                <a:prstGeom prst="line">
                  <a:avLst/>
                </a:prstGeom>
                <a:noFill/>
                <a:ln w="28575">
                  <a:solidFill>
                    <a:srgbClr val="A5002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22" name="Rectangle 4"/>
          <p:cNvSpPr>
            <a:spLocks noChangeArrowheads="1"/>
          </p:cNvSpPr>
          <p:nvPr/>
        </p:nvSpPr>
        <p:spPr bwMode="auto">
          <a:xfrm>
            <a:off x="5715000" y="3856038"/>
            <a:ext cx="2726003" cy="1416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>
              <a:spcBef>
                <a:spcPct val="10000"/>
              </a:spcBef>
            </a:pPr>
            <a:r>
              <a:rPr lang="en-US" altLang="en-US" sz="2000" dirty="0">
                <a:latin typeface="Arial" charset="0"/>
              </a:rPr>
              <a:t>F = ABC’ + AD + A’D</a:t>
            </a:r>
          </a:p>
          <a:p>
            <a:pPr algn="l">
              <a:spcBef>
                <a:spcPct val="10000"/>
              </a:spcBef>
            </a:pPr>
            <a:r>
              <a:rPr lang="en-US" altLang="en-US" sz="2000" dirty="0">
                <a:latin typeface="Arial" charset="0"/>
              </a:rPr>
              <a:t>G = ABC + ABC’ + A’D</a:t>
            </a:r>
          </a:p>
          <a:p>
            <a:pPr algn="l">
              <a:spcBef>
                <a:spcPct val="10000"/>
              </a:spcBef>
            </a:pPr>
            <a:r>
              <a:rPr lang="en-US" altLang="en-US" sz="2000" dirty="0">
                <a:latin typeface="Arial" charset="0"/>
              </a:rPr>
              <a:t>H = ABC + BD</a:t>
            </a:r>
          </a:p>
          <a:p>
            <a:pPr algn="l">
              <a:spcBef>
                <a:spcPct val="10000"/>
              </a:spcBef>
            </a:pPr>
            <a:r>
              <a:rPr lang="en-US" altLang="en-US" sz="2000" dirty="0">
                <a:latin typeface="Arial" charset="0"/>
              </a:rPr>
              <a:t>J =  B + AD</a:t>
            </a:r>
          </a:p>
        </p:txBody>
      </p:sp>
    </p:spTree>
    <p:extLst>
      <p:ext uri="{BB962C8B-B14F-4D97-AF65-F5344CB8AC3E}">
        <p14:creationId xmlns:p14="http://schemas.microsoft.com/office/powerpoint/2010/main" val="342132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SPLD - PAL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8" name="Group 84"/>
          <p:cNvGrpSpPr>
            <a:grpSpLocks/>
          </p:cNvGrpSpPr>
          <p:nvPr/>
        </p:nvGrpSpPr>
        <p:grpSpPr bwMode="auto">
          <a:xfrm>
            <a:off x="627062" y="1447800"/>
            <a:ext cx="5926138" cy="4752975"/>
            <a:chOff x="900" y="670"/>
            <a:chExt cx="3841" cy="3236"/>
          </a:xfrm>
        </p:grpSpPr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>
              <a:off x="900" y="1573"/>
              <a:ext cx="2537" cy="233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4"/>
            <p:cNvSpPr>
              <a:spLocks/>
            </p:cNvSpPr>
            <p:nvPr/>
          </p:nvSpPr>
          <p:spPr bwMode="auto">
            <a:xfrm>
              <a:off x="2998" y="2218"/>
              <a:ext cx="330" cy="329"/>
            </a:xfrm>
            <a:custGeom>
              <a:avLst/>
              <a:gdLst>
                <a:gd name="T0" fmla="*/ 312 w 658"/>
                <a:gd name="T1" fmla="*/ 0 h 659"/>
                <a:gd name="T2" fmla="*/ 263 w 658"/>
                <a:gd name="T3" fmla="*/ 7 h 659"/>
                <a:gd name="T4" fmla="*/ 216 w 658"/>
                <a:gd name="T5" fmla="*/ 20 h 659"/>
                <a:gd name="T6" fmla="*/ 172 w 658"/>
                <a:gd name="T7" fmla="*/ 40 h 659"/>
                <a:gd name="T8" fmla="*/ 133 w 658"/>
                <a:gd name="T9" fmla="*/ 66 h 659"/>
                <a:gd name="T10" fmla="*/ 97 w 658"/>
                <a:gd name="T11" fmla="*/ 96 h 659"/>
                <a:gd name="T12" fmla="*/ 65 w 658"/>
                <a:gd name="T13" fmla="*/ 132 h 659"/>
                <a:gd name="T14" fmla="*/ 39 w 658"/>
                <a:gd name="T15" fmla="*/ 172 h 659"/>
                <a:gd name="T16" fmla="*/ 20 w 658"/>
                <a:gd name="T17" fmla="*/ 216 h 659"/>
                <a:gd name="T18" fmla="*/ 6 w 658"/>
                <a:gd name="T19" fmla="*/ 263 h 659"/>
                <a:gd name="T20" fmla="*/ 1 w 658"/>
                <a:gd name="T21" fmla="*/ 312 h 659"/>
                <a:gd name="T22" fmla="*/ 1 w 658"/>
                <a:gd name="T23" fmla="*/ 346 h 659"/>
                <a:gd name="T24" fmla="*/ 6 w 658"/>
                <a:gd name="T25" fmla="*/ 396 h 659"/>
                <a:gd name="T26" fmla="*/ 20 w 658"/>
                <a:gd name="T27" fmla="*/ 442 h 659"/>
                <a:gd name="T28" fmla="*/ 39 w 658"/>
                <a:gd name="T29" fmla="*/ 486 h 659"/>
                <a:gd name="T30" fmla="*/ 65 w 658"/>
                <a:gd name="T31" fmla="*/ 526 h 659"/>
                <a:gd name="T32" fmla="*/ 97 w 658"/>
                <a:gd name="T33" fmla="*/ 563 h 659"/>
                <a:gd name="T34" fmla="*/ 133 w 658"/>
                <a:gd name="T35" fmla="*/ 593 h 659"/>
                <a:gd name="T36" fmla="*/ 172 w 658"/>
                <a:gd name="T37" fmla="*/ 619 h 659"/>
                <a:gd name="T38" fmla="*/ 216 w 658"/>
                <a:gd name="T39" fmla="*/ 639 h 659"/>
                <a:gd name="T40" fmla="*/ 263 w 658"/>
                <a:gd name="T41" fmla="*/ 652 h 659"/>
                <a:gd name="T42" fmla="*/ 312 w 658"/>
                <a:gd name="T43" fmla="*/ 659 h 659"/>
                <a:gd name="T44" fmla="*/ 347 w 658"/>
                <a:gd name="T45" fmla="*/ 659 h 659"/>
                <a:gd name="T46" fmla="*/ 396 w 658"/>
                <a:gd name="T47" fmla="*/ 652 h 659"/>
                <a:gd name="T48" fmla="*/ 443 w 658"/>
                <a:gd name="T49" fmla="*/ 639 h 659"/>
                <a:gd name="T50" fmla="*/ 487 w 658"/>
                <a:gd name="T51" fmla="*/ 619 h 659"/>
                <a:gd name="T52" fmla="*/ 526 w 658"/>
                <a:gd name="T53" fmla="*/ 593 h 659"/>
                <a:gd name="T54" fmla="*/ 562 w 658"/>
                <a:gd name="T55" fmla="*/ 563 h 659"/>
                <a:gd name="T56" fmla="*/ 594 w 658"/>
                <a:gd name="T57" fmla="*/ 526 h 659"/>
                <a:gd name="T58" fmla="*/ 620 w 658"/>
                <a:gd name="T59" fmla="*/ 486 h 659"/>
                <a:gd name="T60" fmla="*/ 639 w 658"/>
                <a:gd name="T61" fmla="*/ 442 h 659"/>
                <a:gd name="T62" fmla="*/ 653 w 658"/>
                <a:gd name="T63" fmla="*/ 396 h 659"/>
                <a:gd name="T64" fmla="*/ 658 w 658"/>
                <a:gd name="T65" fmla="*/ 346 h 659"/>
                <a:gd name="T66" fmla="*/ 658 w 658"/>
                <a:gd name="T67" fmla="*/ 312 h 659"/>
                <a:gd name="T68" fmla="*/ 653 w 658"/>
                <a:gd name="T69" fmla="*/ 263 h 659"/>
                <a:gd name="T70" fmla="*/ 639 w 658"/>
                <a:gd name="T71" fmla="*/ 216 h 659"/>
                <a:gd name="T72" fmla="*/ 620 w 658"/>
                <a:gd name="T73" fmla="*/ 172 h 659"/>
                <a:gd name="T74" fmla="*/ 594 w 658"/>
                <a:gd name="T75" fmla="*/ 132 h 659"/>
                <a:gd name="T76" fmla="*/ 562 w 658"/>
                <a:gd name="T77" fmla="*/ 96 h 659"/>
                <a:gd name="T78" fmla="*/ 526 w 658"/>
                <a:gd name="T79" fmla="*/ 66 h 659"/>
                <a:gd name="T80" fmla="*/ 487 w 658"/>
                <a:gd name="T81" fmla="*/ 40 h 659"/>
                <a:gd name="T82" fmla="*/ 443 w 658"/>
                <a:gd name="T83" fmla="*/ 20 h 659"/>
                <a:gd name="T84" fmla="*/ 396 w 658"/>
                <a:gd name="T85" fmla="*/ 7 h 659"/>
                <a:gd name="T86" fmla="*/ 347 w 658"/>
                <a:gd name="T87" fmla="*/ 0 h 659"/>
                <a:gd name="T88" fmla="*/ 329 w 658"/>
                <a:gd name="T89" fmla="*/ 33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8" h="659">
                  <a:moveTo>
                    <a:pt x="329" y="330"/>
                  </a:moveTo>
                  <a:lnTo>
                    <a:pt x="329" y="0"/>
                  </a:lnTo>
                  <a:lnTo>
                    <a:pt x="312" y="0"/>
                  </a:lnTo>
                  <a:lnTo>
                    <a:pt x="296" y="2"/>
                  </a:lnTo>
                  <a:lnTo>
                    <a:pt x="279" y="4"/>
                  </a:lnTo>
                  <a:lnTo>
                    <a:pt x="263" y="7"/>
                  </a:lnTo>
                  <a:lnTo>
                    <a:pt x="248" y="10"/>
                  </a:lnTo>
                  <a:lnTo>
                    <a:pt x="231" y="15"/>
                  </a:lnTo>
                  <a:lnTo>
                    <a:pt x="216" y="20"/>
                  </a:lnTo>
                  <a:lnTo>
                    <a:pt x="201" y="26"/>
                  </a:lnTo>
                  <a:lnTo>
                    <a:pt x="186" y="33"/>
                  </a:lnTo>
                  <a:lnTo>
                    <a:pt x="172" y="40"/>
                  </a:lnTo>
                  <a:lnTo>
                    <a:pt x="159" y="48"/>
                  </a:lnTo>
                  <a:lnTo>
                    <a:pt x="145" y="57"/>
                  </a:lnTo>
                  <a:lnTo>
                    <a:pt x="133" y="66"/>
                  </a:lnTo>
                  <a:lnTo>
                    <a:pt x="120" y="76"/>
                  </a:lnTo>
                  <a:lnTo>
                    <a:pt x="108" y="85"/>
                  </a:lnTo>
                  <a:lnTo>
                    <a:pt x="97" y="96"/>
                  </a:lnTo>
                  <a:lnTo>
                    <a:pt x="86" y="107"/>
                  </a:lnTo>
                  <a:lnTo>
                    <a:pt x="75" y="120"/>
                  </a:lnTo>
                  <a:lnTo>
                    <a:pt x="65" y="132"/>
                  </a:lnTo>
                  <a:lnTo>
                    <a:pt x="56" y="146"/>
                  </a:lnTo>
                  <a:lnTo>
                    <a:pt x="48" y="158"/>
                  </a:lnTo>
                  <a:lnTo>
                    <a:pt x="39" y="172"/>
                  </a:lnTo>
                  <a:lnTo>
                    <a:pt x="33" y="187"/>
                  </a:lnTo>
                  <a:lnTo>
                    <a:pt x="26" y="201"/>
                  </a:lnTo>
                  <a:lnTo>
                    <a:pt x="20" y="216"/>
                  </a:lnTo>
                  <a:lnTo>
                    <a:pt x="15" y="231"/>
                  </a:lnTo>
                  <a:lnTo>
                    <a:pt x="11" y="247"/>
                  </a:lnTo>
                  <a:lnTo>
                    <a:pt x="6" y="263"/>
                  </a:lnTo>
                  <a:lnTo>
                    <a:pt x="4" y="279"/>
                  </a:lnTo>
                  <a:lnTo>
                    <a:pt x="2" y="295"/>
                  </a:lnTo>
                  <a:lnTo>
                    <a:pt x="1" y="312"/>
                  </a:lnTo>
                  <a:lnTo>
                    <a:pt x="0" y="330"/>
                  </a:lnTo>
                  <a:lnTo>
                    <a:pt x="0" y="330"/>
                  </a:lnTo>
                  <a:lnTo>
                    <a:pt x="1" y="346"/>
                  </a:lnTo>
                  <a:lnTo>
                    <a:pt x="2" y="363"/>
                  </a:lnTo>
                  <a:lnTo>
                    <a:pt x="4" y="379"/>
                  </a:lnTo>
                  <a:lnTo>
                    <a:pt x="6" y="396"/>
                  </a:lnTo>
                  <a:lnTo>
                    <a:pt x="11" y="412"/>
                  </a:lnTo>
                  <a:lnTo>
                    <a:pt x="15" y="427"/>
                  </a:lnTo>
                  <a:lnTo>
                    <a:pt x="20" y="442"/>
                  </a:lnTo>
                  <a:lnTo>
                    <a:pt x="26" y="457"/>
                  </a:lnTo>
                  <a:lnTo>
                    <a:pt x="33" y="473"/>
                  </a:lnTo>
                  <a:lnTo>
                    <a:pt x="39" y="486"/>
                  </a:lnTo>
                  <a:lnTo>
                    <a:pt x="48" y="500"/>
                  </a:lnTo>
                  <a:lnTo>
                    <a:pt x="56" y="514"/>
                  </a:lnTo>
                  <a:lnTo>
                    <a:pt x="65" y="526"/>
                  </a:lnTo>
                  <a:lnTo>
                    <a:pt x="75" y="538"/>
                  </a:lnTo>
                  <a:lnTo>
                    <a:pt x="86" y="551"/>
                  </a:lnTo>
                  <a:lnTo>
                    <a:pt x="97" y="563"/>
                  </a:lnTo>
                  <a:lnTo>
                    <a:pt x="108" y="573"/>
                  </a:lnTo>
                  <a:lnTo>
                    <a:pt x="120" y="584"/>
                  </a:lnTo>
                  <a:lnTo>
                    <a:pt x="133" y="593"/>
                  </a:lnTo>
                  <a:lnTo>
                    <a:pt x="145" y="603"/>
                  </a:lnTo>
                  <a:lnTo>
                    <a:pt x="159" y="611"/>
                  </a:lnTo>
                  <a:lnTo>
                    <a:pt x="172" y="619"/>
                  </a:lnTo>
                  <a:lnTo>
                    <a:pt x="186" y="626"/>
                  </a:lnTo>
                  <a:lnTo>
                    <a:pt x="201" y="633"/>
                  </a:lnTo>
                  <a:lnTo>
                    <a:pt x="216" y="639"/>
                  </a:lnTo>
                  <a:lnTo>
                    <a:pt x="231" y="644"/>
                  </a:lnTo>
                  <a:lnTo>
                    <a:pt x="248" y="648"/>
                  </a:lnTo>
                  <a:lnTo>
                    <a:pt x="263" y="652"/>
                  </a:lnTo>
                  <a:lnTo>
                    <a:pt x="279" y="655"/>
                  </a:lnTo>
                  <a:lnTo>
                    <a:pt x="296" y="658"/>
                  </a:lnTo>
                  <a:lnTo>
                    <a:pt x="312" y="659"/>
                  </a:lnTo>
                  <a:lnTo>
                    <a:pt x="329" y="659"/>
                  </a:lnTo>
                  <a:lnTo>
                    <a:pt x="329" y="659"/>
                  </a:lnTo>
                  <a:lnTo>
                    <a:pt x="347" y="659"/>
                  </a:lnTo>
                  <a:lnTo>
                    <a:pt x="363" y="658"/>
                  </a:lnTo>
                  <a:lnTo>
                    <a:pt x="380" y="655"/>
                  </a:lnTo>
                  <a:lnTo>
                    <a:pt x="396" y="652"/>
                  </a:lnTo>
                  <a:lnTo>
                    <a:pt x="411" y="648"/>
                  </a:lnTo>
                  <a:lnTo>
                    <a:pt x="428" y="644"/>
                  </a:lnTo>
                  <a:lnTo>
                    <a:pt x="443" y="639"/>
                  </a:lnTo>
                  <a:lnTo>
                    <a:pt x="458" y="633"/>
                  </a:lnTo>
                  <a:lnTo>
                    <a:pt x="473" y="626"/>
                  </a:lnTo>
                  <a:lnTo>
                    <a:pt x="487" y="619"/>
                  </a:lnTo>
                  <a:lnTo>
                    <a:pt x="500" y="611"/>
                  </a:lnTo>
                  <a:lnTo>
                    <a:pt x="514" y="603"/>
                  </a:lnTo>
                  <a:lnTo>
                    <a:pt x="526" y="593"/>
                  </a:lnTo>
                  <a:lnTo>
                    <a:pt x="539" y="584"/>
                  </a:lnTo>
                  <a:lnTo>
                    <a:pt x="551" y="573"/>
                  </a:lnTo>
                  <a:lnTo>
                    <a:pt x="562" y="563"/>
                  </a:lnTo>
                  <a:lnTo>
                    <a:pt x="573" y="551"/>
                  </a:lnTo>
                  <a:lnTo>
                    <a:pt x="584" y="538"/>
                  </a:lnTo>
                  <a:lnTo>
                    <a:pt x="594" y="526"/>
                  </a:lnTo>
                  <a:lnTo>
                    <a:pt x="603" y="514"/>
                  </a:lnTo>
                  <a:lnTo>
                    <a:pt x="611" y="500"/>
                  </a:lnTo>
                  <a:lnTo>
                    <a:pt x="620" y="486"/>
                  </a:lnTo>
                  <a:lnTo>
                    <a:pt x="627" y="473"/>
                  </a:lnTo>
                  <a:lnTo>
                    <a:pt x="633" y="457"/>
                  </a:lnTo>
                  <a:lnTo>
                    <a:pt x="639" y="442"/>
                  </a:lnTo>
                  <a:lnTo>
                    <a:pt x="644" y="427"/>
                  </a:lnTo>
                  <a:lnTo>
                    <a:pt x="649" y="412"/>
                  </a:lnTo>
                  <a:lnTo>
                    <a:pt x="653" y="396"/>
                  </a:lnTo>
                  <a:lnTo>
                    <a:pt x="655" y="379"/>
                  </a:lnTo>
                  <a:lnTo>
                    <a:pt x="657" y="363"/>
                  </a:lnTo>
                  <a:lnTo>
                    <a:pt x="658" y="346"/>
                  </a:lnTo>
                  <a:lnTo>
                    <a:pt x="658" y="330"/>
                  </a:lnTo>
                  <a:lnTo>
                    <a:pt x="658" y="330"/>
                  </a:lnTo>
                  <a:lnTo>
                    <a:pt x="658" y="312"/>
                  </a:lnTo>
                  <a:lnTo>
                    <a:pt x="657" y="295"/>
                  </a:lnTo>
                  <a:lnTo>
                    <a:pt x="655" y="279"/>
                  </a:lnTo>
                  <a:lnTo>
                    <a:pt x="653" y="263"/>
                  </a:lnTo>
                  <a:lnTo>
                    <a:pt x="649" y="247"/>
                  </a:lnTo>
                  <a:lnTo>
                    <a:pt x="644" y="231"/>
                  </a:lnTo>
                  <a:lnTo>
                    <a:pt x="639" y="216"/>
                  </a:lnTo>
                  <a:lnTo>
                    <a:pt x="633" y="201"/>
                  </a:lnTo>
                  <a:lnTo>
                    <a:pt x="627" y="187"/>
                  </a:lnTo>
                  <a:lnTo>
                    <a:pt x="620" y="172"/>
                  </a:lnTo>
                  <a:lnTo>
                    <a:pt x="611" y="158"/>
                  </a:lnTo>
                  <a:lnTo>
                    <a:pt x="603" y="146"/>
                  </a:lnTo>
                  <a:lnTo>
                    <a:pt x="594" y="132"/>
                  </a:lnTo>
                  <a:lnTo>
                    <a:pt x="584" y="120"/>
                  </a:lnTo>
                  <a:lnTo>
                    <a:pt x="573" y="107"/>
                  </a:lnTo>
                  <a:lnTo>
                    <a:pt x="562" y="96"/>
                  </a:lnTo>
                  <a:lnTo>
                    <a:pt x="551" y="85"/>
                  </a:lnTo>
                  <a:lnTo>
                    <a:pt x="539" y="76"/>
                  </a:lnTo>
                  <a:lnTo>
                    <a:pt x="526" y="66"/>
                  </a:lnTo>
                  <a:lnTo>
                    <a:pt x="514" y="57"/>
                  </a:lnTo>
                  <a:lnTo>
                    <a:pt x="500" y="48"/>
                  </a:lnTo>
                  <a:lnTo>
                    <a:pt x="487" y="40"/>
                  </a:lnTo>
                  <a:lnTo>
                    <a:pt x="473" y="33"/>
                  </a:lnTo>
                  <a:lnTo>
                    <a:pt x="458" y="26"/>
                  </a:lnTo>
                  <a:lnTo>
                    <a:pt x="443" y="20"/>
                  </a:lnTo>
                  <a:lnTo>
                    <a:pt x="428" y="15"/>
                  </a:lnTo>
                  <a:lnTo>
                    <a:pt x="411" y="10"/>
                  </a:lnTo>
                  <a:lnTo>
                    <a:pt x="396" y="7"/>
                  </a:lnTo>
                  <a:lnTo>
                    <a:pt x="380" y="4"/>
                  </a:lnTo>
                  <a:lnTo>
                    <a:pt x="363" y="2"/>
                  </a:lnTo>
                  <a:lnTo>
                    <a:pt x="347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29" y="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995" y="3412"/>
              <a:ext cx="194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995" y="2904"/>
              <a:ext cx="194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7"/>
            <p:cNvSpPr>
              <a:spLocks noChangeShapeType="1"/>
            </p:cNvSpPr>
            <p:nvPr/>
          </p:nvSpPr>
          <p:spPr bwMode="auto">
            <a:xfrm>
              <a:off x="995" y="2382"/>
              <a:ext cx="194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995" y="1874"/>
              <a:ext cx="194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3522" y="1692"/>
              <a:ext cx="12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Times-Roman"/>
                </a:rPr>
                <a:t>P </a:t>
              </a:r>
              <a:endParaRPr lang="en-US" alt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3591" y="1744"/>
              <a:ext cx="8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30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en-US"/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3522" y="2207"/>
              <a:ext cx="124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Times-Roman"/>
                </a:rPr>
                <a:t>P </a:t>
              </a:r>
              <a:endParaRPr lang="en-US" altLang="en-US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3591" y="2259"/>
              <a:ext cx="8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300" i="1">
                  <a:solidFill>
                    <a:srgbClr val="000000"/>
                  </a:solidFill>
                  <a:latin typeface="Times-Roman"/>
                </a:rPr>
                <a:t>2 </a:t>
              </a:r>
              <a:endParaRPr lang="en-US" altLang="en-US"/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1132" y="670"/>
              <a:ext cx="75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 i="1" dirty="0">
                  <a:solidFill>
                    <a:srgbClr val="000000"/>
                  </a:solidFill>
                  <a:latin typeface="Times-Roman"/>
                </a:rPr>
                <a:t>I </a:t>
              </a:r>
              <a:endParaRPr lang="en-US" altLang="en-US" dirty="0"/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1192" y="733"/>
              <a:ext cx="83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200" dirty="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en-US" dirty="0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1714" y="670"/>
              <a:ext cx="75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 i="1" dirty="0">
                  <a:solidFill>
                    <a:srgbClr val="000000"/>
                  </a:solidFill>
                  <a:latin typeface="Times-Roman"/>
                </a:rPr>
                <a:t>I </a:t>
              </a:r>
              <a:endParaRPr lang="en-US" altLang="en-US" dirty="0"/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1773" y="733"/>
              <a:ext cx="8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200">
                  <a:solidFill>
                    <a:srgbClr val="000000"/>
                  </a:solidFill>
                  <a:latin typeface="Times-Roman"/>
                </a:rPr>
                <a:t>2 </a:t>
              </a:r>
              <a:endParaRPr lang="en-US" altLang="en-US"/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2298" y="670"/>
              <a:ext cx="75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 i="1" dirty="0">
                  <a:solidFill>
                    <a:srgbClr val="000000"/>
                  </a:solidFill>
                  <a:latin typeface="Times-Roman"/>
                </a:rPr>
                <a:t>I </a:t>
              </a:r>
              <a:endParaRPr lang="en-US" altLang="en-US" dirty="0"/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1476" y="1010"/>
              <a:ext cx="1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065" y="1010"/>
              <a:ext cx="1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2642" y="1010"/>
              <a:ext cx="1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V="1">
              <a:off x="1187" y="859"/>
              <a:ext cx="1" cy="29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 flipV="1">
              <a:off x="1777" y="859"/>
              <a:ext cx="1" cy="29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 flipV="1">
              <a:off x="2354" y="859"/>
              <a:ext cx="1" cy="29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1187" y="1010"/>
              <a:ext cx="28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1777" y="1010"/>
              <a:ext cx="2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2354" y="1010"/>
              <a:ext cx="2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 flipV="1">
              <a:off x="1476" y="1545"/>
              <a:ext cx="1" cy="2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2065" y="1545"/>
              <a:ext cx="1" cy="2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 flipV="1">
              <a:off x="2642" y="1545"/>
              <a:ext cx="1" cy="2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3314" y="1874"/>
              <a:ext cx="49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1"/>
            <p:cNvSpPr>
              <a:spLocks noChangeShapeType="1"/>
            </p:cNvSpPr>
            <p:nvPr/>
          </p:nvSpPr>
          <p:spPr bwMode="auto">
            <a:xfrm flipH="1">
              <a:off x="3314" y="2382"/>
              <a:ext cx="49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2"/>
            <p:cNvSpPr>
              <a:spLocks noChangeShapeType="1"/>
            </p:cNvSpPr>
            <p:nvPr/>
          </p:nvSpPr>
          <p:spPr bwMode="auto">
            <a:xfrm flipH="1">
              <a:off x="3314" y="2905"/>
              <a:ext cx="50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3"/>
            <p:cNvSpPr>
              <a:spLocks/>
            </p:cNvSpPr>
            <p:nvPr/>
          </p:nvSpPr>
          <p:spPr bwMode="auto">
            <a:xfrm>
              <a:off x="1174" y="996"/>
              <a:ext cx="27" cy="27"/>
            </a:xfrm>
            <a:custGeom>
              <a:avLst/>
              <a:gdLst>
                <a:gd name="T0" fmla="*/ 55 w 55"/>
                <a:gd name="T1" fmla="*/ 26 h 55"/>
                <a:gd name="T2" fmla="*/ 55 w 55"/>
                <a:gd name="T3" fmla="*/ 22 h 55"/>
                <a:gd name="T4" fmla="*/ 54 w 55"/>
                <a:gd name="T5" fmla="*/ 18 h 55"/>
                <a:gd name="T6" fmla="*/ 53 w 55"/>
                <a:gd name="T7" fmla="*/ 14 h 55"/>
                <a:gd name="T8" fmla="*/ 51 w 55"/>
                <a:gd name="T9" fmla="*/ 11 h 55"/>
                <a:gd name="T10" fmla="*/ 48 w 55"/>
                <a:gd name="T11" fmla="*/ 8 h 55"/>
                <a:gd name="T12" fmla="*/ 44 w 55"/>
                <a:gd name="T13" fmla="*/ 5 h 55"/>
                <a:gd name="T14" fmla="*/ 42 w 55"/>
                <a:gd name="T15" fmla="*/ 3 h 55"/>
                <a:gd name="T16" fmla="*/ 37 w 55"/>
                <a:gd name="T17" fmla="*/ 1 h 55"/>
                <a:gd name="T18" fmla="*/ 35 w 55"/>
                <a:gd name="T19" fmla="*/ 0 h 55"/>
                <a:gd name="T20" fmla="*/ 31 w 55"/>
                <a:gd name="T21" fmla="*/ 0 h 55"/>
                <a:gd name="T22" fmla="*/ 26 w 55"/>
                <a:gd name="T23" fmla="*/ 0 h 55"/>
                <a:gd name="T24" fmla="*/ 22 w 55"/>
                <a:gd name="T25" fmla="*/ 0 h 55"/>
                <a:gd name="T26" fmla="*/ 20 w 55"/>
                <a:gd name="T27" fmla="*/ 1 h 55"/>
                <a:gd name="T28" fmla="*/ 15 w 55"/>
                <a:gd name="T29" fmla="*/ 3 h 55"/>
                <a:gd name="T30" fmla="*/ 13 w 55"/>
                <a:gd name="T31" fmla="*/ 5 h 55"/>
                <a:gd name="T32" fmla="*/ 9 w 55"/>
                <a:gd name="T33" fmla="*/ 8 h 55"/>
                <a:gd name="T34" fmla="*/ 6 w 55"/>
                <a:gd name="T35" fmla="*/ 11 h 55"/>
                <a:gd name="T36" fmla="*/ 5 w 55"/>
                <a:gd name="T37" fmla="*/ 14 h 55"/>
                <a:gd name="T38" fmla="*/ 3 w 55"/>
                <a:gd name="T39" fmla="*/ 18 h 55"/>
                <a:gd name="T40" fmla="*/ 2 w 55"/>
                <a:gd name="T41" fmla="*/ 22 h 55"/>
                <a:gd name="T42" fmla="*/ 2 w 55"/>
                <a:gd name="T43" fmla="*/ 26 h 55"/>
                <a:gd name="T44" fmla="*/ 2 w 55"/>
                <a:gd name="T45" fmla="*/ 29 h 55"/>
                <a:gd name="T46" fmla="*/ 2 w 55"/>
                <a:gd name="T47" fmla="*/ 33 h 55"/>
                <a:gd name="T48" fmla="*/ 3 w 55"/>
                <a:gd name="T49" fmla="*/ 37 h 55"/>
                <a:gd name="T50" fmla="*/ 5 w 55"/>
                <a:gd name="T51" fmla="*/ 40 h 55"/>
                <a:gd name="T52" fmla="*/ 6 w 55"/>
                <a:gd name="T53" fmla="*/ 44 h 55"/>
                <a:gd name="T54" fmla="*/ 9 w 55"/>
                <a:gd name="T55" fmla="*/ 47 h 55"/>
                <a:gd name="T56" fmla="*/ 13 w 55"/>
                <a:gd name="T57" fmla="*/ 49 h 55"/>
                <a:gd name="T58" fmla="*/ 15 w 55"/>
                <a:gd name="T59" fmla="*/ 51 h 55"/>
                <a:gd name="T60" fmla="*/ 20 w 55"/>
                <a:gd name="T61" fmla="*/ 54 h 55"/>
                <a:gd name="T62" fmla="*/ 22 w 55"/>
                <a:gd name="T63" fmla="*/ 54 h 55"/>
                <a:gd name="T64" fmla="*/ 26 w 55"/>
                <a:gd name="T65" fmla="*/ 55 h 55"/>
                <a:gd name="T66" fmla="*/ 31 w 55"/>
                <a:gd name="T67" fmla="*/ 55 h 55"/>
                <a:gd name="T68" fmla="*/ 35 w 55"/>
                <a:gd name="T69" fmla="*/ 54 h 55"/>
                <a:gd name="T70" fmla="*/ 37 w 55"/>
                <a:gd name="T71" fmla="*/ 54 h 55"/>
                <a:gd name="T72" fmla="*/ 42 w 55"/>
                <a:gd name="T73" fmla="*/ 51 h 55"/>
                <a:gd name="T74" fmla="*/ 44 w 55"/>
                <a:gd name="T75" fmla="*/ 49 h 55"/>
                <a:gd name="T76" fmla="*/ 48 w 55"/>
                <a:gd name="T77" fmla="*/ 47 h 55"/>
                <a:gd name="T78" fmla="*/ 51 w 55"/>
                <a:gd name="T79" fmla="*/ 44 h 55"/>
                <a:gd name="T80" fmla="*/ 53 w 55"/>
                <a:gd name="T81" fmla="*/ 40 h 55"/>
                <a:gd name="T82" fmla="*/ 54 w 55"/>
                <a:gd name="T83" fmla="*/ 37 h 55"/>
                <a:gd name="T84" fmla="*/ 55 w 55"/>
                <a:gd name="T85" fmla="*/ 33 h 55"/>
                <a:gd name="T86" fmla="*/ 55 w 55"/>
                <a:gd name="T87" fmla="*/ 29 h 55"/>
                <a:gd name="T88" fmla="*/ 28 w 55"/>
                <a:gd name="T89" fmla="*/ 2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55">
                  <a:moveTo>
                    <a:pt x="28" y="27"/>
                  </a:moveTo>
                  <a:lnTo>
                    <a:pt x="55" y="27"/>
                  </a:lnTo>
                  <a:lnTo>
                    <a:pt x="55" y="26"/>
                  </a:lnTo>
                  <a:lnTo>
                    <a:pt x="55" y="25"/>
                  </a:lnTo>
                  <a:lnTo>
                    <a:pt x="55" y="23"/>
                  </a:lnTo>
                  <a:lnTo>
                    <a:pt x="55" y="22"/>
                  </a:lnTo>
                  <a:lnTo>
                    <a:pt x="55" y="21"/>
                  </a:lnTo>
                  <a:lnTo>
                    <a:pt x="55" y="19"/>
                  </a:lnTo>
                  <a:lnTo>
                    <a:pt x="54" y="18"/>
                  </a:lnTo>
                  <a:lnTo>
                    <a:pt x="54" y="16"/>
                  </a:lnTo>
                  <a:lnTo>
                    <a:pt x="54" y="15"/>
                  </a:lnTo>
                  <a:lnTo>
                    <a:pt x="53" y="14"/>
                  </a:lnTo>
                  <a:lnTo>
                    <a:pt x="53" y="12"/>
                  </a:lnTo>
                  <a:lnTo>
                    <a:pt x="51" y="12"/>
                  </a:lnTo>
                  <a:lnTo>
                    <a:pt x="51" y="11"/>
                  </a:lnTo>
                  <a:lnTo>
                    <a:pt x="50" y="10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7" y="7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4"/>
                  </a:lnTo>
                  <a:lnTo>
                    <a:pt x="42" y="3"/>
                  </a:lnTo>
                  <a:lnTo>
                    <a:pt x="40" y="3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3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10" y="7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10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0"/>
                  </a:lnTo>
                  <a:lnTo>
                    <a:pt x="5" y="41"/>
                  </a:lnTo>
                  <a:lnTo>
                    <a:pt x="6" y="43"/>
                  </a:lnTo>
                  <a:lnTo>
                    <a:pt x="6" y="44"/>
                  </a:lnTo>
                  <a:lnTo>
                    <a:pt x="7" y="45"/>
                  </a:lnTo>
                  <a:lnTo>
                    <a:pt x="9" y="45"/>
                  </a:lnTo>
                  <a:lnTo>
                    <a:pt x="9" y="47"/>
                  </a:lnTo>
                  <a:lnTo>
                    <a:pt x="10" y="48"/>
                  </a:lnTo>
                  <a:lnTo>
                    <a:pt x="11" y="48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20" y="54"/>
                  </a:lnTo>
                  <a:lnTo>
                    <a:pt x="21" y="54"/>
                  </a:lnTo>
                  <a:lnTo>
                    <a:pt x="22" y="54"/>
                  </a:lnTo>
                  <a:lnTo>
                    <a:pt x="22" y="54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8" y="55"/>
                  </a:lnTo>
                  <a:lnTo>
                    <a:pt x="28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3" y="55"/>
                  </a:lnTo>
                  <a:lnTo>
                    <a:pt x="35" y="54"/>
                  </a:lnTo>
                  <a:lnTo>
                    <a:pt x="35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9" y="52"/>
                  </a:lnTo>
                  <a:lnTo>
                    <a:pt x="40" y="52"/>
                  </a:lnTo>
                  <a:lnTo>
                    <a:pt x="42" y="51"/>
                  </a:lnTo>
                  <a:lnTo>
                    <a:pt x="43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8"/>
                  </a:lnTo>
                  <a:lnTo>
                    <a:pt x="47" y="48"/>
                  </a:lnTo>
                  <a:lnTo>
                    <a:pt x="48" y="47"/>
                  </a:lnTo>
                  <a:lnTo>
                    <a:pt x="48" y="45"/>
                  </a:lnTo>
                  <a:lnTo>
                    <a:pt x="50" y="45"/>
                  </a:lnTo>
                  <a:lnTo>
                    <a:pt x="51" y="44"/>
                  </a:lnTo>
                  <a:lnTo>
                    <a:pt x="51" y="43"/>
                  </a:lnTo>
                  <a:lnTo>
                    <a:pt x="53" y="41"/>
                  </a:lnTo>
                  <a:lnTo>
                    <a:pt x="53" y="40"/>
                  </a:lnTo>
                  <a:lnTo>
                    <a:pt x="54" y="40"/>
                  </a:lnTo>
                  <a:lnTo>
                    <a:pt x="54" y="38"/>
                  </a:lnTo>
                  <a:lnTo>
                    <a:pt x="54" y="37"/>
                  </a:lnTo>
                  <a:lnTo>
                    <a:pt x="55" y="36"/>
                  </a:lnTo>
                  <a:lnTo>
                    <a:pt x="55" y="34"/>
                  </a:lnTo>
                  <a:lnTo>
                    <a:pt x="55" y="33"/>
                  </a:lnTo>
                  <a:lnTo>
                    <a:pt x="55" y="32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28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/>
            <p:cNvSpPr>
              <a:spLocks/>
            </p:cNvSpPr>
            <p:nvPr/>
          </p:nvSpPr>
          <p:spPr bwMode="auto">
            <a:xfrm>
              <a:off x="1165" y="988"/>
              <a:ext cx="34" cy="33"/>
            </a:xfrm>
            <a:custGeom>
              <a:avLst/>
              <a:gdLst>
                <a:gd name="T0" fmla="*/ 67 w 67"/>
                <a:gd name="T1" fmla="*/ 30 h 65"/>
                <a:gd name="T2" fmla="*/ 66 w 67"/>
                <a:gd name="T3" fmla="*/ 24 h 65"/>
                <a:gd name="T4" fmla="*/ 64 w 67"/>
                <a:gd name="T5" fmla="*/ 20 h 65"/>
                <a:gd name="T6" fmla="*/ 63 w 67"/>
                <a:gd name="T7" fmla="*/ 15 h 65"/>
                <a:gd name="T8" fmla="*/ 60 w 67"/>
                <a:gd name="T9" fmla="*/ 12 h 65"/>
                <a:gd name="T10" fmla="*/ 56 w 67"/>
                <a:gd name="T11" fmla="*/ 8 h 65"/>
                <a:gd name="T12" fmla="*/ 52 w 67"/>
                <a:gd name="T13" fmla="*/ 5 h 65"/>
                <a:gd name="T14" fmla="*/ 48 w 67"/>
                <a:gd name="T15" fmla="*/ 2 h 65"/>
                <a:gd name="T16" fmla="*/ 44 w 67"/>
                <a:gd name="T17" fmla="*/ 1 h 65"/>
                <a:gd name="T18" fmla="*/ 38 w 67"/>
                <a:gd name="T19" fmla="*/ 0 h 65"/>
                <a:gd name="T20" fmla="*/ 34 w 67"/>
                <a:gd name="T21" fmla="*/ 0 h 65"/>
                <a:gd name="T22" fmla="*/ 30 w 67"/>
                <a:gd name="T23" fmla="*/ 0 h 65"/>
                <a:gd name="T24" fmla="*/ 26 w 67"/>
                <a:gd name="T25" fmla="*/ 0 h 65"/>
                <a:gd name="T26" fmla="*/ 21 w 67"/>
                <a:gd name="T27" fmla="*/ 2 h 65"/>
                <a:gd name="T28" fmla="*/ 16 w 67"/>
                <a:gd name="T29" fmla="*/ 4 h 65"/>
                <a:gd name="T30" fmla="*/ 12 w 67"/>
                <a:gd name="T31" fmla="*/ 6 h 65"/>
                <a:gd name="T32" fmla="*/ 10 w 67"/>
                <a:gd name="T33" fmla="*/ 10 h 65"/>
                <a:gd name="T34" fmla="*/ 5 w 67"/>
                <a:gd name="T35" fmla="*/ 13 h 65"/>
                <a:gd name="T36" fmla="*/ 4 w 67"/>
                <a:gd name="T37" fmla="*/ 17 h 65"/>
                <a:gd name="T38" fmla="*/ 1 w 67"/>
                <a:gd name="T39" fmla="*/ 23 h 65"/>
                <a:gd name="T40" fmla="*/ 1 w 67"/>
                <a:gd name="T41" fmla="*/ 27 h 65"/>
                <a:gd name="T42" fmla="*/ 0 w 67"/>
                <a:gd name="T43" fmla="*/ 32 h 65"/>
                <a:gd name="T44" fmla="*/ 0 w 67"/>
                <a:gd name="T45" fmla="*/ 37 h 65"/>
                <a:gd name="T46" fmla="*/ 1 w 67"/>
                <a:gd name="T47" fmla="*/ 41 h 65"/>
                <a:gd name="T48" fmla="*/ 3 w 67"/>
                <a:gd name="T49" fmla="*/ 46 h 65"/>
                <a:gd name="T50" fmla="*/ 5 w 67"/>
                <a:gd name="T51" fmla="*/ 50 h 65"/>
                <a:gd name="T52" fmla="*/ 8 w 67"/>
                <a:gd name="T53" fmla="*/ 54 h 65"/>
                <a:gd name="T54" fmla="*/ 11 w 67"/>
                <a:gd name="T55" fmla="*/ 57 h 65"/>
                <a:gd name="T56" fmla="*/ 15 w 67"/>
                <a:gd name="T57" fmla="*/ 60 h 65"/>
                <a:gd name="T58" fmla="*/ 19 w 67"/>
                <a:gd name="T59" fmla="*/ 63 h 65"/>
                <a:gd name="T60" fmla="*/ 23 w 67"/>
                <a:gd name="T61" fmla="*/ 64 h 65"/>
                <a:gd name="T62" fmla="*/ 29 w 67"/>
                <a:gd name="T63" fmla="*/ 65 h 65"/>
                <a:gd name="T64" fmla="*/ 34 w 67"/>
                <a:gd name="T65" fmla="*/ 65 h 65"/>
                <a:gd name="T66" fmla="*/ 37 w 67"/>
                <a:gd name="T67" fmla="*/ 65 h 65"/>
                <a:gd name="T68" fmla="*/ 42 w 67"/>
                <a:gd name="T69" fmla="*/ 65 h 65"/>
                <a:gd name="T70" fmla="*/ 47 w 67"/>
                <a:gd name="T71" fmla="*/ 64 h 65"/>
                <a:gd name="T72" fmla="*/ 51 w 67"/>
                <a:gd name="T73" fmla="*/ 61 h 65"/>
                <a:gd name="T74" fmla="*/ 55 w 67"/>
                <a:gd name="T75" fmla="*/ 59 h 65"/>
                <a:gd name="T76" fmla="*/ 59 w 67"/>
                <a:gd name="T77" fmla="*/ 54 h 65"/>
                <a:gd name="T78" fmla="*/ 62 w 67"/>
                <a:gd name="T79" fmla="*/ 52 h 65"/>
                <a:gd name="T80" fmla="*/ 64 w 67"/>
                <a:gd name="T81" fmla="*/ 48 h 65"/>
                <a:gd name="T82" fmla="*/ 66 w 67"/>
                <a:gd name="T83" fmla="*/ 42 h 65"/>
                <a:gd name="T84" fmla="*/ 67 w 67"/>
                <a:gd name="T85" fmla="*/ 38 h 65"/>
                <a:gd name="T86" fmla="*/ 67 w 67"/>
                <a:gd name="T87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7" h="65">
                  <a:moveTo>
                    <a:pt x="67" y="32"/>
                  </a:moveTo>
                  <a:lnTo>
                    <a:pt x="67" y="31"/>
                  </a:lnTo>
                  <a:lnTo>
                    <a:pt x="67" y="30"/>
                  </a:lnTo>
                  <a:lnTo>
                    <a:pt x="67" y="27"/>
                  </a:lnTo>
                  <a:lnTo>
                    <a:pt x="67" y="26"/>
                  </a:lnTo>
                  <a:lnTo>
                    <a:pt x="66" y="24"/>
                  </a:lnTo>
                  <a:lnTo>
                    <a:pt x="66" y="23"/>
                  </a:lnTo>
                  <a:lnTo>
                    <a:pt x="66" y="21"/>
                  </a:lnTo>
                  <a:lnTo>
                    <a:pt x="64" y="20"/>
                  </a:lnTo>
                  <a:lnTo>
                    <a:pt x="64" y="17"/>
                  </a:lnTo>
                  <a:lnTo>
                    <a:pt x="63" y="16"/>
                  </a:lnTo>
                  <a:lnTo>
                    <a:pt x="63" y="15"/>
                  </a:lnTo>
                  <a:lnTo>
                    <a:pt x="62" y="13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9" y="10"/>
                  </a:lnTo>
                  <a:lnTo>
                    <a:pt x="58" y="9"/>
                  </a:lnTo>
                  <a:lnTo>
                    <a:pt x="56" y="8"/>
                  </a:lnTo>
                  <a:lnTo>
                    <a:pt x="55" y="6"/>
                  </a:lnTo>
                  <a:lnTo>
                    <a:pt x="53" y="5"/>
                  </a:lnTo>
                  <a:lnTo>
                    <a:pt x="52" y="5"/>
                  </a:lnTo>
                  <a:lnTo>
                    <a:pt x="51" y="4"/>
                  </a:lnTo>
                  <a:lnTo>
                    <a:pt x="49" y="4"/>
                  </a:lnTo>
                  <a:lnTo>
                    <a:pt x="48" y="2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5"/>
                  </a:lnTo>
                  <a:lnTo>
                    <a:pt x="14" y="5"/>
                  </a:lnTo>
                  <a:lnTo>
                    <a:pt x="12" y="6"/>
                  </a:lnTo>
                  <a:lnTo>
                    <a:pt x="11" y="8"/>
                  </a:lnTo>
                  <a:lnTo>
                    <a:pt x="10" y="9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7" y="12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3"/>
                  </a:lnTo>
                  <a:lnTo>
                    <a:pt x="3" y="46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7" y="53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0" y="56"/>
                  </a:lnTo>
                  <a:lnTo>
                    <a:pt x="11" y="57"/>
                  </a:lnTo>
                  <a:lnTo>
                    <a:pt x="12" y="59"/>
                  </a:lnTo>
                  <a:lnTo>
                    <a:pt x="14" y="60"/>
                  </a:lnTo>
                  <a:lnTo>
                    <a:pt x="15" y="60"/>
                  </a:lnTo>
                  <a:lnTo>
                    <a:pt x="16" y="61"/>
                  </a:lnTo>
                  <a:lnTo>
                    <a:pt x="18" y="61"/>
                  </a:lnTo>
                  <a:lnTo>
                    <a:pt x="19" y="63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3" y="64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5"/>
                  </a:lnTo>
                  <a:lnTo>
                    <a:pt x="37" y="65"/>
                  </a:lnTo>
                  <a:lnTo>
                    <a:pt x="38" y="65"/>
                  </a:lnTo>
                  <a:lnTo>
                    <a:pt x="41" y="65"/>
                  </a:lnTo>
                  <a:lnTo>
                    <a:pt x="42" y="65"/>
                  </a:lnTo>
                  <a:lnTo>
                    <a:pt x="44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8" y="63"/>
                  </a:lnTo>
                  <a:lnTo>
                    <a:pt x="49" y="61"/>
                  </a:lnTo>
                  <a:lnTo>
                    <a:pt x="51" y="61"/>
                  </a:lnTo>
                  <a:lnTo>
                    <a:pt x="52" y="60"/>
                  </a:lnTo>
                  <a:lnTo>
                    <a:pt x="53" y="60"/>
                  </a:lnTo>
                  <a:lnTo>
                    <a:pt x="55" y="59"/>
                  </a:lnTo>
                  <a:lnTo>
                    <a:pt x="56" y="57"/>
                  </a:lnTo>
                  <a:lnTo>
                    <a:pt x="58" y="56"/>
                  </a:lnTo>
                  <a:lnTo>
                    <a:pt x="59" y="54"/>
                  </a:lnTo>
                  <a:lnTo>
                    <a:pt x="60" y="54"/>
                  </a:lnTo>
                  <a:lnTo>
                    <a:pt x="60" y="53"/>
                  </a:lnTo>
                  <a:lnTo>
                    <a:pt x="62" y="52"/>
                  </a:lnTo>
                  <a:lnTo>
                    <a:pt x="63" y="50"/>
                  </a:lnTo>
                  <a:lnTo>
                    <a:pt x="63" y="49"/>
                  </a:lnTo>
                  <a:lnTo>
                    <a:pt x="64" y="48"/>
                  </a:lnTo>
                  <a:lnTo>
                    <a:pt x="64" y="46"/>
                  </a:lnTo>
                  <a:lnTo>
                    <a:pt x="66" y="43"/>
                  </a:lnTo>
                  <a:lnTo>
                    <a:pt x="66" y="42"/>
                  </a:lnTo>
                  <a:lnTo>
                    <a:pt x="66" y="41"/>
                  </a:lnTo>
                  <a:lnTo>
                    <a:pt x="67" y="39"/>
                  </a:lnTo>
                  <a:lnTo>
                    <a:pt x="67" y="38"/>
                  </a:lnTo>
                  <a:lnTo>
                    <a:pt x="67" y="37"/>
                  </a:lnTo>
                  <a:lnTo>
                    <a:pt x="67" y="34"/>
                  </a:lnTo>
                  <a:lnTo>
                    <a:pt x="67" y="32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5"/>
            <p:cNvSpPr>
              <a:spLocks noChangeShapeType="1"/>
            </p:cNvSpPr>
            <p:nvPr/>
          </p:nvSpPr>
          <p:spPr bwMode="auto">
            <a:xfrm flipH="1">
              <a:off x="3314" y="3412"/>
              <a:ext cx="49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2358" y="733"/>
              <a:ext cx="8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200">
                  <a:solidFill>
                    <a:srgbClr val="000000"/>
                  </a:solidFill>
                  <a:latin typeface="Times-Roman"/>
                </a:rPr>
                <a:t>3 </a:t>
              </a:r>
              <a:endParaRPr lang="en-US" altLang="en-US"/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 flipV="1">
              <a:off x="1476" y="1490"/>
              <a:ext cx="1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38"/>
            <p:cNvSpPr>
              <a:spLocks noChangeShapeType="1"/>
            </p:cNvSpPr>
            <p:nvPr/>
          </p:nvSpPr>
          <p:spPr bwMode="auto">
            <a:xfrm>
              <a:off x="1476" y="1078"/>
              <a:ext cx="1" cy="1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/>
            <p:cNvSpPr>
              <a:spLocks/>
            </p:cNvSpPr>
            <p:nvPr/>
          </p:nvSpPr>
          <p:spPr bwMode="auto">
            <a:xfrm>
              <a:off x="1366" y="1202"/>
              <a:ext cx="219" cy="220"/>
            </a:xfrm>
            <a:custGeom>
              <a:avLst/>
              <a:gdLst>
                <a:gd name="T0" fmla="*/ 219 w 439"/>
                <a:gd name="T1" fmla="*/ 439 h 439"/>
                <a:gd name="T2" fmla="*/ 0 w 439"/>
                <a:gd name="T3" fmla="*/ 0 h 439"/>
                <a:gd name="T4" fmla="*/ 439 w 439"/>
                <a:gd name="T5" fmla="*/ 0 h 439"/>
                <a:gd name="T6" fmla="*/ 219 w 439"/>
                <a:gd name="T7" fmla="*/ 439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9" h="439">
                  <a:moveTo>
                    <a:pt x="219" y="439"/>
                  </a:moveTo>
                  <a:lnTo>
                    <a:pt x="0" y="0"/>
                  </a:lnTo>
                  <a:lnTo>
                    <a:pt x="439" y="0"/>
                  </a:lnTo>
                  <a:lnTo>
                    <a:pt x="219" y="439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/>
            <p:cNvSpPr>
              <a:spLocks/>
            </p:cNvSpPr>
            <p:nvPr/>
          </p:nvSpPr>
          <p:spPr bwMode="auto">
            <a:xfrm>
              <a:off x="1447" y="1435"/>
              <a:ext cx="59" cy="57"/>
            </a:xfrm>
            <a:custGeom>
              <a:avLst/>
              <a:gdLst>
                <a:gd name="T0" fmla="*/ 116 w 116"/>
                <a:gd name="T1" fmla="*/ 52 h 115"/>
                <a:gd name="T2" fmla="*/ 115 w 116"/>
                <a:gd name="T3" fmla="*/ 43 h 115"/>
                <a:gd name="T4" fmla="*/ 112 w 116"/>
                <a:gd name="T5" fmla="*/ 36 h 115"/>
                <a:gd name="T6" fmla="*/ 108 w 116"/>
                <a:gd name="T7" fmla="*/ 28 h 115"/>
                <a:gd name="T8" fmla="*/ 103 w 116"/>
                <a:gd name="T9" fmla="*/ 21 h 115"/>
                <a:gd name="T10" fmla="*/ 97 w 116"/>
                <a:gd name="T11" fmla="*/ 15 h 115"/>
                <a:gd name="T12" fmla="*/ 90 w 116"/>
                <a:gd name="T13" fmla="*/ 10 h 115"/>
                <a:gd name="T14" fmla="*/ 83 w 116"/>
                <a:gd name="T15" fmla="*/ 6 h 115"/>
                <a:gd name="T16" fmla="*/ 75 w 116"/>
                <a:gd name="T17" fmla="*/ 3 h 115"/>
                <a:gd name="T18" fmla="*/ 67 w 116"/>
                <a:gd name="T19" fmla="*/ 0 h 115"/>
                <a:gd name="T20" fmla="*/ 59 w 116"/>
                <a:gd name="T21" fmla="*/ 0 h 115"/>
                <a:gd name="T22" fmla="*/ 52 w 116"/>
                <a:gd name="T23" fmla="*/ 0 h 115"/>
                <a:gd name="T24" fmla="*/ 44 w 116"/>
                <a:gd name="T25" fmla="*/ 1 h 115"/>
                <a:gd name="T26" fmla="*/ 35 w 116"/>
                <a:gd name="T27" fmla="*/ 4 h 115"/>
                <a:gd name="T28" fmla="*/ 29 w 116"/>
                <a:gd name="T29" fmla="*/ 8 h 115"/>
                <a:gd name="T30" fmla="*/ 22 w 116"/>
                <a:gd name="T31" fmla="*/ 12 h 115"/>
                <a:gd name="T32" fmla="*/ 15 w 116"/>
                <a:gd name="T33" fmla="*/ 19 h 115"/>
                <a:gd name="T34" fmla="*/ 11 w 116"/>
                <a:gd name="T35" fmla="*/ 25 h 115"/>
                <a:gd name="T36" fmla="*/ 5 w 116"/>
                <a:gd name="T37" fmla="*/ 33 h 115"/>
                <a:gd name="T38" fmla="*/ 3 w 116"/>
                <a:gd name="T39" fmla="*/ 40 h 115"/>
                <a:gd name="T40" fmla="*/ 1 w 116"/>
                <a:gd name="T41" fmla="*/ 50 h 115"/>
                <a:gd name="T42" fmla="*/ 0 w 116"/>
                <a:gd name="T43" fmla="*/ 58 h 115"/>
                <a:gd name="T44" fmla="*/ 1 w 116"/>
                <a:gd name="T45" fmla="*/ 63 h 115"/>
                <a:gd name="T46" fmla="*/ 3 w 116"/>
                <a:gd name="T47" fmla="*/ 73 h 115"/>
                <a:gd name="T48" fmla="*/ 5 w 116"/>
                <a:gd name="T49" fmla="*/ 81 h 115"/>
                <a:gd name="T50" fmla="*/ 8 w 116"/>
                <a:gd name="T51" fmla="*/ 88 h 115"/>
                <a:gd name="T52" fmla="*/ 13 w 116"/>
                <a:gd name="T53" fmla="*/ 95 h 115"/>
                <a:gd name="T54" fmla="*/ 19 w 116"/>
                <a:gd name="T55" fmla="*/ 100 h 115"/>
                <a:gd name="T56" fmla="*/ 26 w 116"/>
                <a:gd name="T57" fmla="*/ 106 h 115"/>
                <a:gd name="T58" fmla="*/ 33 w 116"/>
                <a:gd name="T59" fmla="*/ 110 h 115"/>
                <a:gd name="T60" fmla="*/ 41 w 116"/>
                <a:gd name="T61" fmla="*/ 114 h 115"/>
                <a:gd name="T62" fmla="*/ 49 w 116"/>
                <a:gd name="T63" fmla="*/ 115 h 115"/>
                <a:gd name="T64" fmla="*/ 59 w 116"/>
                <a:gd name="T65" fmla="*/ 115 h 115"/>
                <a:gd name="T66" fmla="*/ 64 w 116"/>
                <a:gd name="T67" fmla="*/ 115 h 115"/>
                <a:gd name="T68" fmla="*/ 72 w 116"/>
                <a:gd name="T69" fmla="*/ 114 h 115"/>
                <a:gd name="T70" fmla="*/ 81 w 116"/>
                <a:gd name="T71" fmla="*/ 111 h 115"/>
                <a:gd name="T72" fmla="*/ 89 w 116"/>
                <a:gd name="T73" fmla="*/ 107 h 115"/>
                <a:gd name="T74" fmla="*/ 96 w 116"/>
                <a:gd name="T75" fmla="*/ 103 h 115"/>
                <a:gd name="T76" fmla="*/ 101 w 116"/>
                <a:gd name="T77" fmla="*/ 98 h 115"/>
                <a:gd name="T78" fmla="*/ 107 w 116"/>
                <a:gd name="T79" fmla="*/ 91 h 115"/>
                <a:gd name="T80" fmla="*/ 111 w 116"/>
                <a:gd name="T81" fmla="*/ 82 h 115"/>
                <a:gd name="T82" fmla="*/ 114 w 116"/>
                <a:gd name="T83" fmla="*/ 76 h 115"/>
                <a:gd name="T84" fmla="*/ 116 w 116"/>
                <a:gd name="T85" fmla="*/ 66 h 115"/>
                <a:gd name="T86" fmla="*/ 116 w 116"/>
                <a:gd name="T87" fmla="*/ 5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6" h="115">
                  <a:moveTo>
                    <a:pt x="116" y="58"/>
                  </a:moveTo>
                  <a:lnTo>
                    <a:pt x="116" y="55"/>
                  </a:lnTo>
                  <a:lnTo>
                    <a:pt x="116" y="52"/>
                  </a:lnTo>
                  <a:lnTo>
                    <a:pt x="116" y="50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4" y="40"/>
                  </a:lnTo>
                  <a:lnTo>
                    <a:pt x="114" y="37"/>
                  </a:lnTo>
                  <a:lnTo>
                    <a:pt x="112" y="36"/>
                  </a:lnTo>
                  <a:lnTo>
                    <a:pt x="111" y="33"/>
                  </a:lnTo>
                  <a:lnTo>
                    <a:pt x="110" y="30"/>
                  </a:lnTo>
                  <a:lnTo>
                    <a:pt x="108" y="28"/>
                  </a:lnTo>
                  <a:lnTo>
                    <a:pt x="107" y="25"/>
                  </a:lnTo>
                  <a:lnTo>
                    <a:pt x="105" y="23"/>
                  </a:lnTo>
                  <a:lnTo>
                    <a:pt x="103" y="21"/>
                  </a:lnTo>
                  <a:lnTo>
                    <a:pt x="101" y="19"/>
                  </a:lnTo>
                  <a:lnTo>
                    <a:pt x="100" y="17"/>
                  </a:lnTo>
                  <a:lnTo>
                    <a:pt x="97" y="15"/>
                  </a:lnTo>
                  <a:lnTo>
                    <a:pt x="96" y="12"/>
                  </a:lnTo>
                  <a:lnTo>
                    <a:pt x="93" y="11"/>
                  </a:lnTo>
                  <a:lnTo>
                    <a:pt x="90" y="10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3" y="6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5" y="3"/>
                  </a:lnTo>
                  <a:lnTo>
                    <a:pt x="72" y="1"/>
                  </a:lnTo>
                  <a:lnTo>
                    <a:pt x="70" y="1"/>
                  </a:lnTo>
                  <a:lnTo>
                    <a:pt x="67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5" y="4"/>
                  </a:lnTo>
                  <a:lnTo>
                    <a:pt x="33" y="6"/>
                  </a:lnTo>
                  <a:lnTo>
                    <a:pt x="30" y="7"/>
                  </a:lnTo>
                  <a:lnTo>
                    <a:pt x="29" y="8"/>
                  </a:lnTo>
                  <a:lnTo>
                    <a:pt x="26" y="10"/>
                  </a:lnTo>
                  <a:lnTo>
                    <a:pt x="23" y="11"/>
                  </a:lnTo>
                  <a:lnTo>
                    <a:pt x="22" y="12"/>
                  </a:lnTo>
                  <a:lnTo>
                    <a:pt x="19" y="15"/>
                  </a:lnTo>
                  <a:lnTo>
                    <a:pt x="18" y="17"/>
                  </a:lnTo>
                  <a:lnTo>
                    <a:pt x="15" y="19"/>
                  </a:lnTo>
                  <a:lnTo>
                    <a:pt x="13" y="21"/>
                  </a:lnTo>
                  <a:lnTo>
                    <a:pt x="12" y="23"/>
                  </a:lnTo>
                  <a:lnTo>
                    <a:pt x="11" y="25"/>
                  </a:lnTo>
                  <a:lnTo>
                    <a:pt x="8" y="28"/>
                  </a:lnTo>
                  <a:lnTo>
                    <a:pt x="7" y="30"/>
                  </a:lnTo>
                  <a:lnTo>
                    <a:pt x="5" y="33"/>
                  </a:lnTo>
                  <a:lnTo>
                    <a:pt x="5" y="36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1" y="52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1"/>
                  </a:lnTo>
                  <a:lnTo>
                    <a:pt x="1" y="63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3" y="73"/>
                  </a:lnTo>
                  <a:lnTo>
                    <a:pt x="3" y="76"/>
                  </a:lnTo>
                  <a:lnTo>
                    <a:pt x="4" y="78"/>
                  </a:lnTo>
                  <a:lnTo>
                    <a:pt x="5" y="81"/>
                  </a:lnTo>
                  <a:lnTo>
                    <a:pt x="5" y="82"/>
                  </a:lnTo>
                  <a:lnTo>
                    <a:pt x="7" y="85"/>
                  </a:lnTo>
                  <a:lnTo>
                    <a:pt x="8" y="88"/>
                  </a:lnTo>
                  <a:lnTo>
                    <a:pt x="11" y="91"/>
                  </a:lnTo>
                  <a:lnTo>
                    <a:pt x="12" y="92"/>
                  </a:lnTo>
                  <a:lnTo>
                    <a:pt x="13" y="95"/>
                  </a:lnTo>
                  <a:lnTo>
                    <a:pt x="15" y="98"/>
                  </a:lnTo>
                  <a:lnTo>
                    <a:pt x="18" y="99"/>
                  </a:lnTo>
                  <a:lnTo>
                    <a:pt x="19" y="100"/>
                  </a:lnTo>
                  <a:lnTo>
                    <a:pt x="22" y="103"/>
                  </a:lnTo>
                  <a:lnTo>
                    <a:pt x="23" y="104"/>
                  </a:lnTo>
                  <a:lnTo>
                    <a:pt x="26" y="106"/>
                  </a:lnTo>
                  <a:lnTo>
                    <a:pt x="29" y="107"/>
                  </a:lnTo>
                  <a:lnTo>
                    <a:pt x="30" y="109"/>
                  </a:lnTo>
                  <a:lnTo>
                    <a:pt x="33" y="110"/>
                  </a:lnTo>
                  <a:lnTo>
                    <a:pt x="35" y="111"/>
                  </a:lnTo>
                  <a:lnTo>
                    <a:pt x="38" y="113"/>
                  </a:lnTo>
                  <a:lnTo>
                    <a:pt x="41" y="114"/>
                  </a:lnTo>
                  <a:lnTo>
                    <a:pt x="44" y="114"/>
                  </a:lnTo>
                  <a:lnTo>
                    <a:pt x="46" y="115"/>
                  </a:lnTo>
                  <a:lnTo>
                    <a:pt x="49" y="115"/>
                  </a:lnTo>
                  <a:lnTo>
                    <a:pt x="52" y="115"/>
                  </a:lnTo>
                  <a:lnTo>
                    <a:pt x="56" y="115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62" y="115"/>
                  </a:lnTo>
                  <a:lnTo>
                    <a:pt x="64" y="115"/>
                  </a:lnTo>
                  <a:lnTo>
                    <a:pt x="67" y="115"/>
                  </a:lnTo>
                  <a:lnTo>
                    <a:pt x="70" y="115"/>
                  </a:lnTo>
                  <a:lnTo>
                    <a:pt x="72" y="114"/>
                  </a:lnTo>
                  <a:lnTo>
                    <a:pt x="75" y="114"/>
                  </a:lnTo>
                  <a:lnTo>
                    <a:pt x="78" y="113"/>
                  </a:lnTo>
                  <a:lnTo>
                    <a:pt x="81" y="111"/>
                  </a:lnTo>
                  <a:lnTo>
                    <a:pt x="83" y="110"/>
                  </a:lnTo>
                  <a:lnTo>
                    <a:pt x="86" y="109"/>
                  </a:lnTo>
                  <a:lnTo>
                    <a:pt x="89" y="107"/>
                  </a:lnTo>
                  <a:lnTo>
                    <a:pt x="90" y="106"/>
                  </a:lnTo>
                  <a:lnTo>
                    <a:pt x="93" y="104"/>
                  </a:lnTo>
                  <a:lnTo>
                    <a:pt x="96" y="103"/>
                  </a:lnTo>
                  <a:lnTo>
                    <a:pt x="97" y="100"/>
                  </a:lnTo>
                  <a:lnTo>
                    <a:pt x="100" y="99"/>
                  </a:lnTo>
                  <a:lnTo>
                    <a:pt x="101" y="98"/>
                  </a:lnTo>
                  <a:lnTo>
                    <a:pt x="103" y="95"/>
                  </a:lnTo>
                  <a:lnTo>
                    <a:pt x="105" y="92"/>
                  </a:lnTo>
                  <a:lnTo>
                    <a:pt x="107" y="91"/>
                  </a:lnTo>
                  <a:lnTo>
                    <a:pt x="108" y="88"/>
                  </a:lnTo>
                  <a:lnTo>
                    <a:pt x="110" y="85"/>
                  </a:lnTo>
                  <a:lnTo>
                    <a:pt x="111" y="82"/>
                  </a:lnTo>
                  <a:lnTo>
                    <a:pt x="112" y="81"/>
                  </a:lnTo>
                  <a:lnTo>
                    <a:pt x="114" y="78"/>
                  </a:lnTo>
                  <a:lnTo>
                    <a:pt x="114" y="76"/>
                  </a:lnTo>
                  <a:lnTo>
                    <a:pt x="115" y="73"/>
                  </a:lnTo>
                  <a:lnTo>
                    <a:pt x="115" y="70"/>
                  </a:lnTo>
                  <a:lnTo>
                    <a:pt x="116" y="66"/>
                  </a:lnTo>
                  <a:lnTo>
                    <a:pt x="116" y="63"/>
                  </a:lnTo>
                  <a:lnTo>
                    <a:pt x="116" y="61"/>
                  </a:lnTo>
                  <a:lnTo>
                    <a:pt x="116" y="58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41"/>
            <p:cNvSpPr>
              <a:spLocks noChangeShapeType="1"/>
            </p:cNvSpPr>
            <p:nvPr/>
          </p:nvSpPr>
          <p:spPr bwMode="auto">
            <a:xfrm flipV="1">
              <a:off x="2065" y="1490"/>
              <a:ext cx="1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2"/>
            <p:cNvSpPr>
              <a:spLocks noChangeShapeType="1"/>
            </p:cNvSpPr>
            <p:nvPr/>
          </p:nvSpPr>
          <p:spPr bwMode="auto">
            <a:xfrm>
              <a:off x="2065" y="1078"/>
              <a:ext cx="1" cy="1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/>
            <p:cNvSpPr>
              <a:spLocks/>
            </p:cNvSpPr>
            <p:nvPr/>
          </p:nvSpPr>
          <p:spPr bwMode="auto">
            <a:xfrm>
              <a:off x="1956" y="1202"/>
              <a:ext cx="219" cy="220"/>
            </a:xfrm>
            <a:custGeom>
              <a:avLst/>
              <a:gdLst>
                <a:gd name="T0" fmla="*/ 220 w 439"/>
                <a:gd name="T1" fmla="*/ 439 h 439"/>
                <a:gd name="T2" fmla="*/ 0 w 439"/>
                <a:gd name="T3" fmla="*/ 0 h 439"/>
                <a:gd name="T4" fmla="*/ 439 w 439"/>
                <a:gd name="T5" fmla="*/ 0 h 439"/>
                <a:gd name="T6" fmla="*/ 220 w 439"/>
                <a:gd name="T7" fmla="*/ 439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9" h="439">
                  <a:moveTo>
                    <a:pt x="220" y="439"/>
                  </a:moveTo>
                  <a:lnTo>
                    <a:pt x="0" y="0"/>
                  </a:lnTo>
                  <a:lnTo>
                    <a:pt x="439" y="0"/>
                  </a:lnTo>
                  <a:lnTo>
                    <a:pt x="220" y="439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/>
            <p:cNvSpPr>
              <a:spLocks/>
            </p:cNvSpPr>
            <p:nvPr/>
          </p:nvSpPr>
          <p:spPr bwMode="auto">
            <a:xfrm>
              <a:off x="2037" y="1435"/>
              <a:ext cx="59" cy="57"/>
            </a:xfrm>
            <a:custGeom>
              <a:avLst/>
              <a:gdLst>
                <a:gd name="T0" fmla="*/ 116 w 116"/>
                <a:gd name="T1" fmla="*/ 52 h 115"/>
                <a:gd name="T2" fmla="*/ 115 w 116"/>
                <a:gd name="T3" fmla="*/ 43 h 115"/>
                <a:gd name="T4" fmla="*/ 112 w 116"/>
                <a:gd name="T5" fmla="*/ 36 h 115"/>
                <a:gd name="T6" fmla="*/ 108 w 116"/>
                <a:gd name="T7" fmla="*/ 28 h 115"/>
                <a:gd name="T8" fmla="*/ 102 w 116"/>
                <a:gd name="T9" fmla="*/ 21 h 115"/>
                <a:gd name="T10" fmla="*/ 97 w 116"/>
                <a:gd name="T11" fmla="*/ 15 h 115"/>
                <a:gd name="T12" fmla="*/ 90 w 116"/>
                <a:gd name="T13" fmla="*/ 10 h 115"/>
                <a:gd name="T14" fmla="*/ 83 w 116"/>
                <a:gd name="T15" fmla="*/ 6 h 115"/>
                <a:gd name="T16" fmla="*/ 75 w 116"/>
                <a:gd name="T17" fmla="*/ 3 h 115"/>
                <a:gd name="T18" fmla="*/ 67 w 116"/>
                <a:gd name="T19" fmla="*/ 0 h 115"/>
                <a:gd name="T20" fmla="*/ 59 w 116"/>
                <a:gd name="T21" fmla="*/ 0 h 115"/>
                <a:gd name="T22" fmla="*/ 52 w 116"/>
                <a:gd name="T23" fmla="*/ 0 h 115"/>
                <a:gd name="T24" fmla="*/ 44 w 116"/>
                <a:gd name="T25" fmla="*/ 1 h 115"/>
                <a:gd name="T26" fmla="*/ 35 w 116"/>
                <a:gd name="T27" fmla="*/ 4 h 115"/>
                <a:gd name="T28" fmla="*/ 28 w 116"/>
                <a:gd name="T29" fmla="*/ 8 h 115"/>
                <a:gd name="T30" fmla="*/ 22 w 116"/>
                <a:gd name="T31" fmla="*/ 12 h 115"/>
                <a:gd name="T32" fmla="*/ 15 w 116"/>
                <a:gd name="T33" fmla="*/ 19 h 115"/>
                <a:gd name="T34" fmla="*/ 11 w 116"/>
                <a:gd name="T35" fmla="*/ 25 h 115"/>
                <a:gd name="T36" fmla="*/ 5 w 116"/>
                <a:gd name="T37" fmla="*/ 33 h 115"/>
                <a:gd name="T38" fmla="*/ 2 w 116"/>
                <a:gd name="T39" fmla="*/ 40 h 115"/>
                <a:gd name="T40" fmla="*/ 1 w 116"/>
                <a:gd name="T41" fmla="*/ 50 h 115"/>
                <a:gd name="T42" fmla="*/ 0 w 116"/>
                <a:gd name="T43" fmla="*/ 58 h 115"/>
                <a:gd name="T44" fmla="*/ 1 w 116"/>
                <a:gd name="T45" fmla="*/ 63 h 115"/>
                <a:gd name="T46" fmla="*/ 2 w 116"/>
                <a:gd name="T47" fmla="*/ 73 h 115"/>
                <a:gd name="T48" fmla="*/ 5 w 116"/>
                <a:gd name="T49" fmla="*/ 81 h 115"/>
                <a:gd name="T50" fmla="*/ 8 w 116"/>
                <a:gd name="T51" fmla="*/ 88 h 115"/>
                <a:gd name="T52" fmla="*/ 13 w 116"/>
                <a:gd name="T53" fmla="*/ 95 h 115"/>
                <a:gd name="T54" fmla="*/ 19 w 116"/>
                <a:gd name="T55" fmla="*/ 100 h 115"/>
                <a:gd name="T56" fmla="*/ 26 w 116"/>
                <a:gd name="T57" fmla="*/ 106 h 115"/>
                <a:gd name="T58" fmla="*/ 33 w 116"/>
                <a:gd name="T59" fmla="*/ 110 h 115"/>
                <a:gd name="T60" fmla="*/ 41 w 116"/>
                <a:gd name="T61" fmla="*/ 114 h 115"/>
                <a:gd name="T62" fmla="*/ 49 w 116"/>
                <a:gd name="T63" fmla="*/ 115 h 115"/>
                <a:gd name="T64" fmla="*/ 59 w 116"/>
                <a:gd name="T65" fmla="*/ 115 h 115"/>
                <a:gd name="T66" fmla="*/ 64 w 116"/>
                <a:gd name="T67" fmla="*/ 115 h 115"/>
                <a:gd name="T68" fmla="*/ 72 w 116"/>
                <a:gd name="T69" fmla="*/ 114 h 115"/>
                <a:gd name="T70" fmla="*/ 81 w 116"/>
                <a:gd name="T71" fmla="*/ 111 h 115"/>
                <a:gd name="T72" fmla="*/ 89 w 116"/>
                <a:gd name="T73" fmla="*/ 107 h 115"/>
                <a:gd name="T74" fmla="*/ 96 w 116"/>
                <a:gd name="T75" fmla="*/ 103 h 115"/>
                <a:gd name="T76" fmla="*/ 101 w 116"/>
                <a:gd name="T77" fmla="*/ 98 h 115"/>
                <a:gd name="T78" fmla="*/ 107 w 116"/>
                <a:gd name="T79" fmla="*/ 91 h 115"/>
                <a:gd name="T80" fmla="*/ 111 w 116"/>
                <a:gd name="T81" fmla="*/ 82 h 115"/>
                <a:gd name="T82" fmla="*/ 113 w 116"/>
                <a:gd name="T83" fmla="*/ 76 h 115"/>
                <a:gd name="T84" fmla="*/ 116 w 116"/>
                <a:gd name="T85" fmla="*/ 66 h 115"/>
                <a:gd name="T86" fmla="*/ 116 w 116"/>
                <a:gd name="T87" fmla="*/ 5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6" h="115">
                  <a:moveTo>
                    <a:pt x="116" y="58"/>
                  </a:moveTo>
                  <a:lnTo>
                    <a:pt x="116" y="55"/>
                  </a:lnTo>
                  <a:lnTo>
                    <a:pt x="116" y="52"/>
                  </a:lnTo>
                  <a:lnTo>
                    <a:pt x="116" y="50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0"/>
                  </a:lnTo>
                  <a:lnTo>
                    <a:pt x="113" y="37"/>
                  </a:lnTo>
                  <a:lnTo>
                    <a:pt x="112" y="36"/>
                  </a:lnTo>
                  <a:lnTo>
                    <a:pt x="111" y="33"/>
                  </a:lnTo>
                  <a:lnTo>
                    <a:pt x="109" y="30"/>
                  </a:lnTo>
                  <a:lnTo>
                    <a:pt x="108" y="28"/>
                  </a:lnTo>
                  <a:lnTo>
                    <a:pt x="107" y="25"/>
                  </a:lnTo>
                  <a:lnTo>
                    <a:pt x="105" y="23"/>
                  </a:lnTo>
                  <a:lnTo>
                    <a:pt x="102" y="21"/>
                  </a:lnTo>
                  <a:lnTo>
                    <a:pt x="101" y="19"/>
                  </a:lnTo>
                  <a:lnTo>
                    <a:pt x="100" y="17"/>
                  </a:lnTo>
                  <a:lnTo>
                    <a:pt x="97" y="15"/>
                  </a:lnTo>
                  <a:lnTo>
                    <a:pt x="96" y="12"/>
                  </a:lnTo>
                  <a:lnTo>
                    <a:pt x="93" y="11"/>
                  </a:lnTo>
                  <a:lnTo>
                    <a:pt x="90" y="10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3" y="6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5" y="3"/>
                  </a:lnTo>
                  <a:lnTo>
                    <a:pt x="72" y="1"/>
                  </a:lnTo>
                  <a:lnTo>
                    <a:pt x="70" y="1"/>
                  </a:lnTo>
                  <a:lnTo>
                    <a:pt x="67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5" y="4"/>
                  </a:lnTo>
                  <a:lnTo>
                    <a:pt x="33" y="6"/>
                  </a:lnTo>
                  <a:lnTo>
                    <a:pt x="30" y="7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3" y="11"/>
                  </a:lnTo>
                  <a:lnTo>
                    <a:pt x="22" y="12"/>
                  </a:lnTo>
                  <a:lnTo>
                    <a:pt x="19" y="15"/>
                  </a:lnTo>
                  <a:lnTo>
                    <a:pt x="17" y="17"/>
                  </a:lnTo>
                  <a:lnTo>
                    <a:pt x="15" y="19"/>
                  </a:lnTo>
                  <a:lnTo>
                    <a:pt x="13" y="21"/>
                  </a:lnTo>
                  <a:lnTo>
                    <a:pt x="12" y="23"/>
                  </a:lnTo>
                  <a:lnTo>
                    <a:pt x="11" y="25"/>
                  </a:lnTo>
                  <a:lnTo>
                    <a:pt x="8" y="28"/>
                  </a:lnTo>
                  <a:lnTo>
                    <a:pt x="6" y="30"/>
                  </a:lnTo>
                  <a:lnTo>
                    <a:pt x="5" y="33"/>
                  </a:lnTo>
                  <a:lnTo>
                    <a:pt x="5" y="36"/>
                  </a:lnTo>
                  <a:lnTo>
                    <a:pt x="4" y="37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1" y="52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1"/>
                  </a:lnTo>
                  <a:lnTo>
                    <a:pt x="1" y="63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2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5" y="81"/>
                  </a:lnTo>
                  <a:lnTo>
                    <a:pt x="5" y="82"/>
                  </a:lnTo>
                  <a:lnTo>
                    <a:pt x="6" y="85"/>
                  </a:lnTo>
                  <a:lnTo>
                    <a:pt x="8" y="88"/>
                  </a:lnTo>
                  <a:lnTo>
                    <a:pt x="11" y="91"/>
                  </a:lnTo>
                  <a:lnTo>
                    <a:pt x="12" y="92"/>
                  </a:lnTo>
                  <a:lnTo>
                    <a:pt x="13" y="95"/>
                  </a:lnTo>
                  <a:lnTo>
                    <a:pt x="15" y="98"/>
                  </a:lnTo>
                  <a:lnTo>
                    <a:pt x="17" y="99"/>
                  </a:lnTo>
                  <a:lnTo>
                    <a:pt x="19" y="100"/>
                  </a:lnTo>
                  <a:lnTo>
                    <a:pt x="22" y="103"/>
                  </a:lnTo>
                  <a:lnTo>
                    <a:pt x="23" y="104"/>
                  </a:lnTo>
                  <a:lnTo>
                    <a:pt x="26" y="106"/>
                  </a:lnTo>
                  <a:lnTo>
                    <a:pt x="28" y="107"/>
                  </a:lnTo>
                  <a:lnTo>
                    <a:pt x="30" y="109"/>
                  </a:lnTo>
                  <a:lnTo>
                    <a:pt x="33" y="110"/>
                  </a:lnTo>
                  <a:lnTo>
                    <a:pt x="35" y="111"/>
                  </a:lnTo>
                  <a:lnTo>
                    <a:pt x="38" y="113"/>
                  </a:lnTo>
                  <a:lnTo>
                    <a:pt x="41" y="114"/>
                  </a:lnTo>
                  <a:lnTo>
                    <a:pt x="44" y="114"/>
                  </a:lnTo>
                  <a:lnTo>
                    <a:pt x="46" y="115"/>
                  </a:lnTo>
                  <a:lnTo>
                    <a:pt x="49" y="115"/>
                  </a:lnTo>
                  <a:lnTo>
                    <a:pt x="52" y="115"/>
                  </a:lnTo>
                  <a:lnTo>
                    <a:pt x="56" y="115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61" y="115"/>
                  </a:lnTo>
                  <a:lnTo>
                    <a:pt x="64" y="115"/>
                  </a:lnTo>
                  <a:lnTo>
                    <a:pt x="67" y="115"/>
                  </a:lnTo>
                  <a:lnTo>
                    <a:pt x="70" y="115"/>
                  </a:lnTo>
                  <a:lnTo>
                    <a:pt x="72" y="114"/>
                  </a:lnTo>
                  <a:lnTo>
                    <a:pt x="75" y="114"/>
                  </a:lnTo>
                  <a:lnTo>
                    <a:pt x="78" y="113"/>
                  </a:lnTo>
                  <a:lnTo>
                    <a:pt x="81" y="111"/>
                  </a:lnTo>
                  <a:lnTo>
                    <a:pt x="83" y="110"/>
                  </a:lnTo>
                  <a:lnTo>
                    <a:pt x="86" y="109"/>
                  </a:lnTo>
                  <a:lnTo>
                    <a:pt x="89" y="107"/>
                  </a:lnTo>
                  <a:lnTo>
                    <a:pt x="90" y="106"/>
                  </a:lnTo>
                  <a:lnTo>
                    <a:pt x="93" y="104"/>
                  </a:lnTo>
                  <a:lnTo>
                    <a:pt x="96" y="103"/>
                  </a:lnTo>
                  <a:lnTo>
                    <a:pt x="97" y="100"/>
                  </a:lnTo>
                  <a:lnTo>
                    <a:pt x="100" y="99"/>
                  </a:lnTo>
                  <a:lnTo>
                    <a:pt x="101" y="98"/>
                  </a:lnTo>
                  <a:lnTo>
                    <a:pt x="102" y="95"/>
                  </a:lnTo>
                  <a:lnTo>
                    <a:pt x="105" y="92"/>
                  </a:lnTo>
                  <a:lnTo>
                    <a:pt x="107" y="91"/>
                  </a:lnTo>
                  <a:lnTo>
                    <a:pt x="108" y="88"/>
                  </a:lnTo>
                  <a:lnTo>
                    <a:pt x="109" y="85"/>
                  </a:lnTo>
                  <a:lnTo>
                    <a:pt x="111" y="82"/>
                  </a:lnTo>
                  <a:lnTo>
                    <a:pt x="112" y="81"/>
                  </a:lnTo>
                  <a:lnTo>
                    <a:pt x="113" y="78"/>
                  </a:lnTo>
                  <a:lnTo>
                    <a:pt x="113" y="76"/>
                  </a:lnTo>
                  <a:lnTo>
                    <a:pt x="115" y="73"/>
                  </a:lnTo>
                  <a:lnTo>
                    <a:pt x="115" y="70"/>
                  </a:lnTo>
                  <a:lnTo>
                    <a:pt x="116" y="66"/>
                  </a:lnTo>
                  <a:lnTo>
                    <a:pt x="116" y="63"/>
                  </a:lnTo>
                  <a:lnTo>
                    <a:pt x="116" y="61"/>
                  </a:lnTo>
                  <a:lnTo>
                    <a:pt x="116" y="58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45"/>
            <p:cNvSpPr>
              <a:spLocks noChangeShapeType="1"/>
            </p:cNvSpPr>
            <p:nvPr/>
          </p:nvSpPr>
          <p:spPr bwMode="auto">
            <a:xfrm flipV="1">
              <a:off x="2642" y="1490"/>
              <a:ext cx="1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46"/>
            <p:cNvSpPr>
              <a:spLocks noChangeShapeType="1"/>
            </p:cNvSpPr>
            <p:nvPr/>
          </p:nvSpPr>
          <p:spPr bwMode="auto">
            <a:xfrm>
              <a:off x="2642" y="1078"/>
              <a:ext cx="1" cy="1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/>
            <p:cNvSpPr>
              <a:spLocks/>
            </p:cNvSpPr>
            <p:nvPr/>
          </p:nvSpPr>
          <p:spPr bwMode="auto">
            <a:xfrm>
              <a:off x="2532" y="1202"/>
              <a:ext cx="219" cy="220"/>
            </a:xfrm>
            <a:custGeom>
              <a:avLst/>
              <a:gdLst>
                <a:gd name="T0" fmla="*/ 219 w 439"/>
                <a:gd name="T1" fmla="*/ 439 h 439"/>
                <a:gd name="T2" fmla="*/ 0 w 439"/>
                <a:gd name="T3" fmla="*/ 0 h 439"/>
                <a:gd name="T4" fmla="*/ 439 w 439"/>
                <a:gd name="T5" fmla="*/ 0 h 439"/>
                <a:gd name="T6" fmla="*/ 219 w 439"/>
                <a:gd name="T7" fmla="*/ 439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9" h="439">
                  <a:moveTo>
                    <a:pt x="219" y="439"/>
                  </a:moveTo>
                  <a:lnTo>
                    <a:pt x="0" y="0"/>
                  </a:lnTo>
                  <a:lnTo>
                    <a:pt x="439" y="0"/>
                  </a:lnTo>
                  <a:lnTo>
                    <a:pt x="219" y="439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/>
            <p:cNvSpPr>
              <a:spLocks/>
            </p:cNvSpPr>
            <p:nvPr/>
          </p:nvSpPr>
          <p:spPr bwMode="auto">
            <a:xfrm>
              <a:off x="2613" y="1435"/>
              <a:ext cx="59" cy="57"/>
            </a:xfrm>
            <a:custGeom>
              <a:avLst/>
              <a:gdLst>
                <a:gd name="T0" fmla="*/ 117 w 117"/>
                <a:gd name="T1" fmla="*/ 52 h 115"/>
                <a:gd name="T2" fmla="*/ 115 w 117"/>
                <a:gd name="T3" fmla="*/ 43 h 115"/>
                <a:gd name="T4" fmla="*/ 112 w 117"/>
                <a:gd name="T5" fmla="*/ 36 h 115"/>
                <a:gd name="T6" fmla="*/ 108 w 117"/>
                <a:gd name="T7" fmla="*/ 28 h 115"/>
                <a:gd name="T8" fmla="*/ 103 w 117"/>
                <a:gd name="T9" fmla="*/ 21 h 115"/>
                <a:gd name="T10" fmla="*/ 97 w 117"/>
                <a:gd name="T11" fmla="*/ 15 h 115"/>
                <a:gd name="T12" fmla="*/ 91 w 117"/>
                <a:gd name="T13" fmla="*/ 10 h 115"/>
                <a:gd name="T14" fmla="*/ 84 w 117"/>
                <a:gd name="T15" fmla="*/ 6 h 115"/>
                <a:gd name="T16" fmla="*/ 75 w 117"/>
                <a:gd name="T17" fmla="*/ 3 h 115"/>
                <a:gd name="T18" fmla="*/ 67 w 117"/>
                <a:gd name="T19" fmla="*/ 0 h 115"/>
                <a:gd name="T20" fmla="*/ 59 w 117"/>
                <a:gd name="T21" fmla="*/ 0 h 115"/>
                <a:gd name="T22" fmla="*/ 52 w 117"/>
                <a:gd name="T23" fmla="*/ 0 h 115"/>
                <a:gd name="T24" fmla="*/ 44 w 117"/>
                <a:gd name="T25" fmla="*/ 1 h 115"/>
                <a:gd name="T26" fmla="*/ 36 w 117"/>
                <a:gd name="T27" fmla="*/ 4 h 115"/>
                <a:gd name="T28" fmla="*/ 29 w 117"/>
                <a:gd name="T29" fmla="*/ 8 h 115"/>
                <a:gd name="T30" fmla="*/ 22 w 117"/>
                <a:gd name="T31" fmla="*/ 12 h 115"/>
                <a:gd name="T32" fmla="*/ 15 w 117"/>
                <a:gd name="T33" fmla="*/ 19 h 115"/>
                <a:gd name="T34" fmla="*/ 11 w 117"/>
                <a:gd name="T35" fmla="*/ 25 h 115"/>
                <a:gd name="T36" fmla="*/ 5 w 117"/>
                <a:gd name="T37" fmla="*/ 33 h 115"/>
                <a:gd name="T38" fmla="*/ 3 w 117"/>
                <a:gd name="T39" fmla="*/ 40 h 115"/>
                <a:gd name="T40" fmla="*/ 1 w 117"/>
                <a:gd name="T41" fmla="*/ 50 h 115"/>
                <a:gd name="T42" fmla="*/ 0 w 117"/>
                <a:gd name="T43" fmla="*/ 58 h 115"/>
                <a:gd name="T44" fmla="*/ 1 w 117"/>
                <a:gd name="T45" fmla="*/ 63 h 115"/>
                <a:gd name="T46" fmla="*/ 3 w 117"/>
                <a:gd name="T47" fmla="*/ 73 h 115"/>
                <a:gd name="T48" fmla="*/ 5 w 117"/>
                <a:gd name="T49" fmla="*/ 81 h 115"/>
                <a:gd name="T50" fmla="*/ 8 w 117"/>
                <a:gd name="T51" fmla="*/ 88 h 115"/>
                <a:gd name="T52" fmla="*/ 14 w 117"/>
                <a:gd name="T53" fmla="*/ 95 h 115"/>
                <a:gd name="T54" fmla="*/ 19 w 117"/>
                <a:gd name="T55" fmla="*/ 100 h 115"/>
                <a:gd name="T56" fmla="*/ 26 w 117"/>
                <a:gd name="T57" fmla="*/ 106 h 115"/>
                <a:gd name="T58" fmla="*/ 33 w 117"/>
                <a:gd name="T59" fmla="*/ 110 h 115"/>
                <a:gd name="T60" fmla="*/ 41 w 117"/>
                <a:gd name="T61" fmla="*/ 114 h 115"/>
                <a:gd name="T62" fmla="*/ 49 w 117"/>
                <a:gd name="T63" fmla="*/ 115 h 115"/>
                <a:gd name="T64" fmla="*/ 59 w 117"/>
                <a:gd name="T65" fmla="*/ 115 h 115"/>
                <a:gd name="T66" fmla="*/ 64 w 117"/>
                <a:gd name="T67" fmla="*/ 115 h 115"/>
                <a:gd name="T68" fmla="*/ 73 w 117"/>
                <a:gd name="T69" fmla="*/ 114 h 115"/>
                <a:gd name="T70" fmla="*/ 81 w 117"/>
                <a:gd name="T71" fmla="*/ 111 h 115"/>
                <a:gd name="T72" fmla="*/ 89 w 117"/>
                <a:gd name="T73" fmla="*/ 107 h 115"/>
                <a:gd name="T74" fmla="*/ 96 w 117"/>
                <a:gd name="T75" fmla="*/ 103 h 115"/>
                <a:gd name="T76" fmla="*/ 102 w 117"/>
                <a:gd name="T77" fmla="*/ 98 h 115"/>
                <a:gd name="T78" fmla="*/ 107 w 117"/>
                <a:gd name="T79" fmla="*/ 91 h 115"/>
                <a:gd name="T80" fmla="*/ 111 w 117"/>
                <a:gd name="T81" fmla="*/ 82 h 115"/>
                <a:gd name="T82" fmla="*/ 114 w 117"/>
                <a:gd name="T83" fmla="*/ 76 h 115"/>
                <a:gd name="T84" fmla="*/ 117 w 117"/>
                <a:gd name="T85" fmla="*/ 66 h 115"/>
                <a:gd name="T86" fmla="*/ 117 w 117"/>
                <a:gd name="T87" fmla="*/ 5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7" h="115">
                  <a:moveTo>
                    <a:pt x="117" y="58"/>
                  </a:moveTo>
                  <a:lnTo>
                    <a:pt x="117" y="55"/>
                  </a:lnTo>
                  <a:lnTo>
                    <a:pt x="117" y="52"/>
                  </a:lnTo>
                  <a:lnTo>
                    <a:pt x="117" y="50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4" y="40"/>
                  </a:lnTo>
                  <a:lnTo>
                    <a:pt x="114" y="37"/>
                  </a:lnTo>
                  <a:lnTo>
                    <a:pt x="112" y="36"/>
                  </a:lnTo>
                  <a:lnTo>
                    <a:pt x="111" y="33"/>
                  </a:lnTo>
                  <a:lnTo>
                    <a:pt x="110" y="30"/>
                  </a:lnTo>
                  <a:lnTo>
                    <a:pt x="108" y="28"/>
                  </a:lnTo>
                  <a:lnTo>
                    <a:pt x="107" y="25"/>
                  </a:lnTo>
                  <a:lnTo>
                    <a:pt x="106" y="23"/>
                  </a:lnTo>
                  <a:lnTo>
                    <a:pt x="103" y="21"/>
                  </a:lnTo>
                  <a:lnTo>
                    <a:pt x="102" y="19"/>
                  </a:lnTo>
                  <a:lnTo>
                    <a:pt x="100" y="17"/>
                  </a:lnTo>
                  <a:lnTo>
                    <a:pt x="97" y="15"/>
                  </a:lnTo>
                  <a:lnTo>
                    <a:pt x="96" y="12"/>
                  </a:lnTo>
                  <a:lnTo>
                    <a:pt x="93" y="11"/>
                  </a:lnTo>
                  <a:lnTo>
                    <a:pt x="91" y="10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4" y="6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5" y="3"/>
                  </a:lnTo>
                  <a:lnTo>
                    <a:pt x="73" y="1"/>
                  </a:lnTo>
                  <a:lnTo>
                    <a:pt x="70" y="1"/>
                  </a:lnTo>
                  <a:lnTo>
                    <a:pt x="67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4" y="1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6" y="4"/>
                  </a:lnTo>
                  <a:lnTo>
                    <a:pt x="33" y="6"/>
                  </a:lnTo>
                  <a:lnTo>
                    <a:pt x="30" y="7"/>
                  </a:lnTo>
                  <a:lnTo>
                    <a:pt x="29" y="8"/>
                  </a:lnTo>
                  <a:lnTo>
                    <a:pt x="26" y="10"/>
                  </a:lnTo>
                  <a:lnTo>
                    <a:pt x="23" y="11"/>
                  </a:lnTo>
                  <a:lnTo>
                    <a:pt x="22" y="12"/>
                  </a:lnTo>
                  <a:lnTo>
                    <a:pt x="19" y="15"/>
                  </a:lnTo>
                  <a:lnTo>
                    <a:pt x="18" y="17"/>
                  </a:lnTo>
                  <a:lnTo>
                    <a:pt x="15" y="19"/>
                  </a:lnTo>
                  <a:lnTo>
                    <a:pt x="14" y="21"/>
                  </a:lnTo>
                  <a:lnTo>
                    <a:pt x="12" y="23"/>
                  </a:lnTo>
                  <a:lnTo>
                    <a:pt x="11" y="25"/>
                  </a:lnTo>
                  <a:lnTo>
                    <a:pt x="8" y="28"/>
                  </a:lnTo>
                  <a:lnTo>
                    <a:pt x="7" y="30"/>
                  </a:lnTo>
                  <a:lnTo>
                    <a:pt x="5" y="33"/>
                  </a:lnTo>
                  <a:lnTo>
                    <a:pt x="5" y="36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1" y="52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1"/>
                  </a:lnTo>
                  <a:lnTo>
                    <a:pt x="1" y="63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3" y="73"/>
                  </a:lnTo>
                  <a:lnTo>
                    <a:pt x="3" y="76"/>
                  </a:lnTo>
                  <a:lnTo>
                    <a:pt x="4" y="78"/>
                  </a:lnTo>
                  <a:lnTo>
                    <a:pt x="5" y="81"/>
                  </a:lnTo>
                  <a:lnTo>
                    <a:pt x="5" y="82"/>
                  </a:lnTo>
                  <a:lnTo>
                    <a:pt x="7" y="85"/>
                  </a:lnTo>
                  <a:lnTo>
                    <a:pt x="8" y="88"/>
                  </a:lnTo>
                  <a:lnTo>
                    <a:pt x="11" y="91"/>
                  </a:lnTo>
                  <a:lnTo>
                    <a:pt x="12" y="92"/>
                  </a:lnTo>
                  <a:lnTo>
                    <a:pt x="14" y="95"/>
                  </a:lnTo>
                  <a:lnTo>
                    <a:pt x="15" y="98"/>
                  </a:lnTo>
                  <a:lnTo>
                    <a:pt x="18" y="99"/>
                  </a:lnTo>
                  <a:lnTo>
                    <a:pt x="19" y="100"/>
                  </a:lnTo>
                  <a:lnTo>
                    <a:pt x="22" y="103"/>
                  </a:lnTo>
                  <a:lnTo>
                    <a:pt x="23" y="104"/>
                  </a:lnTo>
                  <a:lnTo>
                    <a:pt x="26" y="106"/>
                  </a:lnTo>
                  <a:lnTo>
                    <a:pt x="29" y="107"/>
                  </a:lnTo>
                  <a:lnTo>
                    <a:pt x="30" y="109"/>
                  </a:lnTo>
                  <a:lnTo>
                    <a:pt x="33" y="110"/>
                  </a:lnTo>
                  <a:lnTo>
                    <a:pt x="36" y="111"/>
                  </a:lnTo>
                  <a:lnTo>
                    <a:pt x="38" y="113"/>
                  </a:lnTo>
                  <a:lnTo>
                    <a:pt x="41" y="114"/>
                  </a:lnTo>
                  <a:lnTo>
                    <a:pt x="44" y="114"/>
                  </a:lnTo>
                  <a:lnTo>
                    <a:pt x="47" y="115"/>
                  </a:lnTo>
                  <a:lnTo>
                    <a:pt x="49" y="115"/>
                  </a:lnTo>
                  <a:lnTo>
                    <a:pt x="52" y="115"/>
                  </a:lnTo>
                  <a:lnTo>
                    <a:pt x="56" y="115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62" y="115"/>
                  </a:lnTo>
                  <a:lnTo>
                    <a:pt x="64" y="115"/>
                  </a:lnTo>
                  <a:lnTo>
                    <a:pt x="67" y="115"/>
                  </a:lnTo>
                  <a:lnTo>
                    <a:pt x="70" y="115"/>
                  </a:lnTo>
                  <a:lnTo>
                    <a:pt x="73" y="114"/>
                  </a:lnTo>
                  <a:lnTo>
                    <a:pt x="75" y="114"/>
                  </a:lnTo>
                  <a:lnTo>
                    <a:pt x="78" y="113"/>
                  </a:lnTo>
                  <a:lnTo>
                    <a:pt x="81" y="111"/>
                  </a:lnTo>
                  <a:lnTo>
                    <a:pt x="84" y="110"/>
                  </a:lnTo>
                  <a:lnTo>
                    <a:pt x="86" y="109"/>
                  </a:lnTo>
                  <a:lnTo>
                    <a:pt x="89" y="107"/>
                  </a:lnTo>
                  <a:lnTo>
                    <a:pt x="91" y="106"/>
                  </a:lnTo>
                  <a:lnTo>
                    <a:pt x="93" y="104"/>
                  </a:lnTo>
                  <a:lnTo>
                    <a:pt x="96" y="103"/>
                  </a:lnTo>
                  <a:lnTo>
                    <a:pt x="97" y="100"/>
                  </a:lnTo>
                  <a:lnTo>
                    <a:pt x="100" y="99"/>
                  </a:lnTo>
                  <a:lnTo>
                    <a:pt x="102" y="98"/>
                  </a:lnTo>
                  <a:lnTo>
                    <a:pt x="103" y="95"/>
                  </a:lnTo>
                  <a:lnTo>
                    <a:pt x="106" y="92"/>
                  </a:lnTo>
                  <a:lnTo>
                    <a:pt x="107" y="91"/>
                  </a:lnTo>
                  <a:lnTo>
                    <a:pt x="108" y="88"/>
                  </a:lnTo>
                  <a:lnTo>
                    <a:pt x="110" y="85"/>
                  </a:lnTo>
                  <a:lnTo>
                    <a:pt x="111" y="82"/>
                  </a:lnTo>
                  <a:lnTo>
                    <a:pt x="112" y="81"/>
                  </a:lnTo>
                  <a:lnTo>
                    <a:pt x="114" y="78"/>
                  </a:lnTo>
                  <a:lnTo>
                    <a:pt x="114" y="76"/>
                  </a:lnTo>
                  <a:lnTo>
                    <a:pt x="115" y="73"/>
                  </a:lnTo>
                  <a:lnTo>
                    <a:pt x="115" y="70"/>
                  </a:lnTo>
                  <a:lnTo>
                    <a:pt x="117" y="66"/>
                  </a:lnTo>
                  <a:lnTo>
                    <a:pt x="117" y="63"/>
                  </a:lnTo>
                  <a:lnTo>
                    <a:pt x="117" y="61"/>
                  </a:lnTo>
                  <a:lnTo>
                    <a:pt x="117" y="58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/>
            <p:cNvSpPr>
              <a:spLocks/>
            </p:cNvSpPr>
            <p:nvPr/>
          </p:nvSpPr>
          <p:spPr bwMode="auto">
            <a:xfrm>
              <a:off x="1764" y="996"/>
              <a:ext cx="27" cy="27"/>
            </a:xfrm>
            <a:custGeom>
              <a:avLst/>
              <a:gdLst>
                <a:gd name="T0" fmla="*/ 55 w 55"/>
                <a:gd name="T1" fmla="*/ 26 h 55"/>
                <a:gd name="T2" fmla="*/ 55 w 55"/>
                <a:gd name="T3" fmla="*/ 22 h 55"/>
                <a:gd name="T4" fmla="*/ 54 w 55"/>
                <a:gd name="T5" fmla="*/ 18 h 55"/>
                <a:gd name="T6" fmla="*/ 52 w 55"/>
                <a:gd name="T7" fmla="*/ 14 h 55"/>
                <a:gd name="T8" fmla="*/ 51 w 55"/>
                <a:gd name="T9" fmla="*/ 11 h 55"/>
                <a:gd name="T10" fmla="*/ 48 w 55"/>
                <a:gd name="T11" fmla="*/ 8 h 55"/>
                <a:gd name="T12" fmla="*/ 44 w 55"/>
                <a:gd name="T13" fmla="*/ 5 h 55"/>
                <a:gd name="T14" fmla="*/ 41 w 55"/>
                <a:gd name="T15" fmla="*/ 3 h 55"/>
                <a:gd name="T16" fmla="*/ 37 w 55"/>
                <a:gd name="T17" fmla="*/ 1 h 55"/>
                <a:gd name="T18" fmla="*/ 35 w 55"/>
                <a:gd name="T19" fmla="*/ 0 h 55"/>
                <a:gd name="T20" fmla="*/ 30 w 55"/>
                <a:gd name="T21" fmla="*/ 0 h 55"/>
                <a:gd name="T22" fmla="*/ 26 w 55"/>
                <a:gd name="T23" fmla="*/ 0 h 55"/>
                <a:gd name="T24" fmla="*/ 22 w 55"/>
                <a:gd name="T25" fmla="*/ 0 h 55"/>
                <a:gd name="T26" fmla="*/ 19 w 55"/>
                <a:gd name="T27" fmla="*/ 1 h 55"/>
                <a:gd name="T28" fmla="*/ 15 w 55"/>
                <a:gd name="T29" fmla="*/ 3 h 55"/>
                <a:gd name="T30" fmla="*/ 13 w 55"/>
                <a:gd name="T31" fmla="*/ 5 h 55"/>
                <a:gd name="T32" fmla="*/ 8 w 55"/>
                <a:gd name="T33" fmla="*/ 8 h 55"/>
                <a:gd name="T34" fmla="*/ 6 w 55"/>
                <a:gd name="T35" fmla="*/ 11 h 55"/>
                <a:gd name="T36" fmla="*/ 4 w 55"/>
                <a:gd name="T37" fmla="*/ 14 h 55"/>
                <a:gd name="T38" fmla="*/ 3 w 55"/>
                <a:gd name="T39" fmla="*/ 18 h 55"/>
                <a:gd name="T40" fmla="*/ 2 w 55"/>
                <a:gd name="T41" fmla="*/ 22 h 55"/>
                <a:gd name="T42" fmla="*/ 2 w 55"/>
                <a:gd name="T43" fmla="*/ 26 h 55"/>
                <a:gd name="T44" fmla="*/ 2 w 55"/>
                <a:gd name="T45" fmla="*/ 29 h 55"/>
                <a:gd name="T46" fmla="*/ 2 w 55"/>
                <a:gd name="T47" fmla="*/ 33 h 55"/>
                <a:gd name="T48" fmla="*/ 3 w 55"/>
                <a:gd name="T49" fmla="*/ 37 h 55"/>
                <a:gd name="T50" fmla="*/ 4 w 55"/>
                <a:gd name="T51" fmla="*/ 40 h 55"/>
                <a:gd name="T52" fmla="*/ 6 w 55"/>
                <a:gd name="T53" fmla="*/ 44 h 55"/>
                <a:gd name="T54" fmla="*/ 8 w 55"/>
                <a:gd name="T55" fmla="*/ 47 h 55"/>
                <a:gd name="T56" fmla="*/ 13 w 55"/>
                <a:gd name="T57" fmla="*/ 49 h 55"/>
                <a:gd name="T58" fmla="*/ 15 w 55"/>
                <a:gd name="T59" fmla="*/ 51 h 55"/>
                <a:gd name="T60" fmla="*/ 19 w 55"/>
                <a:gd name="T61" fmla="*/ 54 h 55"/>
                <a:gd name="T62" fmla="*/ 22 w 55"/>
                <a:gd name="T63" fmla="*/ 54 h 55"/>
                <a:gd name="T64" fmla="*/ 26 w 55"/>
                <a:gd name="T65" fmla="*/ 55 h 55"/>
                <a:gd name="T66" fmla="*/ 30 w 55"/>
                <a:gd name="T67" fmla="*/ 55 h 55"/>
                <a:gd name="T68" fmla="*/ 35 w 55"/>
                <a:gd name="T69" fmla="*/ 54 h 55"/>
                <a:gd name="T70" fmla="*/ 37 w 55"/>
                <a:gd name="T71" fmla="*/ 54 h 55"/>
                <a:gd name="T72" fmla="*/ 41 w 55"/>
                <a:gd name="T73" fmla="*/ 51 h 55"/>
                <a:gd name="T74" fmla="*/ 44 w 55"/>
                <a:gd name="T75" fmla="*/ 49 h 55"/>
                <a:gd name="T76" fmla="*/ 48 w 55"/>
                <a:gd name="T77" fmla="*/ 47 h 55"/>
                <a:gd name="T78" fmla="*/ 51 w 55"/>
                <a:gd name="T79" fmla="*/ 44 h 55"/>
                <a:gd name="T80" fmla="*/ 52 w 55"/>
                <a:gd name="T81" fmla="*/ 40 h 55"/>
                <a:gd name="T82" fmla="*/ 54 w 55"/>
                <a:gd name="T83" fmla="*/ 37 h 55"/>
                <a:gd name="T84" fmla="*/ 55 w 55"/>
                <a:gd name="T85" fmla="*/ 33 h 55"/>
                <a:gd name="T86" fmla="*/ 55 w 55"/>
                <a:gd name="T87" fmla="*/ 29 h 55"/>
                <a:gd name="T88" fmla="*/ 28 w 55"/>
                <a:gd name="T89" fmla="*/ 2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55">
                  <a:moveTo>
                    <a:pt x="28" y="27"/>
                  </a:moveTo>
                  <a:lnTo>
                    <a:pt x="55" y="27"/>
                  </a:lnTo>
                  <a:lnTo>
                    <a:pt x="55" y="26"/>
                  </a:lnTo>
                  <a:lnTo>
                    <a:pt x="55" y="25"/>
                  </a:lnTo>
                  <a:lnTo>
                    <a:pt x="55" y="23"/>
                  </a:lnTo>
                  <a:lnTo>
                    <a:pt x="55" y="22"/>
                  </a:lnTo>
                  <a:lnTo>
                    <a:pt x="55" y="21"/>
                  </a:lnTo>
                  <a:lnTo>
                    <a:pt x="55" y="19"/>
                  </a:lnTo>
                  <a:lnTo>
                    <a:pt x="54" y="18"/>
                  </a:lnTo>
                  <a:lnTo>
                    <a:pt x="54" y="16"/>
                  </a:lnTo>
                  <a:lnTo>
                    <a:pt x="54" y="15"/>
                  </a:lnTo>
                  <a:lnTo>
                    <a:pt x="52" y="14"/>
                  </a:lnTo>
                  <a:lnTo>
                    <a:pt x="52" y="12"/>
                  </a:lnTo>
                  <a:lnTo>
                    <a:pt x="51" y="12"/>
                  </a:lnTo>
                  <a:lnTo>
                    <a:pt x="51" y="11"/>
                  </a:lnTo>
                  <a:lnTo>
                    <a:pt x="50" y="10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7" y="7"/>
                  </a:lnTo>
                  <a:lnTo>
                    <a:pt x="45" y="5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4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3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10" y="7"/>
                  </a:lnTo>
                  <a:lnTo>
                    <a:pt x="8" y="8"/>
                  </a:lnTo>
                  <a:lnTo>
                    <a:pt x="8" y="8"/>
                  </a:lnTo>
                  <a:lnTo>
                    <a:pt x="7" y="10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6" y="43"/>
                  </a:lnTo>
                  <a:lnTo>
                    <a:pt x="6" y="44"/>
                  </a:lnTo>
                  <a:lnTo>
                    <a:pt x="7" y="45"/>
                  </a:lnTo>
                  <a:lnTo>
                    <a:pt x="8" y="45"/>
                  </a:lnTo>
                  <a:lnTo>
                    <a:pt x="8" y="47"/>
                  </a:lnTo>
                  <a:lnTo>
                    <a:pt x="10" y="48"/>
                  </a:lnTo>
                  <a:lnTo>
                    <a:pt x="11" y="48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9" y="54"/>
                  </a:lnTo>
                  <a:lnTo>
                    <a:pt x="21" y="54"/>
                  </a:lnTo>
                  <a:lnTo>
                    <a:pt x="21" y="54"/>
                  </a:lnTo>
                  <a:lnTo>
                    <a:pt x="22" y="54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8" y="55"/>
                  </a:lnTo>
                  <a:lnTo>
                    <a:pt x="28" y="55"/>
                  </a:lnTo>
                  <a:lnTo>
                    <a:pt x="30" y="55"/>
                  </a:lnTo>
                  <a:lnTo>
                    <a:pt x="32" y="55"/>
                  </a:lnTo>
                  <a:lnTo>
                    <a:pt x="33" y="55"/>
                  </a:lnTo>
                  <a:lnTo>
                    <a:pt x="35" y="54"/>
                  </a:lnTo>
                  <a:lnTo>
                    <a:pt x="35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9" y="52"/>
                  </a:lnTo>
                  <a:lnTo>
                    <a:pt x="40" y="52"/>
                  </a:lnTo>
                  <a:lnTo>
                    <a:pt x="41" y="51"/>
                  </a:lnTo>
                  <a:lnTo>
                    <a:pt x="43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5" y="48"/>
                  </a:lnTo>
                  <a:lnTo>
                    <a:pt x="47" y="48"/>
                  </a:lnTo>
                  <a:lnTo>
                    <a:pt x="48" y="47"/>
                  </a:lnTo>
                  <a:lnTo>
                    <a:pt x="48" y="45"/>
                  </a:lnTo>
                  <a:lnTo>
                    <a:pt x="50" y="45"/>
                  </a:lnTo>
                  <a:lnTo>
                    <a:pt x="51" y="44"/>
                  </a:lnTo>
                  <a:lnTo>
                    <a:pt x="51" y="43"/>
                  </a:lnTo>
                  <a:lnTo>
                    <a:pt x="52" y="41"/>
                  </a:lnTo>
                  <a:lnTo>
                    <a:pt x="52" y="40"/>
                  </a:lnTo>
                  <a:lnTo>
                    <a:pt x="54" y="40"/>
                  </a:lnTo>
                  <a:lnTo>
                    <a:pt x="54" y="38"/>
                  </a:lnTo>
                  <a:lnTo>
                    <a:pt x="54" y="37"/>
                  </a:lnTo>
                  <a:lnTo>
                    <a:pt x="55" y="36"/>
                  </a:lnTo>
                  <a:lnTo>
                    <a:pt x="55" y="34"/>
                  </a:lnTo>
                  <a:lnTo>
                    <a:pt x="55" y="33"/>
                  </a:lnTo>
                  <a:lnTo>
                    <a:pt x="55" y="32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28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/>
            <p:cNvSpPr>
              <a:spLocks/>
            </p:cNvSpPr>
            <p:nvPr/>
          </p:nvSpPr>
          <p:spPr bwMode="auto">
            <a:xfrm>
              <a:off x="1755" y="988"/>
              <a:ext cx="34" cy="33"/>
            </a:xfrm>
            <a:custGeom>
              <a:avLst/>
              <a:gdLst>
                <a:gd name="T0" fmla="*/ 67 w 67"/>
                <a:gd name="T1" fmla="*/ 30 h 65"/>
                <a:gd name="T2" fmla="*/ 66 w 67"/>
                <a:gd name="T3" fmla="*/ 24 h 65"/>
                <a:gd name="T4" fmla="*/ 64 w 67"/>
                <a:gd name="T5" fmla="*/ 20 h 65"/>
                <a:gd name="T6" fmla="*/ 63 w 67"/>
                <a:gd name="T7" fmla="*/ 15 h 65"/>
                <a:gd name="T8" fmla="*/ 60 w 67"/>
                <a:gd name="T9" fmla="*/ 12 h 65"/>
                <a:gd name="T10" fmla="*/ 56 w 67"/>
                <a:gd name="T11" fmla="*/ 8 h 65"/>
                <a:gd name="T12" fmla="*/ 52 w 67"/>
                <a:gd name="T13" fmla="*/ 5 h 65"/>
                <a:gd name="T14" fmla="*/ 48 w 67"/>
                <a:gd name="T15" fmla="*/ 2 h 65"/>
                <a:gd name="T16" fmla="*/ 44 w 67"/>
                <a:gd name="T17" fmla="*/ 1 h 65"/>
                <a:gd name="T18" fmla="*/ 38 w 67"/>
                <a:gd name="T19" fmla="*/ 0 h 65"/>
                <a:gd name="T20" fmla="*/ 34 w 67"/>
                <a:gd name="T21" fmla="*/ 0 h 65"/>
                <a:gd name="T22" fmla="*/ 30 w 67"/>
                <a:gd name="T23" fmla="*/ 0 h 65"/>
                <a:gd name="T24" fmla="*/ 26 w 67"/>
                <a:gd name="T25" fmla="*/ 0 h 65"/>
                <a:gd name="T26" fmla="*/ 20 w 67"/>
                <a:gd name="T27" fmla="*/ 2 h 65"/>
                <a:gd name="T28" fmla="*/ 16 w 67"/>
                <a:gd name="T29" fmla="*/ 4 h 65"/>
                <a:gd name="T30" fmla="*/ 12 w 67"/>
                <a:gd name="T31" fmla="*/ 6 h 65"/>
                <a:gd name="T32" fmla="*/ 9 w 67"/>
                <a:gd name="T33" fmla="*/ 10 h 65"/>
                <a:gd name="T34" fmla="*/ 5 w 67"/>
                <a:gd name="T35" fmla="*/ 13 h 65"/>
                <a:gd name="T36" fmla="*/ 4 w 67"/>
                <a:gd name="T37" fmla="*/ 17 h 65"/>
                <a:gd name="T38" fmla="*/ 1 w 67"/>
                <a:gd name="T39" fmla="*/ 23 h 65"/>
                <a:gd name="T40" fmla="*/ 1 w 67"/>
                <a:gd name="T41" fmla="*/ 27 h 65"/>
                <a:gd name="T42" fmla="*/ 0 w 67"/>
                <a:gd name="T43" fmla="*/ 32 h 65"/>
                <a:gd name="T44" fmla="*/ 0 w 67"/>
                <a:gd name="T45" fmla="*/ 37 h 65"/>
                <a:gd name="T46" fmla="*/ 1 w 67"/>
                <a:gd name="T47" fmla="*/ 41 h 65"/>
                <a:gd name="T48" fmla="*/ 2 w 67"/>
                <a:gd name="T49" fmla="*/ 46 h 65"/>
                <a:gd name="T50" fmla="*/ 5 w 67"/>
                <a:gd name="T51" fmla="*/ 50 h 65"/>
                <a:gd name="T52" fmla="*/ 8 w 67"/>
                <a:gd name="T53" fmla="*/ 54 h 65"/>
                <a:gd name="T54" fmla="*/ 11 w 67"/>
                <a:gd name="T55" fmla="*/ 57 h 65"/>
                <a:gd name="T56" fmla="*/ 15 w 67"/>
                <a:gd name="T57" fmla="*/ 60 h 65"/>
                <a:gd name="T58" fmla="*/ 19 w 67"/>
                <a:gd name="T59" fmla="*/ 63 h 65"/>
                <a:gd name="T60" fmla="*/ 23 w 67"/>
                <a:gd name="T61" fmla="*/ 64 h 65"/>
                <a:gd name="T62" fmla="*/ 29 w 67"/>
                <a:gd name="T63" fmla="*/ 65 h 65"/>
                <a:gd name="T64" fmla="*/ 34 w 67"/>
                <a:gd name="T65" fmla="*/ 65 h 65"/>
                <a:gd name="T66" fmla="*/ 37 w 67"/>
                <a:gd name="T67" fmla="*/ 65 h 65"/>
                <a:gd name="T68" fmla="*/ 42 w 67"/>
                <a:gd name="T69" fmla="*/ 65 h 65"/>
                <a:gd name="T70" fmla="*/ 46 w 67"/>
                <a:gd name="T71" fmla="*/ 64 h 65"/>
                <a:gd name="T72" fmla="*/ 51 w 67"/>
                <a:gd name="T73" fmla="*/ 61 h 65"/>
                <a:gd name="T74" fmla="*/ 55 w 67"/>
                <a:gd name="T75" fmla="*/ 59 h 65"/>
                <a:gd name="T76" fmla="*/ 59 w 67"/>
                <a:gd name="T77" fmla="*/ 54 h 65"/>
                <a:gd name="T78" fmla="*/ 61 w 67"/>
                <a:gd name="T79" fmla="*/ 52 h 65"/>
                <a:gd name="T80" fmla="*/ 64 w 67"/>
                <a:gd name="T81" fmla="*/ 48 h 65"/>
                <a:gd name="T82" fmla="*/ 66 w 67"/>
                <a:gd name="T83" fmla="*/ 42 h 65"/>
                <a:gd name="T84" fmla="*/ 67 w 67"/>
                <a:gd name="T85" fmla="*/ 38 h 65"/>
                <a:gd name="T86" fmla="*/ 67 w 67"/>
                <a:gd name="T87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7" h="65">
                  <a:moveTo>
                    <a:pt x="67" y="32"/>
                  </a:moveTo>
                  <a:lnTo>
                    <a:pt x="67" y="31"/>
                  </a:lnTo>
                  <a:lnTo>
                    <a:pt x="67" y="30"/>
                  </a:lnTo>
                  <a:lnTo>
                    <a:pt x="67" y="27"/>
                  </a:lnTo>
                  <a:lnTo>
                    <a:pt x="67" y="26"/>
                  </a:lnTo>
                  <a:lnTo>
                    <a:pt x="66" y="24"/>
                  </a:lnTo>
                  <a:lnTo>
                    <a:pt x="66" y="23"/>
                  </a:lnTo>
                  <a:lnTo>
                    <a:pt x="66" y="21"/>
                  </a:lnTo>
                  <a:lnTo>
                    <a:pt x="64" y="20"/>
                  </a:lnTo>
                  <a:lnTo>
                    <a:pt x="64" y="17"/>
                  </a:lnTo>
                  <a:lnTo>
                    <a:pt x="63" y="16"/>
                  </a:lnTo>
                  <a:lnTo>
                    <a:pt x="63" y="15"/>
                  </a:lnTo>
                  <a:lnTo>
                    <a:pt x="61" y="13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9" y="10"/>
                  </a:lnTo>
                  <a:lnTo>
                    <a:pt x="57" y="9"/>
                  </a:lnTo>
                  <a:lnTo>
                    <a:pt x="56" y="8"/>
                  </a:lnTo>
                  <a:lnTo>
                    <a:pt x="55" y="6"/>
                  </a:lnTo>
                  <a:lnTo>
                    <a:pt x="53" y="5"/>
                  </a:lnTo>
                  <a:lnTo>
                    <a:pt x="52" y="5"/>
                  </a:lnTo>
                  <a:lnTo>
                    <a:pt x="51" y="4"/>
                  </a:lnTo>
                  <a:lnTo>
                    <a:pt x="49" y="4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5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11" y="8"/>
                  </a:lnTo>
                  <a:lnTo>
                    <a:pt x="9" y="9"/>
                  </a:lnTo>
                  <a:lnTo>
                    <a:pt x="9" y="10"/>
                  </a:lnTo>
                  <a:lnTo>
                    <a:pt x="8" y="12"/>
                  </a:lnTo>
                  <a:lnTo>
                    <a:pt x="7" y="12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2" y="43"/>
                  </a:lnTo>
                  <a:lnTo>
                    <a:pt x="2" y="46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7" y="53"/>
                  </a:lnTo>
                  <a:lnTo>
                    <a:pt x="8" y="54"/>
                  </a:lnTo>
                  <a:lnTo>
                    <a:pt x="9" y="54"/>
                  </a:lnTo>
                  <a:lnTo>
                    <a:pt x="9" y="56"/>
                  </a:lnTo>
                  <a:lnTo>
                    <a:pt x="11" y="57"/>
                  </a:lnTo>
                  <a:lnTo>
                    <a:pt x="12" y="59"/>
                  </a:lnTo>
                  <a:lnTo>
                    <a:pt x="13" y="60"/>
                  </a:lnTo>
                  <a:lnTo>
                    <a:pt x="15" y="60"/>
                  </a:lnTo>
                  <a:lnTo>
                    <a:pt x="16" y="61"/>
                  </a:lnTo>
                  <a:lnTo>
                    <a:pt x="18" y="61"/>
                  </a:lnTo>
                  <a:lnTo>
                    <a:pt x="19" y="63"/>
                  </a:lnTo>
                  <a:lnTo>
                    <a:pt x="20" y="64"/>
                  </a:lnTo>
                  <a:lnTo>
                    <a:pt x="22" y="64"/>
                  </a:lnTo>
                  <a:lnTo>
                    <a:pt x="23" y="64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8" y="65"/>
                  </a:lnTo>
                  <a:lnTo>
                    <a:pt x="41" y="65"/>
                  </a:lnTo>
                  <a:lnTo>
                    <a:pt x="42" y="65"/>
                  </a:lnTo>
                  <a:lnTo>
                    <a:pt x="44" y="64"/>
                  </a:lnTo>
                  <a:lnTo>
                    <a:pt x="45" y="64"/>
                  </a:lnTo>
                  <a:lnTo>
                    <a:pt x="46" y="64"/>
                  </a:lnTo>
                  <a:lnTo>
                    <a:pt x="48" y="63"/>
                  </a:lnTo>
                  <a:lnTo>
                    <a:pt x="49" y="61"/>
                  </a:lnTo>
                  <a:lnTo>
                    <a:pt x="51" y="61"/>
                  </a:lnTo>
                  <a:lnTo>
                    <a:pt x="52" y="60"/>
                  </a:lnTo>
                  <a:lnTo>
                    <a:pt x="53" y="60"/>
                  </a:lnTo>
                  <a:lnTo>
                    <a:pt x="55" y="59"/>
                  </a:lnTo>
                  <a:lnTo>
                    <a:pt x="56" y="57"/>
                  </a:lnTo>
                  <a:lnTo>
                    <a:pt x="57" y="56"/>
                  </a:lnTo>
                  <a:lnTo>
                    <a:pt x="59" y="54"/>
                  </a:lnTo>
                  <a:lnTo>
                    <a:pt x="60" y="54"/>
                  </a:lnTo>
                  <a:lnTo>
                    <a:pt x="60" y="53"/>
                  </a:lnTo>
                  <a:lnTo>
                    <a:pt x="61" y="52"/>
                  </a:lnTo>
                  <a:lnTo>
                    <a:pt x="63" y="50"/>
                  </a:lnTo>
                  <a:lnTo>
                    <a:pt x="63" y="49"/>
                  </a:lnTo>
                  <a:lnTo>
                    <a:pt x="64" y="48"/>
                  </a:lnTo>
                  <a:lnTo>
                    <a:pt x="64" y="46"/>
                  </a:lnTo>
                  <a:lnTo>
                    <a:pt x="66" y="43"/>
                  </a:lnTo>
                  <a:lnTo>
                    <a:pt x="66" y="42"/>
                  </a:lnTo>
                  <a:lnTo>
                    <a:pt x="66" y="41"/>
                  </a:lnTo>
                  <a:lnTo>
                    <a:pt x="67" y="39"/>
                  </a:lnTo>
                  <a:lnTo>
                    <a:pt x="67" y="38"/>
                  </a:lnTo>
                  <a:lnTo>
                    <a:pt x="67" y="37"/>
                  </a:lnTo>
                  <a:lnTo>
                    <a:pt x="67" y="34"/>
                  </a:lnTo>
                  <a:lnTo>
                    <a:pt x="67" y="32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2340" y="996"/>
              <a:ext cx="27" cy="27"/>
            </a:xfrm>
            <a:custGeom>
              <a:avLst/>
              <a:gdLst>
                <a:gd name="T0" fmla="*/ 54 w 54"/>
                <a:gd name="T1" fmla="*/ 26 h 55"/>
                <a:gd name="T2" fmla="*/ 54 w 54"/>
                <a:gd name="T3" fmla="*/ 22 h 55"/>
                <a:gd name="T4" fmla="*/ 53 w 54"/>
                <a:gd name="T5" fmla="*/ 18 h 55"/>
                <a:gd name="T6" fmla="*/ 52 w 54"/>
                <a:gd name="T7" fmla="*/ 14 h 55"/>
                <a:gd name="T8" fmla="*/ 50 w 54"/>
                <a:gd name="T9" fmla="*/ 11 h 55"/>
                <a:gd name="T10" fmla="*/ 48 w 54"/>
                <a:gd name="T11" fmla="*/ 8 h 55"/>
                <a:gd name="T12" fmla="*/ 44 w 54"/>
                <a:gd name="T13" fmla="*/ 5 h 55"/>
                <a:gd name="T14" fmla="*/ 41 w 54"/>
                <a:gd name="T15" fmla="*/ 3 h 55"/>
                <a:gd name="T16" fmla="*/ 37 w 54"/>
                <a:gd name="T17" fmla="*/ 1 h 55"/>
                <a:gd name="T18" fmla="*/ 34 w 54"/>
                <a:gd name="T19" fmla="*/ 0 h 55"/>
                <a:gd name="T20" fmla="*/ 30 w 54"/>
                <a:gd name="T21" fmla="*/ 0 h 55"/>
                <a:gd name="T22" fmla="*/ 26 w 54"/>
                <a:gd name="T23" fmla="*/ 0 h 55"/>
                <a:gd name="T24" fmla="*/ 22 w 54"/>
                <a:gd name="T25" fmla="*/ 0 h 55"/>
                <a:gd name="T26" fmla="*/ 19 w 54"/>
                <a:gd name="T27" fmla="*/ 1 h 55"/>
                <a:gd name="T28" fmla="*/ 15 w 54"/>
                <a:gd name="T29" fmla="*/ 3 h 55"/>
                <a:gd name="T30" fmla="*/ 12 w 54"/>
                <a:gd name="T31" fmla="*/ 5 h 55"/>
                <a:gd name="T32" fmla="*/ 8 w 54"/>
                <a:gd name="T33" fmla="*/ 8 h 55"/>
                <a:gd name="T34" fmla="*/ 5 w 54"/>
                <a:gd name="T35" fmla="*/ 11 h 55"/>
                <a:gd name="T36" fmla="*/ 4 w 54"/>
                <a:gd name="T37" fmla="*/ 14 h 55"/>
                <a:gd name="T38" fmla="*/ 2 w 54"/>
                <a:gd name="T39" fmla="*/ 18 h 55"/>
                <a:gd name="T40" fmla="*/ 1 w 54"/>
                <a:gd name="T41" fmla="*/ 22 h 55"/>
                <a:gd name="T42" fmla="*/ 1 w 54"/>
                <a:gd name="T43" fmla="*/ 26 h 55"/>
                <a:gd name="T44" fmla="*/ 1 w 54"/>
                <a:gd name="T45" fmla="*/ 29 h 55"/>
                <a:gd name="T46" fmla="*/ 1 w 54"/>
                <a:gd name="T47" fmla="*/ 33 h 55"/>
                <a:gd name="T48" fmla="*/ 2 w 54"/>
                <a:gd name="T49" fmla="*/ 37 h 55"/>
                <a:gd name="T50" fmla="*/ 4 w 54"/>
                <a:gd name="T51" fmla="*/ 40 h 55"/>
                <a:gd name="T52" fmla="*/ 5 w 54"/>
                <a:gd name="T53" fmla="*/ 44 h 55"/>
                <a:gd name="T54" fmla="*/ 8 w 54"/>
                <a:gd name="T55" fmla="*/ 47 h 55"/>
                <a:gd name="T56" fmla="*/ 12 w 54"/>
                <a:gd name="T57" fmla="*/ 49 h 55"/>
                <a:gd name="T58" fmla="*/ 15 w 54"/>
                <a:gd name="T59" fmla="*/ 51 h 55"/>
                <a:gd name="T60" fmla="*/ 19 w 54"/>
                <a:gd name="T61" fmla="*/ 54 h 55"/>
                <a:gd name="T62" fmla="*/ 22 w 54"/>
                <a:gd name="T63" fmla="*/ 54 h 55"/>
                <a:gd name="T64" fmla="*/ 26 w 54"/>
                <a:gd name="T65" fmla="*/ 55 h 55"/>
                <a:gd name="T66" fmla="*/ 30 w 54"/>
                <a:gd name="T67" fmla="*/ 55 h 55"/>
                <a:gd name="T68" fmla="*/ 34 w 54"/>
                <a:gd name="T69" fmla="*/ 54 h 55"/>
                <a:gd name="T70" fmla="*/ 37 w 54"/>
                <a:gd name="T71" fmla="*/ 54 h 55"/>
                <a:gd name="T72" fmla="*/ 41 w 54"/>
                <a:gd name="T73" fmla="*/ 51 h 55"/>
                <a:gd name="T74" fmla="*/ 44 w 54"/>
                <a:gd name="T75" fmla="*/ 49 h 55"/>
                <a:gd name="T76" fmla="*/ 48 w 54"/>
                <a:gd name="T77" fmla="*/ 47 h 55"/>
                <a:gd name="T78" fmla="*/ 50 w 54"/>
                <a:gd name="T79" fmla="*/ 44 h 55"/>
                <a:gd name="T80" fmla="*/ 52 w 54"/>
                <a:gd name="T81" fmla="*/ 40 h 55"/>
                <a:gd name="T82" fmla="*/ 53 w 54"/>
                <a:gd name="T83" fmla="*/ 37 h 55"/>
                <a:gd name="T84" fmla="*/ 54 w 54"/>
                <a:gd name="T85" fmla="*/ 33 h 55"/>
                <a:gd name="T86" fmla="*/ 54 w 54"/>
                <a:gd name="T87" fmla="*/ 29 h 55"/>
                <a:gd name="T88" fmla="*/ 27 w 54"/>
                <a:gd name="T89" fmla="*/ 2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4" h="55">
                  <a:moveTo>
                    <a:pt x="27" y="27"/>
                  </a:moveTo>
                  <a:lnTo>
                    <a:pt x="54" y="27"/>
                  </a:lnTo>
                  <a:lnTo>
                    <a:pt x="54" y="26"/>
                  </a:lnTo>
                  <a:lnTo>
                    <a:pt x="54" y="25"/>
                  </a:lnTo>
                  <a:lnTo>
                    <a:pt x="54" y="23"/>
                  </a:lnTo>
                  <a:lnTo>
                    <a:pt x="54" y="22"/>
                  </a:lnTo>
                  <a:lnTo>
                    <a:pt x="54" y="21"/>
                  </a:lnTo>
                  <a:lnTo>
                    <a:pt x="54" y="19"/>
                  </a:lnTo>
                  <a:lnTo>
                    <a:pt x="53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4"/>
                  </a:lnTo>
                  <a:lnTo>
                    <a:pt x="52" y="12"/>
                  </a:lnTo>
                  <a:lnTo>
                    <a:pt x="50" y="12"/>
                  </a:lnTo>
                  <a:lnTo>
                    <a:pt x="50" y="11"/>
                  </a:lnTo>
                  <a:lnTo>
                    <a:pt x="49" y="10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6" y="7"/>
                  </a:lnTo>
                  <a:lnTo>
                    <a:pt x="45" y="5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2" y="4"/>
                  </a:lnTo>
                  <a:lnTo>
                    <a:pt x="41" y="3"/>
                  </a:lnTo>
                  <a:lnTo>
                    <a:pt x="39" y="3"/>
                  </a:lnTo>
                  <a:lnTo>
                    <a:pt x="38" y="1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7" y="1"/>
                  </a:lnTo>
                  <a:lnTo>
                    <a:pt x="16" y="3"/>
                  </a:lnTo>
                  <a:lnTo>
                    <a:pt x="15" y="3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9" y="7"/>
                  </a:lnTo>
                  <a:lnTo>
                    <a:pt x="8" y="8"/>
                  </a:lnTo>
                  <a:lnTo>
                    <a:pt x="8" y="8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1" y="32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6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8" y="47"/>
                  </a:lnTo>
                  <a:lnTo>
                    <a:pt x="9" y="48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13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9" y="54"/>
                  </a:lnTo>
                  <a:lnTo>
                    <a:pt x="20" y="54"/>
                  </a:lnTo>
                  <a:lnTo>
                    <a:pt x="20" y="54"/>
                  </a:lnTo>
                  <a:lnTo>
                    <a:pt x="22" y="54"/>
                  </a:lnTo>
                  <a:lnTo>
                    <a:pt x="23" y="55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3" y="55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35" y="54"/>
                  </a:lnTo>
                  <a:lnTo>
                    <a:pt x="37" y="54"/>
                  </a:lnTo>
                  <a:lnTo>
                    <a:pt x="38" y="52"/>
                  </a:lnTo>
                  <a:lnTo>
                    <a:pt x="39" y="52"/>
                  </a:lnTo>
                  <a:lnTo>
                    <a:pt x="41" y="51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5" y="48"/>
                  </a:lnTo>
                  <a:lnTo>
                    <a:pt x="46" y="48"/>
                  </a:lnTo>
                  <a:lnTo>
                    <a:pt x="48" y="47"/>
                  </a:lnTo>
                  <a:lnTo>
                    <a:pt x="48" y="45"/>
                  </a:lnTo>
                  <a:lnTo>
                    <a:pt x="49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2" y="41"/>
                  </a:lnTo>
                  <a:lnTo>
                    <a:pt x="52" y="40"/>
                  </a:lnTo>
                  <a:lnTo>
                    <a:pt x="53" y="40"/>
                  </a:lnTo>
                  <a:lnTo>
                    <a:pt x="53" y="38"/>
                  </a:lnTo>
                  <a:lnTo>
                    <a:pt x="53" y="37"/>
                  </a:lnTo>
                  <a:lnTo>
                    <a:pt x="54" y="36"/>
                  </a:lnTo>
                  <a:lnTo>
                    <a:pt x="54" y="34"/>
                  </a:lnTo>
                  <a:lnTo>
                    <a:pt x="54" y="33"/>
                  </a:lnTo>
                  <a:lnTo>
                    <a:pt x="54" y="32"/>
                  </a:lnTo>
                  <a:lnTo>
                    <a:pt x="54" y="30"/>
                  </a:lnTo>
                  <a:lnTo>
                    <a:pt x="54" y="29"/>
                  </a:lnTo>
                  <a:lnTo>
                    <a:pt x="54" y="27"/>
                  </a:lnTo>
                  <a:lnTo>
                    <a:pt x="54" y="27"/>
                  </a:lnTo>
                  <a:lnTo>
                    <a:pt x="27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/>
            <p:cNvSpPr>
              <a:spLocks/>
            </p:cNvSpPr>
            <p:nvPr/>
          </p:nvSpPr>
          <p:spPr bwMode="auto">
            <a:xfrm>
              <a:off x="2345" y="988"/>
              <a:ext cx="34" cy="33"/>
            </a:xfrm>
            <a:custGeom>
              <a:avLst/>
              <a:gdLst>
                <a:gd name="T0" fmla="*/ 67 w 67"/>
                <a:gd name="T1" fmla="*/ 30 h 65"/>
                <a:gd name="T2" fmla="*/ 65 w 67"/>
                <a:gd name="T3" fmla="*/ 24 h 65"/>
                <a:gd name="T4" fmla="*/ 64 w 67"/>
                <a:gd name="T5" fmla="*/ 20 h 65"/>
                <a:gd name="T6" fmla="*/ 63 w 67"/>
                <a:gd name="T7" fmla="*/ 15 h 65"/>
                <a:gd name="T8" fmla="*/ 60 w 67"/>
                <a:gd name="T9" fmla="*/ 12 h 65"/>
                <a:gd name="T10" fmla="*/ 56 w 67"/>
                <a:gd name="T11" fmla="*/ 8 h 65"/>
                <a:gd name="T12" fmla="*/ 52 w 67"/>
                <a:gd name="T13" fmla="*/ 5 h 65"/>
                <a:gd name="T14" fmla="*/ 48 w 67"/>
                <a:gd name="T15" fmla="*/ 2 h 65"/>
                <a:gd name="T16" fmla="*/ 43 w 67"/>
                <a:gd name="T17" fmla="*/ 1 h 65"/>
                <a:gd name="T18" fmla="*/ 38 w 67"/>
                <a:gd name="T19" fmla="*/ 0 h 65"/>
                <a:gd name="T20" fmla="*/ 34 w 67"/>
                <a:gd name="T21" fmla="*/ 0 h 65"/>
                <a:gd name="T22" fmla="*/ 30 w 67"/>
                <a:gd name="T23" fmla="*/ 0 h 65"/>
                <a:gd name="T24" fmla="*/ 26 w 67"/>
                <a:gd name="T25" fmla="*/ 0 h 65"/>
                <a:gd name="T26" fmla="*/ 20 w 67"/>
                <a:gd name="T27" fmla="*/ 2 h 65"/>
                <a:gd name="T28" fmla="*/ 16 w 67"/>
                <a:gd name="T29" fmla="*/ 4 h 65"/>
                <a:gd name="T30" fmla="*/ 12 w 67"/>
                <a:gd name="T31" fmla="*/ 6 h 65"/>
                <a:gd name="T32" fmla="*/ 9 w 67"/>
                <a:gd name="T33" fmla="*/ 10 h 65"/>
                <a:gd name="T34" fmla="*/ 5 w 67"/>
                <a:gd name="T35" fmla="*/ 13 h 65"/>
                <a:gd name="T36" fmla="*/ 4 w 67"/>
                <a:gd name="T37" fmla="*/ 17 h 65"/>
                <a:gd name="T38" fmla="*/ 1 w 67"/>
                <a:gd name="T39" fmla="*/ 23 h 65"/>
                <a:gd name="T40" fmla="*/ 1 w 67"/>
                <a:gd name="T41" fmla="*/ 27 h 65"/>
                <a:gd name="T42" fmla="*/ 0 w 67"/>
                <a:gd name="T43" fmla="*/ 32 h 65"/>
                <a:gd name="T44" fmla="*/ 0 w 67"/>
                <a:gd name="T45" fmla="*/ 37 h 65"/>
                <a:gd name="T46" fmla="*/ 1 w 67"/>
                <a:gd name="T47" fmla="*/ 41 h 65"/>
                <a:gd name="T48" fmla="*/ 2 w 67"/>
                <a:gd name="T49" fmla="*/ 46 h 65"/>
                <a:gd name="T50" fmla="*/ 5 w 67"/>
                <a:gd name="T51" fmla="*/ 50 h 65"/>
                <a:gd name="T52" fmla="*/ 8 w 67"/>
                <a:gd name="T53" fmla="*/ 54 h 65"/>
                <a:gd name="T54" fmla="*/ 11 w 67"/>
                <a:gd name="T55" fmla="*/ 57 h 65"/>
                <a:gd name="T56" fmla="*/ 15 w 67"/>
                <a:gd name="T57" fmla="*/ 60 h 65"/>
                <a:gd name="T58" fmla="*/ 19 w 67"/>
                <a:gd name="T59" fmla="*/ 63 h 65"/>
                <a:gd name="T60" fmla="*/ 23 w 67"/>
                <a:gd name="T61" fmla="*/ 64 h 65"/>
                <a:gd name="T62" fmla="*/ 28 w 67"/>
                <a:gd name="T63" fmla="*/ 65 h 65"/>
                <a:gd name="T64" fmla="*/ 34 w 67"/>
                <a:gd name="T65" fmla="*/ 65 h 65"/>
                <a:gd name="T66" fmla="*/ 37 w 67"/>
                <a:gd name="T67" fmla="*/ 65 h 65"/>
                <a:gd name="T68" fmla="*/ 42 w 67"/>
                <a:gd name="T69" fmla="*/ 65 h 65"/>
                <a:gd name="T70" fmla="*/ 46 w 67"/>
                <a:gd name="T71" fmla="*/ 64 h 65"/>
                <a:gd name="T72" fmla="*/ 50 w 67"/>
                <a:gd name="T73" fmla="*/ 61 h 65"/>
                <a:gd name="T74" fmla="*/ 54 w 67"/>
                <a:gd name="T75" fmla="*/ 59 h 65"/>
                <a:gd name="T76" fmla="*/ 59 w 67"/>
                <a:gd name="T77" fmla="*/ 54 h 65"/>
                <a:gd name="T78" fmla="*/ 61 w 67"/>
                <a:gd name="T79" fmla="*/ 52 h 65"/>
                <a:gd name="T80" fmla="*/ 64 w 67"/>
                <a:gd name="T81" fmla="*/ 48 h 65"/>
                <a:gd name="T82" fmla="*/ 65 w 67"/>
                <a:gd name="T83" fmla="*/ 42 h 65"/>
                <a:gd name="T84" fmla="*/ 67 w 67"/>
                <a:gd name="T85" fmla="*/ 38 h 65"/>
                <a:gd name="T86" fmla="*/ 67 w 67"/>
                <a:gd name="T87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7" h="65">
                  <a:moveTo>
                    <a:pt x="67" y="32"/>
                  </a:moveTo>
                  <a:lnTo>
                    <a:pt x="67" y="31"/>
                  </a:lnTo>
                  <a:lnTo>
                    <a:pt x="67" y="30"/>
                  </a:lnTo>
                  <a:lnTo>
                    <a:pt x="67" y="27"/>
                  </a:lnTo>
                  <a:lnTo>
                    <a:pt x="67" y="26"/>
                  </a:lnTo>
                  <a:lnTo>
                    <a:pt x="65" y="24"/>
                  </a:lnTo>
                  <a:lnTo>
                    <a:pt x="65" y="23"/>
                  </a:lnTo>
                  <a:lnTo>
                    <a:pt x="65" y="21"/>
                  </a:lnTo>
                  <a:lnTo>
                    <a:pt x="64" y="20"/>
                  </a:lnTo>
                  <a:lnTo>
                    <a:pt x="64" y="17"/>
                  </a:lnTo>
                  <a:lnTo>
                    <a:pt x="63" y="16"/>
                  </a:lnTo>
                  <a:lnTo>
                    <a:pt x="63" y="15"/>
                  </a:lnTo>
                  <a:lnTo>
                    <a:pt x="61" y="13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9" y="10"/>
                  </a:lnTo>
                  <a:lnTo>
                    <a:pt x="57" y="9"/>
                  </a:lnTo>
                  <a:lnTo>
                    <a:pt x="56" y="8"/>
                  </a:lnTo>
                  <a:lnTo>
                    <a:pt x="54" y="6"/>
                  </a:lnTo>
                  <a:lnTo>
                    <a:pt x="53" y="5"/>
                  </a:lnTo>
                  <a:lnTo>
                    <a:pt x="52" y="5"/>
                  </a:lnTo>
                  <a:lnTo>
                    <a:pt x="50" y="4"/>
                  </a:lnTo>
                  <a:lnTo>
                    <a:pt x="49" y="4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43" y="1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5" y="5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11" y="8"/>
                  </a:lnTo>
                  <a:lnTo>
                    <a:pt x="9" y="9"/>
                  </a:lnTo>
                  <a:lnTo>
                    <a:pt x="9" y="10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2" y="43"/>
                  </a:lnTo>
                  <a:lnTo>
                    <a:pt x="2" y="46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4"/>
                  </a:lnTo>
                  <a:lnTo>
                    <a:pt x="9" y="54"/>
                  </a:lnTo>
                  <a:lnTo>
                    <a:pt x="9" y="56"/>
                  </a:lnTo>
                  <a:lnTo>
                    <a:pt x="11" y="57"/>
                  </a:lnTo>
                  <a:lnTo>
                    <a:pt x="12" y="59"/>
                  </a:lnTo>
                  <a:lnTo>
                    <a:pt x="13" y="60"/>
                  </a:lnTo>
                  <a:lnTo>
                    <a:pt x="15" y="60"/>
                  </a:lnTo>
                  <a:lnTo>
                    <a:pt x="16" y="61"/>
                  </a:lnTo>
                  <a:lnTo>
                    <a:pt x="17" y="61"/>
                  </a:lnTo>
                  <a:lnTo>
                    <a:pt x="19" y="63"/>
                  </a:lnTo>
                  <a:lnTo>
                    <a:pt x="20" y="64"/>
                  </a:lnTo>
                  <a:lnTo>
                    <a:pt x="22" y="64"/>
                  </a:lnTo>
                  <a:lnTo>
                    <a:pt x="23" y="64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8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8" y="65"/>
                  </a:lnTo>
                  <a:lnTo>
                    <a:pt x="41" y="65"/>
                  </a:lnTo>
                  <a:lnTo>
                    <a:pt x="42" y="65"/>
                  </a:lnTo>
                  <a:lnTo>
                    <a:pt x="43" y="64"/>
                  </a:lnTo>
                  <a:lnTo>
                    <a:pt x="45" y="64"/>
                  </a:lnTo>
                  <a:lnTo>
                    <a:pt x="46" y="64"/>
                  </a:lnTo>
                  <a:lnTo>
                    <a:pt x="48" y="63"/>
                  </a:lnTo>
                  <a:lnTo>
                    <a:pt x="49" y="61"/>
                  </a:lnTo>
                  <a:lnTo>
                    <a:pt x="50" y="61"/>
                  </a:lnTo>
                  <a:lnTo>
                    <a:pt x="52" y="60"/>
                  </a:lnTo>
                  <a:lnTo>
                    <a:pt x="53" y="60"/>
                  </a:lnTo>
                  <a:lnTo>
                    <a:pt x="54" y="59"/>
                  </a:lnTo>
                  <a:lnTo>
                    <a:pt x="56" y="57"/>
                  </a:lnTo>
                  <a:lnTo>
                    <a:pt x="57" y="56"/>
                  </a:lnTo>
                  <a:lnTo>
                    <a:pt x="59" y="54"/>
                  </a:lnTo>
                  <a:lnTo>
                    <a:pt x="60" y="54"/>
                  </a:lnTo>
                  <a:lnTo>
                    <a:pt x="60" y="53"/>
                  </a:lnTo>
                  <a:lnTo>
                    <a:pt x="61" y="52"/>
                  </a:lnTo>
                  <a:lnTo>
                    <a:pt x="63" y="50"/>
                  </a:lnTo>
                  <a:lnTo>
                    <a:pt x="63" y="49"/>
                  </a:lnTo>
                  <a:lnTo>
                    <a:pt x="64" y="48"/>
                  </a:lnTo>
                  <a:lnTo>
                    <a:pt x="64" y="46"/>
                  </a:lnTo>
                  <a:lnTo>
                    <a:pt x="65" y="43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7" y="39"/>
                  </a:lnTo>
                  <a:lnTo>
                    <a:pt x="67" y="38"/>
                  </a:lnTo>
                  <a:lnTo>
                    <a:pt x="67" y="37"/>
                  </a:lnTo>
                  <a:lnTo>
                    <a:pt x="67" y="34"/>
                  </a:lnTo>
                  <a:lnTo>
                    <a:pt x="67" y="32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ectangle 54"/>
            <p:cNvSpPr>
              <a:spLocks noChangeArrowheads="1"/>
            </p:cNvSpPr>
            <p:nvPr/>
          </p:nvSpPr>
          <p:spPr bwMode="auto">
            <a:xfrm>
              <a:off x="3522" y="2722"/>
              <a:ext cx="12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Times-Roman"/>
                </a:rPr>
                <a:t>P </a:t>
              </a:r>
              <a:endParaRPr lang="en-US" altLang="en-US"/>
            </a:p>
          </p:txBody>
        </p:sp>
        <p:sp>
          <p:nvSpPr>
            <p:cNvPr id="60" name="Rectangle 55"/>
            <p:cNvSpPr>
              <a:spLocks noChangeArrowheads="1"/>
            </p:cNvSpPr>
            <p:nvPr/>
          </p:nvSpPr>
          <p:spPr bwMode="auto">
            <a:xfrm>
              <a:off x="3591" y="2775"/>
              <a:ext cx="8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300" i="1">
                  <a:solidFill>
                    <a:srgbClr val="000000"/>
                  </a:solidFill>
                  <a:latin typeface="Times-Roman"/>
                </a:rPr>
                <a:t>3 </a:t>
              </a:r>
              <a:endParaRPr lang="en-US" altLang="en-US"/>
            </a:p>
          </p:txBody>
        </p:sp>
        <p:sp>
          <p:nvSpPr>
            <p:cNvPr id="61" name="Rectangle 56"/>
            <p:cNvSpPr>
              <a:spLocks noChangeArrowheads="1"/>
            </p:cNvSpPr>
            <p:nvPr/>
          </p:nvSpPr>
          <p:spPr bwMode="auto">
            <a:xfrm>
              <a:off x="3522" y="3233"/>
              <a:ext cx="124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Times-Roman"/>
                </a:rPr>
                <a:t>P </a:t>
              </a:r>
              <a:endParaRPr lang="en-US" altLang="en-US"/>
            </a:p>
          </p:txBody>
        </p:sp>
        <p:sp>
          <p:nvSpPr>
            <p:cNvPr id="62" name="Freeform 57"/>
            <p:cNvSpPr>
              <a:spLocks/>
            </p:cNvSpPr>
            <p:nvPr/>
          </p:nvSpPr>
          <p:spPr bwMode="auto">
            <a:xfrm>
              <a:off x="3808" y="1874"/>
              <a:ext cx="274" cy="179"/>
            </a:xfrm>
            <a:custGeom>
              <a:avLst/>
              <a:gdLst>
                <a:gd name="T0" fmla="*/ 0 w 549"/>
                <a:gd name="T1" fmla="*/ 0 h 357"/>
                <a:gd name="T2" fmla="*/ 0 w 549"/>
                <a:gd name="T3" fmla="*/ 357 h 357"/>
                <a:gd name="T4" fmla="*/ 549 w 549"/>
                <a:gd name="T5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9" h="357">
                  <a:moveTo>
                    <a:pt x="0" y="0"/>
                  </a:moveTo>
                  <a:lnTo>
                    <a:pt x="0" y="357"/>
                  </a:lnTo>
                  <a:lnTo>
                    <a:pt x="549" y="357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8"/>
            <p:cNvSpPr>
              <a:spLocks/>
            </p:cNvSpPr>
            <p:nvPr/>
          </p:nvSpPr>
          <p:spPr bwMode="auto">
            <a:xfrm>
              <a:off x="3808" y="2204"/>
              <a:ext cx="274" cy="178"/>
            </a:xfrm>
            <a:custGeom>
              <a:avLst/>
              <a:gdLst>
                <a:gd name="T0" fmla="*/ 0 w 549"/>
                <a:gd name="T1" fmla="*/ 357 h 357"/>
                <a:gd name="T2" fmla="*/ 0 w 549"/>
                <a:gd name="T3" fmla="*/ 0 h 357"/>
                <a:gd name="T4" fmla="*/ 549 w 549"/>
                <a:gd name="T5" fmla="*/ 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9" h="357">
                  <a:moveTo>
                    <a:pt x="0" y="357"/>
                  </a:moveTo>
                  <a:lnTo>
                    <a:pt x="0" y="0"/>
                  </a:lnTo>
                  <a:lnTo>
                    <a:pt x="549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59"/>
            <p:cNvSpPr>
              <a:spLocks noChangeShapeType="1"/>
            </p:cNvSpPr>
            <p:nvPr/>
          </p:nvSpPr>
          <p:spPr bwMode="auto">
            <a:xfrm flipH="1">
              <a:off x="4453" y="2122"/>
              <a:ext cx="2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0"/>
            <p:cNvSpPr>
              <a:spLocks/>
            </p:cNvSpPr>
            <p:nvPr/>
          </p:nvSpPr>
          <p:spPr bwMode="auto">
            <a:xfrm>
              <a:off x="3821" y="2904"/>
              <a:ext cx="261" cy="178"/>
            </a:xfrm>
            <a:custGeom>
              <a:avLst/>
              <a:gdLst>
                <a:gd name="T0" fmla="*/ 0 w 521"/>
                <a:gd name="T1" fmla="*/ 0 h 357"/>
                <a:gd name="T2" fmla="*/ 0 w 521"/>
                <a:gd name="T3" fmla="*/ 357 h 357"/>
                <a:gd name="T4" fmla="*/ 521 w 521"/>
                <a:gd name="T5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1" h="357">
                  <a:moveTo>
                    <a:pt x="0" y="0"/>
                  </a:moveTo>
                  <a:lnTo>
                    <a:pt x="0" y="357"/>
                  </a:lnTo>
                  <a:lnTo>
                    <a:pt x="521" y="357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1"/>
            <p:cNvSpPr>
              <a:spLocks/>
            </p:cNvSpPr>
            <p:nvPr/>
          </p:nvSpPr>
          <p:spPr bwMode="auto">
            <a:xfrm>
              <a:off x="3821" y="3233"/>
              <a:ext cx="261" cy="179"/>
            </a:xfrm>
            <a:custGeom>
              <a:avLst/>
              <a:gdLst>
                <a:gd name="T0" fmla="*/ 0 w 521"/>
                <a:gd name="T1" fmla="*/ 357 h 357"/>
                <a:gd name="T2" fmla="*/ 0 w 521"/>
                <a:gd name="T3" fmla="*/ 0 h 357"/>
                <a:gd name="T4" fmla="*/ 521 w 521"/>
                <a:gd name="T5" fmla="*/ 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1" h="357">
                  <a:moveTo>
                    <a:pt x="0" y="357"/>
                  </a:moveTo>
                  <a:lnTo>
                    <a:pt x="0" y="0"/>
                  </a:lnTo>
                  <a:lnTo>
                    <a:pt x="52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 flipH="1">
              <a:off x="4455" y="3151"/>
              <a:ext cx="2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Rectangle 63"/>
            <p:cNvSpPr>
              <a:spLocks noChangeArrowheads="1"/>
            </p:cNvSpPr>
            <p:nvPr/>
          </p:nvSpPr>
          <p:spPr bwMode="auto">
            <a:xfrm>
              <a:off x="3591" y="3285"/>
              <a:ext cx="8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300" i="1">
                  <a:solidFill>
                    <a:srgbClr val="000000"/>
                  </a:solidFill>
                  <a:latin typeface="Times-Roman"/>
                </a:rPr>
                <a:t>4 </a:t>
              </a:r>
              <a:endParaRPr lang="en-US" altLang="en-US"/>
            </a:p>
          </p:txBody>
        </p:sp>
        <p:sp>
          <p:nvSpPr>
            <p:cNvPr id="69" name="AutoShape 64"/>
            <p:cNvSpPr>
              <a:spLocks noChangeArrowheads="1"/>
            </p:cNvSpPr>
            <p:nvPr/>
          </p:nvSpPr>
          <p:spPr bwMode="auto">
            <a:xfrm>
              <a:off x="2943" y="3253"/>
              <a:ext cx="378" cy="31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AutoShape 65"/>
            <p:cNvSpPr>
              <a:spLocks noChangeArrowheads="1"/>
            </p:cNvSpPr>
            <p:nvPr/>
          </p:nvSpPr>
          <p:spPr bwMode="auto">
            <a:xfrm>
              <a:off x="2943" y="2746"/>
              <a:ext cx="378" cy="31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AutoShape 66"/>
            <p:cNvSpPr>
              <a:spLocks noChangeArrowheads="1"/>
            </p:cNvSpPr>
            <p:nvPr/>
          </p:nvSpPr>
          <p:spPr bwMode="auto">
            <a:xfrm>
              <a:off x="2943" y="2221"/>
              <a:ext cx="378" cy="31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AutoShape 67"/>
            <p:cNvSpPr>
              <a:spLocks noChangeArrowheads="1"/>
            </p:cNvSpPr>
            <p:nvPr/>
          </p:nvSpPr>
          <p:spPr bwMode="auto">
            <a:xfrm>
              <a:off x="2943" y="1714"/>
              <a:ext cx="378" cy="31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3" name="Group 68"/>
            <p:cNvGrpSpPr>
              <a:grpSpLocks/>
            </p:cNvGrpSpPr>
            <p:nvPr/>
          </p:nvGrpSpPr>
          <p:grpSpPr bwMode="auto">
            <a:xfrm>
              <a:off x="4050" y="1965"/>
              <a:ext cx="403" cy="316"/>
              <a:chOff x="3403" y="2587"/>
              <a:chExt cx="462" cy="364"/>
            </a:xfrm>
          </p:grpSpPr>
          <p:sp>
            <p:nvSpPr>
              <p:cNvPr id="81" name="Freeform 69"/>
              <p:cNvSpPr>
                <a:spLocks/>
              </p:cNvSpPr>
              <p:nvPr/>
            </p:nvSpPr>
            <p:spPr bwMode="auto">
              <a:xfrm>
                <a:off x="3408" y="2587"/>
                <a:ext cx="457" cy="181"/>
              </a:xfrm>
              <a:custGeom>
                <a:avLst/>
                <a:gdLst>
                  <a:gd name="T0" fmla="*/ 179 w 914"/>
                  <a:gd name="T1" fmla="*/ 0 h 362"/>
                  <a:gd name="T2" fmla="*/ 306 w 914"/>
                  <a:gd name="T3" fmla="*/ 0 h 362"/>
                  <a:gd name="T4" fmla="*/ 371 w 914"/>
                  <a:gd name="T5" fmla="*/ 0 h 362"/>
                  <a:gd name="T6" fmla="*/ 399 w 914"/>
                  <a:gd name="T7" fmla="*/ 1 h 362"/>
                  <a:gd name="T8" fmla="*/ 414 w 914"/>
                  <a:gd name="T9" fmla="*/ 1 h 362"/>
                  <a:gd name="T10" fmla="*/ 428 w 914"/>
                  <a:gd name="T11" fmla="*/ 3 h 362"/>
                  <a:gd name="T12" fmla="*/ 439 w 914"/>
                  <a:gd name="T13" fmla="*/ 3 h 362"/>
                  <a:gd name="T14" fmla="*/ 448 w 914"/>
                  <a:gd name="T15" fmla="*/ 5 h 362"/>
                  <a:gd name="T16" fmla="*/ 460 w 914"/>
                  <a:gd name="T17" fmla="*/ 6 h 362"/>
                  <a:gd name="T18" fmla="*/ 474 w 914"/>
                  <a:gd name="T19" fmla="*/ 9 h 362"/>
                  <a:gd name="T20" fmla="*/ 486 w 914"/>
                  <a:gd name="T21" fmla="*/ 11 h 362"/>
                  <a:gd name="T22" fmla="*/ 495 w 914"/>
                  <a:gd name="T23" fmla="*/ 12 h 362"/>
                  <a:gd name="T24" fmla="*/ 506 w 914"/>
                  <a:gd name="T25" fmla="*/ 15 h 362"/>
                  <a:gd name="T26" fmla="*/ 521 w 914"/>
                  <a:gd name="T27" fmla="*/ 20 h 362"/>
                  <a:gd name="T28" fmla="*/ 536 w 914"/>
                  <a:gd name="T29" fmla="*/ 24 h 362"/>
                  <a:gd name="T30" fmla="*/ 549 w 914"/>
                  <a:gd name="T31" fmla="*/ 29 h 362"/>
                  <a:gd name="T32" fmla="*/ 558 w 914"/>
                  <a:gd name="T33" fmla="*/ 32 h 362"/>
                  <a:gd name="T34" fmla="*/ 569 w 914"/>
                  <a:gd name="T35" fmla="*/ 38 h 362"/>
                  <a:gd name="T36" fmla="*/ 581 w 914"/>
                  <a:gd name="T37" fmla="*/ 44 h 362"/>
                  <a:gd name="T38" fmla="*/ 595 w 914"/>
                  <a:gd name="T39" fmla="*/ 50 h 362"/>
                  <a:gd name="T40" fmla="*/ 605 w 914"/>
                  <a:gd name="T41" fmla="*/ 56 h 362"/>
                  <a:gd name="T42" fmla="*/ 613 w 914"/>
                  <a:gd name="T43" fmla="*/ 61 h 362"/>
                  <a:gd name="T44" fmla="*/ 624 w 914"/>
                  <a:gd name="T45" fmla="*/ 66 h 362"/>
                  <a:gd name="T46" fmla="*/ 636 w 914"/>
                  <a:gd name="T47" fmla="*/ 73 h 362"/>
                  <a:gd name="T48" fmla="*/ 647 w 914"/>
                  <a:gd name="T49" fmla="*/ 79 h 362"/>
                  <a:gd name="T50" fmla="*/ 656 w 914"/>
                  <a:gd name="T51" fmla="*/ 84 h 362"/>
                  <a:gd name="T52" fmla="*/ 662 w 914"/>
                  <a:gd name="T53" fmla="*/ 89 h 362"/>
                  <a:gd name="T54" fmla="*/ 671 w 914"/>
                  <a:gd name="T55" fmla="*/ 95 h 362"/>
                  <a:gd name="T56" fmla="*/ 682 w 914"/>
                  <a:gd name="T57" fmla="*/ 101 h 362"/>
                  <a:gd name="T58" fmla="*/ 689 w 914"/>
                  <a:gd name="T59" fmla="*/ 105 h 362"/>
                  <a:gd name="T60" fmla="*/ 694 w 914"/>
                  <a:gd name="T61" fmla="*/ 110 h 362"/>
                  <a:gd name="T62" fmla="*/ 700 w 914"/>
                  <a:gd name="T63" fmla="*/ 113 h 362"/>
                  <a:gd name="T64" fmla="*/ 708 w 914"/>
                  <a:gd name="T65" fmla="*/ 119 h 362"/>
                  <a:gd name="T66" fmla="*/ 714 w 914"/>
                  <a:gd name="T67" fmla="*/ 124 h 362"/>
                  <a:gd name="T68" fmla="*/ 718 w 914"/>
                  <a:gd name="T69" fmla="*/ 128 h 362"/>
                  <a:gd name="T70" fmla="*/ 723 w 914"/>
                  <a:gd name="T71" fmla="*/ 131 h 362"/>
                  <a:gd name="T72" fmla="*/ 729 w 914"/>
                  <a:gd name="T73" fmla="*/ 136 h 362"/>
                  <a:gd name="T74" fmla="*/ 737 w 914"/>
                  <a:gd name="T75" fmla="*/ 141 h 362"/>
                  <a:gd name="T76" fmla="*/ 744 w 914"/>
                  <a:gd name="T77" fmla="*/ 147 h 362"/>
                  <a:gd name="T78" fmla="*/ 751 w 914"/>
                  <a:gd name="T79" fmla="*/ 151 h 362"/>
                  <a:gd name="T80" fmla="*/ 757 w 914"/>
                  <a:gd name="T81" fmla="*/ 156 h 362"/>
                  <a:gd name="T82" fmla="*/ 763 w 914"/>
                  <a:gd name="T83" fmla="*/ 164 h 362"/>
                  <a:gd name="T84" fmla="*/ 772 w 914"/>
                  <a:gd name="T85" fmla="*/ 173 h 362"/>
                  <a:gd name="T86" fmla="*/ 780 w 914"/>
                  <a:gd name="T87" fmla="*/ 180 h 362"/>
                  <a:gd name="T88" fmla="*/ 784 w 914"/>
                  <a:gd name="T89" fmla="*/ 186 h 362"/>
                  <a:gd name="T90" fmla="*/ 792 w 914"/>
                  <a:gd name="T91" fmla="*/ 194 h 362"/>
                  <a:gd name="T92" fmla="*/ 801 w 914"/>
                  <a:gd name="T93" fmla="*/ 206 h 362"/>
                  <a:gd name="T94" fmla="*/ 810 w 914"/>
                  <a:gd name="T95" fmla="*/ 217 h 362"/>
                  <a:gd name="T96" fmla="*/ 818 w 914"/>
                  <a:gd name="T97" fmla="*/ 226 h 362"/>
                  <a:gd name="T98" fmla="*/ 824 w 914"/>
                  <a:gd name="T99" fmla="*/ 235 h 362"/>
                  <a:gd name="T100" fmla="*/ 832 w 914"/>
                  <a:gd name="T101" fmla="*/ 245 h 362"/>
                  <a:gd name="T102" fmla="*/ 841 w 914"/>
                  <a:gd name="T103" fmla="*/ 258 h 362"/>
                  <a:gd name="T104" fmla="*/ 851 w 914"/>
                  <a:gd name="T105" fmla="*/ 272 h 362"/>
                  <a:gd name="T106" fmla="*/ 859 w 914"/>
                  <a:gd name="T107" fmla="*/ 281 h 362"/>
                  <a:gd name="T108" fmla="*/ 865 w 914"/>
                  <a:gd name="T109" fmla="*/ 290 h 362"/>
                  <a:gd name="T110" fmla="*/ 874 w 914"/>
                  <a:gd name="T111" fmla="*/ 303 h 362"/>
                  <a:gd name="T112" fmla="*/ 884 w 914"/>
                  <a:gd name="T113" fmla="*/ 316 h 362"/>
                  <a:gd name="T114" fmla="*/ 893 w 914"/>
                  <a:gd name="T115" fmla="*/ 330 h 362"/>
                  <a:gd name="T116" fmla="*/ 899 w 914"/>
                  <a:gd name="T117" fmla="*/ 339 h 362"/>
                  <a:gd name="T118" fmla="*/ 905 w 914"/>
                  <a:gd name="T119" fmla="*/ 348 h 362"/>
                  <a:gd name="T120" fmla="*/ 911 w 914"/>
                  <a:gd name="T121" fmla="*/ 359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14" h="362">
                    <a:moveTo>
                      <a:pt x="0" y="0"/>
                    </a:moveTo>
                    <a:lnTo>
                      <a:pt x="35" y="0"/>
                    </a:lnTo>
                    <a:lnTo>
                      <a:pt x="67" y="0"/>
                    </a:lnTo>
                    <a:lnTo>
                      <a:pt x="98" y="0"/>
                    </a:lnTo>
                    <a:lnTo>
                      <a:pt x="127" y="0"/>
                    </a:lnTo>
                    <a:lnTo>
                      <a:pt x="154" y="0"/>
                    </a:lnTo>
                    <a:lnTo>
                      <a:pt x="179" y="0"/>
                    </a:lnTo>
                    <a:lnTo>
                      <a:pt x="202" y="0"/>
                    </a:lnTo>
                    <a:lnTo>
                      <a:pt x="223" y="0"/>
                    </a:lnTo>
                    <a:lnTo>
                      <a:pt x="243" y="0"/>
                    </a:lnTo>
                    <a:lnTo>
                      <a:pt x="260" y="0"/>
                    </a:lnTo>
                    <a:lnTo>
                      <a:pt x="277" y="0"/>
                    </a:lnTo>
                    <a:lnTo>
                      <a:pt x="292" y="0"/>
                    </a:lnTo>
                    <a:lnTo>
                      <a:pt x="306" y="0"/>
                    </a:lnTo>
                    <a:lnTo>
                      <a:pt x="318" y="0"/>
                    </a:lnTo>
                    <a:lnTo>
                      <a:pt x="330" y="0"/>
                    </a:lnTo>
                    <a:lnTo>
                      <a:pt x="339" y="0"/>
                    </a:lnTo>
                    <a:lnTo>
                      <a:pt x="348" y="0"/>
                    </a:lnTo>
                    <a:lnTo>
                      <a:pt x="358" y="0"/>
                    </a:lnTo>
                    <a:lnTo>
                      <a:pt x="364" y="0"/>
                    </a:lnTo>
                    <a:lnTo>
                      <a:pt x="371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7" y="0"/>
                    </a:lnTo>
                    <a:lnTo>
                      <a:pt x="390" y="0"/>
                    </a:lnTo>
                    <a:lnTo>
                      <a:pt x="393" y="0"/>
                    </a:lnTo>
                    <a:lnTo>
                      <a:pt x="396" y="0"/>
                    </a:lnTo>
                    <a:lnTo>
                      <a:pt x="399" y="1"/>
                    </a:lnTo>
                    <a:lnTo>
                      <a:pt x="402" y="1"/>
                    </a:lnTo>
                    <a:lnTo>
                      <a:pt x="405" y="1"/>
                    </a:lnTo>
                    <a:lnTo>
                      <a:pt x="407" y="1"/>
                    </a:lnTo>
                    <a:lnTo>
                      <a:pt x="410" y="1"/>
                    </a:lnTo>
                    <a:lnTo>
                      <a:pt x="411" y="1"/>
                    </a:lnTo>
                    <a:lnTo>
                      <a:pt x="411" y="1"/>
                    </a:lnTo>
                    <a:lnTo>
                      <a:pt x="414" y="1"/>
                    </a:lnTo>
                    <a:lnTo>
                      <a:pt x="417" y="1"/>
                    </a:lnTo>
                    <a:lnTo>
                      <a:pt x="419" y="1"/>
                    </a:lnTo>
                    <a:lnTo>
                      <a:pt x="422" y="3"/>
                    </a:lnTo>
                    <a:lnTo>
                      <a:pt x="423" y="3"/>
                    </a:lnTo>
                    <a:lnTo>
                      <a:pt x="425" y="3"/>
                    </a:lnTo>
                    <a:lnTo>
                      <a:pt x="426" y="3"/>
                    </a:lnTo>
                    <a:lnTo>
                      <a:pt x="428" y="3"/>
                    </a:lnTo>
                    <a:lnTo>
                      <a:pt x="429" y="3"/>
                    </a:lnTo>
                    <a:lnTo>
                      <a:pt x="431" y="3"/>
                    </a:lnTo>
                    <a:lnTo>
                      <a:pt x="433" y="3"/>
                    </a:lnTo>
                    <a:lnTo>
                      <a:pt x="434" y="3"/>
                    </a:lnTo>
                    <a:lnTo>
                      <a:pt x="436" y="3"/>
                    </a:lnTo>
                    <a:lnTo>
                      <a:pt x="437" y="3"/>
                    </a:lnTo>
                    <a:lnTo>
                      <a:pt x="439" y="3"/>
                    </a:lnTo>
                    <a:lnTo>
                      <a:pt x="440" y="5"/>
                    </a:lnTo>
                    <a:lnTo>
                      <a:pt x="440" y="5"/>
                    </a:lnTo>
                    <a:lnTo>
                      <a:pt x="442" y="5"/>
                    </a:lnTo>
                    <a:lnTo>
                      <a:pt x="443" y="5"/>
                    </a:lnTo>
                    <a:lnTo>
                      <a:pt x="445" y="5"/>
                    </a:lnTo>
                    <a:lnTo>
                      <a:pt x="446" y="5"/>
                    </a:lnTo>
                    <a:lnTo>
                      <a:pt x="448" y="5"/>
                    </a:lnTo>
                    <a:lnTo>
                      <a:pt x="449" y="5"/>
                    </a:lnTo>
                    <a:lnTo>
                      <a:pt x="451" y="5"/>
                    </a:lnTo>
                    <a:lnTo>
                      <a:pt x="452" y="6"/>
                    </a:lnTo>
                    <a:lnTo>
                      <a:pt x="454" y="6"/>
                    </a:lnTo>
                    <a:lnTo>
                      <a:pt x="455" y="6"/>
                    </a:lnTo>
                    <a:lnTo>
                      <a:pt x="457" y="6"/>
                    </a:lnTo>
                    <a:lnTo>
                      <a:pt x="460" y="6"/>
                    </a:lnTo>
                    <a:lnTo>
                      <a:pt x="462" y="6"/>
                    </a:lnTo>
                    <a:lnTo>
                      <a:pt x="465" y="8"/>
                    </a:lnTo>
                    <a:lnTo>
                      <a:pt x="466" y="8"/>
                    </a:lnTo>
                    <a:lnTo>
                      <a:pt x="466" y="8"/>
                    </a:lnTo>
                    <a:lnTo>
                      <a:pt x="469" y="8"/>
                    </a:lnTo>
                    <a:lnTo>
                      <a:pt x="471" y="8"/>
                    </a:lnTo>
                    <a:lnTo>
                      <a:pt x="474" y="9"/>
                    </a:lnTo>
                    <a:lnTo>
                      <a:pt x="475" y="9"/>
                    </a:lnTo>
                    <a:lnTo>
                      <a:pt x="477" y="9"/>
                    </a:lnTo>
                    <a:lnTo>
                      <a:pt x="478" y="9"/>
                    </a:lnTo>
                    <a:lnTo>
                      <a:pt x="481" y="9"/>
                    </a:lnTo>
                    <a:lnTo>
                      <a:pt x="483" y="9"/>
                    </a:lnTo>
                    <a:lnTo>
                      <a:pt x="485" y="11"/>
                    </a:lnTo>
                    <a:lnTo>
                      <a:pt x="486" y="11"/>
                    </a:lnTo>
                    <a:lnTo>
                      <a:pt x="488" y="11"/>
                    </a:lnTo>
                    <a:lnTo>
                      <a:pt x="488" y="11"/>
                    </a:lnTo>
                    <a:lnTo>
                      <a:pt x="489" y="11"/>
                    </a:lnTo>
                    <a:lnTo>
                      <a:pt x="491" y="11"/>
                    </a:lnTo>
                    <a:lnTo>
                      <a:pt x="492" y="12"/>
                    </a:lnTo>
                    <a:lnTo>
                      <a:pt x="494" y="12"/>
                    </a:lnTo>
                    <a:lnTo>
                      <a:pt x="495" y="12"/>
                    </a:lnTo>
                    <a:lnTo>
                      <a:pt x="497" y="12"/>
                    </a:lnTo>
                    <a:lnTo>
                      <a:pt x="498" y="14"/>
                    </a:lnTo>
                    <a:lnTo>
                      <a:pt x="500" y="14"/>
                    </a:lnTo>
                    <a:lnTo>
                      <a:pt x="501" y="14"/>
                    </a:lnTo>
                    <a:lnTo>
                      <a:pt x="503" y="14"/>
                    </a:lnTo>
                    <a:lnTo>
                      <a:pt x="504" y="15"/>
                    </a:lnTo>
                    <a:lnTo>
                      <a:pt x="506" y="15"/>
                    </a:lnTo>
                    <a:lnTo>
                      <a:pt x="507" y="15"/>
                    </a:lnTo>
                    <a:lnTo>
                      <a:pt x="509" y="17"/>
                    </a:lnTo>
                    <a:lnTo>
                      <a:pt x="512" y="17"/>
                    </a:lnTo>
                    <a:lnTo>
                      <a:pt x="514" y="18"/>
                    </a:lnTo>
                    <a:lnTo>
                      <a:pt x="517" y="18"/>
                    </a:lnTo>
                    <a:lnTo>
                      <a:pt x="518" y="20"/>
                    </a:lnTo>
                    <a:lnTo>
                      <a:pt x="521" y="20"/>
                    </a:lnTo>
                    <a:lnTo>
                      <a:pt x="524" y="21"/>
                    </a:lnTo>
                    <a:lnTo>
                      <a:pt x="524" y="21"/>
                    </a:lnTo>
                    <a:lnTo>
                      <a:pt x="527" y="21"/>
                    </a:lnTo>
                    <a:lnTo>
                      <a:pt x="529" y="23"/>
                    </a:lnTo>
                    <a:lnTo>
                      <a:pt x="532" y="23"/>
                    </a:lnTo>
                    <a:lnTo>
                      <a:pt x="533" y="24"/>
                    </a:lnTo>
                    <a:lnTo>
                      <a:pt x="536" y="24"/>
                    </a:lnTo>
                    <a:lnTo>
                      <a:pt x="538" y="26"/>
                    </a:lnTo>
                    <a:lnTo>
                      <a:pt x="540" y="26"/>
                    </a:lnTo>
                    <a:lnTo>
                      <a:pt x="543" y="26"/>
                    </a:lnTo>
                    <a:lnTo>
                      <a:pt x="544" y="27"/>
                    </a:lnTo>
                    <a:lnTo>
                      <a:pt x="546" y="27"/>
                    </a:lnTo>
                    <a:lnTo>
                      <a:pt x="547" y="27"/>
                    </a:lnTo>
                    <a:lnTo>
                      <a:pt x="549" y="29"/>
                    </a:lnTo>
                    <a:lnTo>
                      <a:pt x="550" y="29"/>
                    </a:lnTo>
                    <a:lnTo>
                      <a:pt x="552" y="29"/>
                    </a:lnTo>
                    <a:lnTo>
                      <a:pt x="552" y="30"/>
                    </a:lnTo>
                    <a:lnTo>
                      <a:pt x="553" y="30"/>
                    </a:lnTo>
                    <a:lnTo>
                      <a:pt x="555" y="32"/>
                    </a:lnTo>
                    <a:lnTo>
                      <a:pt x="556" y="32"/>
                    </a:lnTo>
                    <a:lnTo>
                      <a:pt x="558" y="32"/>
                    </a:lnTo>
                    <a:lnTo>
                      <a:pt x="559" y="34"/>
                    </a:lnTo>
                    <a:lnTo>
                      <a:pt x="561" y="34"/>
                    </a:lnTo>
                    <a:lnTo>
                      <a:pt x="562" y="35"/>
                    </a:lnTo>
                    <a:lnTo>
                      <a:pt x="564" y="35"/>
                    </a:lnTo>
                    <a:lnTo>
                      <a:pt x="566" y="35"/>
                    </a:lnTo>
                    <a:lnTo>
                      <a:pt x="567" y="37"/>
                    </a:lnTo>
                    <a:lnTo>
                      <a:pt x="569" y="38"/>
                    </a:lnTo>
                    <a:lnTo>
                      <a:pt x="570" y="38"/>
                    </a:lnTo>
                    <a:lnTo>
                      <a:pt x="572" y="40"/>
                    </a:lnTo>
                    <a:lnTo>
                      <a:pt x="575" y="40"/>
                    </a:lnTo>
                    <a:lnTo>
                      <a:pt x="576" y="41"/>
                    </a:lnTo>
                    <a:lnTo>
                      <a:pt x="579" y="43"/>
                    </a:lnTo>
                    <a:lnTo>
                      <a:pt x="581" y="44"/>
                    </a:lnTo>
                    <a:lnTo>
                      <a:pt x="581" y="44"/>
                    </a:lnTo>
                    <a:lnTo>
                      <a:pt x="584" y="44"/>
                    </a:lnTo>
                    <a:lnTo>
                      <a:pt x="585" y="46"/>
                    </a:lnTo>
                    <a:lnTo>
                      <a:pt x="588" y="47"/>
                    </a:lnTo>
                    <a:lnTo>
                      <a:pt x="590" y="49"/>
                    </a:lnTo>
                    <a:lnTo>
                      <a:pt x="592" y="49"/>
                    </a:lnTo>
                    <a:lnTo>
                      <a:pt x="593" y="50"/>
                    </a:lnTo>
                    <a:lnTo>
                      <a:pt x="595" y="50"/>
                    </a:lnTo>
                    <a:lnTo>
                      <a:pt x="598" y="52"/>
                    </a:lnTo>
                    <a:lnTo>
                      <a:pt x="598" y="52"/>
                    </a:lnTo>
                    <a:lnTo>
                      <a:pt x="599" y="53"/>
                    </a:lnTo>
                    <a:lnTo>
                      <a:pt x="601" y="53"/>
                    </a:lnTo>
                    <a:lnTo>
                      <a:pt x="602" y="55"/>
                    </a:lnTo>
                    <a:lnTo>
                      <a:pt x="604" y="55"/>
                    </a:lnTo>
                    <a:lnTo>
                      <a:pt x="605" y="56"/>
                    </a:lnTo>
                    <a:lnTo>
                      <a:pt x="607" y="56"/>
                    </a:lnTo>
                    <a:lnTo>
                      <a:pt x="607" y="56"/>
                    </a:lnTo>
                    <a:lnTo>
                      <a:pt x="608" y="58"/>
                    </a:lnTo>
                    <a:lnTo>
                      <a:pt x="610" y="58"/>
                    </a:lnTo>
                    <a:lnTo>
                      <a:pt x="611" y="60"/>
                    </a:lnTo>
                    <a:lnTo>
                      <a:pt x="613" y="60"/>
                    </a:lnTo>
                    <a:lnTo>
                      <a:pt x="613" y="61"/>
                    </a:lnTo>
                    <a:lnTo>
                      <a:pt x="614" y="61"/>
                    </a:lnTo>
                    <a:lnTo>
                      <a:pt x="616" y="61"/>
                    </a:lnTo>
                    <a:lnTo>
                      <a:pt x="618" y="63"/>
                    </a:lnTo>
                    <a:lnTo>
                      <a:pt x="619" y="63"/>
                    </a:lnTo>
                    <a:lnTo>
                      <a:pt x="621" y="64"/>
                    </a:lnTo>
                    <a:lnTo>
                      <a:pt x="622" y="66"/>
                    </a:lnTo>
                    <a:lnTo>
                      <a:pt x="624" y="66"/>
                    </a:lnTo>
                    <a:lnTo>
                      <a:pt x="625" y="67"/>
                    </a:lnTo>
                    <a:lnTo>
                      <a:pt x="628" y="69"/>
                    </a:lnTo>
                    <a:lnTo>
                      <a:pt x="630" y="69"/>
                    </a:lnTo>
                    <a:lnTo>
                      <a:pt x="631" y="70"/>
                    </a:lnTo>
                    <a:lnTo>
                      <a:pt x="631" y="70"/>
                    </a:lnTo>
                    <a:lnTo>
                      <a:pt x="634" y="72"/>
                    </a:lnTo>
                    <a:lnTo>
                      <a:pt x="636" y="73"/>
                    </a:lnTo>
                    <a:lnTo>
                      <a:pt x="637" y="73"/>
                    </a:lnTo>
                    <a:lnTo>
                      <a:pt x="639" y="75"/>
                    </a:lnTo>
                    <a:lnTo>
                      <a:pt x="642" y="76"/>
                    </a:lnTo>
                    <a:lnTo>
                      <a:pt x="643" y="76"/>
                    </a:lnTo>
                    <a:lnTo>
                      <a:pt x="645" y="78"/>
                    </a:lnTo>
                    <a:lnTo>
                      <a:pt x="647" y="78"/>
                    </a:lnTo>
                    <a:lnTo>
                      <a:pt x="647" y="79"/>
                    </a:lnTo>
                    <a:lnTo>
                      <a:pt x="648" y="79"/>
                    </a:lnTo>
                    <a:lnTo>
                      <a:pt x="650" y="81"/>
                    </a:lnTo>
                    <a:lnTo>
                      <a:pt x="651" y="81"/>
                    </a:lnTo>
                    <a:lnTo>
                      <a:pt x="651" y="82"/>
                    </a:lnTo>
                    <a:lnTo>
                      <a:pt x="653" y="82"/>
                    </a:lnTo>
                    <a:lnTo>
                      <a:pt x="654" y="82"/>
                    </a:lnTo>
                    <a:lnTo>
                      <a:pt x="656" y="84"/>
                    </a:lnTo>
                    <a:lnTo>
                      <a:pt x="656" y="84"/>
                    </a:lnTo>
                    <a:lnTo>
                      <a:pt x="657" y="86"/>
                    </a:lnTo>
                    <a:lnTo>
                      <a:pt x="657" y="86"/>
                    </a:lnTo>
                    <a:lnTo>
                      <a:pt x="659" y="86"/>
                    </a:lnTo>
                    <a:lnTo>
                      <a:pt x="660" y="87"/>
                    </a:lnTo>
                    <a:lnTo>
                      <a:pt x="662" y="87"/>
                    </a:lnTo>
                    <a:lnTo>
                      <a:pt x="662" y="89"/>
                    </a:lnTo>
                    <a:lnTo>
                      <a:pt x="663" y="89"/>
                    </a:lnTo>
                    <a:lnTo>
                      <a:pt x="665" y="90"/>
                    </a:lnTo>
                    <a:lnTo>
                      <a:pt x="666" y="90"/>
                    </a:lnTo>
                    <a:lnTo>
                      <a:pt x="666" y="92"/>
                    </a:lnTo>
                    <a:lnTo>
                      <a:pt x="668" y="92"/>
                    </a:lnTo>
                    <a:lnTo>
                      <a:pt x="669" y="93"/>
                    </a:lnTo>
                    <a:lnTo>
                      <a:pt x="671" y="95"/>
                    </a:lnTo>
                    <a:lnTo>
                      <a:pt x="673" y="95"/>
                    </a:lnTo>
                    <a:lnTo>
                      <a:pt x="674" y="96"/>
                    </a:lnTo>
                    <a:lnTo>
                      <a:pt x="674" y="96"/>
                    </a:lnTo>
                    <a:lnTo>
                      <a:pt x="677" y="98"/>
                    </a:lnTo>
                    <a:lnTo>
                      <a:pt x="679" y="98"/>
                    </a:lnTo>
                    <a:lnTo>
                      <a:pt x="680" y="99"/>
                    </a:lnTo>
                    <a:lnTo>
                      <a:pt x="682" y="101"/>
                    </a:lnTo>
                    <a:lnTo>
                      <a:pt x="682" y="101"/>
                    </a:lnTo>
                    <a:lnTo>
                      <a:pt x="683" y="102"/>
                    </a:lnTo>
                    <a:lnTo>
                      <a:pt x="685" y="102"/>
                    </a:lnTo>
                    <a:lnTo>
                      <a:pt x="686" y="104"/>
                    </a:lnTo>
                    <a:lnTo>
                      <a:pt x="686" y="104"/>
                    </a:lnTo>
                    <a:lnTo>
                      <a:pt x="688" y="105"/>
                    </a:lnTo>
                    <a:lnTo>
                      <a:pt x="689" y="105"/>
                    </a:lnTo>
                    <a:lnTo>
                      <a:pt x="689" y="105"/>
                    </a:lnTo>
                    <a:lnTo>
                      <a:pt x="691" y="107"/>
                    </a:lnTo>
                    <a:lnTo>
                      <a:pt x="691" y="107"/>
                    </a:lnTo>
                    <a:lnTo>
                      <a:pt x="692" y="108"/>
                    </a:lnTo>
                    <a:lnTo>
                      <a:pt x="692" y="108"/>
                    </a:lnTo>
                    <a:lnTo>
                      <a:pt x="694" y="108"/>
                    </a:lnTo>
                    <a:lnTo>
                      <a:pt x="694" y="110"/>
                    </a:lnTo>
                    <a:lnTo>
                      <a:pt x="695" y="110"/>
                    </a:lnTo>
                    <a:lnTo>
                      <a:pt x="695" y="110"/>
                    </a:lnTo>
                    <a:lnTo>
                      <a:pt x="697" y="112"/>
                    </a:lnTo>
                    <a:lnTo>
                      <a:pt x="697" y="112"/>
                    </a:lnTo>
                    <a:lnTo>
                      <a:pt x="699" y="112"/>
                    </a:lnTo>
                    <a:lnTo>
                      <a:pt x="699" y="113"/>
                    </a:lnTo>
                    <a:lnTo>
                      <a:pt x="700" y="113"/>
                    </a:lnTo>
                    <a:lnTo>
                      <a:pt x="702" y="115"/>
                    </a:lnTo>
                    <a:lnTo>
                      <a:pt x="702" y="115"/>
                    </a:lnTo>
                    <a:lnTo>
                      <a:pt x="703" y="116"/>
                    </a:lnTo>
                    <a:lnTo>
                      <a:pt x="703" y="116"/>
                    </a:lnTo>
                    <a:lnTo>
                      <a:pt x="705" y="118"/>
                    </a:lnTo>
                    <a:lnTo>
                      <a:pt x="706" y="118"/>
                    </a:lnTo>
                    <a:lnTo>
                      <a:pt x="708" y="119"/>
                    </a:lnTo>
                    <a:lnTo>
                      <a:pt x="708" y="119"/>
                    </a:lnTo>
                    <a:lnTo>
                      <a:pt x="708" y="121"/>
                    </a:lnTo>
                    <a:lnTo>
                      <a:pt x="709" y="121"/>
                    </a:lnTo>
                    <a:lnTo>
                      <a:pt x="711" y="122"/>
                    </a:lnTo>
                    <a:lnTo>
                      <a:pt x="712" y="122"/>
                    </a:lnTo>
                    <a:lnTo>
                      <a:pt x="712" y="124"/>
                    </a:lnTo>
                    <a:lnTo>
                      <a:pt x="714" y="124"/>
                    </a:lnTo>
                    <a:lnTo>
                      <a:pt x="714" y="125"/>
                    </a:lnTo>
                    <a:lnTo>
                      <a:pt x="715" y="125"/>
                    </a:lnTo>
                    <a:lnTo>
                      <a:pt x="715" y="125"/>
                    </a:lnTo>
                    <a:lnTo>
                      <a:pt x="717" y="127"/>
                    </a:lnTo>
                    <a:lnTo>
                      <a:pt x="717" y="127"/>
                    </a:lnTo>
                    <a:lnTo>
                      <a:pt x="718" y="128"/>
                    </a:lnTo>
                    <a:lnTo>
                      <a:pt x="718" y="128"/>
                    </a:lnTo>
                    <a:lnTo>
                      <a:pt x="720" y="128"/>
                    </a:lnTo>
                    <a:lnTo>
                      <a:pt x="720" y="130"/>
                    </a:lnTo>
                    <a:lnTo>
                      <a:pt x="721" y="130"/>
                    </a:lnTo>
                    <a:lnTo>
                      <a:pt x="721" y="130"/>
                    </a:lnTo>
                    <a:lnTo>
                      <a:pt x="723" y="131"/>
                    </a:lnTo>
                    <a:lnTo>
                      <a:pt x="723" y="131"/>
                    </a:lnTo>
                    <a:lnTo>
                      <a:pt x="723" y="131"/>
                    </a:lnTo>
                    <a:lnTo>
                      <a:pt x="725" y="133"/>
                    </a:lnTo>
                    <a:lnTo>
                      <a:pt x="725" y="133"/>
                    </a:lnTo>
                    <a:lnTo>
                      <a:pt x="726" y="133"/>
                    </a:lnTo>
                    <a:lnTo>
                      <a:pt x="728" y="134"/>
                    </a:lnTo>
                    <a:lnTo>
                      <a:pt x="728" y="134"/>
                    </a:lnTo>
                    <a:lnTo>
                      <a:pt x="729" y="136"/>
                    </a:lnTo>
                    <a:lnTo>
                      <a:pt x="729" y="136"/>
                    </a:lnTo>
                    <a:lnTo>
                      <a:pt x="731" y="138"/>
                    </a:lnTo>
                    <a:lnTo>
                      <a:pt x="732" y="138"/>
                    </a:lnTo>
                    <a:lnTo>
                      <a:pt x="734" y="139"/>
                    </a:lnTo>
                    <a:lnTo>
                      <a:pt x="735" y="139"/>
                    </a:lnTo>
                    <a:lnTo>
                      <a:pt x="735" y="141"/>
                    </a:lnTo>
                    <a:lnTo>
                      <a:pt x="735" y="141"/>
                    </a:lnTo>
                    <a:lnTo>
                      <a:pt x="737" y="141"/>
                    </a:lnTo>
                    <a:lnTo>
                      <a:pt x="738" y="142"/>
                    </a:lnTo>
                    <a:lnTo>
                      <a:pt x="740" y="144"/>
                    </a:lnTo>
                    <a:lnTo>
                      <a:pt x="741" y="144"/>
                    </a:lnTo>
                    <a:lnTo>
                      <a:pt x="743" y="145"/>
                    </a:lnTo>
                    <a:lnTo>
                      <a:pt x="743" y="145"/>
                    </a:lnTo>
                    <a:lnTo>
                      <a:pt x="744" y="147"/>
                    </a:lnTo>
                    <a:lnTo>
                      <a:pt x="744" y="147"/>
                    </a:lnTo>
                    <a:lnTo>
                      <a:pt x="746" y="147"/>
                    </a:lnTo>
                    <a:lnTo>
                      <a:pt x="747" y="148"/>
                    </a:lnTo>
                    <a:lnTo>
                      <a:pt x="747" y="148"/>
                    </a:lnTo>
                    <a:lnTo>
                      <a:pt x="749" y="150"/>
                    </a:lnTo>
                    <a:lnTo>
                      <a:pt x="749" y="150"/>
                    </a:lnTo>
                    <a:lnTo>
                      <a:pt x="751" y="150"/>
                    </a:lnTo>
                    <a:lnTo>
                      <a:pt x="751" y="151"/>
                    </a:lnTo>
                    <a:lnTo>
                      <a:pt x="752" y="151"/>
                    </a:lnTo>
                    <a:lnTo>
                      <a:pt x="752" y="153"/>
                    </a:lnTo>
                    <a:lnTo>
                      <a:pt x="754" y="153"/>
                    </a:lnTo>
                    <a:lnTo>
                      <a:pt x="754" y="154"/>
                    </a:lnTo>
                    <a:lnTo>
                      <a:pt x="755" y="154"/>
                    </a:lnTo>
                    <a:lnTo>
                      <a:pt x="755" y="156"/>
                    </a:lnTo>
                    <a:lnTo>
                      <a:pt x="757" y="156"/>
                    </a:lnTo>
                    <a:lnTo>
                      <a:pt x="757" y="157"/>
                    </a:lnTo>
                    <a:lnTo>
                      <a:pt x="758" y="157"/>
                    </a:lnTo>
                    <a:lnTo>
                      <a:pt x="758" y="159"/>
                    </a:lnTo>
                    <a:lnTo>
                      <a:pt x="760" y="160"/>
                    </a:lnTo>
                    <a:lnTo>
                      <a:pt x="761" y="160"/>
                    </a:lnTo>
                    <a:lnTo>
                      <a:pt x="763" y="162"/>
                    </a:lnTo>
                    <a:lnTo>
                      <a:pt x="763" y="164"/>
                    </a:lnTo>
                    <a:lnTo>
                      <a:pt x="764" y="165"/>
                    </a:lnTo>
                    <a:lnTo>
                      <a:pt x="766" y="167"/>
                    </a:lnTo>
                    <a:lnTo>
                      <a:pt x="767" y="168"/>
                    </a:lnTo>
                    <a:lnTo>
                      <a:pt x="767" y="168"/>
                    </a:lnTo>
                    <a:lnTo>
                      <a:pt x="769" y="170"/>
                    </a:lnTo>
                    <a:lnTo>
                      <a:pt x="770" y="171"/>
                    </a:lnTo>
                    <a:lnTo>
                      <a:pt x="772" y="173"/>
                    </a:lnTo>
                    <a:lnTo>
                      <a:pt x="773" y="174"/>
                    </a:lnTo>
                    <a:lnTo>
                      <a:pt x="773" y="174"/>
                    </a:lnTo>
                    <a:lnTo>
                      <a:pt x="775" y="176"/>
                    </a:lnTo>
                    <a:lnTo>
                      <a:pt x="776" y="177"/>
                    </a:lnTo>
                    <a:lnTo>
                      <a:pt x="776" y="179"/>
                    </a:lnTo>
                    <a:lnTo>
                      <a:pt x="778" y="179"/>
                    </a:lnTo>
                    <a:lnTo>
                      <a:pt x="780" y="180"/>
                    </a:lnTo>
                    <a:lnTo>
                      <a:pt x="780" y="180"/>
                    </a:lnTo>
                    <a:lnTo>
                      <a:pt x="781" y="182"/>
                    </a:lnTo>
                    <a:lnTo>
                      <a:pt x="781" y="183"/>
                    </a:lnTo>
                    <a:lnTo>
                      <a:pt x="783" y="183"/>
                    </a:lnTo>
                    <a:lnTo>
                      <a:pt x="783" y="185"/>
                    </a:lnTo>
                    <a:lnTo>
                      <a:pt x="784" y="186"/>
                    </a:lnTo>
                    <a:lnTo>
                      <a:pt x="784" y="186"/>
                    </a:lnTo>
                    <a:lnTo>
                      <a:pt x="786" y="188"/>
                    </a:lnTo>
                    <a:lnTo>
                      <a:pt x="787" y="188"/>
                    </a:lnTo>
                    <a:lnTo>
                      <a:pt x="787" y="189"/>
                    </a:lnTo>
                    <a:lnTo>
                      <a:pt x="789" y="191"/>
                    </a:lnTo>
                    <a:lnTo>
                      <a:pt x="789" y="193"/>
                    </a:lnTo>
                    <a:lnTo>
                      <a:pt x="790" y="193"/>
                    </a:lnTo>
                    <a:lnTo>
                      <a:pt x="792" y="194"/>
                    </a:lnTo>
                    <a:lnTo>
                      <a:pt x="792" y="196"/>
                    </a:lnTo>
                    <a:lnTo>
                      <a:pt x="793" y="197"/>
                    </a:lnTo>
                    <a:lnTo>
                      <a:pt x="795" y="199"/>
                    </a:lnTo>
                    <a:lnTo>
                      <a:pt x="796" y="200"/>
                    </a:lnTo>
                    <a:lnTo>
                      <a:pt x="798" y="202"/>
                    </a:lnTo>
                    <a:lnTo>
                      <a:pt x="799" y="203"/>
                    </a:lnTo>
                    <a:lnTo>
                      <a:pt x="801" y="206"/>
                    </a:lnTo>
                    <a:lnTo>
                      <a:pt x="802" y="208"/>
                    </a:lnTo>
                    <a:lnTo>
                      <a:pt x="802" y="208"/>
                    </a:lnTo>
                    <a:lnTo>
                      <a:pt x="804" y="209"/>
                    </a:lnTo>
                    <a:lnTo>
                      <a:pt x="806" y="212"/>
                    </a:lnTo>
                    <a:lnTo>
                      <a:pt x="807" y="214"/>
                    </a:lnTo>
                    <a:lnTo>
                      <a:pt x="809" y="215"/>
                    </a:lnTo>
                    <a:lnTo>
                      <a:pt x="810" y="217"/>
                    </a:lnTo>
                    <a:lnTo>
                      <a:pt x="812" y="219"/>
                    </a:lnTo>
                    <a:lnTo>
                      <a:pt x="813" y="220"/>
                    </a:lnTo>
                    <a:lnTo>
                      <a:pt x="815" y="222"/>
                    </a:lnTo>
                    <a:lnTo>
                      <a:pt x="815" y="223"/>
                    </a:lnTo>
                    <a:lnTo>
                      <a:pt x="816" y="225"/>
                    </a:lnTo>
                    <a:lnTo>
                      <a:pt x="818" y="226"/>
                    </a:lnTo>
                    <a:lnTo>
                      <a:pt x="818" y="226"/>
                    </a:lnTo>
                    <a:lnTo>
                      <a:pt x="819" y="228"/>
                    </a:lnTo>
                    <a:lnTo>
                      <a:pt x="819" y="229"/>
                    </a:lnTo>
                    <a:lnTo>
                      <a:pt x="821" y="231"/>
                    </a:lnTo>
                    <a:lnTo>
                      <a:pt x="822" y="231"/>
                    </a:lnTo>
                    <a:lnTo>
                      <a:pt x="822" y="232"/>
                    </a:lnTo>
                    <a:lnTo>
                      <a:pt x="824" y="234"/>
                    </a:lnTo>
                    <a:lnTo>
                      <a:pt x="824" y="235"/>
                    </a:lnTo>
                    <a:lnTo>
                      <a:pt x="825" y="237"/>
                    </a:lnTo>
                    <a:lnTo>
                      <a:pt x="827" y="237"/>
                    </a:lnTo>
                    <a:lnTo>
                      <a:pt x="827" y="238"/>
                    </a:lnTo>
                    <a:lnTo>
                      <a:pt x="828" y="240"/>
                    </a:lnTo>
                    <a:lnTo>
                      <a:pt x="830" y="241"/>
                    </a:lnTo>
                    <a:lnTo>
                      <a:pt x="830" y="243"/>
                    </a:lnTo>
                    <a:lnTo>
                      <a:pt x="832" y="245"/>
                    </a:lnTo>
                    <a:lnTo>
                      <a:pt x="833" y="248"/>
                    </a:lnTo>
                    <a:lnTo>
                      <a:pt x="835" y="249"/>
                    </a:lnTo>
                    <a:lnTo>
                      <a:pt x="836" y="251"/>
                    </a:lnTo>
                    <a:lnTo>
                      <a:pt x="838" y="254"/>
                    </a:lnTo>
                    <a:lnTo>
                      <a:pt x="839" y="255"/>
                    </a:lnTo>
                    <a:lnTo>
                      <a:pt x="841" y="258"/>
                    </a:lnTo>
                    <a:lnTo>
                      <a:pt x="841" y="258"/>
                    </a:lnTo>
                    <a:lnTo>
                      <a:pt x="842" y="260"/>
                    </a:lnTo>
                    <a:lnTo>
                      <a:pt x="844" y="263"/>
                    </a:lnTo>
                    <a:lnTo>
                      <a:pt x="845" y="264"/>
                    </a:lnTo>
                    <a:lnTo>
                      <a:pt x="847" y="266"/>
                    </a:lnTo>
                    <a:lnTo>
                      <a:pt x="848" y="269"/>
                    </a:lnTo>
                    <a:lnTo>
                      <a:pt x="850" y="271"/>
                    </a:lnTo>
                    <a:lnTo>
                      <a:pt x="851" y="272"/>
                    </a:lnTo>
                    <a:lnTo>
                      <a:pt x="853" y="274"/>
                    </a:lnTo>
                    <a:lnTo>
                      <a:pt x="853" y="275"/>
                    </a:lnTo>
                    <a:lnTo>
                      <a:pt x="854" y="277"/>
                    </a:lnTo>
                    <a:lnTo>
                      <a:pt x="856" y="278"/>
                    </a:lnTo>
                    <a:lnTo>
                      <a:pt x="856" y="280"/>
                    </a:lnTo>
                    <a:lnTo>
                      <a:pt x="858" y="281"/>
                    </a:lnTo>
                    <a:lnTo>
                      <a:pt x="859" y="281"/>
                    </a:lnTo>
                    <a:lnTo>
                      <a:pt x="859" y="283"/>
                    </a:lnTo>
                    <a:lnTo>
                      <a:pt x="861" y="284"/>
                    </a:lnTo>
                    <a:lnTo>
                      <a:pt x="861" y="286"/>
                    </a:lnTo>
                    <a:lnTo>
                      <a:pt x="862" y="287"/>
                    </a:lnTo>
                    <a:lnTo>
                      <a:pt x="864" y="289"/>
                    </a:lnTo>
                    <a:lnTo>
                      <a:pt x="864" y="290"/>
                    </a:lnTo>
                    <a:lnTo>
                      <a:pt x="865" y="290"/>
                    </a:lnTo>
                    <a:lnTo>
                      <a:pt x="867" y="292"/>
                    </a:lnTo>
                    <a:lnTo>
                      <a:pt x="867" y="293"/>
                    </a:lnTo>
                    <a:lnTo>
                      <a:pt x="868" y="295"/>
                    </a:lnTo>
                    <a:lnTo>
                      <a:pt x="870" y="298"/>
                    </a:lnTo>
                    <a:lnTo>
                      <a:pt x="871" y="300"/>
                    </a:lnTo>
                    <a:lnTo>
                      <a:pt x="873" y="301"/>
                    </a:lnTo>
                    <a:lnTo>
                      <a:pt x="874" y="303"/>
                    </a:lnTo>
                    <a:lnTo>
                      <a:pt x="876" y="306"/>
                    </a:lnTo>
                    <a:lnTo>
                      <a:pt x="877" y="307"/>
                    </a:lnTo>
                    <a:lnTo>
                      <a:pt x="879" y="310"/>
                    </a:lnTo>
                    <a:lnTo>
                      <a:pt x="880" y="312"/>
                    </a:lnTo>
                    <a:lnTo>
                      <a:pt x="880" y="312"/>
                    </a:lnTo>
                    <a:lnTo>
                      <a:pt x="882" y="315"/>
                    </a:lnTo>
                    <a:lnTo>
                      <a:pt x="884" y="316"/>
                    </a:lnTo>
                    <a:lnTo>
                      <a:pt x="885" y="319"/>
                    </a:lnTo>
                    <a:lnTo>
                      <a:pt x="887" y="321"/>
                    </a:lnTo>
                    <a:lnTo>
                      <a:pt x="888" y="324"/>
                    </a:lnTo>
                    <a:lnTo>
                      <a:pt x="890" y="326"/>
                    </a:lnTo>
                    <a:lnTo>
                      <a:pt x="891" y="327"/>
                    </a:lnTo>
                    <a:lnTo>
                      <a:pt x="893" y="329"/>
                    </a:lnTo>
                    <a:lnTo>
                      <a:pt x="893" y="330"/>
                    </a:lnTo>
                    <a:lnTo>
                      <a:pt x="894" y="332"/>
                    </a:lnTo>
                    <a:lnTo>
                      <a:pt x="896" y="333"/>
                    </a:lnTo>
                    <a:lnTo>
                      <a:pt x="896" y="335"/>
                    </a:lnTo>
                    <a:lnTo>
                      <a:pt x="897" y="336"/>
                    </a:lnTo>
                    <a:lnTo>
                      <a:pt x="897" y="336"/>
                    </a:lnTo>
                    <a:lnTo>
                      <a:pt x="899" y="338"/>
                    </a:lnTo>
                    <a:lnTo>
                      <a:pt x="899" y="339"/>
                    </a:lnTo>
                    <a:lnTo>
                      <a:pt x="900" y="341"/>
                    </a:lnTo>
                    <a:lnTo>
                      <a:pt x="900" y="342"/>
                    </a:lnTo>
                    <a:lnTo>
                      <a:pt x="902" y="342"/>
                    </a:lnTo>
                    <a:lnTo>
                      <a:pt x="902" y="344"/>
                    </a:lnTo>
                    <a:lnTo>
                      <a:pt x="903" y="345"/>
                    </a:lnTo>
                    <a:lnTo>
                      <a:pt x="903" y="347"/>
                    </a:lnTo>
                    <a:lnTo>
                      <a:pt x="905" y="348"/>
                    </a:lnTo>
                    <a:lnTo>
                      <a:pt x="905" y="348"/>
                    </a:lnTo>
                    <a:lnTo>
                      <a:pt x="906" y="350"/>
                    </a:lnTo>
                    <a:lnTo>
                      <a:pt x="908" y="352"/>
                    </a:lnTo>
                    <a:lnTo>
                      <a:pt x="908" y="353"/>
                    </a:lnTo>
                    <a:lnTo>
                      <a:pt x="909" y="355"/>
                    </a:lnTo>
                    <a:lnTo>
                      <a:pt x="909" y="358"/>
                    </a:lnTo>
                    <a:lnTo>
                      <a:pt x="911" y="359"/>
                    </a:lnTo>
                    <a:lnTo>
                      <a:pt x="913" y="361"/>
                    </a:lnTo>
                    <a:lnTo>
                      <a:pt x="914" y="362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70"/>
              <p:cNvSpPr>
                <a:spLocks/>
              </p:cNvSpPr>
              <p:nvPr/>
            </p:nvSpPr>
            <p:spPr bwMode="auto">
              <a:xfrm>
                <a:off x="3408" y="2770"/>
                <a:ext cx="457" cy="181"/>
              </a:xfrm>
              <a:custGeom>
                <a:avLst/>
                <a:gdLst>
                  <a:gd name="T0" fmla="*/ 179 w 914"/>
                  <a:gd name="T1" fmla="*/ 363 h 363"/>
                  <a:gd name="T2" fmla="*/ 306 w 914"/>
                  <a:gd name="T3" fmla="*/ 363 h 363"/>
                  <a:gd name="T4" fmla="*/ 371 w 914"/>
                  <a:gd name="T5" fmla="*/ 363 h 363"/>
                  <a:gd name="T6" fmla="*/ 399 w 914"/>
                  <a:gd name="T7" fmla="*/ 361 h 363"/>
                  <a:gd name="T8" fmla="*/ 414 w 914"/>
                  <a:gd name="T9" fmla="*/ 361 h 363"/>
                  <a:gd name="T10" fmla="*/ 428 w 914"/>
                  <a:gd name="T11" fmla="*/ 360 h 363"/>
                  <a:gd name="T12" fmla="*/ 439 w 914"/>
                  <a:gd name="T13" fmla="*/ 360 h 363"/>
                  <a:gd name="T14" fmla="*/ 448 w 914"/>
                  <a:gd name="T15" fmla="*/ 358 h 363"/>
                  <a:gd name="T16" fmla="*/ 460 w 914"/>
                  <a:gd name="T17" fmla="*/ 357 h 363"/>
                  <a:gd name="T18" fmla="*/ 474 w 914"/>
                  <a:gd name="T19" fmla="*/ 353 h 363"/>
                  <a:gd name="T20" fmla="*/ 486 w 914"/>
                  <a:gd name="T21" fmla="*/ 352 h 363"/>
                  <a:gd name="T22" fmla="*/ 495 w 914"/>
                  <a:gd name="T23" fmla="*/ 350 h 363"/>
                  <a:gd name="T24" fmla="*/ 506 w 914"/>
                  <a:gd name="T25" fmla="*/ 347 h 363"/>
                  <a:gd name="T26" fmla="*/ 521 w 914"/>
                  <a:gd name="T27" fmla="*/ 343 h 363"/>
                  <a:gd name="T28" fmla="*/ 536 w 914"/>
                  <a:gd name="T29" fmla="*/ 338 h 363"/>
                  <a:gd name="T30" fmla="*/ 549 w 914"/>
                  <a:gd name="T31" fmla="*/ 334 h 363"/>
                  <a:gd name="T32" fmla="*/ 558 w 914"/>
                  <a:gd name="T33" fmla="*/ 331 h 363"/>
                  <a:gd name="T34" fmla="*/ 569 w 914"/>
                  <a:gd name="T35" fmla="*/ 324 h 363"/>
                  <a:gd name="T36" fmla="*/ 581 w 914"/>
                  <a:gd name="T37" fmla="*/ 318 h 363"/>
                  <a:gd name="T38" fmla="*/ 595 w 914"/>
                  <a:gd name="T39" fmla="*/ 312 h 363"/>
                  <a:gd name="T40" fmla="*/ 605 w 914"/>
                  <a:gd name="T41" fmla="*/ 306 h 363"/>
                  <a:gd name="T42" fmla="*/ 613 w 914"/>
                  <a:gd name="T43" fmla="*/ 303 h 363"/>
                  <a:gd name="T44" fmla="*/ 624 w 914"/>
                  <a:gd name="T45" fmla="*/ 297 h 363"/>
                  <a:gd name="T46" fmla="*/ 636 w 914"/>
                  <a:gd name="T47" fmla="*/ 289 h 363"/>
                  <a:gd name="T48" fmla="*/ 647 w 914"/>
                  <a:gd name="T49" fmla="*/ 283 h 363"/>
                  <a:gd name="T50" fmla="*/ 656 w 914"/>
                  <a:gd name="T51" fmla="*/ 279 h 363"/>
                  <a:gd name="T52" fmla="*/ 662 w 914"/>
                  <a:gd name="T53" fmla="*/ 274 h 363"/>
                  <a:gd name="T54" fmla="*/ 671 w 914"/>
                  <a:gd name="T55" fmla="*/ 268 h 363"/>
                  <a:gd name="T56" fmla="*/ 682 w 914"/>
                  <a:gd name="T57" fmla="*/ 262 h 363"/>
                  <a:gd name="T58" fmla="*/ 689 w 914"/>
                  <a:gd name="T59" fmla="*/ 257 h 363"/>
                  <a:gd name="T60" fmla="*/ 694 w 914"/>
                  <a:gd name="T61" fmla="*/ 253 h 363"/>
                  <a:gd name="T62" fmla="*/ 700 w 914"/>
                  <a:gd name="T63" fmla="*/ 250 h 363"/>
                  <a:gd name="T64" fmla="*/ 708 w 914"/>
                  <a:gd name="T65" fmla="*/ 243 h 363"/>
                  <a:gd name="T66" fmla="*/ 714 w 914"/>
                  <a:gd name="T67" fmla="*/ 239 h 363"/>
                  <a:gd name="T68" fmla="*/ 718 w 914"/>
                  <a:gd name="T69" fmla="*/ 234 h 363"/>
                  <a:gd name="T70" fmla="*/ 723 w 914"/>
                  <a:gd name="T71" fmla="*/ 231 h 363"/>
                  <a:gd name="T72" fmla="*/ 729 w 914"/>
                  <a:gd name="T73" fmla="*/ 227 h 363"/>
                  <a:gd name="T74" fmla="*/ 737 w 914"/>
                  <a:gd name="T75" fmla="*/ 222 h 363"/>
                  <a:gd name="T76" fmla="*/ 744 w 914"/>
                  <a:gd name="T77" fmla="*/ 216 h 363"/>
                  <a:gd name="T78" fmla="*/ 751 w 914"/>
                  <a:gd name="T79" fmla="*/ 211 h 363"/>
                  <a:gd name="T80" fmla="*/ 757 w 914"/>
                  <a:gd name="T81" fmla="*/ 207 h 363"/>
                  <a:gd name="T82" fmla="*/ 763 w 914"/>
                  <a:gd name="T83" fmla="*/ 199 h 363"/>
                  <a:gd name="T84" fmla="*/ 772 w 914"/>
                  <a:gd name="T85" fmla="*/ 190 h 363"/>
                  <a:gd name="T86" fmla="*/ 780 w 914"/>
                  <a:gd name="T87" fmla="*/ 182 h 363"/>
                  <a:gd name="T88" fmla="*/ 784 w 914"/>
                  <a:gd name="T89" fmla="*/ 176 h 363"/>
                  <a:gd name="T90" fmla="*/ 792 w 914"/>
                  <a:gd name="T91" fmla="*/ 168 h 363"/>
                  <a:gd name="T92" fmla="*/ 801 w 914"/>
                  <a:gd name="T93" fmla="*/ 156 h 363"/>
                  <a:gd name="T94" fmla="*/ 810 w 914"/>
                  <a:gd name="T95" fmla="*/ 146 h 363"/>
                  <a:gd name="T96" fmla="*/ 818 w 914"/>
                  <a:gd name="T97" fmla="*/ 136 h 363"/>
                  <a:gd name="T98" fmla="*/ 824 w 914"/>
                  <a:gd name="T99" fmla="*/ 127 h 363"/>
                  <a:gd name="T100" fmla="*/ 832 w 914"/>
                  <a:gd name="T101" fmla="*/ 118 h 363"/>
                  <a:gd name="T102" fmla="*/ 841 w 914"/>
                  <a:gd name="T103" fmla="*/ 104 h 363"/>
                  <a:gd name="T104" fmla="*/ 851 w 914"/>
                  <a:gd name="T105" fmla="*/ 91 h 363"/>
                  <a:gd name="T106" fmla="*/ 859 w 914"/>
                  <a:gd name="T107" fmla="*/ 80 h 363"/>
                  <a:gd name="T108" fmla="*/ 865 w 914"/>
                  <a:gd name="T109" fmla="*/ 71 h 363"/>
                  <a:gd name="T110" fmla="*/ 874 w 914"/>
                  <a:gd name="T111" fmla="*/ 60 h 363"/>
                  <a:gd name="T112" fmla="*/ 884 w 914"/>
                  <a:gd name="T113" fmla="*/ 46 h 363"/>
                  <a:gd name="T114" fmla="*/ 893 w 914"/>
                  <a:gd name="T115" fmla="*/ 32 h 363"/>
                  <a:gd name="T116" fmla="*/ 899 w 914"/>
                  <a:gd name="T117" fmla="*/ 23 h 363"/>
                  <a:gd name="T118" fmla="*/ 905 w 914"/>
                  <a:gd name="T119" fmla="*/ 14 h 363"/>
                  <a:gd name="T120" fmla="*/ 911 w 914"/>
                  <a:gd name="T121" fmla="*/ 3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14" h="363">
                    <a:moveTo>
                      <a:pt x="0" y="363"/>
                    </a:moveTo>
                    <a:lnTo>
                      <a:pt x="35" y="363"/>
                    </a:lnTo>
                    <a:lnTo>
                      <a:pt x="67" y="363"/>
                    </a:lnTo>
                    <a:lnTo>
                      <a:pt x="98" y="363"/>
                    </a:lnTo>
                    <a:lnTo>
                      <a:pt x="127" y="363"/>
                    </a:lnTo>
                    <a:lnTo>
                      <a:pt x="154" y="363"/>
                    </a:lnTo>
                    <a:lnTo>
                      <a:pt x="179" y="363"/>
                    </a:lnTo>
                    <a:lnTo>
                      <a:pt x="202" y="363"/>
                    </a:lnTo>
                    <a:lnTo>
                      <a:pt x="223" y="363"/>
                    </a:lnTo>
                    <a:lnTo>
                      <a:pt x="243" y="363"/>
                    </a:lnTo>
                    <a:lnTo>
                      <a:pt x="260" y="363"/>
                    </a:lnTo>
                    <a:lnTo>
                      <a:pt x="277" y="363"/>
                    </a:lnTo>
                    <a:lnTo>
                      <a:pt x="292" y="363"/>
                    </a:lnTo>
                    <a:lnTo>
                      <a:pt x="306" y="363"/>
                    </a:lnTo>
                    <a:lnTo>
                      <a:pt x="318" y="363"/>
                    </a:lnTo>
                    <a:lnTo>
                      <a:pt x="330" y="363"/>
                    </a:lnTo>
                    <a:lnTo>
                      <a:pt x="339" y="363"/>
                    </a:lnTo>
                    <a:lnTo>
                      <a:pt x="348" y="363"/>
                    </a:lnTo>
                    <a:lnTo>
                      <a:pt x="358" y="363"/>
                    </a:lnTo>
                    <a:lnTo>
                      <a:pt x="364" y="363"/>
                    </a:lnTo>
                    <a:lnTo>
                      <a:pt x="371" y="363"/>
                    </a:lnTo>
                    <a:lnTo>
                      <a:pt x="376" y="363"/>
                    </a:lnTo>
                    <a:lnTo>
                      <a:pt x="382" y="363"/>
                    </a:lnTo>
                    <a:lnTo>
                      <a:pt x="387" y="363"/>
                    </a:lnTo>
                    <a:lnTo>
                      <a:pt x="390" y="363"/>
                    </a:lnTo>
                    <a:lnTo>
                      <a:pt x="393" y="361"/>
                    </a:lnTo>
                    <a:lnTo>
                      <a:pt x="396" y="361"/>
                    </a:lnTo>
                    <a:lnTo>
                      <a:pt x="399" y="361"/>
                    </a:lnTo>
                    <a:lnTo>
                      <a:pt x="402" y="361"/>
                    </a:lnTo>
                    <a:lnTo>
                      <a:pt x="405" y="361"/>
                    </a:lnTo>
                    <a:lnTo>
                      <a:pt x="407" y="361"/>
                    </a:lnTo>
                    <a:lnTo>
                      <a:pt x="410" y="361"/>
                    </a:lnTo>
                    <a:lnTo>
                      <a:pt x="411" y="361"/>
                    </a:lnTo>
                    <a:lnTo>
                      <a:pt x="411" y="361"/>
                    </a:lnTo>
                    <a:lnTo>
                      <a:pt x="414" y="361"/>
                    </a:lnTo>
                    <a:lnTo>
                      <a:pt x="417" y="361"/>
                    </a:lnTo>
                    <a:lnTo>
                      <a:pt x="419" y="361"/>
                    </a:lnTo>
                    <a:lnTo>
                      <a:pt x="422" y="360"/>
                    </a:lnTo>
                    <a:lnTo>
                      <a:pt x="423" y="360"/>
                    </a:lnTo>
                    <a:lnTo>
                      <a:pt x="425" y="360"/>
                    </a:lnTo>
                    <a:lnTo>
                      <a:pt x="426" y="360"/>
                    </a:lnTo>
                    <a:lnTo>
                      <a:pt x="428" y="360"/>
                    </a:lnTo>
                    <a:lnTo>
                      <a:pt x="429" y="360"/>
                    </a:lnTo>
                    <a:lnTo>
                      <a:pt x="431" y="360"/>
                    </a:lnTo>
                    <a:lnTo>
                      <a:pt x="433" y="360"/>
                    </a:lnTo>
                    <a:lnTo>
                      <a:pt x="434" y="360"/>
                    </a:lnTo>
                    <a:lnTo>
                      <a:pt x="436" y="360"/>
                    </a:lnTo>
                    <a:lnTo>
                      <a:pt x="437" y="360"/>
                    </a:lnTo>
                    <a:lnTo>
                      <a:pt x="439" y="360"/>
                    </a:lnTo>
                    <a:lnTo>
                      <a:pt x="440" y="358"/>
                    </a:lnTo>
                    <a:lnTo>
                      <a:pt x="440" y="358"/>
                    </a:lnTo>
                    <a:lnTo>
                      <a:pt x="442" y="358"/>
                    </a:lnTo>
                    <a:lnTo>
                      <a:pt x="443" y="358"/>
                    </a:lnTo>
                    <a:lnTo>
                      <a:pt x="445" y="358"/>
                    </a:lnTo>
                    <a:lnTo>
                      <a:pt x="446" y="358"/>
                    </a:lnTo>
                    <a:lnTo>
                      <a:pt x="448" y="358"/>
                    </a:lnTo>
                    <a:lnTo>
                      <a:pt x="449" y="358"/>
                    </a:lnTo>
                    <a:lnTo>
                      <a:pt x="451" y="358"/>
                    </a:lnTo>
                    <a:lnTo>
                      <a:pt x="452" y="357"/>
                    </a:lnTo>
                    <a:lnTo>
                      <a:pt x="454" y="357"/>
                    </a:lnTo>
                    <a:lnTo>
                      <a:pt x="455" y="357"/>
                    </a:lnTo>
                    <a:lnTo>
                      <a:pt x="457" y="357"/>
                    </a:lnTo>
                    <a:lnTo>
                      <a:pt x="460" y="357"/>
                    </a:lnTo>
                    <a:lnTo>
                      <a:pt x="462" y="355"/>
                    </a:lnTo>
                    <a:lnTo>
                      <a:pt x="465" y="355"/>
                    </a:lnTo>
                    <a:lnTo>
                      <a:pt x="466" y="355"/>
                    </a:lnTo>
                    <a:lnTo>
                      <a:pt x="466" y="355"/>
                    </a:lnTo>
                    <a:lnTo>
                      <a:pt x="469" y="355"/>
                    </a:lnTo>
                    <a:lnTo>
                      <a:pt x="471" y="355"/>
                    </a:lnTo>
                    <a:lnTo>
                      <a:pt x="474" y="353"/>
                    </a:lnTo>
                    <a:lnTo>
                      <a:pt x="475" y="353"/>
                    </a:lnTo>
                    <a:lnTo>
                      <a:pt x="477" y="353"/>
                    </a:lnTo>
                    <a:lnTo>
                      <a:pt x="478" y="353"/>
                    </a:lnTo>
                    <a:lnTo>
                      <a:pt x="481" y="353"/>
                    </a:lnTo>
                    <a:lnTo>
                      <a:pt x="483" y="353"/>
                    </a:lnTo>
                    <a:lnTo>
                      <a:pt x="485" y="352"/>
                    </a:lnTo>
                    <a:lnTo>
                      <a:pt x="486" y="352"/>
                    </a:lnTo>
                    <a:lnTo>
                      <a:pt x="488" y="352"/>
                    </a:lnTo>
                    <a:lnTo>
                      <a:pt x="488" y="352"/>
                    </a:lnTo>
                    <a:lnTo>
                      <a:pt x="489" y="352"/>
                    </a:lnTo>
                    <a:lnTo>
                      <a:pt x="491" y="352"/>
                    </a:lnTo>
                    <a:lnTo>
                      <a:pt x="492" y="350"/>
                    </a:lnTo>
                    <a:lnTo>
                      <a:pt x="494" y="350"/>
                    </a:lnTo>
                    <a:lnTo>
                      <a:pt x="495" y="350"/>
                    </a:lnTo>
                    <a:lnTo>
                      <a:pt x="497" y="350"/>
                    </a:lnTo>
                    <a:lnTo>
                      <a:pt x="498" y="349"/>
                    </a:lnTo>
                    <a:lnTo>
                      <a:pt x="500" y="349"/>
                    </a:lnTo>
                    <a:lnTo>
                      <a:pt x="501" y="349"/>
                    </a:lnTo>
                    <a:lnTo>
                      <a:pt x="503" y="349"/>
                    </a:lnTo>
                    <a:lnTo>
                      <a:pt x="504" y="347"/>
                    </a:lnTo>
                    <a:lnTo>
                      <a:pt x="506" y="347"/>
                    </a:lnTo>
                    <a:lnTo>
                      <a:pt x="507" y="347"/>
                    </a:lnTo>
                    <a:lnTo>
                      <a:pt x="509" y="346"/>
                    </a:lnTo>
                    <a:lnTo>
                      <a:pt x="512" y="346"/>
                    </a:lnTo>
                    <a:lnTo>
                      <a:pt x="514" y="344"/>
                    </a:lnTo>
                    <a:lnTo>
                      <a:pt x="517" y="344"/>
                    </a:lnTo>
                    <a:lnTo>
                      <a:pt x="518" y="344"/>
                    </a:lnTo>
                    <a:lnTo>
                      <a:pt x="521" y="343"/>
                    </a:lnTo>
                    <a:lnTo>
                      <a:pt x="524" y="341"/>
                    </a:lnTo>
                    <a:lnTo>
                      <a:pt x="524" y="341"/>
                    </a:lnTo>
                    <a:lnTo>
                      <a:pt x="527" y="341"/>
                    </a:lnTo>
                    <a:lnTo>
                      <a:pt x="529" y="340"/>
                    </a:lnTo>
                    <a:lnTo>
                      <a:pt x="532" y="340"/>
                    </a:lnTo>
                    <a:lnTo>
                      <a:pt x="533" y="338"/>
                    </a:lnTo>
                    <a:lnTo>
                      <a:pt x="536" y="338"/>
                    </a:lnTo>
                    <a:lnTo>
                      <a:pt x="538" y="337"/>
                    </a:lnTo>
                    <a:lnTo>
                      <a:pt x="540" y="337"/>
                    </a:lnTo>
                    <a:lnTo>
                      <a:pt x="543" y="337"/>
                    </a:lnTo>
                    <a:lnTo>
                      <a:pt x="544" y="335"/>
                    </a:lnTo>
                    <a:lnTo>
                      <a:pt x="546" y="335"/>
                    </a:lnTo>
                    <a:lnTo>
                      <a:pt x="547" y="334"/>
                    </a:lnTo>
                    <a:lnTo>
                      <a:pt x="549" y="334"/>
                    </a:lnTo>
                    <a:lnTo>
                      <a:pt x="550" y="334"/>
                    </a:lnTo>
                    <a:lnTo>
                      <a:pt x="552" y="332"/>
                    </a:lnTo>
                    <a:lnTo>
                      <a:pt x="552" y="332"/>
                    </a:lnTo>
                    <a:lnTo>
                      <a:pt x="553" y="332"/>
                    </a:lnTo>
                    <a:lnTo>
                      <a:pt x="555" y="331"/>
                    </a:lnTo>
                    <a:lnTo>
                      <a:pt x="556" y="331"/>
                    </a:lnTo>
                    <a:lnTo>
                      <a:pt x="558" y="331"/>
                    </a:lnTo>
                    <a:lnTo>
                      <a:pt x="559" y="329"/>
                    </a:lnTo>
                    <a:lnTo>
                      <a:pt x="561" y="329"/>
                    </a:lnTo>
                    <a:lnTo>
                      <a:pt x="562" y="327"/>
                    </a:lnTo>
                    <a:lnTo>
                      <a:pt x="564" y="327"/>
                    </a:lnTo>
                    <a:lnTo>
                      <a:pt x="566" y="327"/>
                    </a:lnTo>
                    <a:lnTo>
                      <a:pt x="567" y="326"/>
                    </a:lnTo>
                    <a:lnTo>
                      <a:pt x="569" y="324"/>
                    </a:lnTo>
                    <a:lnTo>
                      <a:pt x="570" y="324"/>
                    </a:lnTo>
                    <a:lnTo>
                      <a:pt x="572" y="323"/>
                    </a:lnTo>
                    <a:lnTo>
                      <a:pt x="575" y="323"/>
                    </a:lnTo>
                    <a:lnTo>
                      <a:pt x="576" y="321"/>
                    </a:lnTo>
                    <a:lnTo>
                      <a:pt x="579" y="320"/>
                    </a:lnTo>
                    <a:lnTo>
                      <a:pt x="581" y="318"/>
                    </a:lnTo>
                    <a:lnTo>
                      <a:pt x="581" y="318"/>
                    </a:lnTo>
                    <a:lnTo>
                      <a:pt x="584" y="318"/>
                    </a:lnTo>
                    <a:lnTo>
                      <a:pt x="585" y="317"/>
                    </a:lnTo>
                    <a:lnTo>
                      <a:pt x="588" y="315"/>
                    </a:lnTo>
                    <a:lnTo>
                      <a:pt x="590" y="315"/>
                    </a:lnTo>
                    <a:lnTo>
                      <a:pt x="592" y="314"/>
                    </a:lnTo>
                    <a:lnTo>
                      <a:pt x="593" y="312"/>
                    </a:lnTo>
                    <a:lnTo>
                      <a:pt x="595" y="312"/>
                    </a:lnTo>
                    <a:lnTo>
                      <a:pt x="598" y="311"/>
                    </a:lnTo>
                    <a:lnTo>
                      <a:pt x="598" y="311"/>
                    </a:lnTo>
                    <a:lnTo>
                      <a:pt x="599" y="309"/>
                    </a:lnTo>
                    <a:lnTo>
                      <a:pt x="601" y="309"/>
                    </a:lnTo>
                    <a:lnTo>
                      <a:pt x="602" y="308"/>
                    </a:lnTo>
                    <a:lnTo>
                      <a:pt x="604" y="308"/>
                    </a:lnTo>
                    <a:lnTo>
                      <a:pt x="605" y="306"/>
                    </a:lnTo>
                    <a:lnTo>
                      <a:pt x="607" y="306"/>
                    </a:lnTo>
                    <a:lnTo>
                      <a:pt x="607" y="306"/>
                    </a:lnTo>
                    <a:lnTo>
                      <a:pt x="608" y="305"/>
                    </a:lnTo>
                    <a:lnTo>
                      <a:pt x="610" y="305"/>
                    </a:lnTo>
                    <a:lnTo>
                      <a:pt x="611" y="303"/>
                    </a:lnTo>
                    <a:lnTo>
                      <a:pt x="613" y="303"/>
                    </a:lnTo>
                    <a:lnTo>
                      <a:pt x="613" y="303"/>
                    </a:lnTo>
                    <a:lnTo>
                      <a:pt x="614" y="302"/>
                    </a:lnTo>
                    <a:lnTo>
                      <a:pt x="616" y="302"/>
                    </a:lnTo>
                    <a:lnTo>
                      <a:pt x="618" y="300"/>
                    </a:lnTo>
                    <a:lnTo>
                      <a:pt x="619" y="300"/>
                    </a:lnTo>
                    <a:lnTo>
                      <a:pt x="621" y="298"/>
                    </a:lnTo>
                    <a:lnTo>
                      <a:pt x="622" y="297"/>
                    </a:lnTo>
                    <a:lnTo>
                      <a:pt x="624" y="297"/>
                    </a:lnTo>
                    <a:lnTo>
                      <a:pt x="625" y="295"/>
                    </a:lnTo>
                    <a:lnTo>
                      <a:pt x="628" y="294"/>
                    </a:lnTo>
                    <a:lnTo>
                      <a:pt x="630" y="294"/>
                    </a:lnTo>
                    <a:lnTo>
                      <a:pt x="631" y="292"/>
                    </a:lnTo>
                    <a:lnTo>
                      <a:pt x="631" y="292"/>
                    </a:lnTo>
                    <a:lnTo>
                      <a:pt x="634" y="291"/>
                    </a:lnTo>
                    <a:lnTo>
                      <a:pt x="636" y="289"/>
                    </a:lnTo>
                    <a:lnTo>
                      <a:pt x="637" y="289"/>
                    </a:lnTo>
                    <a:lnTo>
                      <a:pt x="639" y="288"/>
                    </a:lnTo>
                    <a:lnTo>
                      <a:pt x="642" y="286"/>
                    </a:lnTo>
                    <a:lnTo>
                      <a:pt x="643" y="286"/>
                    </a:lnTo>
                    <a:lnTo>
                      <a:pt x="645" y="285"/>
                    </a:lnTo>
                    <a:lnTo>
                      <a:pt x="647" y="285"/>
                    </a:lnTo>
                    <a:lnTo>
                      <a:pt x="647" y="283"/>
                    </a:lnTo>
                    <a:lnTo>
                      <a:pt x="648" y="283"/>
                    </a:lnTo>
                    <a:lnTo>
                      <a:pt x="650" y="282"/>
                    </a:lnTo>
                    <a:lnTo>
                      <a:pt x="651" y="282"/>
                    </a:lnTo>
                    <a:lnTo>
                      <a:pt x="651" y="280"/>
                    </a:lnTo>
                    <a:lnTo>
                      <a:pt x="653" y="280"/>
                    </a:lnTo>
                    <a:lnTo>
                      <a:pt x="654" y="280"/>
                    </a:lnTo>
                    <a:lnTo>
                      <a:pt x="656" y="279"/>
                    </a:lnTo>
                    <a:lnTo>
                      <a:pt x="656" y="279"/>
                    </a:lnTo>
                    <a:lnTo>
                      <a:pt x="657" y="277"/>
                    </a:lnTo>
                    <a:lnTo>
                      <a:pt x="657" y="277"/>
                    </a:lnTo>
                    <a:lnTo>
                      <a:pt x="659" y="277"/>
                    </a:lnTo>
                    <a:lnTo>
                      <a:pt x="660" y="276"/>
                    </a:lnTo>
                    <a:lnTo>
                      <a:pt x="662" y="276"/>
                    </a:lnTo>
                    <a:lnTo>
                      <a:pt x="662" y="274"/>
                    </a:lnTo>
                    <a:lnTo>
                      <a:pt x="663" y="274"/>
                    </a:lnTo>
                    <a:lnTo>
                      <a:pt x="665" y="272"/>
                    </a:lnTo>
                    <a:lnTo>
                      <a:pt x="666" y="272"/>
                    </a:lnTo>
                    <a:lnTo>
                      <a:pt x="666" y="271"/>
                    </a:lnTo>
                    <a:lnTo>
                      <a:pt x="668" y="271"/>
                    </a:lnTo>
                    <a:lnTo>
                      <a:pt x="669" y="269"/>
                    </a:lnTo>
                    <a:lnTo>
                      <a:pt x="671" y="268"/>
                    </a:lnTo>
                    <a:lnTo>
                      <a:pt x="673" y="268"/>
                    </a:lnTo>
                    <a:lnTo>
                      <a:pt x="674" y="266"/>
                    </a:lnTo>
                    <a:lnTo>
                      <a:pt x="674" y="266"/>
                    </a:lnTo>
                    <a:lnTo>
                      <a:pt x="677" y="265"/>
                    </a:lnTo>
                    <a:lnTo>
                      <a:pt x="679" y="265"/>
                    </a:lnTo>
                    <a:lnTo>
                      <a:pt x="680" y="263"/>
                    </a:lnTo>
                    <a:lnTo>
                      <a:pt x="682" y="262"/>
                    </a:lnTo>
                    <a:lnTo>
                      <a:pt x="682" y="262"/>
                    </a:lnTo>
                    <a:lnTo>
                      <a:pt x="683" y="260"/>
                    </a:lnTo>
                    <a:lnTo>
                      <a:pt x="685" y="260"/>
                    </a:lnTo>
                    <a:lnTo>
                      <a:pt x="686" y="259"/>
                    </a:lnTo>
                    <a:lnTo>
                      <a:pt x="686" y="259"/>
                    </a:lnTo>
                    <a:lnTo>
                      <a:pt x="688" y="257"/>
                    </a:lnTo>
                    <a:lnTo>
                      <a:pt x="689" y="257"/>
                    </a:lnTo>
                    <a:lnTo>
                      <a:pt x="689" y="256"/>
                    </a:lnTo>
                    <a:lnTo>
                      <a:pt x="691" y="256"/>
                    </a:lnTo>
                    <a:lnTo>
                      <a:pt x="691" y="256"/>
                    </a:lnTo>
                    <a:lnTo>
                      <a:pt x="692" y="254"/>
                    </a:lnTo>
                    <a:lnTo>
                      <a:pt x="692" y="254"/>
                    </a:lnTo>
                    <a:lnTo>
                      <a:pt x="694" y="254"/>
                    </a:lnTo>
                    <a:lnTo>
                      <a:pt x="694" y="253"/>
                    </a:lnTo>
                    <a:lnTo>
                      <a:pt x="695" y="253"/>
                    </a:lnTo>
                    <a:lnTo>
                      <a:pt x="695" y="253"/>
                    </a:lnTo>
                    <a:lnTo>
                      <a:pt x="697" y="251"/>
                    </a:lnTo>
                    <a:lnTo>
                      <a:pt x="697" y="251"/>
                    </a:lnTo>
                    <a:lnTo>
                      <a:pt x="699" y="250"/>
                    </a:lnTo>
                    <a:lnTo>
                      <a:pt x="699" y="250"/>
                    </a:lnTo>
                    <a:lnTo>
                      <a:pt x="700" y="250"/>
                    </a:lnTo>
                    <a:lnTo>
                      <a:pt x="702" y="248"/>
                    </a:lnTo>
                    <a:lnTo>
                      <a:pt x="702" y="248"/>
                    </a:lnTo>
                    <a:lnTo>
                      <a:pt x="703" y="246"/>
                    </a:lnTo>
                    <a:lnTo>
                      <a:pt x="703" y="246"/>
                    </a:lnTo>
                    <a:lnTo>
                      <a:pt x="705" y="245"/>
                    </a:lnTo>
                    <a:lnTo>
                      <a:pt x="706" y="245"/>
                    </a:lnTo>
                    <a:lnTo>
                      <a:pt x="708" y="243"/>
                    </a:lnTo>
                    <a:lnTo>
                      <a:pt x="708" y="243"/>
                    </a:lnTo>
                    <a:lnTo>
                      <a:pt x="708" y="242"/>
                    </a:lnTo>
                    <a:lnTo>
                      <a:pt x="709" y="242"/>
                    </a:lnTo>
                    <a:lnTo>
                      <a:pt x="711" y="240"/>
                    </a:lnTo>
                    <a:lnTo>
                      <a:pt x="712" y="240"/>
                    </a:lnTo>
                    <a:lnTo>
                      <a:pt x="712" y="239"/>
                    </a:lnTo>
                    <a:lnTo>
                      <a:pt x="714" y="239"/>
                    </a:lnTo>
                    <a:lnTo>
                      <a:pt x="714" y="237"/>
                    </a:lnTo>
                    <a:lnTo>
                      <a:pt x="715" y="237"/>
                    </a:lnTo>
                    <a:lnTo>
                      <a:pt x="715" y="236"/>
                    </a:lnTo>
                    <a:lnTo>
                      <a:pt x="717" y="236"/>
                    </a:lnTo>
                    <a:lnTo>
                      <a:pt x="717" y="236"/>
                    </a:lnTo>
                    <a:lnTo>
                      <a:pt x="718" y="234"/>
                    </a:lnTo>
                    <a:lnTo>
                      <a:pt x="718" y="234"/>
                    </a:lnTo>
                    <a:lnTo>
                      <a:pt x="720" y="234"/>
                    </a:lnTo>
                    <a:lnTo>
                      <a:pt x="720" y="233"/>
                    </a:lnTo>
                    <a:lnTo>
                      <a:pt x="721" y="233"/>
                    </a:lnTo>
                    <a:lnTo>
                      <a:pt x="721" y="233"/>
                    </a:lnTo>
                    <a:lnTo>
                      <a:pt x="723" y="231"/>
                    </a:lnTo>
                    <a:lnTo>
                      <a:pt x="723" y="231"/>
                    </a:lnTo>
                    <a:lnTo>
                      <a:pt x="723" y="231"/>
                    </a:lnTo>
                    <a:lnTo>
                      <a:pt x="725" y="230"/>
                    </a:lnTo>
                    <a:lnTo>
                      <a:pt x="725" y="230"/>
                    </a:lnTo>
                    <a:lnTo>
                      <a:pt x="726" y="230"/>
                    </a:lnTo>
                    <a:lnTo>
                      <a:pt x="728" y="228"/>
                    </a:lnTo>
                    <a:lnTo>
                      <a:pt x="728" y="228"/>
                    </a:lnTo>
                    <a:lnTo>
                      <a:pt x="729" y="227"/>
                    </a:lnTo>
                    <a:lnTo>
                      <a:pt x="729" y="227"/>
                    </a:lnTo>
                    <a:lnTo>
                      <a:pt x="731" y="225"/>
                    </a:lnTo>
                    <a:lnTo>
                      <a:pt x="732" y="225"/>
                    </a:lnTo>
                    <a:lnTo>
                      <a:pt x="734" y="224"/>
                    </a:lnTo>
                    <a:lnTo>
                      <a:pt x="735" y="224"/>
                    </a:lnTo>
                    <a:lnTo>
                      <a:pt x="735" y="222"/>
                    </a:lnTo>
                    <a:lnTo>
                      <a:pt x="735" y="222"/>
                    </a:lnTo>
                    <a:lnTo>
                      <a:pt x="737" y="222"/>
                    </a:lnTo>
                    <a:lnTo>
                      <a:pt x="738" y="220"/>
                    </a:lnTo>
                    <a:lnTo>
                      <a:pt x="740" y="219"/>
                    </a:lnTo>
                    <a:lnTo>
                      <a:pt x="741" y="219"/>
                    </a:lnTo>
                    <a:lnTo>
                      <a:pt x="743" y="217"/>
                    </a:lnTo>
                    <a:lnTo>
                      <a:pt x="743" y="217"/>
                    </a:lnTo>
                    <a:lnTo>
                      <a:pt x="744" y="217"/>
                    </a:lnTo>
                    <a:lnTo>
                      <a:pt x="744" y="216"/>
                    </a:lnTo>
                    <a:lnTo>
                      <a:pt x="746" y="216"/>
                    </a:lnTo>
                    <a:lnTo>
                      <a:pt x="747" y="214"/>
                    </a:lnTo>
                    <a:lnTo>
                      <a:pt x="747" y="214"/>
                    </a:lnTo>
                    <a:lnTo>
                      <a:pt x="749" y="213"/>
                    </a:lnTo>
                    <a:lnTo>
                      <a:pt x="749" y="213"/>
                    </a:lnTo>
                    <a:lnTo>
                      <a:pt x="751" y="213"/>
                    </a:lnTo>
                    <a:lnTo>
                      <a:pt x="751" y="211"/>
                    </a:lnTo>
                    <a:lnTo>
                      <a:pt x="752" y="211"/>
                    </a:lnTo>
                    <a:lnTo>
                      <a:pt x="752" y="210"/>
                    </a:lnTo>
                    <a:lnTo>
                      <a:pt x="754" y="210"/>
                    </a:lnTo>
                    <a:lnTo>
                      <a:pt x="754" y="210"/>
                    </a:lnTo>
                    <a:lnTo>
                      <a:pt x="755" y="208"/>
                    </a:lnTo>
                    <a:lnTo>
                      <a:pt x="755" y="207"/>
                    </a:lnTo>
                    <a:lnTo>
                      <a:pt x="757" y="207"/>
                    </a:lnTo>
                    <a:lnTo>
                      <a:pt x="757" y="205"/>
                    </a:lnTo>
                    <a:lnTo>
                      <a:pt x="758" y="205"/>
                    </a:lnTo>
                    <a:lnTo>
                      <a:pt x="758" y="204"/>
                    </a:lnTo>
                    <a:lnTo>
                      <a:pt x="760" y="202"/>
                    </a:lnTo>
                    <a:lnTo>
                      <a:pt x="761" y="202"/>
                    </a:lnTo>
                    <a:lnTo>
                      <a:pt x="763" y="201"/>
                    </a:lnTo>
                    <a:lnTo>
                      <a:pt x="763" y="199"/>
                    </a:lnTo>
                    <a:lnTo>
                      <a:pt x="764" y="198"/>
                    </a:lnTo>
                    <a:lnTo>
                      <a:pt x="766" y="196"/>
                    </a:lnTo>
                    <a:lnTo>
                      <a:pt x="767" y="194"/>
                    </a:lnTo>
                    <a:lnTo>
                      <a:pt x="767" y="194"/>
                    </a:lnTo>
                    <a:lnTo>
                      <a:pt x="769" y="193"/>
                    </a:lnTo>
                    <a:lnTo>
                      <a:pt x="770" y="191"/>
                    </a:lnTo>
                    <a:lnTo>
                      <a:pt x="772" y="190"/>
                    </a:lnTo>
                    <a:lnTo>
                      <a:pt x="773" y="188"/>
                    </a:lnTo>
                    <a:lnTo>
                      <a:pt x="773" y="188"/>
                    </a:lnTo>
                    <a:lnTo>
                      <a:pt x="775" y="187"/>
                    </a:lnTo>
                    <a:lnTo>
                      <a:pt x="776" y="185"/>
                    </a:lnTo>
                    <a:lnTo>
                      <a:pt x="776" y="184"/>
                    </a:lnTo>
                    <a:lnTo>
                      <a:pt x="778" y="184"/>
                    </a:lnTo>
                    <a:lnTo>
                      <a:pt x="780" y="182"/>
                    </a:lnTo>
                    <a:lnTo>
                      <a:pt x="780" y="181"/>
                    </a:lnTo>
                    <a:lnTo>
                      <a:pt x="781" y="181"/>
                    </a:lnTo>
                    <a:lnTo>
                      <a:pt x="781" y="179"/>
                    </a:lnTo>
                    <a:lnTo>
                      <a:pt x="783" y="179"/>
                    </a:lnTo>
                    <a:lnTo>
                      <a:pt x="783" y="178"/>
                    </a:lnTo>
                    <a:lnTo>
                      <a:pt x="784" y="176"/>
                    </a:lnTo>
                    <a:lnTo>
                      <a:pt x="784" y="176"/>
                    </a:lnTo>
                    <a:lnTo>
                      <a:pt x="786" y="175"/>
                    </a:lnTo>
                    <a:lnTo>
                      <a:pt x="787" y="173"/>
                    </a:lnTo>
                    <a:lnTo>
                      <a:pt x="787" y="173"/>
                    </a:lnTo>
                    <a:lnTo>
                      <a:pt x="789" y="172"/>
                    </a:lnTo>
                    <a:lnTo>
                      <a:pt x="789" y="170"/>
                    </a:lnTo>
                    <a:lnTo>
                      <a:pt x="790" y="170"/>
                    </a:lnTo>
                    <a:lnTo>
                      <a:pt x="792" y="168"/>
                    </a:lnTo>
                    <a:lnTo>
                      <a:pt x="792" y="167"/>
                    </a:lnTo>
                    <a:lnTo>
                      <a:pt x="793" y="165"/>
                    </a:lnTo>
                    <a:lnTo>
                      <a:pt x="795" y="164"/>
                    </a:lnTo>
                    <a:lnTo>
                      <a:pt x="796" y="162"/>
                    </a:lnTo>
                    <a:lnTo>
                      <a:pt x="798" y="161"/>
                    </a:lnTo>
                    <a:lnTo>
                      <a:pt x="799" y="158"/>
                    </a:lnTo>
                    <a:lnTo>
                      <a:pt x="801" y="156"/>
                    </a:lnTo>
                    <a:lnTo>
                      <a:pt x="802" y="155"/>
                    </a:lnTo>
                    <a:lnTo>
                      <a:pt x="802" y="155"/>
                    </a:lnTo>
                    <a:lnTo>
                      <a:pt x="804" y="152"/>
                    </a:lnTo>
                    <a:lnTo>
                      <a:pt x="806" y="150"/>
                    </a:lnTo>
                    <a:lnTo>
                      <a:pt x="807" y="149"/>
                    </a:lnTo>
                    <a:lnTo>
                      <a:pt x="809" y="147"/>
                    </a:lnTo>
                    <a:lnTo>
                      <a:pt x="810" y="146"/>
                    </a:lnTo>
                    <a:lnTo>
                      <a:pt x="812" y="144"/>
                    </a:lnTo>
                    <a:lnTo>
                      <a:pt x="813" y="143"/>
                    </a:lnTo>
                    <a:lnTo>
                      <a:pt x="815" y="141"/>
                    </a:lnTo>
                    <a:lnTo>
                      <a:pt x="815" y="139"/>
                    </a:lnTo>
                    <a:lnTo>
                      <a:pt x="816" y="138"/>
                    </a:lnTo>
                    <a:lnTo>
                      <a:pt x="818" y="136"/>
                    </a:lnTo>
                    <a:lnTo>
                      <a:pt x="818" y="136"/>
                    </a:lnTo>
                    <a:lnTo>
                      <a:pt x="819" y="135"/>
                    </a:lnTo>
                    <a:lnTo>
                      <a:pt x="819" y="133"/>
                    </a:lnTo>
                    <a:lnTo>
                      <a:pt x="821" y="132"/>
                    </a:lnTo>
                    <a:lnTo>
                      <a:pt x="822" y="132"/>
                    </a:lnTo>
                    <a:lnTo>
                      <a:pt x="822" y="130"/>
                    </a:lnTo>
                    <a:lnTo>
                      <a:pt x="824" y="129"/>
                    </a:lnTo>
                    <a:lnTo>
                      <a:pt x="824" y="127"/>
                    </a:lnTo>
                    <a:lnTo>
                      <a:pt x="825" y="126"/>
                    </a:lnTo>
                    <a:lnTo>
                      <a:pt x="827" y="126"/>
                    </a:lnTo>
                    <a:lnTo>
                      <a:pt x="827" y="124"/>
                    </a:lnTo>
                    <a:lnTo>
                      <a:pt x="828" y="123"/>
                    </a:lnTo>
                    <a:lnTo>
                      <a:pt x="830" y="121"/>
                    </a:lnTo>
                    <a:lnTo>
                      <a:pt x="830" y="120"/>
                    </a:lnTo>
                    <a:lnTo>
                      <a:pt x="832" y="118"/>
                    </a:lnTo>
                    <a:lnTo>
                      <a:pt x="833" y="115"/>
                    </a:lnTo>
                    <a:lnTo>
                      <a:pt x="835" y="113"/>
                    </a:lnTo>
                    <a:lnTo>
                      <a:pt x="836" y="112"/>
                    </a:lnTo>
                    <a:lnTo>
                      <a:pt x="838" y="110"/>
                    </a:lnTo>
                    <a:lnTo>
                      <a:pt x="839" y="107"/>
                    </a:lnTo>
                    <a:lnTo>
                      <a:pt x="841" y="104"/>
                    </a:lnTo>
                    <a:lnTo>
                      <a:pt x="841" y="104"/>
                    </a:lnTo>
                    <a:lnTo>
                      <a:pt x="842" y="103"/>
                    </a:lnTo>
                    <a:lnTo>
                      <a:pt x="844" y="100"/>
                    </a:lnTo>
                    <a:lnTo>
                      <a:pt x="845" y="98"/>
                    </a:lnTo>
                    <a:lnTo>
                      <a:pt x="847" y="97"/>
                    </a:lnTo>
                    <a:lnTo>
                      <a:pt x="848" y="94"/>
                    </a:lnTo>
                    <a:lnTo>
                      <a:pt x="850" y="92"/>
                    </a:lnTo>
                    <a:lnTo>
                      <a:pt x="851" y="91"/>
                    </a:lnTo>
                    <a:lnTo>
                      <a:pt x="853" y="89"/>
                    </a:lnTo>
                    <a:lnTo>
                      <a:pt x="853" y="87"/>
                    </a:lnTo>
                    <a:lnTo>
                      <a:pt x="854" y="86"/>
                    </a:lnTo>
                    <a:lnTo>
                      <a:pt x="856" y="84"/>
                    </a:lnTo>
                    <a:lnTo>
                      <a:pt x="856" y="83"/>
                    </a:lnTo>
                    <a:lnTo>
                      <a:pt x="858" y="81"/>
                    </a:lnTo>
                    <a:lnTo>
                      <a:pt x="859" y="80"/>
                    </a:lnTo>
                    <a:lnTo>
                      <a:pt x="859" y="80"/>
                    </a:lnTo>
                    <a:lnTo>
                      <a:pt x="861" y="78"/>
                    </a:lnTo>
                    <a:lnTo>
                      <a:pt x="861" y="77"/>
                    </a:lnTo>
                    <a:lnTo>
                      <a:pt x="862" y="75"/>
                    </a:lnTo>
                    <a:lnTo>
                      <a:pt x="864" y="74"/>
                    </a:lnTo>
                    <a:lnTo>
                      <a:pt x="864" y="72"/>
                    </a:lnTo>
                    <a:lnTo>
                      <a:pt x="865" y="71"/>
                    </a:lnTo>
                    <a:lnTo>
                      <a:pt x="867" y="71"/>
                    </a:lnTo>
                    <a:lnTo>
                      <a:pt x="867" y="69"/>
                    </a:lnTo>
                    <a:lnTo>
                      <a:pt x="868" y="68"/>
                    </a:lnTo>
                    <a:lnTo>
                      <a:pt x="870" y="65"/>
                    </a:lnTo>
                    <a:lnTo>
                      <a:pt x="871" y="63"/>
                    </a:lnTo>
                    <a:lnTo>
                      <a:pt x="873" y="61"/>
                    </a:lnTo>
                    <a:lnTo>
                      <a:pt x="874" y="60"/>
                    </a:lnTo>
                    <a:lnTo>
                      <a:pt x="876" y="57"/>
                    </a:lnTo>
                    <a:lnTo>
                      <a:pt x="877" y="55"/>
                    </a:lnTo>
                    <a:lnTo>
                      <a:pt x="879" y="52"/>
                    </a:lnTo>
                    <a:lnTo>
                      <a:pt x="880" y="51"/>
                    </a:lnTo>
                    <a:lnTo>
                      <a:pt x="880" y="51"/>
                    </a:lnTo>
                    <a:lnTo>
                      <a:pt x="882" y="48"/>
                    </a:lnTo>
                    <a:lnTo>
                      <a:pt x="884" y="46"/>
                    </a:lnTo>
                    <a:lnTo>
                      <a:pt x="885" y="43"/>
                    </a:lnTo>
                    <a:lnTo>
                      <a:pt x="887" y="42"/>
                    </a:lnTo>
                    <a:lnTo>
                      <a:pt x="888" y="40"/>
                    </a:lnTo>
                    <a:lnTo>
                      <a:pt x="890" y="37"/>
                    </a:lnTo>
                    <a:lnTo>
                      <a:pt x="891" y="35"/>
                    </a:lnTo>
                    <a:lnTo>
                      <a:pt x="893" y="34"/>
                    </a:lnTo>
                    <a:lnTo>
                      <a:pt x="893" y="32"/>
                    </a:lnTo>
                    <a:lnTo>
                      <a:pt x="894" y="31"/>
                    </a:lnTo>
                    <a:lnTo>
                      <a:pt x="896" y="29"/>
                    </a:lnTo>
                    <a:lnTo>
                      <a:pt x="896" y="28"/>
                    </a:lnTo>
                    <a:lnTo>
                      <a:pt x="897" y="26"/>
                    </a:lnTo>
                    <a:lnTo>
                      <a:pt x="897" y="26"/>
                    </a:lnTo>
                    <a:lnTo>
                      <a:pt x="899" y="25"/>
                    </a:lnTo>
                    <a:lnTo>
                      <a:pt x="899" y="23"/>
                    </a:lnTo>
                    <a:lnTo>
                      <a:pt x="900" y="22"/>
                    </a:lnTo>
                    <a:lnTo>
                      <a:pt x="900" y="20"/>
                    </a:lnTo>
                    <a:lnTo>
                      <a:pt x="902" y="20"/>
                    </a:lnTo>
                    <a:lnTo>
                      <a:pt x="902" y="19"/>
                    </a:lnTo>
                    <a:lnTo>
                      <a:pt x="903" y="17"/>
                    </a:lnTo>
                    <a:lnTo>
                      <a:pt x="903" y="16"/>
                    </a:lnTo>
                    <a:lnTo>
                      <a:pt x="905" y="14"/>
                    </a:lnTo>
                    <a:lnTo>
                      <a:pt x="905" y="14"/>
                    </a:lnTo>
                    <a:lnTo>
                      <a:pt x="906" y="13"/>
                    </a:lnTo>
                    <a:lnTo>
                      <a:pt x="908" y="11"/>
                    </a:lnTo>
                    <a:lnTo>
                      <a:pt x="908" y="9"/>
                    </a:lnTo>
                    <a:lnTo>
                      <a:pt x="909" y="8"/>
                    </a:lnTo>
                    <a:lnTo>
                      <a:pt x="909" y="5"/>
                    </a:lnTo>
                    <a:lnTo>
                      <a:pt x="911" y="3"/>
                    </a:lnTo>
                    <a:lnTo>
                      <a:pt x="913" y="2"/>
                    </a:lnTo>
                    <a:lnTo>
                      <a:pt x="914" y="0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71"/>
              <p:cNvSpPr>
                <a:spLocks/>
              </p:cNvSpPr>
              <p:nvPr/>
            </p:nvSpPr>
            <p:spPr bwMode="auto">
              <a:xfrm>
                <a:off x="3403" y="2587"/>
                <a:ext cx="55" cy="183"/>
              </a:xfrm>
              <a:custGeom>
                <a:avLst/>
                <a:gdLst>
                  <a:gd name="T0" fmla="*/ 6 w 108"/>
                  <a:gd name="T1" fmla="*/ 11 h 365"/>
                  <a:gd name="T2" fmla="*/ 12 w 108"/>
                  <a:gd name="T3" fmla="*/ 23 h 365"/>
                  <a:gd name="T4" fmla="*/ 18 w 108"/>
                  <a:gd name="T5" fmla="*/ 32 h 365"/>
                  <a:gd name="T6" fmla="*/ 21 w 108"/>
                  <a:gd name="T7" fmla="*/ 40 h 365"/>
                  <a:gd name="T8" fmla="*/ 24 w 108"/>
                  <a:gd name="T9" fmla="*/ 46 h 365"/>
                  <a:gd name="T10" fmla="*/ 27 w 108"/>
                  <a:gd name="T11" fmla="*/ 52 h 365"/>
                  <a:gd name="T12" fmla="*/ 30 w 108"/>
                  <a:gd name="T13" fmla="*/ 58 h 365"/>
                  <a:gd name="T14" fmla="*/ 33 w 108"/>
                  <a:gd name="T15" fmla="*/ 64 h 365"/>
                  <a:gd name="T16" fmla="*/ 36 w 108"/>
                  <a:gd name="T17" fmla="*/ 70 h 365"/>
                  <a:gd name="T18" fmla="*/ 38 w 108"/>
                  <a:gd name="T19" fmla="*/ 78 h 365"/>
                  <a:gd name="T20" fmla="*/ 41 w 108"/>
                  <a:gd name="T21" fmla="*/ 82 h 365"/>
                  <a:gd name="T22" fmla="*/ 43 w 108"/>
                  <a:gd name="T23" fmla="*/ 87 h 365"/>
                  <a:gd name="T24" fmla="*/ 44 w 108"/>
                  <a:gd name="T25" fmla="*/ 93 h 365"/>
                  <a:gd name="T26" fmla="*/ 47 w 108"/>
                  <a:gd name="T27" fmla="*/ 98 h 365"/>
                  <a:gd name="T28" fmla="*/ 49 w 108"/>
                  <a:gd name="T29" fmla="*/ 104 h 365"/>
                  <a:gd name="T30" fmla="*/ 52 w 108"/>
                  <a:gd name="T31" fmla="*/ 113 h 365"/>
                  <a:gd name="T32" fmla="*/ 55 w 108"/>
                  <a:gd name="T33" fmla="*/ 119 h 365"/>
                  <a:gd name="T34" fmla="*/ 58 w 108"/>
                  <a:gd name="T35" fmla="*/ 128 h 365"/>
                  <a:gd name="T36" fmla="*/ 61 w 108"/>
                  <a:gd name="T37" fmla="*/ 136 h 365"/>
                  <a:gd name="T38" fmla="*/ 62 w 108"/>
                  <a:gd name="T39" fmla="*/ 141 h 365"/>
                  <a:gd name="T40" fmla="*/ 65 w 108"/>
                  <a:gd name="T41" fmla="*/ 147 h 365"/>
                  <a:gd name="T42" fmla="*/ 67 w 108"/>
                  <a:gd name="T43" fmla="*/ 151 h 365"/>
                  <a:gd name="T44" fmla="*/ 69 w 108"/>
                  <a:gd name="T45" fmla="*/ 157 h 365"/>
                  <a:gd name="T46" fmla="*/ 72 w 108"/>
                  <a:gd name="T47" fmla="*/ 165 h 365"/>
                  <a:gd name="T48" fmla="*/ 73 w 108"/>
                  <a:gd name="T49" fmla="*/ 173 h 365"/>
                  <a:gd name="T50" fmla="*/ 76 w 108"/>
                  <a:gd name="T51" fmla="*/ 182 h 365"/>
                  <a:gd name="T52" fmla="*/ 78 w 108"/>
                  <a:gd name="T53" fmla="*/ 189 h 365"/>
                  <a:gd name="T54" fmla="*/ 81 w 108"/>
                  <a:gd name="T55" fmla="*/ 196 h 365"/>
                  <a:gd name="T56" fmla="*/ 82 w 108"/>
                  <a:gd name="T57" fmla="*/ 200 h 365"/>
                  <a:gd name="T58" fmla="*/ 84 w 108"/>
                  <a:gd name="T59" fmla="*/ 206 h 365"/>
                  <a:gd name="T60" fmla="*/ 85 w 108"/>
                  <a:gd name="T61" fmla="*/ 211 h 365"/>
                  <a:gd name="T62" fmla="*/ 87 w 108"/>
                  <a:gd name="T63" fmla="*/ 219 h 365"/>
                  <a:gd name="T64" fmla="*/ 90 w 108"/>
                  <a:gd name="T65" fmla="*/ 228 h 365"/>
                  <a:gd name="T66" fmla="*/ 93 w 108"/>
                  <a:gd name="T67" fmla="*/ 235 h 365"/>
                  <a:gd name="T68" fmla="*/ 94 w 108"/>
                  <a:gd name="T69" fmla="*/ 243 h 365"/>
                  <a:gd name="T70" fmla="*/ 96 w 108"/>
                  <a:gd name="T71" fmla="*/ 249 h 365"/>
                  <a:gd name="T72" fmla="*/ 98 w 108"/>
                  <a:gd name="T73" fmla="*/ 254 h 365"/>
                  <a:gd name="T74" fmla="*/ 99 w 108"/>
                  <a:gd name="T75" fmla="*/ 258 h 365"/>
                  <a:gd name="T76" fmla="*/ 99 w 108"/>
                  <a:gd name="T77" fmla="*/ 264 h 365"/>
                  <a:gd name="T78" fmla="*/ 101 w 108"/>
                  <a:gd name="T79" fmla="*/ 271 h 365"/>
                  <a:gd name="T80" fmla="*/ 101 w 108"/>
                  <a:gd name="T81" fmla="*/ 278 h 365"/>
                  <a:gd name="T82" fmla="*/ 101 w 108"/>
                  <a:gd name="T83" fmla="*/ 284 h 365"/>
                  <a:gd name="T84" fmla="*/ 102 w 108"/>
                  <a:gd name="T85" fmla="*/ 290 h 365"/>
                  <a:gd name="T86" fmla="*/ 102 w 108"/>
                  <a:gd name="T87" fmla="*/ 297 h 365"/>
                  <a:gd name="T88" fmla="*/ 102 w 108"/>
                  <a:gd name="T89" fmla="*/ 301 h 365"/>
                  <a:gd name="T90" fmla="*/ 104 w 108"/>
                  <a:gd name="T91" fmla="*/ 304 h 365"/>
                  <a:gd name="T92" fmla="*/ 104 w 108"/>
                  <a:gd name="T93" fmla="*/ 307 h 365"/>
                  <a:gd name="T94" fmla="*/ 104 w 108"/>
                  <a:gd name="T95" fmla="*/ 312 h 365"/>
                  <a:gd name="T96" fmla="*/ 105 w 108"/>
                  <a:gd name="T97" fmla="*/ 315 h 365"/>
                  <a:gd name="T98" fmla="*/ 105 w 108"/>
                  <a:gd name="T99" fmla="*/ 319 h 365"/>
                  <a:gd name="T100" fmla="*/ 107 w 108"/>
                  <a:gd name="T101" fmla="*/ 324 h 365"/>
                  <a:gd name="T102" fmla="*/ 107 w 108"/>
                  <a:gd name="T103" fmla="*/ 327 h 365"/>
                  <a:gd name="T104" fmla="*/ 108 w 108"/>
                  <a:gd name="T105" fmla="*/ 332 h 365"/>
                  <a:gd name="T106" fmla="*/ 108 w 108"/>
                  <a:gd name="T107" fmla="*/ 336 h 365"/>
                  <a:gd name="T108" fmla="*/ 108 w 108"/>
                  <a:gd name="T109" fmla="*/ 341 h 365"/>
                  <a:gd name="T110" fmla="*/ 107 w 108"/>
                  <a:gd name="T111" fmla="*/ 347 h 365"/>
                  <a:gd name="T112" fmla="*/ 107 w 108"/>
                  <a:gd name="T113" fmla="*/ 356 h 365"/>
                  <a:gd name="T114" fmla="*/ 0 w 108"/>
                  <a:gd name="T115" fmla="*/ 0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8" h="365">
                    <a:moveTo>
                      <a:pt x="0" y="0"/>
                    </a:moveTo>
                    <a:lnTo>
                      <a:pt x="1" y="3"/>
                    </a:lnTo>
                    <a:lnTo>
                      <a:pt x="4" y="8"/>
                    </a:lnTo>
                    <a:lnTo>
                      <a:pt x="6" y="11"/>
                    </a:lnTo>
                    <a:lnTo>
                      <a:pt x="7" y="14"/>
                    </a:lnTo>
                    <a:lnTo>
                      <a:pt x="9" y="17"/>
                    </a:lnTo>
                    <a:lnTo>
                      <a:pt x="10" y="20"/>
                    </a:lnTo>
                    <a:lnTo>
                      <a:pt x="12" y="23"/>
                    </a:lnTo>
                    <a:lnTo>
                      <a:pt x="13" y="26"/>
                    </a:lnTo>
                    <a:lnTo>
                      <a:pt x="15" y="27"/>
                    </a:lnTo>
                    <a:lnTo>
                      <a:pt x="17" y="30"/>
                    </a:lnTo>
                    <a:lnTo>
                      <a:pt x="18" y="32"/>
                    </a:lnTo>
                    <a:lnTo>
                      <a:pt x="18" y="34"/>
                    </a:lnTo>
                    <a:lnTo>
                      <a:pt x="20" y="37"/>
                    </a:lnTo>
                    <a:lnTo>
                      <a:pt x="21" y="38"/>
                    </a:lnTo>
                    <a:lnTo>
                      <a:pt x="21" y="40"/>
                    </a:lnTo>
                    <a:lnTo>
                      <a:pt x="23" y="41"/>
                    </a:lnTo>
                    <a:lnTo>
                      <a:pt x="23" y="43"/>
                    </a:lnTo>
                    <a:lnTo>
                      <a:pt x="24" y="44"/>
                    </a:lnTo>
                    <a:lnTo>
                      <a:pt x="24" y="46"/>
                    </a:lnTo>
                    <a:lnTo>
                      <a:pt x="26" y="47"/>
                    </a:lnTo>
                    <a:lnTo>
                      <a:pt x="26" y="49"/>
                    </a:lnTo>
                    <a:lnTo>
                      <a:pt x="27" y="50"/>
                    </a:lnTo>
                    <a:lnTo>
                      <a:pt x="27" y="52"/>
                    </a:lnTo>
                    <a:lnTo>
                      <a:pt x="29" y="53"/>
                    </a:lnTo>
                    <a:lnTo>
                      <a:pt x="29" y="53"/>
                    </a:lnTo>
                    <a:lnTo>
                      <a:pt x="29" y="55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2" y="61"/>
                    </a:lnTo>
                    <a:lnTo>
                      <a:pt x="32" y="63"/>
                    </a:lnTo>
                    <a:lnTo>
                      <a:pt x="33" y="64"/>
                    </a:lnTo>
                    <a:lnTo>
                      <a:pt x="33" y="67"/>
                    </a:lnTo>
                    <a:lnTo>
                      <a:pt x="33" y="67"/>
                    </a:lnTo>
                    <a:lnTo>
                      <a:pt x="35" y="69"/>
                    </a:lnTo>
                    <a:lnTo>
                      <a:pt x="36" y="70"/>
                    </a:lnTo>
                    <a:lnTo>
                      <a:pt x="36" y="72"/>
                    </a:lnTo>
                    <a:lnTo>
                      <a:pt x="38" y="75"/>
                    </a:lnTo>
                    <a:lnTo>
                      <a:pt x="38" y="76"/>
                    </a:lnTo>
                    <a:lnTo>
                      <a:pt x="38" y="78"/>
                    </a:lnTo>
                    <a:lnTo>
                      <a:pt x="39" y="79"/>
                    </a:lnTo>
                    <a:lnTo>
                      <a:pt x="39" y="81"/>
                    </a:lnTo>
                    <a:lnTo>
                      <a:pt x="41" y="81"/>
                    </a:lnTo>
                    <a:lnTo>
                      <a:pt x="41" y="82"/>
                    </a:lnTo>
                    <a:lnTo>
                      <a:pt x="41" y="84"/>
                    </a:lnTo>
                    <a:lnTo>
                      <a:pt x="43" y="86"/>
                    </a:lnTo>
                    <a:lnTo>
                      <a:pt x="43" y="87"/>
                    </a:lnTo>
                    <a:lnTo>
                      <a:pt x="43" y="87"/>
                    </a:lnTo>
                    <a:lnTo>
                      <a:pt x="43" y="89"/>
                    </a:lnTo>
                    <a:lnTo>
                      <a:pt x="44" y="90"/>
                    </a:lnTo>
                    <a:lnTo>
                      <a:pt x="44" y="92"/>
                    </a:lnTo>
                    <a:lnTo>
                      <a:pt x="44" y="93"/>
                    </a:lnTo>
                    <a:lnTo>
                      <a:pt x="46" y="93"/>
                    </a:lnTo>
                    <a:lnTo>
                      <a:pt x="46" y="95"/>
                    </a:lnTo>
                    <a:lnTo>
                      <a:pt x="46" y="96"/>
                    </a:lnTo>
                    <a:lnTo>
                      <a:pt x="47" y="98"/>
                    </a:lnTo>
                    <a:lnTo>
                      <a:pt x="47" y="99"/>
                    </a:lnTo>
                    <a:lnTo>
                      <a:pt x="47" y="101"/>
                    </a:lnTo>
                    <a:lnTo>
                      <a:pt x="49" y="102"/>
                    </a:lnTo>
                    <a:lnTo>
                      <a:pt x="49" y="104"/>
                    </a:lnTo>
                    <a:lnTo>
                      <a:pt x="50" y="107"/>
                    </a:lnTo>
                    <a:lnTo>
                      <a:pt x="50" y="108"/>
                    </a:lnTo>
                    <a:lnTo>
                      <a:pt x="52" y="110"/>
                    </a:lnTo>
                    <a:lnTo>
                      <a:pt x="52" y="113"/>
                    </a:lnTo>
                    <a:lnTo>
                      <a:pt x="53" y="115"/>
                    </a:lnTo>
                    <a:lnTo>
                      <a:pt x="53" y="118"/>
                    </a:lnTo>
                    <a:lnTo>
                      <a:pt x="53" y="118"/>
                    </a:lnTo>
                    <a:lnTo>
                      <a:pt x="55" y="119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8" y="127"/>
                    </a:lnTo>
                    <a:lnTo>
                      <a:pt x="58" y="128"/>
                    </a:lnTo>
                    <a:lnTo>
                      <a:pt x="59" y="130"/>
                    </a:lnTo>
                    <a:lnTo>
                      <a:pt x="59" y="131"/>
                    </a:lnTo>
                    <a:lnTo>
                      <a:pt x="61" y="134"/>
                    </a:lnTo>
                    <a:lnTo>
                      <a:pt x="61" y="136"/>
                    </a:lnTo>
                    <a:lnTo>
                      <a:pt x="61" y="138"/>
                    </a:lnTo>
                    <a:lnTo>
                      <a:pt x="62" y="138"/>
                    </a:lnTo>
                    <a:lnTo>
                      <a:pt x="62" y="139"/>
                    </a:lnTo>
                    <a:lnTo>
                      <a:pt x="62" y="141"/>
                    </a:lnTo>
                    <a:lnTo>
                      <a:pt x="64" y="142"/>
                    </a:lnTo>
                    <a:lnTo>
                      <a:pt x="64" y="144"/>
                    </a:lnTo>
                    <a:lnTo>
                      <a:pt x="64" y="145"/>
                    </a:lnTo>
                    <a:lnTo>
                      <a:pt x="65" y="147"/>
                    </a:lnTo>
                    <a:lnTo>
                      <a:pt x="65" y="148"/>
                    </a:lnTo>
                    <a:lnTo>
                      <a:pt x="65" y="148"/>
                    </a:lnTo>
                    <a:lnTo>
                      <a:pt x="65" y="150"/>
                    </a:lnTo>
                    <a:lnTo>
                      <a:pt x="67" y="151"/>
                    </a:lnTo>
                    <a:lnTo>
                      <a:pt x="67" y="153"/>
                    </a:lnTo>
                    <a:lnTo>
                      <a:pt x="67" y="154"/>
                    </a:lnTo>
                    <a:lnTo>
                      <a:pt x="69" y="156"/>
                    </a:lnTo>
                    <a:lnTo>
                      <a:pt x="69" y="157"/>
                    </a:lnTo>
                    <a:lnTo>
                      <a:pt x="69" y="159"/>
                    </a:lnTo>
                    <a:lnTo>
                      <a:pt x="70" y="162"/>
                    </a:lnTo>
                    <a:lnTo>
                      <a:pt x="70" y="164"/>
                    </a:lnTo>
                    <a:lnTo>
                      <a:pt x="72" y="165"/>
                    </a:lnTo>
                    <a:lnTo>
                      <a:pt x="72" y="168"/>
                    </a:lnTo>
                    <a:lnTo>
                      <a:pt x="73" y="170"/>
                    </a:lnTo>
                    <a:lnTo>
                      <a:pt x="73" y="173"/>
                    </a:lnTo>
                    <a:lnTo>
                      <a:pt x="73" y="173"/>
                    </a:lnTo>
                    <a:lnTo>
                      <a:pt x="75" y="176"/>
                    </a:lnTo>
                    <a:lnTo>
                      <a:pt x="75" y="177"/>
                    </a:lnTo>
                    <a:lnTo>
                      <a:pt x="76" y="180"/>
                    </a:lnTo>
                    <a:lnTo>
                      <a:pt x="76" y="182"/>
                    </a:lnTo>
                    <a:lnTo>
                      <a:pt x="76" y="183"/>
                    </a:lnTo>
                    <a:lnTo>
                      <a:pt x="78" y="186"/>
                    </a:lnTo>
                    <a:lnTo>
                      <a:pt x="78" y="188"/>
                    </a:lnTo>
                    <a:lnTo>
                      <a:pt x="78" y="189"/>
                    </a:lnTo>
                    <a:lnTo>
                      <a:pt x="79" y="191"/>
                    </a:lnTo>
                    <a:lnTo>
                      <a:pt x="79" y="193"/>
                    </a:lnTo>
                    <a:lnTo>
                      <a:pt x="79" y="194"/>
                    </a:lnTo>
                    <a:lnTo>
                      <a:pt x="81" y="196"/>
                    </a:lnTo>
                    <a:lnTo>
                      <a:pt x="81" y="196"/>
                    </a:lnTo>
                    <a:lnTo>
                      <a:pt x="81" y="197"/>
                    </a:lnTo>
                    <a:lnTo>
                      <a:pt x="81" y="199"/>
                    </a:lnTo>
                    <a:lnTo>
                      <a:pt x="82" y="200"/>
                    </a:lnTo>
                    <a:lnTo>
                      <a:pt x="82" y="202"/>
                    </a:lnTo>
                    <a:lnTo>
                      <a:pt x="82" y="203"/>
                    </a:lnTo>
                    <a:lnTo>
                      <a:pt x="82" y="205"/>
                    </a:lnTo>
                    <a:lnTo>
                      <a:pt x="84" y="206"/>
                    </a:lnTo>
                    <a:lnTo>
                      <a:pt x="84" y="206"/>
                    </a:lnTo>
                    <a:lnTo>
                      <a:pt x="84" y="208"/>
                    </a:lnTo>
                    <a:lnTo>
                      <a:pt x="85" y="209"/>
                    </a:lnTo>
                    <a:lnTo>
                      <a:pt x="85" y="211"/>
                    </a:lnTo>
                    <a:lnTo>
                      <a:pt x="85" y="214"/>
                    </a:lnTo>
                    <a:lnTo>
                      <a:pt x="87" y="215"/>
                    </a:lnTo>
                    <a:lnTo>
                      <a:pt x="87" y="217"/>
                    </a:lnTo>
                    <a:lnTo>
                      <a:pt x="87" y="219"/>
                    </a:lnTo>
                    <a:lnTo>
                      <a:pt x="88" y="222"/>
                    </a:lnTo>
                    <a:lnTo>
                      <a:pt x="88" y="223"/>
                    </a:lnTo>
                    <a:lnTo>
                      <a:pt x="90" y="226"/>
                    </a:lnTo>
                    <a:lnTo>
                      <a:pt x="90" y="228"/>
                    </a:lnTo>
                    <a:lnTo>
                      <a:pt x="90" y="228"/>
                    </a:lnTo>
                    <a:lnTo>
                      <a:pt x="91" y="231"/>
                    </a:lnTo>
                    <a:lnTo>
                      <a:pt x="91" y="232"/>
                    </a:lnTo>
                    <a:lnTo>
                      <a:pt x="93" y="235"/>
                    </a:lnTo>
                    <a:lnTo>
                      <a:pt x="93" y="237"/>
                    </a:lnTo>
                    <a:lnTo>
                      <a:pt x="94" y="240"/>
                    </a:lnTo>
                    <a:lnTo>
                      <a:pt x="94" y="241"/>
                    </a:lnTo>
                    <a:lnTo>
                      <a:pt x="94" y="243"/>
                    </a:lnTo>
                    <a:lnTo>
                      <a:pt x="96" y="245"/>
                    </a:lnTo>
                    <a:lnTo>
                      <a:pt x="96" y="246"/>
                    </a:lnTo>
                    <a:lnTo>
                      <a:pt x="96" y="248"/>
                    </a:lnTo>
                    <a:lnTo>
                      <a:pt x="96" y="249"/>
                    </a:lnTo>
                    <a:lnTo>
                      <a:pt x="98" y="251"/>
                    </a:lnTo>
                    <a:lnTo>
                      <a:pt x="98" y="252"/>
                    </a:lnTo>
                    <a:lnTo>
                      <a:pt x="98" y="254"/>
                    </a:lnTo>
                    <a:lnTo>
                      <a:pt x="98" y="254"/>
                    </a:lnTo>
                    <a:lnTo>
                      <a:pt x="98" y="255"/>
                    </a:lnTo>
                    <a:lnTo>
                      <a:pt x="98" y="257"/>
                    </a:lnTo>
                    <a:lnTo>
                      <a:pt x="99" y="258"/>
                    </a:lnTo>
                    <a:lnTo>
                      <a:pt x="99" y="258"/>
                    </a:lnTo>
                    <a:lnTo>
                      <a:pt x="99" y="260"/>
                    </a:lnTo>
                    <a:lnTo>
                      <a:pt x="99" y="261"/>
                    </a:lnTo>
                    <a:lnTo>
                      <a:pt x="99" y="263"/>
                    </a:lnTo>
                    <a:lnTo>
                      <a:pt x="99" y="264"/>
                    </a:lnTo>
                    <a:lnTo>
                      <a:pt x="99" y="266"/>
                    </a:lnTo>
                    <a:lnTo>
                      <a:pt x="99" y="267"/>
                    </a:lnTo>
                    <a:lnTo>
                      <a:pt x="99" y="269"/>
                    </a:lnTo>
                    <a:lnTo>
                      <a:pt x="101" y="271"/>
                    </a:lnTo>
                    <a:lnTo>
                      <a:pt x="101" y="272"/>
                    </a:lnTo>
                    <a:lnTo>
                      <a:pt x="101" y="274"/>
                    </a:lnTo>
                    <a:lnTo>
                      <a:pt x="101" y="275"/>
                    </a:lnTo>
                    <a:lnTo>
                      <a:pt x="101" y="278"/>
                    </a:lnTo>
                    <a:lnTo>
                      <a:pt x="101" y="280"/>
                    </a:lnTo>
                    <a:lnTo>
                      <a:pt x="101" y="280"/>
                    </a:lnTo>
                    <a:lnTo>
                      <a:pt x="101" y="281"/>
                    </a:lnTo>
                    <a:lnTo>
                      <a:pt x="101" y="284"/>
                    </a:lnTo>
                    <a:lnTo>
                      <a:pt x="101" y="286"/>
                    </a:lnTo>
                    <a:lnTo>
                      <a:pt x="102" y="287"/>
                    </a:lnTo>
                    <a:lnTo>
                      <a:pt x="102" y="289"/>
                    </a:lnTo>
                    <a:lnTo>
                      <a:pt x="102" y="290"/>
                    </a:lnTo>
                    <a:lnTo>
                      <a:pt x="102" y="292"/>
                    </a:lnTo>
                    <a:lnTo>
                      <a:pt x="102" y="293"/>
                    </a:lnTo>
                    <a:lnTo>
                      <a:pt x="102" y="295"/>
                    </a:lnTo>
                    <a:lnTo>
                      <a:pt x="102" y="297"/>
                    </a:lnTo>
                    <a:lnTo>
                      <a:pt x="102" y="298"/>
                    </a:lnTo>
                    <a:lnTo>
                      <a:pt x="102" y="298"/>
                    </a:lnTo>
                    <a:lnTo>
                      <a:pt x="102" y="300"/>
                    </a:lnTo>
                    <a:lnTo>
                      <a:pt x="102" y="301"/>
                    </a:lnTo>
                    <a:lnTo>
                      <a:pt x="102" y="301"/>
                    </a:lnTo>
                    <a:lnTo>
                      <a:pt x="104" y="303"/>
                    </a:lnTo>
                    <a:lnTo>
                      <a:pt x="104" y="303"/>
                    </a:lnTo>
                    <a:lnTo>
                      <a:pt x="104" y="304"/>
                    </a:lnTo>
                    <a:lnTo>
                      <a:pt x="104" y="306"/>
                    </a:lnTo>
                    <a:lnTo>
                      <a:pt x="104" y="306"/>
                    </a:lnTo>
                    <a:lnTo>
                      <a:pt x="104" y="307"/>
                    </a:lnTo>
                    <a:lnTo>
                      <a:pt x="104" y="307"/>
                    </a:lnTo>
                    <a:lnTo>
                      <a:pt x="104" y="309"/>
                    </a:lnTo>
                    <a:lnTo>
                      <a:pt x="104" y="309"/>
                    </a:lnTo>
                    <a:lnTo>
                      <a:pt x="104" y="310"/>
                    </a:lnTo>
                    <a:lnTo>
                      <a:pt x="104" y="312"/>
                    </a:lnTo>
                    <a:lnTo>
                      <a:pt x="105" y="312"/>
                    </a:lnTo>
                    <a:lnTo>
                      <a:pt x="105" y="313"/>
                    </a:lnTo>
                    <a:lnTo>
                      <a:pt x="105" y="315"/>
                    </a:lnTo>
                    <a:lnTo>
                      <a:pt x="105" y="315"/>
                    </a:lnTo>
                    <a:lnTo>
                      <a:pt x="105" y="316"/>
                    </a:lnTo>
                    <a:lnTo>
                      <a:pt x="105" y="318"/>
                    </a:lnTo>
                    <a:lnTo>
                      <a:pt x="105" y="318"/>
                    </a:lnTo>
                    <a:lnTo>
                      <a:pt x="105" y="319"/>
                    </a:lnTo>
                    <a:lnTo>
                      <a:pt x="107" y="321"/>
                    </a:lnTo>
                    <a:lnTo>
                      <a:pt x="107" y="321"/>
                    </a:lnTo>
                    <a:lnTo>
                      <a:pt x="107" y="323"/>
                    </a:lnTo>
                    <a:lnTo>
                      <a:pt x="107" y="324"/>
                    </a:lnTo>
                    <a:lnTo>
                      <a:pt x="107" y="326"/>
                    </a:lnTo>
                    <a:lnTo>
                      <a:pt x="107" y="326"/>
                    </a:lnTo>
                    <a:lnTo>
                      <a:pt x="107" y="327"/>
                    </a:lnTo>
                    <a:lnTo>
                      <a:pt x="107" y="327"/>
                    </a:lnTo>
                    <a:lnTo>
                      <a:pt x="107" y="329"/>
                    </a:lnTo>
                    <a:lnTo>
                      <a:pt x="108" y="330"/>
                    </a:lnTo>
                    <a:lnTo>
                      <a:pt x="108" y="330"/>
                    </a:lnTo>
                    <a:lnTo>
                      <a:pt x="108" y="332"/>
                    </a:lnTo>
                    <a:lnTo>
                      <a:pt x="108" y="333"/>
                    </a:lnTo>
                    <a:lnTo>
                      <a:pt x="108" y="333"/>
                    </a:lnTo>
                    <a:lnTo>
                      <a:pt x="108" y="335"/>
                    </a:lnTo>
                    <a:lnTo>
                      <a:pt x="108" y="336"/>
                    </a:lnTo>
                    <a:lnTo>
                      <a:pt x="108" y="336"/>
                    </a:lnTo>
                    <a:lnTo>
                      <a:pt x="108" y="338"/>
                    </a:lnTo>
                    <a:lnTo>
                      <a:pt x="108" y="339"/>
                    </a:lnTo>
                    <a:lnTo>
                      <a:pt x="108" y="341"/>
                    </a:lnTo>
                    <a:lnTo>
                      <a:pt x="108" y="342"/>
                    </a:lnTo>
                    <a:lnTo>
                      <a:pt x="108" y="344"/>
                    </a:lnTo>
                    <a:lnTo>
                      <a:pt x="108" y="345"/>
                    </a:lnTo>
                    <a:lnTo>
                      <a:pt x="107" y="347"/>
                    </a:lnTo>
                    <a:lnTo>
                      <a:pt x="107" y="350"/>
                    </a:lnTo>
                    <a:lnTo>
                      <a:pt x="107" y="352"/>
                    </a:lnTo>
                    <a:lnTo>
                      <a:pt x="107" y="355"/>
                    </a:lnTo>
                    <a:lnTo>
                      <a:pt x="107" y="356"/>
                    </a:lnTo>
                    <a:lnTo>
                      <a:pt x="107" y="359"/>
                    </a:lnTo>
                    <a:lnTo>
                      <a:pt x="107" y="362"/>
                    </a:lnTo>
                    <a:lnTo>
                      <a:pt x="107" y="3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72"/>
              <p:cNvSpPr>
                <a:spLocks/>
              </p:cNvSpPr>
              <p:nvPr/>
            </p:nvSpPr>
            <p:spPr bwMode="auto">
              <a:xfrm>
                <a:off x="3403" y="2587"/>
                <a:ext cx="55" cy="183"/>
              </a:xfrm>
              <a:custGeom>
                <a:avLst/>
                <a:gdLst>
                  <a:gd name="T0" fmla="*/ 6 w 108"/>
                  <a:gd name="T1" fmla="*/ 11 h 365"/>
                  <a:gd name="T2" fmla="*/ 12 w 108"/>
                  <a:gd name="T3" fmla="*/ 23 h 365"/>
                  <a:gd name="T4" fmla="*/ 18 w 108"/>
                  <a:gd name="T5" fmla="*/ 32 h 365"/>
                  <a:gd name="T6" fmla="*/ 21 w 108"/>
                  <a:gd name="T7" fmla="*/ 40 h 365"/>
                  <a:gd name="T8" fmla="*/ 24 w 108"/>
                  <a:gd name="T9" fmla="*/ 46 h 365"/>
                  <a:gd name="T10" fmla="*/ 27 w 108"/>
                  <a:gd name="T11" fmla="*/ 52 h 365"/>
                  <a:gd name="T12" fmla="*/ 30 w 108"/>
                  <a:gd name="T13" fmla="*/ 58 h 365"/>
                  <a:gd name="T14" fmla="*/ 33 w 108"/>
                  <a:gd name="T15" fmla="*/ 64 h 365"/>
                  <a:gd name="T16" fmla="*/ 36 w 108"/>
                  <a:gd name="T17" fmla="*/ 70 h 365"/>
                  <a:gd name="T18" fmla="*/ 38 w 108"/>
                  <a:gd name="T19" fmla="*/ 78 h 365"/>
                  <a:gd name="T20" fmla="*/ 41 w 108"/>
                  <a:gd name="T21" fmla="*/ 82 h 365"/>
                  <a:gd name="T22" fmla="*/ 43 w 108"/>
                  <a:gd name="T23" fmla="*/ 87 h 365"/>
                  <a:gd name="T24" fmla="*/ 44 w 108"/>
                  <a:gd name="T25" fmla="*/ 93 h 365"/>
                  <a:gd name="T26" fmla="*/ 47 w 108"/>
                  <a:gd name="T27" fmla="*/ 98 h 365"/>
                  <a:gd name="T28" fmla="*/ 49 w 108"/>
                  <a:gd name="T29" fmla="*/ 104 h 365"/>
                  <a:gd name="T30" fmla="*/ 52 w 108"/>
                  <a:gd name="T31" fmla="*/ 113 h 365"/>
                  <a:gd name="T32" fmla="*/ 55 w 108"/>
                  <a:gd name="T33" fmla="*/ 119 h 365"/>
                  <a:gd name="T34" fmla="*/ 58 w 108"/>
                  <a:gd name="T35" fmla="*/ 128 h 365"/>
                  <a:gd name="T36" fmla="*/ 61 w 108"/>
                  <a:gd name="T37" fmla="*/ 136 h 365"/>
                  <a:gd name="T38" fmla="*/ 62 w 108"/>
                  <a:gd name="T39" fmla="*/ 141 h 365"/>
                  <a:gd name="T40" fmla="*/ 65 w 108"/>
                  <a:gd name="T41" fmla="*/ 147 h 365"/>
                  <a:gd name="T42" fmla="*/ 67 w 108"/>
                  <a:gd name="T43" fmla="*/ 151 h 365"/>
                  <a:gd name="T44" fmla="*/ 69 w 108"/>
                  <a:gd name="T45" fmla="*/ 157 h 365"/>
                  <a:gd name="T46" fmla="*/ 72 w 108"/>
                  <a:gd name="T47" fmla="*/ 165 h 365"/>
                  <a:gd name="T48" fmla="*/ 73 w 108"/>
                  <a:gd name="T49" fmla="*/ 173 h 365"/>
                  <a:gd name="T50" fmla="*/ 76 w 108"/>
                  <a:gd name="T51" fmla="*/ 182 h 365"/>
                  <a:gd name="T52" fmla="*/ 78 w 108"/>
                  <a:gd name="T53" fmla="*/ 189 h 365"/>
                  <a:gd name="T54" fmla="*/ 81 w 108"/>
                  <a:gd name="T55" fmla="*/ 196 h 365"/>
                  <a:gd name="T56" fmla="*/ 82 w 108"/>
                  <a:gd name="T57" fmla="*/ 200 h 365"/>
                  <a:gd name="T58" fmla="*/ 84 w 108"/>
                  <a:gd name="T59" fmla="*/ 206 h 365"/>
                  <a:gd name="T60" fmla="*/ 85 w 108"/>
                  <a:gd name="T61" fmla="*/ 211 h 365"/>
                  <a:gd name="T62" fmla="*/ 87 w 108"/>
                  <a:gd name="T63" fmla="*/ 219 h 365"/>
                  <a:gd name="T64" fmla="*/ 90 w 108"/>
                  <a:gd name="T65" fmla="*/ 228 h 365"/>
                  <a:gd name="T66" fmla="*/ 93 w 108"/>
                  <a:gd name="T67" fmla="*/ 235 h 365"/>
                  <a:gd name="T68" fmla="*/ 94 w 108"/>
                  <a:gd name="T69" fmla="*/ 243 h 365"/>
                  <a:gd name="T70" fmla="*/ 96 w 108"/>
                  <a:gd name="T71" fmla="*/ 249 h 365"/>
                  <a:gd name="T72" fmla="*/ 98 w 108"/>
                  <a:gd name="T73" fmla="*/ 254 h 365"/>
                  <a:gd name="T74" fmla="*/ 99 w 108"/>
                  <a:gd name="T75" fmla="*/ 258 h 365"/>
                  <a:gd name="T76" fmla="*/ 99 w 108"/>
                  <a:gd name="T77" fmla="*/ 264 h 365"/>
                  <a:gd name="T78" fmla="*/ 101 w 108"/>
                  <a:gd name="T79" fmla="*/ 271 h 365"/>
                  <a:gd name="T80" fmla="*/ 101 w 108"/>
                  <a:gd name="T81" fmla="*/ 278 h 365"/>
                  <a:gd name="T82" fmla="*/ 101 w 108"/>
                  <a:gd name="T83" fmla="*/ 284 h 365"/>
                  <a:gd name="T84" fmla="*/ 102 w 108"/>
                  <a:gd name="T85" fmla="*/ 290 h 365"/>
                  <a:gd name="T86" fmla="*/ 102 w 108"/>
                  <a:gd name="T87" fmla="*/ 297 h 365"/>
                  <a:gd name="T88" fmla="*/ 102 w 108"/>
                  <a:gd name="T89" fmla="*/ 301 h 365"/>
                  <a:gd name="T90" fmla="*/ 104 w 108"/>
                  <a:gd name="T91" fmla="*/ 304 h 365"/>
                  <a:gd name="T92" fmla="*/ 104 w 108"/>
                  <a:gd name="T93" fmla="*/ 307 h 365"/>
                  <a:gd name="T94" fmla="*/ 104 w 108"/>
                  <a:gd name="T95" fmla="*/ 312 h 365"/>
                  <a:gd name="T96" fmla="*/ 105 w 108"/>
                  <a:gd name="T97" fmla="*/ 315 h 365"/>
                  <a:gd name="T98" fmla="*/ 105 w 108"/>
                  <a:gd name="T99" fmla="*/ 319 h 365"/>
                  <a:gd name="T100" fmla="*/ 107 w 108"/>
                  <a:gd name="T101" fmla="*/ 324 h 365"/>
                  <a:gd name="T102" fmla="*/ 107 w 108"/>
                  <a:gd name="T103" fmla="*/ 327 h 365"/>
                  <a:gd name="T104" fmla="*/ 108 w 108"/>
                  <a:gd name="T105" fmla="*/ 332 h 365"/>
                  <a:gd name="T106" fmla="*/ 108 w 108"/>
                  <a:gd name="T107" fmla="*/ 336 h 365"/>
                  <a:gd name="T108" fmla="*/ 108 w 108"/>
                  <a:gd name="T109" fmla="*/ 341 h 365"/>
                  <a:gd name="T110" fmla="*/ 107 w 108"/>
                  <a:gd name="T111" fmla="*/ 347 h 365"/>
                  <a:gd name="T112" fmla="*/ 107 w 108"/>
                  <a:gd name="T113" fmla="*/ 356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8" h="365">
                    <a:moveTo>
                      <a:pt x="0" y="0"/>
                    </a:moveTo>
                    <a:lnTo>
                      <a:pt x="1" y="3"/>
                    </a:lnTo>
                    <a:lnTo>
                      <a:pt x="4" y="8"/>
                    </a:lnTo>
                    <a:lnTo>
                      <a:pt x="6" y="11"/>
                    </a:lnTo>
                    <a:lnTo>
                      <a:pt x="7" y="14"/>
                    </a:lnTo>
                    <a:lnTo>
                      <a:pt x="9" y="17"/>
                    </a:lnTo>
                    <a:lnTo>
                      <a:pt x="10" y="20"/>
                    </a:lnTo>
                    <a:lnTo>
                      <a:pt x="12" y="23"/>
                    </a:lnTo>
                    <a:lnTo>
                      <a:pt x="13" y="26"/>
                    </a:lnTo>
                    <a:lnTo>
                      <a:pt x="15" y="27"/>
                    </a:lnTo>
                    <a:lnTo>
                      <a:pt x="17" y="30"/>
                    </a:lnTo>
                    <a:lnTo>
                      <a:pt x="18" y="32"/>
                    </a:lnTo>
                    <a:lnTo>
                      <a:pt x="18" y="34"/>
                    </a:lnTo>
                    <a:lnTo>
                      <a:pt x="20" y="37"/>
                    </a:lnTo>
                    <a:lnTo>
                      <a:pt x="21" y="38"/>
                    </a:lnTo>
                    <a:lnTo>
                      <a:pt x="21" y="40"/>
                    </a:lnTo>
                    <a:lnTo>
                      <a:pt x="23" y="41"/>
                    </a:lnTo>
                    <a:lnTo>
                      <a:pt x="23" y="43"/>
                    </a:lnTo>
                    <a:lnTo>
                      <a:pt x="24" y="44"/>
                    </a:lnTo>
                    <a:lnTo>
                      <a:pt x="24" y="46"/>
                    </a:lnTo>
                    <a:lnTo>
                      <a:pt x="26" y="47"/>
                    </a:lnTo>
                    <a:lnTo>
                      <a:pt x="26" y="49"/>
                    </a:lnTo>
                    <a:lnTo>
                      <a:pt x="27" y="50"/>
                    </a:lnTo>
                    <a:lnTo>
                      <a:pt x="27" y="52"/>
                    </a:lnTo>
                    <a:lnTo>
                      <a:pt x="29" y="53"/>
                    </a:lnTo>
                    <a:lnTo>
                      <a:pt x="29" y="53"/>
                    </a:lnTo>
                    <a:lnTo>
                      <a:pt x="29" y="55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2" y="61"/>
                    </a:lnTo>
                    <a:lnTo>
                      <a:pt x="32" y="63"/>
                    </a:lnTo>
                    <a:lnTo>
                      <a:pt x="33" y="64"/>
                    </a:lnTo>
                    <a:lnTo>
                      <a:pt x="33" y="67"/>
                    </a:lnTo>
                    <a:lnTo>
                      <a:pt x="33" y="67"/>
                    </a:lnTo>
                    <a:lnTo>
                      <a:pt x="35" y="69"/>
                    </a:lnTo>
                    <a:lnTo>
                      <a:pt x="36" y="70"/>
                    </a:lnTo>
                    <a:lnTo>
                      <a:pt x="36" y="72"/>
                    </a:lnTo>
                    <a:lnTo>
                      <a:pt x="38" y="75"/>
                    </a:lnTo>
                    <a:lnTo>
                      <a:pt x="38" y="76"/>
                    </a:lnTo>
                    <a:lnTo>
                      <a:pt x="38" y="78"/>
                    </a:lnTo>
                    <a:lnTo>
                      <a:pt x="39" y="79"/>
                    </a:lnTo>
                    <a:lnTo>
                      <a:pt x="39" y="81"/>
                    </a:lnTo>
                    <a:lnTo>
                      <a:pt x="41" y="81"/>
                    </a:lnTo>
                    <a:lnTo>
                      <a:pt x="41" y="82"/>
                    </a:lnTo>
                    <a:lnTo>
                      <a:pt x="41" y="84"/>
                    </a:lnTo>
                    <a:lnTo>
                      <a:pt x="43" y="86"/>
                    </a:lnTo>
                    <a:lnTo>
                      <a:pt x="43" y="87"/>
                    </a:lnTo>
                    <a:lnTo>
                      <a:pt x="43" y="87"/>
                    </a:lnTo>
                    <a:lnTo>
                      <a:pt x="43" y="89"/>
                    </a:lnTo>
                    <a:lnTo>
                      <a:pt x="44" y="90"/>
                    </a:lnTo>
                    <a:lnTo>
                      <a:pt x="44" y="92"/>
                    </a:lnTo>
                    <a:lnTo>
                      <a:pt x="44" y="93"/>
                    </a:lnTo>
                    <a:lnTo>
                      <a:pt x="46" y="93"/>
                    </a:lnTo>
                    <a:lnTo>
                      <a:pt x="46" y="95"/>
                    </a:lnTo>
                    <a:lnTo>
                      <a:pt x="46" y="96"/>
                    </a:lnTo>
                    <a:lnTo>
                      <a:pt x="47" y="98"/>
                    </a:lnTo>
                    <a:lnTo>
                      <a:pt x="47" y="99"/>
                    </a:lnTo>
                    <a:lnTo>
                      <a:pt x="47" y="101"/>
                    </a:lnTo>
                    <a:lnTo>
                      <a:pt x="49" y="102"/>
                    </a:lnTo>
                    <a:lnTo>
                      <a:pt x="49" y="104"/>
                    </a:lnTo>
                    <a:lnTo>
                      <a:pt x="50" y="107"/>
                    </a:lnTo>
                    <a:lnTo>
                      <a:pt x="50" y="108"/>
                    </a:lnTo>
                    <a:lnTo>
                      <a:pt x="52" y="110"/>
                    </a:lnTo>
                    <a:lnTo>
                      <a:pt x="52" y="113"/>
                    </a:lnTo>
                    <a:lnTo>
                      <a:pt x="53" y="115"/>
                    </a:lnTo>
                    <a:lnTo>
                      <a:pt x="53" y="118"/>
                    </a:lnTo>
                    <a:lnTo>
                      <a:pt x="53" y="118"/>
                    </a:lnTo>
                    <a:lnTo>
                      <a:pt x="55" y="119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8" y="127"/>
                    </a:lnTo>
                    <a:lnTo>
                      <a:pt x="58" y="128"/>
                    </a:lnTo>
                    <a:lnTo>
                      <a:pt x="59" y="130"/>
                    </a:lnTo>
                    <a:lnTo>
                      <a:pt x="59" y="131"/>
                    </a:lnTo>
                    <a:lnTo>
                      <a:pt x="61" y="134"/>
                    </a:lnTo>
                    <a:lnTo>
                      <a:pt x="61" y="136"/>
                    </a:lnTo>
                    <a:lnTo>
                      <a:pt x="61" y="138"/>
                    </a:lnTo>
                    <a:lnTo>
                      <a:pt x="62" y="138"/>
                    </a:lnTo>
                    <a:lnTo>
                      <a:pt x="62" y="139"/>
                    </a:lnTo>
                    <a:lnTo>
                      <a:pt x="62" y="141"/>
                    </a:lnTo>
                    <a:lnTo>
                      <a:pt x="64" y="142"/>
                    </a:lnTo>
                    <a:lnTo>
                      <a:pt x="64" y="144"/>
                    </a:lnTo>
                    <a:lnTo>
                      <a:pt x="64" y="145"/>
                    </a:lnTo>
                    <a:lnTo>
                      <a:pt x="65" y="147"/>
                    </a:lnTo>
                    <a:lnTo>
                      <a:pt x="65" y="148"/>
                    </a:lnTo>
                    <a:lnTo>
                      <a:pt x="65" y="148"/>
                    </a:lnTo>
                    <a:lnTo>
                      <a:pt x="65" y="150"/>
                    </a:lnTo>
                    <a:lnTo>
                      <a:pt x="67" y="151"/>
                    </a:lnTo>
                    <a:lnTo>
                      <a:pt x="67" y="153"/>
                    </a:lnTo>
                    <a:lnTo>
                      <a:pt x="67" y="154"/>
                    </a:lnTo>
                    <a:lnTo>
                      <a:pt x="69" y="156"/>
                    </a:lnTo>
                    <a:lnTo>
                      <a:pt x="69" y="157"/>
                    </a:lnTo>
                    <a:lnTo>
                      <a:pt x="69" y="159"/>
                    </a:lnTo>
                    <a:lnTo>
                      <a:pt x="70" y="162"/>
                    </a:lnTo>
                    <a:lnTo>
                      <a:pt x="70" y="164"/>
                    </a:lnTo>
                    <a:lnTo>
                      <a:pt x="72" y="165"/>
                    </a:lnTo>
                    <a:lnTo>
                      <a:pt x="72" y="168"/>
                    </a:lnTo>
                    <a:lnTo>
                      <a:pt x="73" y="170"/>
                    </a:lnTo>
                    <a:lnTo>
                      <a:pt x="73" y="173"/>
                    </a:lnTo>
                    <a:lnTo>
                      <a:pt x="73" y="173"/>
                    </a:lnTo>
                    <a:lnTo>
                      <a:pt x="75" y="176"/>
                    </a:lnTo>
                    <a:lnTo>
                      <a:pt x="75" y="177"/>
                    </a:lnTo>
                    <a:lnTo>
                      <a:pt x="76" y="180"/>
                    </a:lnTo>
                    <a:lnTo>
                      <a:pt x="76" y="182"/>
                    </a:lnTo>
                    <a:lnTo>
                      <a:pt x="76" y="183"/>
                    </a:lnTo>
                    <a:lnTo>
                      <a:pt x="78" y="186"/>
                    </a:lnTo>
                    <a:lnTo>
                      <a:pt x="78" y="188"/>
                    </a:lnTo>
                    <a:lnTo>
                      <a:pt x="78" y="189"/>
                    </a:lnTo>
                    <a:lnTo>
                      <a:pt x="79" y="191"/>
                    </a:lnTo>
                    <a:lnTo>
                      <a:pt x="79" y="193"/>
                    </a:lnTo>
                    <a:lnTo>
                      <a:pt x="79" y="194"/>
                    </a:lnTo>
                    <a:lnTo>
                      <a:pt x="81" y="196"/>
                    </a:lnTo>
                    <a:lnTo>
                      <a:pt x="81" y="196"/>
                    </a:lnTo>
                    <a:lnTo>
                      <a:pt x="81" y="197"/>
                    </a:lnTo>
                    <a:lnTo>
                      <a:pt x="81" y="199"/>
                    </a:lnTo>
                    <a:lnTo>
                      <a:pt x="82" y="200"/>
                    </a:lnTo>
                    <a:lnTo>
                      <a:pt x="82" y="202"/>
                    </a:lnTo>
                    <a:lnTo>
                      <a:pt x="82" y="203"/>
                    </a:lnTo>
                    <a:lnTo>
                      <a:pt x="82" y="205"/>
                    </a:lnTo>
                    <a:lnTo>
                      <a:pt x="84" y="206"/>
                    </a:lnTo>
                    <a:lnTo>
                      <a:pt x="84" y="206"/>
                    </a:lnTo>
                    <a:lnTo>
                      <a:pt x="84" y="208"/>
                    </a:lnTo>
                    <a:lnTo>
                      <a:pt x="85" y="209"/>
                    </a:lnTo>
                    <a:lnTo>
                      <a:pt x="85" y="211"/>
                    </a:lnTo>
                    <a:lnTo>
                      <a:pt x="85" y="214"/>
                    </a:lnTo>
                    <a:lnTo>
                      <a:pt x="87" y="215"/>
                    </a:lnTo>
                    <a:lnTo>
                      <a:pt x="87" y="217"/>
                    </a:lnTo>
                    <a:lnTo>
                      <a:pt x="87" y="219"/>
                    </a:lnTo>
                    <a:lnTo>
                      <a:pt x="88" y="222"/>
                    </a:lnTo>
                    <a:lnTo>
                      <a:pt x="88" y="223"/>
                    </a:lnTo>
                    <a:lnTo>
                      <a:pt x="90" y="226"/>
                    </a:lnTo>
                    <a:lnTo>
                      <a:pt x="90" y="228"/>
                    </a:lnTo>
                    <a:lnTo>
                      <a:pt x="90" y="228"/>
                    </a:lnTo>
                    <a:lnTo>
                      <a:pt x="91" y="231"/>
                    </a:lnTo>
                    <a:lnTo>
                      <a:pt x="91" y="232"/>
                    </a:lnTo>
                    <a:lnTo>
                      <a:pt x="93" y="235"/>
                    </a:lnTo>
                    <a:lnTo>
                      <a:pt x="93" y="237"/>
                    </a:lnTo>
                    <a:lnTo>
                      <a:pt x="94" y="240"/>
                    </a:lnTo>
                    <a:lnTo>
                      <a:pt x="94" y="241"/>
                    </a:lnTo>
                    <a:lnTo>
                      <a:pt x="94" y="243"/>
                    </a:lnTo>
                    <a:lnTo>
                      <a:pt x="96" y="245"/>
                    </a:lnTo>
                    <a:lnTo>
                      <a:pt x="96" y="246"/>
                    </a:lnTo>
                    <a:lnTo>
                      <a:pt x="96" y="248"/>
                    </a:lnTo>
                    <a:lnTo>
                      <a:pt x="96" y="249"/>
                    </a:lnTo>
                    <a:lnTo>
                      <a:pt x="98" y="251"/>
                    </a:lnTo>
                    <a:lnTo>
                      <a:pt x="98" y="252"/>
                    </a:lnTo>
                    <a:lnTo>
                      <a:pt x="98" y="254"/>
                    </a:lnTo>
                    <a:lnTo>
                      <a:pt x="98" y="254"/>
                    </a:lnTo>
                    <a:lnTo>
                      <a:pt x="98" y="255"/>
                    </a:lnTo>
                    <a:lnTo>
                      <a:pt x="98" y="257"/>
                    </a:lnTo>
                    <a:lnTo>
                      <a:pt x="99" y="258"/>
                    </a:lnTo>
                    <a:lnTo>
                      <a:pt x="99" y="258"/>
                    </a:lnTo>
                    <a:lnTo>
                      <a:pt x="99" y="260"/>
                    </a:lnTo>
                    <a:lnTo>
                      <a:pt x="99" y="261"/>
                    </a:lnTo>
                    <a:lnTo>
                      <a:pt x="99" y="263"/>
                    </a:lnTo>
                    <a:lnTo>
                      <a:pt x="99" y="264"/>
                    </a:lnTo>
                    <a:lnTo>
                      <a:pt x="99" y="266"/>
                    </a:lnTo>
                    <a:lnTo>
                      <a:pt x="99" y="267"/>
                    </a:lnTo>
                    <a:lnTo>
                      <a:pt x="99" y="269"/>
                    </a:lnTo>
                    <a:lnTo>
                      <a:pt x="101" y="271"/>
                    </a:lnTo>
                    <a:lnTo>
                      <a:pt x="101" y="272"/>
                    </a:lnTo>
                    <a:lnTo>
                      <a:pt x="101" y="274"/>
                    </a:lnTo>
                    <a:lnTo>
                      <a:pt x="101" y="275"/>
                    </a:lnTo>
                    <a:lnTo>
                      <a:pt x="101" y="278"/>
                    </a:lnTo>
                    <a:lnTo>
                      <a:pt x="101" y="280"/>
                    </a:lnTo>
                    <a:lnTo>
                      <a:pt x="101" y="280"/>
                    </a:lnTo>
                    <a:lnTo>
                      <a:pt x="101" y="281"/>
                    </a:lnTo>
                    <a:lnTo>
                      <a:pt x="101" y="284"/>
                    </a:lnTo>
                    <a:lnTo>
                      <a:pt x="101" y="286"/>
                    </a:lnTo>
                    <a:lnTo>
                      <a:pt x="102" y="287"/>
                    </a:lnTo>
                    <a:lnTo>
                      <a:pt x="102" y="289"/>
                    </a:lnTo>
                    <a:lnTo>
                      <a:pt x="102" y="290"/>
                    </a:lnTo>
                    <a:lnTo>
                      <a:pt x="102" y="292"/>
                    </a:lnTo>
                    <a:lnTo>
                      <a:pt x="102" y="293"/>
                    </a:lnTo>
                    <a:lnTo>
                      <a:pt x="102" y="295"/>
                    </a:lnTo>
                    <a:lnTo>
                      <a:pt x="102" y="297"/>
                    </a:lnTo>
                    <a:lnTo>
                      <a:pt x="102" y="298"/>
                    </a:lnTo>
                    <a:lnTo>
                      <a:pt x="102" y="298"/>
                    </a:lnTo>
                    <a:lnTo>
                      <a:pt x="102" y="300"/>
                    </a:lnTo>
                    <a:lnTo>
                      <a:pt x="102" y="301"/>
                    </a:lnTo>
                    <a:lnTo>
                      <a:pt x="102" y="301"/>
                    </a:lnTo>
                    <a:lnTo>
                      <a:pt x="104" y="303"/>
                    </a:lnTo>
                    <a:lnTo>
                      <a:pt x="104" y="303"/>
                    </a:lnTo>
                    <a:lnTo>
                      <a:pt x="104" y="304"/>
                    </a:lnTo>
                    <a:lnTo>
                      <a:pt x="104" y="306"/>
                    </a:lnTo>
                    <a:lnTo>
                      <a:pt x="104" y="306"/>
                    </a:lnTo>
                    <a:lnTo>
                      <a:pt x="104" y="307"/>
                    </a:lnTo>
                    <a:lnTo>
                      <a:pt x="104" y="307"/>
                    </a:lnTo>
                    <a:lnTo>
                      <a:pt x="104" y="309"/>
                    </a:lnTo>
                    <a:lnTo>
                      <a:pt x="104" y="309"/>
                    </a:lnTo>
                    <a:lnTo>
                      <a:pt x="104" y="310"/>
                    </a:lnTo>
                    <a:lnTo>
                      <a:pt x="104" y="312"/>
                    </a:lnTo>
                    <a:lnTo>
                      <a:pt x="105" y="312"/>
                    </a:lnTo>
                    <a:lnTo>
                      <a:pt x="105" y="313"/>
                    </a:lnTo>
                    <a:lnTo>
                      <a:pt x="105" y="315"/>
                    </a:lnTo>
                    <a:lnTo>
                      <a:pt x="105" y="315"/>
                    </a:lnTo>
                    <a:lnTo>
                      <a:pt x="105" y="316"/>
                    </a:lnTo>
                    <a:lnTo>
                      <a:pt x="105" y="318"/>
                    </a:lnTo>
                    <a:lnTo>
                      <a:pt x="105" y="318"/>
                    </a:lnTo>
                    <a:lnTo>
                      <a:pt x="105" y="319"/>
                    </a:lnTo>
                    <a:lnTo>
                      <a:pt x="107" y="321"/>
                    </a:lnTo>
                    <a:lnTo>
                      <a:pt x="107" y="321"/>
                    </a:lnTo>
                    <a:lnTo>
                      <a:pt x="107" y="323"/>
                    </a:lnTo>
                    <a:lnTo>
                      <a:pt x="107" y="324"/>
                    </a:lnTo>
                    <a:lnTo>
                      <a:pt x="107" y="326"/>
                    </a:lnTo>
                    <a:lnTo>
                      <a:pt x="107" y="326"/>
                    </a:lnTo>
                    <a:lnTo>
                      <a:pt x="107" y="327"/>
                    </a:lnTo>
                    <a:lnTo>
                      <a:pt x="107" y="327"/>
                    </a:lnTo>
                    <a:lnTo>
                      <a:pt x="107" y="329"/>
                    </a:lnTo>
                    <a:lnTo>
                      <a:pt x="108" y="330"/>
                    </a:lnTo>
                    <a:lnTo>
                      <a:pt x="108" y="330"/>
                    </a:lnTo>
                    <a:lnTo>
                      <a:pt x="108" y="332"/>
                    </a:lnTo>
                    <a:lnTo>
                      <a:pt x="108" y="333"/>
                    </a:lnTo>
                    <a:lnTo>
                      <a:pt x="108" y="333"/>
                    </a:lnTo>
                    <a:lnTo>
                      <a:pt x="108" y="335"/>
                    </a:lnTo>
                    <a:lnTo>
                      <a:pt x="108" y="336"/>
                    </a:lnTo>
                    <a:lnTo>
                      <a:pt x="108" y="336"/>
                    </a:lnTo>
                    <a:lnTo>
                      <a:pt x="108" y="338"/>
                    </a:lnTo>
                    <a:lnTo>
                      <a:pt x="108" y="339"/>
                    </a:lnTo>
                    <a:lnTo>
                      <a:pt x="108" y="341"/>
                    </a:lnTo>
                    <a:lnTo>
                      <a:pt x="108" y="342"/>
                    </a:lnTo>
                    <a:lnTo>
                      <a:pt x="108" y="344"/>
                    </a:lnTo>
                    <a:lnTo>
                      <a:pt x="108" y="345"/>
                    </a:lnTo>
                    <a:lnTo>
                      <a:pt x="107" y="347"/>
                    </a:lnTo>
                    <a:lnTo>
                      <a:pt x="107" y="350"/>
                    </a:lnTo>
                    <a:lnTo>
                      <a:pt x="107" y="352"/>
                    </a:lnTo>
                    <a:lnTo>
                      <a:pt x="107" y="355"/>
                    </a:lnTo>
                    <a:lnTo>
                      <a:pt x="107" y="356"/>
                    </a:lnTo>
                    <a:lnTo>
                      <a:pt x="107" y="359"/>
                    </a:lnTo>
                    <a:lnTo>
                      <a:pt x="107" y="362"/>
                    </a:lnTo>
                    <a:lnTo>
                      <a:pt x="107" y="365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73"/>
              <p:cNvSpPr>
                <a:spLocks/>
              </p:cNvSpPr>
              <p:nvPr/>
            </p:nvSpPr>
            <p:spPr bwMode="auto">
              <a:xfrm>
                <a:off x="3403" y="2768"/>
                <a:ext cx="55" cy="183"/>
              </a:xfrm>
              <a:custGeom>
                <a:avLst/>
                <a:gdLst>
                  <a:gd name="T0" fmla="*/ 6 w 108"/>
                  <a:gd name="T1" fmla="*/ 355 h 366"/>
                  <a:gd name="T2" fmla="*/ 12 w 108"/>
                  <a:gd name="T3" fmla="*/ 343 h 366"/>
                  <a:gd name="T4" fmla="*/ 18 w 108"/>
                  <a:gd name="T5" fmla="*/ 334 h 366"/>
                  <a:gd name="T6" fmla="*/ 21 w 108"/>
                  <a:gd name="T7" fmla="*/ 326 h 366"/>
                  <a:gd name="T8" fmla="*/ 24 w 108"/>
                  <a:gd name="T9" fmla="*/ 320 h 366"/>
                  <a:gd name="T10" fmla="*/ 27 w 108"/>
                  <a:gd name="T11" fmla="*/ 315 h 366"/>
                  <a:gd name="T12" fmla="*/ 30 w 108"/>
                  <a:gd name="T13" fmla="*/ 309 h 366"/>
                  <a:gd name="T14" fmla="*/ 33 w 108"/>
                  <a:gd name="T15" fmla="*/ 301 h 366"/>
                  <a:gd name="T16" fmla="*/ 36 w 108"/>
                  <a:gd name="T17" fmla="*/ 295 h 366"/>
                  <a:gd name="T18" fmla="*/ 38 w 108"/>
                  <a:gd name="T19" fmla="*/ 288 h 366"/>
                  <a:gd name="T20" fmla="*/ 41 w 108"/>
                  <a:gd name="T21" fmla="*/ 283 h 366"/>
                  <a:gd name="T22" fmla="*/ 43 w 108"/>
                  <a:gd name="T23" fmla="*/ 279 h 366"/>
                  <a:gd name="T24" fmla="*/ 44 w 108"/>
                  <a:gd name="T25" fmla="*/ 272 h 366"/>
                  <a:gd name="T26" fmla="*/ 47 w 108"/>
                  <a:gd name="T27" fmla="*/ 268 h 366"/>
                  <a:gd name="T28" fmla="*/ 49 w 108"/>
                  <a:gd name="T29" fmla="*/ 262 h 366"/>
                  <a:gd name="T30" fmla="*/ 52 w 108"/>
                  <a:gd name="T31" fmla="*/ 253 h 366"/>
                  <a:gd name="T32" fmla="*/ 55 w 108"/>
                  <a:gd name="T33" fmla="*/ 246 h 366"/>
                  <a:gd name="T34" fmla="*/ 58 w 108"/>
                  <a:gd name="T35" fmla="*/ 237 h 366"/>
                  <a:gd name="T36" fmla="*/ 61 w 108"/>
                  <a:gd name="T37" fmla="*/ 230 h 366"/>
                  <a:gd name="T38" fmla="*/ 62 w 108"/>
                  <a:gd name="T39" fmla="*/ 225 h 366"/>
                  <a:gd name="T40" fmla="*/ 65 w 108"/>
                  <a:gd name="T41" fmla="*/ 219 h 366"/>
                  <a:gd name="T42" fmla="*/ 67 w 108"/>
                  <a:gd name="T43" fmla="*/ 214 h 366"/>
                  <a:gd name="T44" fmla="*/ 69 w 108"/>
                  <a:gd name="T45" fmla="*/ 208 h 366"/>
                  <a:gd name="T46" fmla="*/ 72 w 108"/>
                  <a:gd name="T47" fmla="*/ 201 h 366"/>
                  <a:gd name="T48" fmla="*/ 73 w 108"/>
                  <a:gd name="T49" fmla="*/ 193 h 366"/>
                  <a:gd name="T50" fmla="*/ 76 w 108"/>
                  <a:gd name="T51" fmla="*/ 184 h 366"/>
                  <a:gd name="T52" fmla="*/ 78 w 108"/>
                  <a:gd name="T53" fmla="*/ 176 h 366"/>
                  <a:gd name="T54" fmla="*/ 81 w 108"/>
                  <a:gd name="T55" fmla="*/ 170 h 366"/>
                  <a:gd name="T56" fmla="*/ 82 w 108"/>
                  <a:gd name="T57" fmla="*/ 165 h 366"/>
                  <a:gd name="T58" fmla="*/ 84 w 108"/>
                  <a:gd name="T59" fmla="*/ 159 h 366"/>
                  <a:gd name="T60" fmla="*/ 85 w 108"/>
                  <a:gd name="T61" fmla="*/ 155 h 366"/>
                  <a:gd name="T62" fmla="*/ 87 w 108"/>
                  <a:gd name="T63" fmla="*/ 147 h 366"/>
                  <a:gd name="T64" fmla="*/ 90 w 108"/>
                  <a:gd name="T65" fmla="*/ 138 h 366"/>
                  <a:gd name="T66" fmla="*/ 93 w 108"/>
                  <a:gd name="T67" fmla="*/ 130 h 366"/>
                  <a:gd name="T68" fmla="*/ 94 w 108"/>
                  <a:gd name="T69" fmla="*/ 123 h 366"/>
                  <a:gd name="T70" fmla="*/ 96 w 108"/>
                  <a:gd name="T71" fmla="*/ 116 h 366"/>
                  <a:gd name="T72" fmla="*/ 98 w 108"/>
                  <a:gd name="T73" fmla="*/ 112 h 366"/>
                  <a:gd name="T74" fmla="*/ 99 w 108"/>
                  <a:gd name="T75" fmla="*/ 107 h 366"/>
                  <a:gd name="T76" fmla="*/ 99 w 108"/>
                  <a:gd name="T77" fmla="*/ 101 h 366"/>
                  <a:gd name="T78" fmla="*/ 101 w 108"/>
                  <a:gd name="T79" fmla="*/ 95 h 366"/>
                  <a:gd name="T80" fmla="*/ 101 w 108"/>
                  <a:gd name="T81" fmla="*/ 87 h 366"/>
                  <a:gd name="T82" fmla="*/ 101 w 108"/>
                  <a:gd name="T83" fmla="*/ 81 h 366"/>
                  <a:gd name="T84" fmla="*/ 102 w 108"/>
                  <a:gd name="T85" fmla="*/ 75 h 366"/>
                  <a:gd name="T86" fmla="*/ 102 w 108"/>
                  <a:gd name="T87" fmla="*/ 69 h 366"/>
                  <a:gd name="T88" fmla="*/ 102 w 108"/>
                  <a:gd name="T89" fmla="*/ 64 h 366"/>
                  <a:gd name="T90" fmla="*/ 104 w 108"/>
                  <a:gd name="T91" fmla="*/ 61 h 366"/>
                  <a:gd name="T92" fmla="*/ 104 w 108"/>
                  <a:gd name="T93" fmla="*/ 58 h 366"/>
                  <a:gd name="T94" fmla="*/ 104 w 108"/>
                  <a:gd name="T95" fmla="*/ 54 h 366"/>
                  <a:gd name="T96" fmla="*/ 105 w 108"/>
                  <a:gd name="T97" fmla="*/ 51 h 366"/>
                  <a:gd name="T98" fmla="*/ 105 w 108"/>
                  <a:gd name="T99" fmla="*/ 46 h 366"/>
                  <a:gd name="T100" fmla="*/ 107 w 108"/>
                  <a:gd name="T101" fmla="*/ 42 h 366"/>
                  <a:gd name="T102" fmla="*/ 107 w 108"/>
                  <a:gd name="T103" fmla="*/ 38 h 366"/>
                  <a:gd name="T104" fmla="*/ 108 w 108"/>
                  <a:gd name="T105" fmla="*/ 34 h 366"/>
                  <a:gd name="T106" fmla="*/ 108 w 108"/>
                  <a:gd name="T107" fmla="*/ 29 h 366"/>
                  <a:gd name="T108" fmla="*/ 108 w 108"/>
                  <a:gd name="T109" fmla="*/ 25 h 366"/>
                  <a:gd name="T110" fmla="*/ 107 w 108"/>
                  <a:gd name="T111" fmla="*/ 19 h 366"/>
                  <a:gd name="T112" fmla="*/ 107 w 108"/>
                  <a:gd name="T113" fmla="*/ 9 h 366"/>
                  <a:gd name="T114" fmla="*/ 0 w 108"/>
                  <a:gd name="T115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8" h="366">
                    <a:moveTo>
                      <a:pt x="0" y="366"/>
                    </a:moveTo>
                    <a:lnTo>
                      <a:pt x="1" y="361"/>
                    </a:lnTo>
                    <a:lnTo>
                      <a:pt x="4" y="358"/>
                    </a:lnTo>
                    <a:lnTo>
                      <a:pt x="6" y="355"/>
                    </a:lnTo>
                    <a:lnTo>
                      <a:pt x="7" y="352"/>
                    </a:lnTo>
                    <a:lnTo>
                      <a:pt x="9" y="349"/>
                    </a:lnTo>
                    <a:lnTo>
                      <a:pt x="10" y="346"/>
                    </a:lnTo>
                    <a:lnTo>
                      <a:pt x="12" y="343"/>
                    </a:lnTo>
                    <a:lnTo>
                      <a:pt x="13" y="340"/>
                    </a:lnTo>
                    <a:lnTo>
                      <a:pt x="15" y="338"/>
                    </a:lnTo>
                    <a:lnTo>
                      <a:pt x="17" y="335"/>
                    </a:lnTo>
                    <a:lnTo>
                      <a:pt x="18" y="334"/>
                    </a:lnTo>
                    <a:lnTo>
                      <a:pt x="18" y="332"/>
                    </a:lnTo>
                    <a:lnTo>
                      <a:pt x="20" y="329"/>
                    </a:lnTo>
                    <a:lnTo>
                      <a:pt x="21" y="327"/>
                    </a:lnTo>
                    <a:lnTo>
                      <a:pt x="21" y="326"/>
                    </a:lnTo>
                    <a:lnTo>
                      <a:pt x="23" y="324"/>
                    </a:lnTo>
                    <a:lnTo>
                      <a:pt x="23" y="323"/>
                    </a:lnTo>
                    <a:lnTo>
                      <a:pt x="24" y="321"/>
                    </a:lnTo>
                    <a:lnTo>
                      <a:pt x="24" y="320"/>
                    </a:lnTo>
                    <a:lnTo>
                      <a:pt x="26" y="318"/>
                    </a:lnTo>
                    <a:lnTo>
                      <a:pt x="26" y="317"/>
                    </a:lnTo>
                    <a:lnTo>
                      <a:pt x="27" y="315"/>
                    </a:lnTo>
                    <a:lnTo>
                      <a:pt x="27" y="315"/>
                    </a:lnTo>
                    <a:lnTo>
                      <a:pt x="29" y="314"/>
                    </a:lnTo>
                    <a:lnTo>
                      <a:pt x="29" y="312"/>
                    </a:lnTo>
                    <a:lnTo>
                      <a:pt x="29" y="311"/>
                    </a:lnTo>
                    <a:lnTo>
                      <a:pt x="30" y="309"/>
                    </a:lnTo>
                    <a:lnTo>
                      <a:pt x="30" y="306"/>
                    </a:lnTo>
                    <a:lnTo>
                      <a:pt x="32" y="305"/>
                    </a:lnTo>
                    <a:lnTo>
                      <a:pt x="32" y="303"/>
                    </a:lnTo>
                    <a:lnTo>
                      <a:pt x="33" y="301"/>
                    </a:lnTo>
                    <a:lnTo>
                      <a:pt x="33" y="298"/>
                    </a:lnTo>
                    <a:lnTo>
                      <a:pt x="33" y="298"/>
                    </a:lnTo>
                    <a:lnTo>
                      <a:pt x="35" y="297"/>
                    </a:lnTo>
                    <a:lnTo>
                      <a:pt x="36" y="295"/>
                    </a:lnTo>
                    <a:lnTo>
                      <a:pt x="36" y="294"/>
                    </a:lnTo>
                    <a:lnTo>
                      <a:pt x="38" y="291"/>
                    </a:lnTo>
                    <a:lnTo>
                      <a:pt x="38" y="289"/>
                    </a:lnTo>
                    <a:lnTo>
                      <a:pt x="38" y="288"/>
                    </a:lnTo>
                    <a:lnTo>
                      <a:pt x="39" y="286"/>
                    </a:lnTo>
                    <a:lnTo>
                      <a:pt x="39" y="285"/>
                    </a:lnTo>
                    <a:lnTo>
                      <a:pt x="41" y="285"/>
                    </a:lnTo>
                    <a:lnTo>
                      <a:pt x="41" y="283"/>
                    </a:lnTo>
                    <a:lnTo>
                      <a:pt x="41" y="282"/>
                    </a:lnTo>
                    <a:lnTo>
                      <a:pt x="43" y="280"/>
                    </a:lnTo>
                    <a:lnTo>
                      <a:pt x="43" y="279"/>
                    </a:lnTo>
                    <a:lnTo>
                      <a:pt x="43" y="279"/>
                    </a:lnTo>
                    <a:lnTo>
                      <a:pt x="43" y="277"/>
                    </a:lnTo>
                    <a:lnTo>
                      <a:pt x="44" y="275"/>
                    </a:lnTo>
                    <a:lnTo>
                      <a:pt x="44" y="274"/>
                    </a:lnTo>
                    <a:lnTo>
                      <a:pt x="44" y="272"/>
                    </a:lnTo>
                    <a:lnTo>
                      <a:pt x="46" y="272"/>
                    </a:lnTo>
                    <a:lnTo>
                      <a:pt x="46" y="271"/>
                    </a:lnTo>
                    <a:lnTo>
                      <a:pt x="46" y="269"/>
                    </a:lnTo>
                    <a:lnTo>
                      <a:pt x="47" y="268"/>
                    </a:lnTo>
                    <a:lnTo>
                      <a:pt x="47" y="266"/>
                    </a:lnTo>
                    <a:lnTo>
                      <a:pt x="47" y="265"/>
                    </a:lnTo>
                    <a:lnTo>
                      <a:pt x="49" y="263"/>
                    </a:lnTo>
                    <a:lnTo>
                      <a:pt x="49" y="262"/>
                    </a:lnTo>
                    <a:lnTo>
                      <a:pt x="50" y="260"/>
                    </a:lnTo>
                    <a:lnTo>
                      <a:pt x="50" y="257"/>
                    </a:lnTo>
                    <a:lnTo>
                      <a:pt x="52" y="256"/>
                    </a:lnTo>
                    <a:lnTo>
                      <a:pt x="52" y="253"/>
                    </a:lnTo>
                    <a:lnTo>
                      <a:pt x="53" y="251"/>
                    </a:lnTo>
                    <a:lnTo>
                      <a:pt x="53" y="248"/>
                    </a:lnTo>
                    <a:lnTo>
                      <a:pt x="53" y="248"/>
                    </a:lnTo>
                    <a:lnTo>
                      <a:pt x="55" y="246"/>
                    </a:lnTo>
                    <a:lnTo>
                      <a:pt x="56" y="243"/>
                    </a:lnTo>
                    <a:lnTo>
                      <a:pt x="56" y="242"/>
                    </a:lnTo>
                    <a:lnTo>
                      <a:pt x="58" y="239"/>
                    </a:lnTo>
                    <a:lnTo>
                      <a:pt x="58" y="237"/>
                    </a:lnTo>
                    <a:lnTo>
                      <a:pt x="59" y="236"/>
                    </a:lnTo>
                    <a:lnTo>
                      <a:pt x="59" y="234"/>
                    </a:lnTo>
                    <a:lnTo>
                      <a:pt x="61" y="231"/>
                    </a:lnTo>
                    <a:lnTo>
                      <a:pt x="61" y="230"/>
                    </a:lnTo>
                    <a:lnTo>
                      <a:pt x="61" y="228"/>
                    </a:lnTo>
                    <a:lnTo>
                      <a:pt x="62" y="227"/>
                    </a:lnTo>
                    <a:lnTo>
                      <a:pt x="62" y="227"/>
                    </a:lnTo>
                    <a:lnTo>
                      <a:pt x="62" y="225"/>
                    </a:lnTo>
                    <a:lnTo>
                      <a:pt x="64" y="223"/>
                    </a:lnTo>
                    <a:lnTo>
                      <a:pt x="64" y="222"/>
                    </a:lnTo>
                    <a:lnTo>
                      <a:pt x="64" y="220"/>
                    </a:lnTo>
                    <a:lnTo>
                      <a:pt x="65" y="219"/>
                    </a:lnTo>
                    <a:lnTo>
                      <a:pt x="65" y="217"/>
                    </a:lnTo>
                    <a:lnTo>
                      <a:pt x="65" y="216"/>
                    </a:lnTo>
                    <a:lnTo>
                      <a:pt x="65" y="216"/>
                    </a:lnTo>
                    <a:lnTo>
                      <a:pt x="67" y="214"/>
                    </a:lnTo>
                    <a:lnTo>
                      <a:pt x="67" y="213"/>
                    </a:lnTo>
                    <a:lnTo>
                      <a:pt x="67" y="211"/>
                    </a:lnTo>
                    <a:lnTo>
                      <a:pt x="69" y="210"/>
                    </a:lnTo>
                    <a:lnTo>
                      <a:pt x="69" y="208"/>
                    </a:lnTo>
                    <a:lnTo>
                      <a:pt x="69" y="207"/>
                    </a:lnTo>
                    <a:lnTo>
                      <a:pt x="70" y="204"/>
                    </a:lnTo>
                    <a:lnTo>
                      <a:pt x="70" y="202"/>
                    </a:lnTo>
                    <a:lnTo>
                      <a:pt x="72" y="201"/>
                    </a:lnTo>
                    <a:lnTo>
                      <a:pt x="72" y="197"/>
                    </a:lnTo>
                    <a:lnTo>
                      <a:pt x="73" y="196"/>
                    </a:lnTo>
                    <a:lnTo>
                      <a:pt x="73" y="193"/>
                    </a:lnTo>
                    <a:lnTo>
                      <a:pt x="73" y="193"/>
                    </a:lnTo>
                    <a:lnTo>
                      <a:pt x="75" y="190"/>
                    </a:lnTo>
                    <a:lnTo>
                      <a:pt x="75" y="188"/>
                    </a:lnTo>
                    <a:lnTo>
                      <a:pt x="76" y="185"/>
                    </a:lnTo>
                    <a:lnTo>
                      <a:pt x="76" y="184"/>
                    </a:lnTo>
                    <a:lnTo>
                      <a:pt x="76" y="182"/>
                    </a:lnTo>
                    <a:lnTo>
                      <a:pt x="78" y="179"/>
                    </a:lnTo>
                    <a:lnTo>
                      <a:pt x="78" y="178"/>
                    </a:lnTo>
                    <a:lnTo>
                      <a:pt x="78" y="176"/>
                    </a:lnTo>
                    <a:lnTo>
                      <a:pt x="79" y="175"/>
                    </a:lnTo>
                    <a:lnTo>
                      <a:pt x="79" y="173"/>
                    </a:lnTo>
                    <a:lnTo>
                      <a:pt x="79" y="171"/>
                    </a:lnTo>
                    <a:lnTo>
                      <a:pt x="81" y="170"/>
                    </a:lnTo>
                    <a:lnTo>
                      <a:pt x="81" y="168"/>
                    </a:lnTo>
                    <a:lnTo>
                      <a:pt x="81" y="168"/>
                    </a:lnTo>
                    <a:lnTo>
                      <a:pt x="81" y="167"/>
                    </a:lnTo>
                    <a:lnTo>
                      <a:pt x="82" y="165"/>
                    </a:lnTo>
                    <a:lnTo>
                      <a:pt x="82" y="164"/>
                    </a:lnTo>
                    <a:lnTo>
                      <a:pt x="82" y="162"/>
                    </a:lnTo>
                    <a:lnTo>
                      <a:pt x="82" y="161"/>
                    </a:lnTo>
                    <a:lnTo>
                      <a:pt x="84" y="159"/>
                    </a:lnTo>
                    <a:lnTo>
                      <a:pt x="84" y="158"/>
                    </a:lnTo>
                    <a:lnTo>
                      <a:pt x="84" y="158"/>
                    </a:lnTo>
                    <a:lnTo>
                      <a:pt x="85" y="156"/>
                    </a:lnTo>
                    <a:lnTo>
                      <a:pt x="85" y="155"/>
                    </a:lnTo>
                    <a:lnTo>
                      <a:pt x="85" y="152"/>
                    </a:lnTo>
                    <a:lnTo>
                      <a:pt x="87" y="150"/>
                    </a:lnTo>
                    <a:lnTo>
                      <a:pt x="87" y="149"/>
                    </a:lnTo>
                    <a:lnTo>
                      <a:pt x="87" y="147"/>
                    </a:lnTo>
                    <a:lnTo>
                      <a:pt x="88" y="144"/>
                    </a:lnTo>
                    <a:lnTo>
                      <a:pt x="88" y="142"/>
                    </a:lnTo>
                    <a:lnTo>
                      <a:pt x="90" y="139"/>
                    </a:lnTo>
                    <a:lnTo>
                      <a:pt x="90" y="138"/>
                    </a:lnTo>
                    <a:lnTo>
                      <a:pt x="90" y="138"/>
                    </a:lnTo>
                    <a:lnTo>
                      <a:pt x="91" y="135"/>
                    </a:lnTo>
                    <a:lnTo>
                      <a:pt x="91" y="133"/>
                    </a:lnTo>
                    <a:lnTo>
                      <a:pt x="93" y="130"/>
                    </a:lnTo>
                    <a:lnTo>
                      <a:pt x="93" y="129"/>
                    </a:lnTo>
                    <a:lnTo>
                      <a:pt x="94" y="127"/>
                    </a:lnTo>
                    <a:lnTo>
                      <a:pt x="94" y="124"/>
                    </a:lnTo>
                    <a:lnTo>
                      <a:pt x="94" y="123"/>
                    </a:lnTo>
                    <a:lnTo>
                      <a:pt x="96" y="121"/>
                    </a:lnTo>
                    <a:lnTo>
                      <a:pt x="96" y="120"/>
                    </a:lnTo>
                    <a:lnTo>
                      <a:pt x="96" y="118"/>
                    </a:lnTo>
                    <a:lnTo>
                      <a:pt x="96" y="116"/>
                    </a:lnTo>
                    <a:lnTo>
                      <a:pt x="98" y="115"/>
                    </a:lnTo>
                    <a:lnTo>
                      <a:pt x="98" y="113"/>
                    </a:lnTo>
                    <a:lnTo>
                      <a:pt x="98" y="113"/>
                    </a:lnTo>
                    <a:lnTo>
                      <a:pt x="98" y="112"/>
                    </a:lnTo>
                    <a:lnTo>
                      <a:pt x="98" y="110"/>
                    </a:lnTo>
                    <a:lnTo>
                      <a:pt x="98" y="109"/>
                    </a:lnTo>
                    <a:lnTo>
                      <a:pt x="99" y="107"/>
                    </a:lnTo>
                    <a:lnTo>
                      <a:pt x="99" y="107"/>
                    </a:lnTo>
                    <a:lnTo>
                      <a:pt x="99" y="106"/>
                    </a:lnTo>
                    <a:lnTo>
                      <a:pt x="99" y="104"/>
                    </a:lnTo>
                    <a:lnTo>
                      <a:pt x="99" y="103"/>
                    </a:lnTo>
                    <a:lnTo>
                      <a:pt x="99" y="101"/>
                    </a:lnTo>
                    <a:lnTo>
                      <a:pt x="99" y="100"/>
                    </a:lnTo>
                    <a:lnTo>
                      <a:pt x="99" y="98"/>
                    </a:lnTo>
                    <a:lnTo>
                      <a:pt x="99" y="97"/>
                    </a:lnTo>
                    <a:lnTo>
                      <a:pt x="101" y="95"/>
                    </a:lnTo>
                    <a:lnTo>
                      <a:pt x="101" y="94"/>
                    </a:lnTo>
                    <a:lnTo>
                      <a:pt x="101" y="92"/>
                    </a:lnTo>
                    <a:lnTo>
                      <a:pt x="101" y="90"/>
                    </a:lnTo>
                    <a:lnTo>
                      <a:pt x="101" y="87"/>
                    </a:lnTo>
                    <a:lnTo>
                      <a:pt x="101" y="86"/>
                    </a:lnTo>
                    <a:lnTo>
                      <a:pt x="101" y="86"/>
                    </a:lnTo>
                    <a:lnTo>
                      <a:pt x="101" y="84"/>
                    </a:lnTo>
                    <a:lnTo>
                      <a:pt x="101" y="81"/>
                    </a:lnTo>
                    <a:lnTo>
                      <a:pt x="101" y="80"/>
                    </a:lnTo>
                    <a:lnTo>
                      <a:pt x="102" y="78"/>
                    </a:lnTo>
                    <a:lnTo>
                      <a:pt x="102" y="77"/>
                    </a:lnTo>
                    <a:lnTo>
                      <a:pt x="102" y="75"/>
                    </a:lnTo>
                    <a:lnTo>
                      <a:pt x="102" y="74"/>
                    </a:lnTo>
                    <a:lnTo>
                      <a:pt x="102" y="72"/>
                    </a:lnTo>
                    <a:lnTo>
                      <a:pt x="102" y="71"/>
                    </a:lnTo>
                    <a:lnTo>
                      <a:pt x="102" y="69"/>
                    </a:lnTo>
                    <a:lnTo>
                      <a:pt x="102" y="68"/>
                    </a:lnTo>
                    <a:lnTo>
                      <a:pt x="102" y="68"/>
                    </a:lnTo>
                    <a:lnTo>
                      <a:pt x="102" y="66"/>
                    </a:lnTo>
                    <a:lnTo>
                      <a:pt x="102" y="64"/>
                    </a:lnTo>
                    <a:lnTo>
                      <a:pt x="102" y="64"/>
                    </a:lnTo>
                    <a:lnTo>
                      <a:pt x="104" y="63"/>
                    </a:lnTo>
                    <a:lnTo>
                      <a:pt x="104" y="63"/>
                    </a:lnTo>
                    <a:lnTo>
                      <a:pt x="104" y="61"/>
                    </a:lnTo>
                    <a:lnTo>
                      <a:pt x="104" y="61"/>
                    </a:lnTo>
                    <a:lnTo>
                      <a:pt x="104" y="60"/>
                    </a:lnTo>
                    <a:lnTo>
                      <a:pt x="104" y="58"/>
                    </a:lnTo>
                    <a:lnTo>
                      <a:pt x="104" y="58"/>
                    </a:lnTo>
                    <a:lnTo>
                      <a:pt x="104" y="57"/>
                    </a:lnTo>
                    <a:lnTo>
                      <a:pt x="104" y="57"/>
                    </a:lnTo>
                    <a:lnTo>
                      <a:pt x="104" y="55"/>
                    </a:lnTo>
                    <a:lnTo>
                      <a:pt x="104" y="54"/>
                    </a:lnTo>
                    <a:lnTo>
                      <a:pt x="105" y="54"/>
                    </a:lnTo>
                    <a:lnTo>
                      <a:pt x="105" y="52"/>
                    </a:lnTo>
                    <a:lnTo>
                      <a:pt x="105" y="51"/>
                    </a:lnTo>
                    <a:lnTo>
                      <a:pt x="105" y="51"/>
                    </a:lnTo>
                    <a:lnTo>
                      <a:pt x="105" y="49"/>
                    </a:lnTo>
                    <a:lnTo>
                      <a:pt x="105" y="48"/>
                    </a:lnTo>
                    <a:lnTo>
                      <a:pt x="105" y="48"/>
                    </a:lnTo>
                    <a:lnTo>
                      <a:pt x="105" y="46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43"/>
                    </a:lnTo>
                    <a:lnTo>
                      <a:pt x="107" y="42"/>
                    </a:lnTo>
                    <a:lnTo>
                      <a:pt x="107" y="42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7" y="38"/>
                    </a:lnTo>
                    <a:lnTo>
                      <a:pt x="107" y="37"/>
                    </a:lnTo>
                    <a:lnTo>
                      <a:pt x="108" y="35"/>
                    </a:lnTo>
                    <a:lnTo>
                      <a:pt x="108" y="35"/>
                    </a:lnTo>
                    <a:lnTo>
                      <a:pt x="108" y="34"/>
                    </a:lnTo>
                    <a:lnTo>
                      <a:pt x="108" y="34"/>
                    </a:lnTo>
                    <a:lnTo>
                      <a:pt x="108" y="32"/>
                    </a:lnTo>
                    <a:lnTo>
                      <a:pt x="108" y="31"/>
                    </a:lnTo>
                    <a:lnTo>
                      <a:pt x="108" y="29"/>
                    </a:lnTo>
                    <a:lnTo>
                      <a:pt x="108" y="29"/>
                    </a:lnTo>
                    <a:lnTo>
                      <a:pt x="108" y="28"/>
                    </a:lnTo>
                    <a:lnTo>
                      <a:pt x="108" y="26"/>
                    </a:lnTo>
                    <a:lnTo>
                      <a:pt x="108" y="25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8" y="20"/>
                    </a:lnTo>
                    <a:lnTo>
                      <a:pt x="107" y="19"/>
                    </a:lnTo>
                    <a:lnTo>
                      <a:pt x="107" y="16"/>
                    </a:lnTo>
                    <a:lnTo>
                      <a:pt x="107" y="14"/>
                    </a:lnTo>
                    <a:lnTo>
                      <a:pt x="107" y="11"/>
                    </a:lnTo>
                    <a:lnTo>
                      <a:pt x="107" y="9"/>
                    </a:lnTo>
                    <a:lnTo>
                      <a:pt x="107" y="6"/>
                    </a:lnTo>
                    <a:lnTo>
                      <a:pt x="107" y="3"/>
                    </a:lnTo>
                    <a:lnTo>
                      <a:pt x="107" y="0"/>
                    </a:lnTo>
                    <a:lnTo>
                      <a:pt x="0" y="366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74"/>
              <p:cNvSpPr>
                <a:spLocks/>
              </p:cNvSpPr>
              <p:nvPr/>
            </p:nvSpPr>
            <p:spPr bwMode="auto">
              <a:xfrm>
                <a:off x="3403" y="2768"/>
                <a:ext cx="55" cy="183"/>
              </a:xfrm>
              <a:custGeom>
                <a:avLst/>
                <a:gdLst>
                  <a:gd name="T0" fmla="*/ 6 w 108"/>
                  <a:gd name="T1" fmla="*/ 355 h 366"/>
                  <a:gd name="T2" fmla="*/ 12 w 108"/>
                  <a:gd name="T3" fmla="*/ 343 h 366"/>
                  <a:gd name="T4" fmla="*/ 18 w 108"/>
                  <a:gd name="T5" fmla="*/ 334 h 366"/>
                  <a:gd name="T6" fmla="*/ 21 w 108"/>
                  <a:gd name="T7" fmla="*/ 326 h 366"/>
                  <a:gd name="T8" fmla="*/ 24 w 108"/>
                  <a:gd name="T9" fmla="*/ 320 h 366"/>
                  <a:gd name="T10" fmla="*/ 27 w 108"/>
                  <a:gd name="T11" fmla="*/ 315 h 366"/>
                  <a:gd name="T12" fmla="*/ 30 w 108"/>
                  <a:gd name="T13" fmla="*/ 309 h 366"/>
                  <a:gd name="T14" fmla="*/ 33 w 108"/>
                  <a:gd name="T15" fmla="*/ 301 h 366"/>
                  <a:gd name="T16" fmla="*/ 36 w 108"/>
                  <a:gd name="T17" fmla="*/ 295 h 366"/>
                  <a:gd name="T18" fmla="*/ 38 w 108"/>
                  <a:gd name="T19" fmla="*/ 288 h 366"/>
                  <a:gd name="T20" fmla="*/ 41 w 108"/>
                  <a:gd name="T21" fmla="*/ 283 h 366"/>
                  <a:gd name="T22" fmla="*/ 43 w 108"/>
                  <a:gd name="T23" fmla="*/ 279 h 366"/>
                  <a:gd name="T24" fmla="*/ 44 w 108"/>
                  <a:gd name="T25" fmla="*/ 272 h 366"/>
                  <a:gd name="T26" fmla="*/ 47 w 108"/>
                  <a:gd name="T27" fmla="*/ 268 h 366"/>
                  <a:gd name="T28" fmla="*/ 49 w 108"/>
                  <a:gd name="T29" fmla="*/ 262 h 366"/>
                  <a:gd name="T30" fmla="*/ 52 w 108"/>
                  <a:gd name="T31" fmla="*/ 253 h 366"/>
                  <a:gd name="T32" fmla="*/ 55 w 108"/>
                  <a:gd name="T33" fmla="*/ 246 h 366"/>
                  <a:gd name="T34" fmla="*/ 58 w 108"/>
                  <a:gd name="T35" fmla="*/ 237 h 366"/>
                  <a:gd name="T36" fmla="*/ 61 w 108"/>
                  <a:gd name="T37" fmla="*/ 230 h 366"/>
                  <a:gd name="T38" fmla="*/ 62 w 108"/>
                  <a:gd name="T39" fmla="*/ 225 h 366"/>
                  <a:gd name="T40" fmla="*/ 65 w 108"/>
                  <a:gd name="T41" fmla="*/ 219 h 366"/>
                  <a:gd name="T42" fmla="*/ 67 w 108"/>
                  <a:gd name="T43" fmla="*/ 214 h 366"/>
                  <a:gd name="T44" fmla="*/ 69 w 108"/>
                  <a:gd name="T45" fmla="*/ 208 h 366"/>
                  <a:gd name="T46" fmla="*/ 72 w 108"/>
                  <a:gd name="T47" fmla="*/ 201 h 366"/>
                  <a:gd name="T48" fmla="*/ 73 w 108"/>
                  <a:gd name="T49" fmla="*/ 193 h 366"/>
                  <a:gd name="T50" fmla="*/ 76 w 108"/>
                  <a:gd name="T51" fmla="*/ 184 h 366"/>
                  <a:gd name="T52" fmla="*/ 78 w 108"/>
                  <a:gd name="T53" fmla="*/ 176 h 366"/>
                  <a:gd name="T54" fmla="*/ 81 w 108"/>
                  <a:gd name="T55" fmla="*/ 170 h 366"/>
                  <a:gd name="T56" fmla="*/ 82 w 108"/>
                  <a:gd name="T57" fmla="*/ 165 h 366"/>
                  <a:gd name="T58" fmla="*/ 84 w 108"/>
                  <a:gd name="T59" fmla="*/ 159 h 366"/>
                  <a:gd name="T60" fmla="*/ 85 w 108"/>
                  <a:gd name="T61" fmla="*/ 155 h 366"/>
                  <a:gd name="T62" fmla="*/ 87 w 108"/>
                  <a:gd name="T63" fmla="*/ 147 h 366"/>
                  <a:gd name="T64" fmla="*/ 90 w 108"/>
                  <a:gd name="T65" fmla="*/ 138 h 366"/>
                  <a:gd name="T66" fmla="*/ 93 w 108"/>
                  <a:gd name="T67" fmla="*/ 130 h 366"/>
                  <a:gd name="T68" fmla="*/ 94 w 108"/>
                  <a:gd name="T69" fmla="*/ 123 h 366"/>
                  <a:gd name="T70" fmla="*/ 96 w 108"/>
                  <a:gd name="T71" fmla="*/ 116 h 366"/>
                  <a:gd name="T72" fmla="*/ 98 w 108"/>
                  <a:gd name="T73" fmla="*/ 112 h 366"/>
                  <a:gd name="T74" fmla="*/ 99 w 108"/>
                  <a:gd name="T75" fmla="*/ 107 h 366"/>
                  <a:gd name="T76" fmla="*/ 99 w 108"/>
                  <a:gd name="T77" fmla="*/ 101 h 366"/>
                  <a:gd name="T78" fmla="*/ 101 w 108"/>
                  <a:gd name="T79" fmla="*/ 95 h 366"/>
                  <a:gd name="T80" fmla="*/ 101 w 108"/>
                  <a:gd name="T81" fmla="*/ 87 h 366"/>
                  <a:gd name="T82" fmla="*/ 101 w 108"/>
                  <a:gd name="T83" fmla="*/ 81 h 366"/>
                  <a:gd name="T84" fmla="*/ 102 w 108"/>
                  <a:gd name="T85" fmla="*/ 75 h 366"/>
                  <a:gd name="T86" fmla="*/ 102 w 108"/>
                  <a:gd name="T87" fmla="*/ 69 h 366"/>
                  <a:gd name="T88" fmla="*/ 102 w 108"/>
                  <a:gd name="T89" fmla="*/ 64 h 366"/>
                  <a:gd name="T90" fmla="*/ 104 w 108"/>
                  <a:gd name="T91" fmla="*/ 61 h 366"/>
                  <a:gd name="T92" fmla="*/ 104 w 108"/>
                  <a:gd name="T93" fmla="*/ 58 h 366"/>
                  <a:gd name="T94" fmla="*/ 104 w 108"/>
                  <a:gd name="T95" fmla="*/ 54 h 366"/>
                  <a:gd name="T96" fmla="*/ 105 w 108"/>
                  <a:gd name="T97" fmla="*/ 51 h 366"/>
                  <a:gd name="T98" fmla="*/ 105 w 108"/>
                  <a:gd name="T99" fmla="*/ 46 h 366"/>
                  <a:gd name="T100" fmla="*/ 107 w 108"/>
                  <a:gd name="T101" fmla="*/ 42 h 366"/>
                  <a:gd name="T102" fmla="*/ 107 w 108"/>
                  <a:gd name="T103" fmla="*/ 38 h 366"/>
                  <a:gd name="T104" fmla="*/ 108 w 108"/>
                  <a:gd name="T105" fmla="*/ 34 h 366"/>
                  <a:gd name="T106" fmla="*/ 108 w 108"/>
                  <a:gd name="T107" fmla="*/ 29 h 366"/>
                  <a:gd name="T108" fmla="*/ 108 w 108"/>
                  <a:gd name="T109" fmla="*/ 25 h 366"/>
                  <a:gd name="T110" fmla="*/ 107 w 108"/>
                  <a:gd name="T111" fmla="*/ 19 h 366"/>
                  <a:gd name="T112" fmla="*/ 107 w 108"/>
                  <a:gd name="T113" fmla="*/ 9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8" h="366">
                    <a:moveTo>
                      <a:pt x="0" y="366"/>
                    </a:moveTo>
                    <a:lnTo>
                      <a:pt x="1" y="361"/>
                    </a:lnTo>
                    <a:lnTo>
                      <a:pt x="4" y="358"/>
                    </a:lnTo>
                    <a:lnTo>
                      <a:pt x="6" y="355"/>
                    </a:lnTo>
                    <a:lnTo>
                      <a:pt x="7" y="352"/>
                    </a:lnTo>
                    <a:lnTo>
                      <a:pt x="9" y="349"/>
                    </a:lnTo>
                    <a:lnTo>
                      <a:pt x="10" y="346"/>
                    </a:lnTo>
                    <a:lnTo>
                      <a:pt x="12" y="343"/>
                    </a:lnTo>
                    <a:lnTo>
                      <a:pt x="13" y="340"/>
                    </a:lnTo>
                    <a:lnTo>
                      <a:pt x="15" y="338"/>
                    </a:lnTo>
                    <a:lnTo>
                      <a:pt x="17" y="335"/>
                    </a:lnTo>
                    <a:lnTo>
                      <a:pt x="18" y="334"/>
                    </a:lnTo>
                    <a:lnTo>
                      <a:pt x="18" y="332"/>
                    </a:lnTo>
                    <a:lnTo>
                      <a:pt x="20" y="329"/>
                    </a:lnTo>
                    <a:lnTo>
                      <a:pt x="21" y="327"/>
                    </a:lnTo>
                    <a:lnTo>
                      <a:pt x="21" y="326"/>
                    </a:lnTo>
                    <a:lnTo>
                      <a:pt x="23" y="324"/>
                    </a:lnTo>
                    <a:lnTo>
                      <a:pt x="23" y="323"/>
                    </a:lnTo>
                    <a:lnTo>
                      <a:pt x="24" y="321"/>
                    </a:lnTo>
                    <a:lnTo>
                      <a:pt x="24" y="320"/>
                    </a:lnTo>
                    <a:lnTo>
                      <a:pt x="26" y="318"/>
                    </a:lnTo>
                    <a:lnTo>
                      <a:pt x="26" y="317"/>
                    </a:lnTo>
                    <a:lnTo>
                      <a:pt x="27" y="315"/>
                    </a:lnTo>
                    <a:lnTo>
                      <a:pt x="27" y="315"/>
                    </a:lnTo>
                    <a:lnTo>
                      <a:pt x="29" y="314"/>
                    </a:lnTo>
                    <a:lnTo>
                      <a:pt x="29" y="312"/>
                    </a:lnTo>
                    <a:lnTo>
                      <a:pt x="29" y="311"/>
                    </a:lnTo>
                    <a:lnTo>
                      <a:pt x="30" y="309"/>
                    </a:lnTo>
                    <a:lnTo>
                      <a:pt x="30" y="306"/>
                    </a:lnTo>
                    <a:lnTo>
                      <a:pt x="32" y="305"/>
                    </a:lnTo>
                    <a:lnTo>
                      <a:pt x="32" y="303"/>
                    </a:lnTo>
                    <a:lnTo>
                      <a:pt x="33" y="301"/>
                    </a:lnTo>
                    <a:lnTo>
                      <a:pt x="33" y="298"/>
                    </a:lnTo>
                    <a:lnTo>
                      <a:pt x="33" y="298"/>
                    </a:lnTo>
                    <a:lnTo>
                      <a:pt x="35" y="297"/>
                    </a:lnTo>
                    <a:lnTo>
                      <a:pt x="36" y="295"/>
                    </a:lnTo>
                    <a:lnTo>
                      <a:pt x="36" y="294"/>
                    </a:lnTo>
                    <a:lnTo>
                      <a:pt x="38" y="291"/>
                    </a:lnTo>
                    <a:lnTo>
                      <a:pt x="38" y="289"/>
                    </a:lnTo>
                    <a:lnTo>
                      <a:pt x="38" y="288"/>
                    </a:lnTo>
                    <a:lnTo>
                      <a:pt x="39" y="286"/>
                    </a:lnTo>
                    <a:lnTo>
                      <a:pt x="39" y="285"/>
                    </a:lnTo>
                    <a:lnTo>
                      <a:pt x="41" y="285"/>
                    </a:lnTo>
                    <a:lnTo>
                      <a:pt x="41" y="283"/>
                    </a:lnTo>
                    <a:lnTo>
                      <a:pt x="41" y="282"/>
                    </a:lnTo>
                    <a:lnTo>
                      <a:pt x="43" y="280"/>
                    </a:lnTo>
                    <a:lnTo>
                      <a:pt x="43" y="279"/>
                    </a:lnTo>
                    <a:lnTo>
                      <a:pt x="43" y="279"/>
                    </a:lnTo>
                    <a:lnTo>
                      <a:pt x="43" y="277"/>
                    </a:lnTo>
                    <a:lnTo>
                      <a:pt x="44" y="275"/>
                    </a:lnTo>
                    <a:lnTo>
                      <a:pt x="44" y="274"/>
                    </a:lnTo>
                    <a:lnTo>
                      <a:pt x="44" y="272"/>
                    </a:lnTo>
                    <a:lnTo>
                      <a:pt x="46" y="272"/>
                    </a:lnTo>
                    <a:lnTo>
                      <a:pt x="46" y="271"/>
                    </a:lnTo>
                    <a:lnTo>
                      <a:pt x="46" y="269"/>
                    </a:lnTo>
                    <a:lnTo>
                      <a:pt x="47" y="268"/>
                    </a:lnTo>
                    <a:lnTo>
                      <a:pt x="47" y="266"/>
                    </a:lnTo>
                    <a:lnTo>
                      <a:pt x="47" y="265"/>
                    </a:lnTo>
                    <a:lnTo>
                      <a:pt x="49" y="263"/>
                    </a:lnTo>
                    <a:lnTo>
                      <a:pt x="49" y="262"/>
                    </a:lnTo>
                    <a:lnTo>
                      <a:pt x="50" y="260"/>
                    </a:lnTo>
                    <a:lnTo>
                      <a:pt x="50" y="257"/>
                    </a:lnTo>
                    <a:lnTo>
                      <a:pt x="52" y="256"/>
                    </a:lnTo>
                    <a:lnTo>
                      <a:pt x="52" y="253"/>
                    </a:lnTo>
                    <a:lnTo>
                      <a:pt x="53" y="251"/>
                    </a:lnTo>
                    <a:lnTo>
                      <a:pt x="53" y="248"/>
                    </a:lnTo>
                    <a:lnTo>
                      <a:pt x="53" y="248"/>
                    </a:lnTo>
                    <a:lnTo>
                      <a:pt x="55" y="246"/>
                    </a:lnTo>
                    <a:lnTo>
                      <a:pt x="56" y="243"/>
                    </a:lnTo>
                    <a:lnTo>
                      <a:pt x="56" y="242"/>
                    </a:lnTo>
                    <a:lnTo>
                      <a:pt x="58" y="239"/>
                    </a:lnTo>
                    <a:lnTo>
                      <a:pt x="58" y="237"/>
                    </a:lnTo>
                    <a:lnTo>
                      <a:pt x="59" y="236"/>
                    </a:lnTo>
                    <a:lnTo>
                      <a:pt x="59" y="234"/>
                    </a:lnTo>
                    <a:lnTo>
                      <a:pt x="61" y="231"/>
                    </a:lnTo>
                    <a:lnTo>
                      <a:pt x="61" y="230"/>
                    </a:lnTo>
                    <a:lnTo>
                      <a:pt x="61" y="228"/>
                    </a:lnTo>
                    <a:lnTo>
                      <a:pt x="62" y="227"/>
                    </a:lnTo>
                    <a:lnTo>
                      <a:pt x="62" y="227"/>
                    </a:lnTo>
                    <a:lnTo>
                      <a:pt x="62" y="225"/>
                    </a:lnTo>
                    <a:lnTo>
                      <a:pt x="64" y="223"/>
                    </a:lnTo>
                    <a:lnTo>
                      <a:pt x="64" y="222"/>
                    </a:lnTo>
                    <a:lnTo>
                      <a:pt x="64" y="220"/>
                    </a:lnTo>
                    <a:lnTo>
                      <a:pt x="65" y="219"/>
                    </a:lnTo>
                    <a:lnTo>
                      <a:pt x="65" y="217"/>
                    </a:lnTo>
                    <a:lnTo>
                      <a:pt x="65" y="216"/>
                    </a:lnTo>
                    <a:lnTo>
                      <a:pt x="65" y="216"/>
                    </a:lnTo>
                    <a:lnTo>
                      <a:pt x="67" y="214"/>
                    </a:lnTo>
                    <a:lnTo>
                      <a:pt x="67" y="213"/>
                    </a:lnTo>
                    <a:lnTo>
                      <a:pt x="67" y="211"/>
                    </a:lnTo>
                    <a:lnTo>
                      <a:pt x="69" y="210"/>
                    </a:lnTo>
                    <a:lnTo>
                      <a:pt x="69" y="208"/>
                    </a:lnTo>
                    <a:lnTo>
                      <a:pt x="69" y="207"/>
                    </a:lnTo>
                    <a:lnTo>
                      <a:pt x="70" y="204"/>
                    </a:lnTo>
                    <a:lnTo>
                      <a:pt x="70" y="202"/>
                    </a:lnTo>
                    <a:lnTo>
                      <a:pt x="72" y="201"/>
                    </a:lnTo>
                    <a:lnTo>
                      <a:pt x="72" y="197"/>
                    </a:lnTo>
                    <a:lnTo>
                      <a:pt x="73" y="196"/>
                    </a:lnTo>
                    <a:lnTo>
                      <a:pt x="73" y="193"/>
                    </a:lnTo>
                    <a:lnTo>
                      <a:pt x="73" y="193"/>
                    </a:lnTo>
                    <a:lnTo>
                      <a:pt x="75" y="190"/>
                    </a:lnTo>
                    <a:lnTo>
                      <a:pt x="75" y="188"/>
                    </a:lnTo>
                    <a:lnTo>
                      <a:pt x="76" y="185"/>
                    </a:lnTo>
                    <a:lnTo>
                      <a:pt x="76" y="184"/>
                    </a:lnTo>
                    <a:lnTo>
                      <a:pt x="76" y="182"/>
                    </a:lnTo>
                    <a:lnTo>
                      <a:pt x="78" y="179"/>
                    </a:lnTo>
                    <a:lnTo>
                      <a:pt x="78" y="178"/>
                    </a:lnTo>
                    <a:lnTo>
                      <a:pt x="78" y="176"/>
                    </a:lnTo>
                    <a:lnTo>
                      <a:pt x="79" y="175"/>
                    </a:lnTo>
                    <a:lnTo>
                      <a:pt x="79" y="173"/>
                    </a:lnTo>
                    <a:lnTo>
                      <a:pt x="79" y="171"/>
                    </a:lnTo>
                    <a:lnTo>
                      <a:pt x="81" y="170"/>
                    </a:lnTo>
                    <a:lnTo>
                      <a:pt x="81" y="168"/>
                    </a:lnTo>
                    <a:lnTo>
                      <a:pt x="81" y="168"/>
                    </a:lnTo>
                    <a:lnTo>
                      <a:pt x="81" y="167"/>
                    </a:lnTo>
                    <a:lnTo>
                      <a:pt x="82" y="165"/>
                    </a:lnTo>
                    <a:lnTo>
                      <a:pt x="82" y="164"/>
                    </a:lnTo>
                    <a:lnTo>
                      <a:pt x="82" y="162"/>
                    </a:lnTo>
                    <a:lnTo>
                      <a:pt x="82" y="161"/>
                    </a:lnTo>
                    <a:lnTo>
                      <a:pt x="84" y="159"/>
                    </a:lnTo>
                    <a:lnTo>
                      <a:pt x="84" y="158"/>
                    </a:lnTo>
                    <a:lnTo>
                      <a:pt x="84" y="158"/>
                    </a:lnTo>
                    <a:lnTo>
                      <a:pt x="85" y="156"/>
                    </a:lnTo>
                    <a:lnTo>
                      <a:pt x="85" y="155"/>
                    </a:lnTo>
                    <a:lnTo>
                      <a:pt x="85" y="152"/>
                    </a:lnTo>
                    <a:lnTo>
                      <a:pt x="87" y="150"/>
                    </a:lnTo>
                    <a:lnTo>
                      <a:pt x="87" y="149"/>
                    </a:lnTo>
                    <a:lnTo>
                      <a:pt x="87" y="147"/>
                    </a:lnTo>
                    <a:lnTo>
                      <a:pt x="88" y="144"/>
                    </a:lnTo>
                    <a:lnTo>
                      <a:pt x="88" y="142"/>
                    </a:lnTo>
                    <a:lnTo>
                      <a:pt x="90" y="139"/>
                    </a:lnTo>
                    <a:lnTo>
                      <a:pt x="90" y="138"/>
                    </a:lnTo>
                    <a:lnTo>
                      <a:pt x="90" y="138"/>
                    </a:lnTo>
                    <a:lnTo>
                      <a:pt x="91" y="135"/>
                    </a:lnTo>
                    <a:lnTo>
                      <a:pt x="91" y="133"/>
                    </a:lnTo>
                    <a:lnTo>
                      <a:pt x="93" y="130"/>
                    </a:lnTo>
                    <a:lnTo>
                      <a:pt x="93" y="129"/>
                    </a:lnTo>
                    <a:lnTo>
                      <a:pt x="94" y="127"/>
                    </a:lnTo>
                    <a:lnTo>
                      <a:pt x="94" y="124"/>
                    </a:lnTo>
                    <a:lnTo>
                      <a:pt x="94" y="123"/>
                    </a:lnTo>
                    <a:lnTo>
                      <a:pt x="96" y="121"/>
                    </a:lnTo>
                    <a:lnTo>
                      <a:pt x="96" y="120"/>
                    </a:lnTo>
                    <a:lnTo>
                      <a:pt x="96" y="118"/>
                    </a:lnTo>
                    <a:lnTo>
                      <a:pt x="96" y="116"/>
                    </a:lnTo>
                    <a:lnTo>
                      <a:pt x="98" y="115"/>
                    </a:lnTo>
                    <a:lnTo>
                      <a:pt x="98" y="113"/>
                    </a:lnTo>
                    <a:lnTo>
                      <a:pt x="98" y="113"/>
                    </a:lnTo>
                    <a:lnTo>
                      <a:pt x="98" y="112"/>
                    </a:lnTo>
                    <a:lnTo>
                      <a:pt x="98" y="110"/>
                    </a:lnTo>
                    <a:lnTo>
                      <a:pt x="98" y="109"/>
                    </a:lnTo>
                    <a:lnTo>
                      <a:pt x="99" y="107"/>
                    </a:lnTo>
                    <a:lnTo>
                      <a:pt x="99" y="107"/>
                    </a:lnTo>
                    <a:lnTo>
                      <a:pt x="99" y="106"/>
                    </a:lnTo>
                    <a:lnTo>
                      <a:pt x="99" y="104"/>
                    </a:lnTo>
                    <a:lnTo>
                      <a:pt x="99" y="103"/>
                    </a:lnTo>
                    <a:lnTo>
                      <a:pt x="99" y="101"/>
                    </a:lnTo>
                    <a:lnTo>
                      <a:pt x="99" y="100"/>
                    </a:lnTo>
                    <a:lnTo>
                      <a:pt x="99" y="98"/>
                    </a:lnTo>
                    <a:lnTo>
                      <a:pt x="99" y="97"/>
                    </a:lnTo>
                    <a:lnTo>
                      <a:pt x="101" y="95"/>
                    </a:lnTo>
                    <a:lnTo>
                      <a:pt x="101" y="94"/>
                    </a:lnTo>
                    <a:lnTo>
                      <a:pt x="101" y="92"/>
                    </a:lnTo>
                    <a:lnTo>
                      <a:pt x="101" y="90"/>
                    </a:lnTo>
                    <a:lnTo>
                      <a:pt x="101" y="87"/>
                    </a:lnTo>
                    <a:lnTo>
                      <a:pt x="101" y="86"/>
                    </a:lnTo>
                    <a:lnTo>
                      <a:pt x="101" y="86"/>
                    </a:lnTo>
                    <a:lnTo>
                      <a:pt x="101" y="84"/>
                    </a:lnTo>
                    <a:lnTo>
                      <a:pt x="101" y="81"/>
                    </a:lnTo>
                    <a:lnTo>
                      <a:pt x="101" y="80"/>
                    </a:lnTo>
                    <a:lnTo>
                      <a:pt x="102" y="78"/>
                    </a:lnTo>
                    <a:lnTo>
                      <a:pt x="102" y="77"/>
                    </a:lnTo>
                    <a:lnTo>
                      <a:pt x="102" y="75"/>
                    </a:lnTo>
                    <a:lnTo>
                      <a:pt x="102" y="74"/>
                    </a:lnTo>
                    <a:lnTo>
                      <a:pt x="102" y="72"/>
                    </a:lnTo>
                    <a:lnTo>
                      <a:pt x="102" y="71"/>
                    </a:lnTo>
                    <a:lnTo>
                      <a:pt x="102" y="69"/>
                    </a:lnTo>
                    <a:lnTo>
                      <a:pt x="102" y="68"/>
                    </a:lnTo>
                    <a:lnTo>
                      <a:pt x="102" y="68"/>
                    </a:lnTo>
                    <a:lnTo>
                      <a:pt x="102" y="66"/>
                    </a:lnTo>
                    <a:lnTo>
                      <a:pt x="102" y="64"/>
                    </a:lnTo>
                    <a:lnTo>
                      <a:pt x="102" y="64"/>
                    </a:lnTo>
                    <a:lnTo>
                      <a:pt x="104" y="63"/>
                    </a:lnTo>
                    <a:lnTo>
                      <a:pt x="104" y="63"/>
                    </a:lnTo>
                    <a:lnTo>
                      <a:pt x="104" y="61"/>
                    </a:lnTo>
                    <a:lnTo>
                      <a:pt x="104" y="61"/>
                    </a:lnTo>
                    <a:lnTo>
                      <a:pt x="104" y="60"/>
                    </a:lnTo>
                    <a:lnTo>
                      <a:pt x="104" y="58"/>
                    </a:lnTo>
                    <a:lnTo>
                      <a:pt x="104" y="58"/>
                    </a:lnTo>
                    <a:lnTo>
                      <a:pt x="104" y="57"/>
                    </a:lnTo>
                    <a:lnTo>
                      <a:pt x="104" y="57"/>
                    </a:lnTo>
                    <a:lnTo>
                      <a:pt x="104" y="55"/>
                    </a:lnTo>
                    <a:lnTo>
                      <a:pt x="104" y="54"/>
                    </a:lnTo>
                    <a:lnTo>
                      <a:pt x="105" y="54"/>
                    </a:lnTo>
                    <a:lnTo>
                      <a:pt x="105" y="52"/>
                    </a:lnTo>
                    <a:lnTo>
                      <a:pt x="105" y="51"/>
                    </a:lnTo>
                    <a:lnTo>
                      <a:pt x="105" y="51"/>
                    </a:lnTo>
                    <a:lnTo>
                      <a:pt x="105" y="49"/>
                    </a:lnTo>
                    <a:lnTo>
                      <a:pt x="105" y="48"/>
                    </a:lnTo>
                    <a:lnTo>
                      <a:pt x="105" y="48"/>
                    </a:lnTo>
                    <a:lnTo>
                      <a:pt x="105" y="46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43"/>
                    </a:lnTo>
                    <a:lnTo>
                      <a:pt x="107" y="42"/>
                    </a:lnTo>
                    <a:lnTo>
                      <a:pt x="107" y="42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7" y="38"/>
                    </a:lnTo>
                    <a:lnTo>
                      <a:pt x="107" y="37"/>
                    </a:lnTo>
                    <a:lnTo>
                      <a:pt x="108" y="35"/>
                    </a:lnTo>
                    <a:lnTo>
                      <a:pt x="108" y="35"/>
                    </a:lnTo>
                    <a:lnTo>
                      <a:pt x="108" y="34"/>
                    </a:lnTo>
                    <a:lnTo>
                      <a:pt x="108" y="34"/>
                    </a:lnTo>
                    <a:lnTo>
                      <a:pt x="108" y="32"/>
                    </a:lnTo>
                    <a:lnTo>
                      <a:pt x="108" y="31"/>
                    </a:lnTo>
                    <a:lnTo>
                      <a:pt x="108" y="29"/>
                    </a:lnTo>
                    <a:lnTo>
                      <a:pt x="108" y="29"/>
                    </a:lnTo>
                    <a:lnTo>
                      <a:pt x="108" y="28"/>
                    </a:lnTo>
                    <a:lnTo>
                      <a:pt x="108" y="26"/>
                    </a:lnTo>
                    <a:lnTo>
                      <a:pt x="108" y="25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8" y="20"/>
                    </a:lnTo>
                    <a:lnTo>
                      <a:pt x="107" y="19"/>
                    </a:lnTo>
                    <a:lnTo>
                      <a:pt x="107" y="16"/>
                    </a:lnTo>
                    <a:lnTo>
                      <a:pt x="107" y="14"/>
                    </a:lnTo>
                    <a:lnTo>
                      <a:pt x="107" y="11"/>
                    </a:lnTo>
                    <a:lnTo>
                      <a:pt x="107" y="9"/>
                    </a:lnTo>
                    <a:lnTo>
                      <a:pt x="107" y="6"/>
                    </a:lnTo>
                    <a:lnTo>
                      <a:pt x="107" y="3"/>
                    </a:lnTo>
                    <a:lnTo>
                      <a:pt x="107" y="0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" name="Group 75"/>
            <p:cNvGrpSpPr>
              <a:grpSpLocks/>
            </p:cNvGrpSpPr>
            <p:nvPr/>
          </p:nvGrpSpPr>
          <p:grpSpPr bwMode="auto">
            <a:xfrm>
              <a:off x="4050" y="2995"/>
              <a:ext cx="403" cy="316"/>
              <a:chOff x="3403" y="2587"/>
              <a:chExt cx="462" cy="364"/>
            </a:xfrm>
          </p:grpSpPr>
          <p:sp>
            <p:nvSpPr>
              <p:cNvPr id="75" name="Freeform 76"/>
              <p:cNvSpPr>
                <a:spLocks/>
              </p:cNvSpPr>
              <p:nvPr/>
            </p:nvSpPr>
            <p:spPr bwMode="auto">
              <a:xfrm>
                <a:off x="3408" y="2587"/>
                <a:ext cx="457" cy="181"/>
              </a:xfrm>
              <a:custGeom>
                <a:avLst/>
                <a:gdLst>
                  <a:gd name="T0" fmla="*/ 179 w 914"/>
                  <a:gd name="T1" fmla="*/ 0 h 362"/>
                  <a:gd name="T2" fmla="*/ 306 w 914"/>
                  <a:gd name="T3" fmla="*/ 0 h 362"/>
                  <a:gd name="T4" fmla="*/ 371 w 914"/>
                  <a:gd name="T5" fmla="*/ 0 h 362"/>
                  <a:gd name="T6" fmla="*/ 399 w 914"/>
                  <a:gd name="T7" fmla="*/ 1 h 362"/>
                  <a:gd name="T8" fmla="*/ 414 w 914"/>
                  <a:gd name="T9" fmla="*/ 1 h 362"/>
                  <a:gd name="T10" fmla="*/ 428 w 914"/>
                  <a:gd name="T11" fmla="*/ 3 h 362"/>
                  <a:gd name="T12" fmla="*/ 439 w 914"/>
                  <a:gd name="T13" fmla="*/ 3 h 362"/>
                  <a:gd name="T14" fmla="*/ 448 w 914"/>
                  <a:gd name="T15" fmla="*/ 5 h 362"/>
                  <a:gd name="T16" fmla="*/ 460 w 914"/>
                  <a:gd name="T17" fmla="*/ 6 h 362"/>
                  <a:gd name="T18" fmla="*/ 474 w 914"/>
                  <a:gd name="T19" fmla="*/ 9 h 362"/>
                  <a:gd name="T20" fmla="*/ 486 w 914"/>
                  <a:gd name="T21" fmla="*/ 11 h 362"/>
                  <a:gd name="T22" fmla="*/ 495 w 914"/>
                  <a:gd name="T23" fmla="*/ 12 h 362"/>
                  <a:gd name="T24" fmla="*/ 506 w 914"/>
                  <a:gd name="T25" fmla="*/ 15 h 362"/>
                  <a:gd name="T26" fmla="*/ 521 w 914"/>
                  <a:gd name="T27" fmla="*/ 20 h 362"/>
                  <a:gd name="T28" fmla="*/ 536 w 914"/>
                  <a:gd name="T29" fmla="*/ 24 h 362"/>
                  <a:gd name="T30" fmla="*/ 549 w 914"/>
                  <a:gd name="T31" fmla="*/ 29 h 362"/>
                  <a:gd name="T32" fmla="*/ 558 w 914"/>
                  <a:gd name="T33" fmla="*/ 32 h 362"/>
                  <a:gd name="T34" fmla="*/ 569 w 914"/>
                  <a:gd name="T35" fmla="*/ 38 h 362"/>
                  <a:gd name="T36" fmla="*/ 581 w 914"/>
                  <a:gd name="T37" fmla="*/ 44 h 362"/>
                  <a:gd name="T38" fmla="*/ 595 w 914"/>
                  <a:gd name="T39" fmla="*/ 50 h 362"/>
                  <a:gd name="T40" fmla="*/ 605 w 914"/>
                  <a:gd name="T41" fmla="*/ 56 h 362"/>
                  <a:gd name="T42" fmla="*/ 613 w 914"/>
                  <a:gd name="T43" fmla="*/ 61 h 362"/>
                  <a:gd name="T44" fmla="*/ 624 w 914"/>
                  <a:gd name="T45" fmla="*/ 66 h 362"/>
                  <a:gd name="T46" fmla="*/ 636 w 914"/>
                  <a:gd name="T47" fmla="*/ 73 h 362"/>
                  <a:gd name="T48" fmla="*/ 647 w 914"/>
                  <a:gd name="T49" fmla="*/ 79 h 362"/>
                  <a:gd name="T50" fmla="*/ 656 w 914"/>
                  <a:gd name="T51" fmla="*/ 84 h 362"/>
                  <a:gd name="T52" fmla="*/ 662 w 914"/>
                  <a:gd name="T53" fmla="*/ 89 h 362"/>
                  <a:gd name="T54" fmla="*/ 671 w 914"/>
                  <a:gd name="T55" fmla="*/ 95 h 362"/>
                  <a:gd name="T56" fmla="*/ 682 w 914"/>
                  <a:gd name="T57" fmla="*/ 101 h 362"/>
                  <a:gd name="T58" fmla="*/ 689 w 914"/>
                  <a:gd name="T59" fmla="*/ 105 h 362"/>
                  <a:gd name="T60" fmla="*/ 694 w 914"/>
                  <a:gd name="T61" fmla="*/ 110 h 362"/>
                  <a:gd name="T62" fmla="*/ 700 w 914"/>
                  <a:gd name="T63" fmla="*/ 113 h 362"/>
                  <a:gd name="T64" fmla="*/ 708 w 914"/>
                  <a:gd name="T65" fmla="*/ 119 h 362"/>
                  <a:gd name="T66" fmla="*/ 714 w 914"/>
                  <a:gd name="T67" fmla="*/ 124 h 362"/>
                  <a:gd name="T68" fmla="*/ 718 w 914"/>
                  <a:gd name="T69" fmla="*/ 128 h 362"/>
                  <a:gd name="T70" fmla="*/ 723 w 914"/>
                  <a:gd name="T71" fmla="*/ 131 h 362"/>
                  <a:gd name="T72" fmla="*/ 729 w 914"/>
                  <a:gd name="T73" fmla="*/ 136 h 362"/>
                  <a:gd name="T74" fmla="*/ 737 w 914"/>
                  <a:gd name="T75" fmla="*/ 141 h 362"/>
                  <a:gd name="T76" fmla="*/ 744 w 914"/>
                  <a:gd name="T77" fmla="*/ 147 h 362"/>
                  <a:gd name="T78" fmla="*/ 751 w 914"/>
                  <a:gd name="T79" fmla="*/ 151 h 362"/>
                  <a:gd name="T80" fmla="*/ 757 w 914"/>
                  <a:gd name="T81" fmla="*/ 156 h 362"/>
                  <a:gd name="T82" fmla="*/ 763 w 914"/>
                  <a:gd name="T83" fmla="*/ 164 h 362"/>
                  <a:gd name="T84" fmla="*/ 772 w 914"/>
                  <a:gd name="T85" fmla="*/ 173 h 362"/>
                  <a:gd name="T86" fmla="*/ 780 w 914"/>
                  <a:gd name="T87" fmla="*/ 180 h 362"/>
                  <a:gd name="T88" fmla="*/ 784 w 914"/>
                  <a:gd name="T89" fmla="*/ 186 h 362"/>
                  <a:gd name="T90" fmla="*/ 792 w 914"/>
                  <a:gd name="T91" fmla="*/ 194 h 362"/>
                  <a:gd name="T92" fmla="*/ 801 w 914"/>
                  <a:gd name="T93" fmla="*/ 206 h 362"/>
                  <a:gd name="T94" fmla="*/ 810 w 914"/>
                  <a:gd name="T95" fmla="*/ 217 h 362"/>
                  <a:gd name="T96" fmla="*/ 818 w 914"/>
                  <a:gd name="T97" fmla="*/ 226 h 362"/>
                  <a:gd name="T98" fmla="*/ 824 w 914"/>
                  <a:gd name="T99" fmla="*/ 235 h 362"/>
                  <a:gd name="T100" fmla="*/ 832 w 914"/>
                  <a:gd name="T101" fmla="*/ 245 h 362"/>
                  <a:gd name="T102" fmla="*/ 841 w 914"/>
                  <a:gd name="T103" fmla="*/ 258 h 362"/>
                  <a:gd name="T104" fmla="*/ 851 w 914"/>
                  <a:gd name="T105" fmla="*/ 272 h 362"/>
                  <a:gd name="T106" fmla="*/ 859 w 914"/>
                  <a:gd name="T107" fmla="*/ 281 h 362"/>
                  <a:gd name="T108" fmla="*/ 865 w 914"/>
                  <a:gd name="T109" fmla="*/ 290 h 362"/>
                  <a:gd name="T110" fmla="*/ 874 w 914"/>
                  <a:gd name="T111" fmla="*/ 303 h 362"/>
                  <a:gd name="T112" fmla="*/ 884 w 914"/>
                  <a:gd name="T113" fmla="*/ 316 h 362"/>
                  <a:gd name="T114" fmla="*/ 893 w 914"/>
                  <a:gd name="T115" fmla="*/ 330 h 362"/>
                  <a:gd name="T116" fmla="*/ 899 w 914"/>
                  <a:gd name="T117" fmla="*/ 339 h 362"/>
                  <a:gd name="T118" fmla="*/ 905 w 914"/>
                  <a:gd name="T119" fmla="*/ 348 h 362"/>
                  <a:gd name="T120" fmla="*/ 911 w 914"/>
                  <a:gd name="T121" fmla="*/ 359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14" h="362">
                    <a:moveTo>
                      <a:pt x="0" y="0"/>
                    </a:moveTo>
                    <a:lnTo>
                      <a:pt x="35" y="0"/>
                    </a:lnTo>
                    <a:lnTo>
                      <a:pt x="67" y="0"/>
                    </a:lnTo>
                    <a:lnTo>
                      <a:pt x="98" y="0"/>
                    </a:lnTo>
                    <a:lnTo>
                      <a:pt x="127" y="0"/>
                    </a:lnTo>
                    <a:lnTo>
                      <a:pt x="154" y="0"/>
                    </a:lnTo>
                    <a:lnTo>
                      <a:pt x="179" y="0"/>
                    </a:lnTo>
                    <a:lnTo>
                      <a:pt x="202" y="0"/>
                    </a:lnTo>
                    <a:lnTo>
                      <a:pt x="223" y="0"/>
                    </a:lnTo>
                    <a:lnTo>
                      <a:pt x="243" y="0"/>
                    </a:lnTo>
                    <a:lnTo>
                      <a:pt x="260" y="0"/>
                    </a:lnTo>
                    <a:lnTo>
                      <a:pt x="277" y="0"/>
                    </a:lnTo>
                    <a:lnTo>
                      <a:pt x="292" y="0"/>
                    </a:lnTo>
                    <a:lnTo>
                      <a:pt x="306" y="0"/>
                    </a:lnTo>
                    <a:lnTo>
                      <a:pt x="318" y="0"/>
                    </a:lnTo>
                    <a:lnTo>
                      <a:pt x="330" y="0"/>
                    </a:lnTo>
                    <a:lnTo>
                      <a:pt x="339" y="0"/>
                    </a:lnTo>
                    <a:lnTo>
                      <a:pt x="348" y="0"/>
                    </a:lnTo>
                    <a:lnTo>
                      <a:pt x="358" y="0"/>
                    </a:lnTo>
                    <a:lnTo>
                      <a:pt x="364" y="0"/>
                    </a:lnTo>
                    <a:lnTo>
                      <a:pt x="371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7" y="0"/>
                    </a:lnTo>
                    <a:lnTo>
                      <a:pt x="390" y="0"/>
                    </a:lnTo>
                    <a:lnTo>
                      <a:pt x="393" y="0"/>
                    </a:lnTo>
                    <a:lnTo>
                      <a:pt x="396" y="0"/>
                    </a:lnTo>
                    <a:lnTo>
                      <a:pt x="399" y="1"/>
                    </a:lnTo>
                    <a:lnTo>
                      <a:pt x="402" y="1"/>
                    </a:lnTo>
                    <a:lnTo>
                      <a:pt x="405" y="1"/>
                    </a:lnTo>
                    <a:lnTo>
                      <a:pt x="407" y="1"/>
                    </a:lnTo>
                    <a:lnTo>
                      <a:pt x="410" y="1"/>
                    </a:lnTo>
                    <a:lnTo>
                      <a:pt x="411" y="1"/>
                    </a:lnTo>
                    <a:lnTo>
                      <a:pt x="411" y="1"/>
                    </a:lnTo>
                    <a:lnTo>
                      <a:pt x="414" y="1"/>
                    </a:lnTo>
                    <a:lnTo>
                      <a:pt x="417" y="1"/>
                    </a:lnTo>
                    <a:lnTo>
                      <a:pt x="419" y="1"/>
                    </a:lnTo>
                    <a:lnTo>
                      <a:pt x="422" y="3"/>
                    </a:lnTo>
                    <a:lnTo>
                      <a:pt x="423" y="3"/>
                    </a:lnTo>
                    <a:lnTo>
                      <a:pt x="425" y="3"/>
                    </a:lnTo>
                    <a:lnTo>
                      <a:pt x="426" y="3"/>
                    </a:lnTo>
                    <a:lnTo>
                      <a:pt x="428" y="3"/>
                    </a:lnTo>
                    <a:lnTo>
                      <a:pt x="429" y="3"/>
                    </a:lnTo>
                    <a:lnTo>
                      <a:pt x="431" y="3"/>
                    </a:lnTo>
                    <a:lnTo>
                      <a:pt x="433" y="3"/>
                    </a:lnTo>
                    <a:lnTo>
                      <a:pt x="434" y="3"/>
                    </a:lnTo>
                    <a:lnTo>
                      <a:pt x="436" y="3"/>
                    </a:lnTo>
                    <a:lnTo>
                      <a:pt x="437" y="3"/>
                    </a:lnTo>
                    <a:lnTo>
                      <a:pt x="439" y="3"/>
                    </a:lnTo>
                    <a:lnTo>
                      <a:pt x="440" y="5"/>
                    </a:lnTo>
                    <a:lnTo>
                      <a:pt x="440" y="5"/>
                    </a:lnTo>
                    <a:lnTo>
                      <a:pt x="442" y="5"/>
                    </a:lnTo>
                    <a:lnTo>
                      <a:pt x="443" y="5"/>
                    </a:lnTo>
                    <a:lnTo>
                      <a:pt x="445" y="5"/>
                    </a:lnTo>
                    <a:lnTo>
                      <a:pt x="446" y="5"/>
                    </a:lnTo>
                    <a:lnTo>
                      <a:pt x="448" y="5"/>
                    </a:lnTo>
                    <a:lnTo>
                      <a:pt x="449" y="5"/>
                    </a:lnTo>
                    <a:lnTo>
                      <a:pt x="451" y="5"/>
                    </a:lnTo>
                    <a:lnTo>
                      <a:pt x="452" y="6"/>
                    </a:lnTo>
                    <a:lnTo>
                      <a:pt x="454" y="6"/>
                    </a:lnTo>
                    <a:lnTo>
                      <a:pt x="455" y="6"/>
                    </a:lnTo>
                    <a:lnTo>
                      <a:pt x="457" y="6"/>
                    </a:lnTo>
                    <a:lnTo>
                      <a:pt x="460" y="6"/>
                    </a:lnTo>
                    <a:lnTo>
                      <a:pt x="462" y="6"/>
                    </a:lnTo>
                    <a:lnTo>
                      <a:pt x="465" y="8"/>
                    </a:lnTo>
                    <a:lnTo>
                      <a:pt x="466" y="8"/>
                    </a:lnTo>
                    <a:lnTo>
                      <a:pt x="466" y="8"/>
                    </a:lnTo>
                    <a:lnTo>
                      <a:pt x="469" y="8"/>
                    </a:lnTo>
                    <a:lnTo>
                      <a:pt x="471" y="8"/>
                    </a:lnTo>
                    <a:lnTo>
                      <a:pt x="474" y="9"/>
                    </a:lnTo>
                    <a:lnTo>
                      <a:pt x="475" y="9"/>
                    </a:lnTo>
                    <a:lnTo>
                      <a:pt x="477" y="9"/>
                    </a:lnTo>
                    <a:lnTo>
                      <a:pt x="478" y="9"/>
                    </a:lnTo>
                    <a:lnTo>
                      <a:pt x="481" y="9"/>
                    </a:lnTo>
                    <a:lnTo>
                      <a:pt x="483" y="9"/>
                    </a:lnTo>
                    <a:lnTo>
                      <a:pt x="485" y="11"/>
                    </a:lnTo>
                    <a:lnTo>
                      <a:pt x="486" y="11"/>
                    </a:lnTo>
                    <a:lnTo>
                      <a:pt x="488" y="11"/>
                    </a:lnTo>
                    <a:lnTo>
                      <a:pt x="488" y="11"/>
                    </a:lnTo>
                    <a:lnTo>
                      <a:pt x="489" y="11"/>
                    </a:lnTo>
                    <a:lnTo>
                      <a:pt x="491" y="11"/>
                    </a:lnTo>
                    <a:lnTo>
                      <a:pt x="492" y="12"/>
                    </a:lnTo>
                    <a:lnTo>
                      <a:pt x="494" y="12"/>
                    </a:lnTo>
                    <a:lnTo>
                      <a:pt x="495" y="12"/>
                    </a:lnTo>
                    <a:lnTo>
                      <a:pt x="497" y="12"/>
                    </a:lnTo>
                    <a:lnTo>
                      <a:pt x="498" y="14"/>
                    </a:lnTo>
                    <a:lnTo>
                      <a:pt x="500" y="14"/>
                    </a:lnTo>
                    <a:lnTo>
                      <a:pt x="501" y="14"/>
                    </a:lnTo>
                    <a:lnTo>
                      <a:pt x="503" y="14"/>
                    </a:lnTo>
                    <a:lnTo>
                      <a:pt x="504" y="15"/>
                    </a:lnTo>
                    <a:lnTo>
                      <a:pt x="506" y="15"/>
                    </a:lnTo>
                    <a:lnTo>
                      <a:pt x="507" y="15"/>
                    </a:lnTo>
                    <a:lnTo>
                      <a:pt x="509" y="17"/>
                    </a:lnTo>
                    <a:lnTo>
                      <a:pt x="512" y="17"/>
                    </a:lnTo>
                    <a:lnTo>
                      <a:pt x="514" y="18"/>
                    </a:lnTo>
                    <a:lnTo>
                      <a:pt x="517" y="18"/>
                    </a:lnTo>
                    <a:lnTo>
                      <a:pt x="518" y="20"/>
                    </a:lnTo>
                    <a:lnTo>
                      <a:pt x="521" y="20"/>
                    </a:lnTo>
                    <a:lnTo>
                      <a:pt x="524" y="21"/>
                    </a:lnTo>
                    <a:lnTo>
                      <a:pt x="524" y="21"/>
                    </a:lnTo>
                    <a:lnTo>
                      <a:pt x="527" y="21"/>
                    </a:lnTo>
                    <a:lnTo>
                      <a:pt x="529" y="23"/>
                    </a:lnTo>
                    <a:lnTo>
                      <a:pt x="532" y="23"/>
                    </a:lnTo>
                    <a:lnTo>
                      <a:pt x="533" y="24"/>
                    </a:lnTo>
                    <a:lnTo>
                      <a:pt x="536" y="24"/>
                    </a:lnTo>
                    <a:lnTo>
                      <a:pt x="538" y="26"/>
                    </a:lnTo>
                    <a:lnTo>
                      <a:pt x="540" y="26"/>
                    </a:lnTo>
                    <a:lnTo>
                      <a:pt x="543" y="26"/>
                    </a:lnTo>
                    <a:lnTo>
                      <a:pt x="544" y="27"/>
                    </a:lnTo>
                    <a:lnTo>
                      <a:pt x="546" y="27"/>
                    </a:lnTo>
                    <a:lnTo>
                      <a:pt x="547" y="27"/>
                    </a:lnTo>
                    <a:lnTo>
                      <a:pt x="549" y="29"/>
                    </a:lnTo>
                    <a:lnTo>
                      <a:pt x="550" y="29"/>
                    </a:lnTo>
                    <a:lnTo>
                      <a:pt x="552" y="29"/>
                    </a:lnTo>
                    <a:lnTo>
                      <a:pt x="552" y="30"/>
                    </a:lnTo>
                    <a:lnTo>
                      <a:pt x="553" y="30"/>
                    </a:lnTo>
                    <a:lnTo>
                      <a:pt x="555" y="32"/>
                    </a:lnTo>
                    <a:lnTo>
                      <a:pt x="556" y="32"/>
                    </a:lnTo>
                    <a:lnTo>
                      <a:pt x="558" y="32"/>
                    </a:lnTo>
                    <a:lnTo>
                      <a:pt x="559" y="34"/>
                    </a:lnTo>
                    <a:lnTo>
                      <a:pt x="561" y="34"/>
                    </a:lnTo>
                    <a:lnTo>
                      <a:pt x="562" y="35"/>
                    </a:lnTo>
                    <a:lnTo>
                      <a:pt x="564" y="35"/>
                    </a:lnTo>
                    <a:lnTo>
                      <a:pt x="566" y="35"/>
                    </a:lnTo>
                    <a:lnTo>
                      <a:pt x="567" y="37"/>
                    </a:lnTo>
                    <a:lnTo>
                      <a:pt x="569" y="38"/>
                    </a:lnTo>
                    <a:lnTo>
                      <a:pt x="570" y="38"/>
                    </a:lnTo>
                    <a:lnTo>
                      <a:pt x="572" y="40"/>
                    </a:lnTo>
                    <a:lnTo>
                      <a:pt x="575" y="40"/>
                    </a:lnTo>
                    <a:lnTo>
                      <a:pt x="576" y="41"/>
                    </a:lnTo>
                    <a:lnTo>
                      <a:pt x="579" y="43"/>
                    </a:lnTo>
                    <a:lnTo>
                      <a:pt x="581" y="44"/>
                    </a:lnTo>
                    <a:lnTo>
                      <a:pt x="581" y="44"/>
                    </a:lnTo>
                    <a:lnTo>
                      <a:pt x="584" y="44"/>
                    </a:lnTo>
                    <a:lnTo>
                      <a:pt x="585" y="46"/>
                    </a:lnTo>
                    <a:lnTo>
                      <a:pt x="588" y="47"/>
                    </a:lnTo>
                    <a:lnTo>
                      <a:pt x="590" y="49"/>
                    </a:lnTo>
                    <a:lnTo>
                      <a:pt x="592" y="49"/>
                    </a:lnTo>
                    <a:lnTo>
                      <a:pt x="593" y="50"/>
                    </a:lnTo>
                    <a:lnTo>
                      <a:pt x="595" y="50"/>
                    </a:lnTo>
                    <a:lnTo>
                      <a:pt x="598" y="52"/>
                    </a:lnTo>
                    <a:lnTo>
                      <a:pt x="598" y="52"/>
                    </a:lnTo>
                    <a:lnTo>
                      <a:pt x="599" y="53"/>
                    </a:lnTo>
                    <a:lnTo>
                      <a:pt x="601" y="53"/>
                    </a:lnTo>
                    <a:lnTo>
                      <a:pt x="602" y="55"/>
                    </a:lnTo>
                    <a:lnTo>
                      <a:pt x="604" y="55"/>
                    </a:lnTo>
                    <a:lnTo>
                      <a:pt x="605" y="56"/>
                    </a:lnTo>
                    <a:lnTo>
                      <a:pt x="607" y="56"/>
                    </a:lnTo>
                    <a:lnTo>
                      <a:pt x="607" y="56"/>
                    </a:lnTo>
                    <a:lnTo>
                      <a:pt x="608" y="58"/>
                    </a:lnTo>
                    <a:lnTo>
                      <a:pt x="610" y="58"/>
                    </a:lnTo>
                    <a:lnTo>
                      <a:pt x="611" y="60"/>
                    </a:lnTo>
                    <a:lnTo>
                      <a:pt x="613" y="60"/>
                    </a:lnTo>
                    <a:lnTo>
                      <a:pt x="613" y="61"/>
                    </a:lnTo>
                    <a:lnTo>
                      <a:pt x="614" y="61"/>
                    </a:lnTo>
                    <a:lnTo>
                      <a:pt x="616" y="61"/>
                    </a:lnTo>
                    <a:lnTo>
                      <a:pt x="618" y="63"/>
                    </a:lnTo>
                    <a:lnTo>
                      <a:pt x="619" y="63"/>
                    </a:lnTo>
                    <a:lnTo>
                      <a:pt x="621" y="64"/>
                    </a:lnTo>
                    <a:lnTo>
                      <a:pt x="622" y="66"/>
                    </a:lnTo>
                    <a:lnTo>
                      <a:pt x="624" y="66"/>
                    </a:lnTo>
                    <a:lnTo>
                      <a:pt x="625" y="67"/>
                    </a:lnTo>
                    <a:lnTo>
                      <a:pt x="628" y="69"/>
                    </a:lnTo>
                    <a:lnTo>
                      <a:pt x="630" y="69"/>
                    </a:lnTo>
                    <a:lnTo>
                      <a:pt x="631" y="70"/>
                    </a:lnTo>
                    <a:lnTo>
                      <a:pt x="631" y="70"/>
                    </a:lnTo>
                    <a:lnTo>
                      <a:pt x="634" y="72"/>
                    </a:lnTo>
                    <a:lnTo>
                      <a:pt x="636" y="73"/>
                    </a:lnTo>
                    <a:lnTo>
                      <a:pt x="637" y="73"/>
                    </a:lnTo>
                    <a:lnTo>
                      <a:pt x="639" y="75"/>
                    </a:lnTo>
                    <a:lnTo>
                      <a:pt x="642" y="76"/>
                    </a:lnTo>
                    <a:lnTo>
                      <a:pt x="643" y="76"/>
                    </a:lnTo>
                    <a:lnTo>
                      <a:pt x="645" y="78"/>
                    </a:lnTo>
                    <a:lnTo>
                      <a:pt x="647" y="78"/>
                    </a:lnTo>
                    <a:lnTo>
                      <a:pt x="647" y="79"/>
                    </a:lnTo>
                    <a:lnTo>
                      <a:pt x="648" y="79"/>
                    </a:lnTo>
                    <a:lnTo>
                      <a:pt x="650" y="81"/>
                    </a:lnTo>
                    <a:lnTo>
                      <a:pt x="651" y="81"/>
                    </a:lnTo>
                    <a:lnTo>
                      <a:pt x="651" y="82"/>
                    </a:lnTo>
                    <a:lnTo>
                      <a:pt x="653" y="82"/>
                    </a:lnTo>
                    <a:lnTo>
                      <a:pt x="654" y="82"/>
                    </a:lnTo>
                    <a:lnTo>
                      <a:pt x="656" y="84"/>
                    </a:lnTo>
                    <a:lnTo>
                      <a:pt x="656" y="84"/>
                    </a:lnTo>
                    <a:lnTo>
                      <a:pt x="657" y="86"/>
                    </a:lnTo>
                    <a:lnTo>
                      <a:pt x="657" y="86"/>
                    </a:lnTo>
                    <a:lnTo>
                      <a:pt x="659" y="86"/>
                    </a:lnTo>
                    <a:lnTo>
                      <a:pt x="660" y="87"/>
                    </a:lnTo>
                    <a:lnTo>
                      <a:pt x="662" y="87"/>
                    </a:lnTo>
                    <a:lnTo>
                      <a:pt x="662" y="89"/>
                    </a:lnTo>
                    <a:lnTo>
                      <a:pt x="663" y="89"/>
                    </a:lnTo>
                    <a:lnTo>
                      <a:pt x="665" y="90"/>
                    </a:lnTo>
                    <a:lnTo>
                      <a:pt x="666" y="90"/>
                    </a:lnTo>
                    <a:lnTo>
                      <a:pt x="666" y="92"/>
                    </a:lnTo>
                    <a:lnTo>
                      <a:pt x="668" y="92"/>
                    </a:lnTo>
                    <a:lnTo>
                      <a:pt x="669" y="93"/>
                    </a:lnTo>
                    <a:lnTo>
                      <a:pt x="671" y="95"/>
                    </a:lnTo>
                    <a:lnTo>
                      <a:pt x="673" y="95"/>
                    </a:lnTo>
                    <a:lnTo>
                      <a:pt x="674" y="96"/>
                    </a:lnTo>
                    <a:lnTo>
                      <a:pt x="674" y="96"/>
                    </a:lnTo>
                    <a:lnTo>
                      <a:pt x="677" y="98"/>
                    </a:lnTo>
                    <a:lnTo>
                      <a:pt x="679" y="98"/>
                    </a:lnTo>
                    <a:lnTo>
                      <a:pt x="680" y="99"/>
                    </a:lnTo>
                    <a:lnTo>
                      <a:pt x="682" y="101"/>
                    </a:lnTo>
                    <a:lnTo>
                      <a:pt x="682" y="101"/>
                    </a:lnTo>
                    <a:lnTo>
                      <a:pt x="683" y="102"/>
                    </a:lnTo>
                    <a:lnTo>
                      <a:pt x="685" y="102"/>
                    </a:lnTo>
                    <a:lnTo>
                      <a:pt x="686" y="104"/>
                    </a:lnTo>
                    <a:lnTo>
                      <a:pt x="686" y="104"/>
                    </a:lnTo>
                    <a:lnTo>
                      <a:pt x="688" y="105"/>
                    </a:lnTo>
                    <a:lnTo>
                      <a:pt x="689" y="105"/>
                    </a:lnTo>
                    <a:lnTo>
                      <a:pt x="689" y="105"/>
                    </a:lnTo>
                    <a:lnTo>
                      <a:pt x="691" y="107"/>
                    </a:lnTo>
                    <a:lnTo>
                      <a:pt x="691" y="107"/>
                    </a:lnTo>
                    <a:lnTo>
                      <a:pt x="692" y="108"/>
                    </a:lnTo>
                    <a:lnTo>
                      <a:pt x="692" y="108"/>
                    </a:lnTo>
                    <a:lnTo>
                      <a:pt x="694" y="108"/>
                    </a:lnTo>
                    <a:lnTo>
                      <a:pt x="694" y="110"/>
                    </a:lnTo>
                    <a:lnTo>
                      <a:pt x="695" y="110"/>
                    </a:lnTo>
                    <a:lnTo>
                      <a:pt x="695" y="110"/>
                    </a:lnTo>
                    <a:lnTo>
                      <a:pt x="697" y="112"/>
                    </a:lnTo>
                    <a:lnTo>
                      <a:pt x="697" y="112"/>
                    </a:lnTo>
                    <a:lnTo>
                      <a:pt x="699" y="112"/>
                    </a:lnTo>
                    <a:lnTo>
                      <a:pt x="699" y="113"/>
                    </a:lnTo>
                    <a:lnTo>
                      <a:pt x="700" y="113"/>
                    </a:lnTo>
                    <a:lnTo>
                      <a:pt x="702" y="115"/>
                    </a:lnTo>
                    <a:lnTo>
                      <a:pt x="702" y="115"/>
                    </a:lnTo>
                    <a:lnTo>
                      <a:pt x="703" y="116"/>
                    </a:lnTo>
                    <a:lnTo>
                      <a:pt x="703" y="116"/>
                    </a:lnTo>
                    <a:lnTo>
                      <a:pt x="705" y="118"/>
                    </a:lnTo>
                    <a:lnTo>
                      <a:pt x="706" y="118"/>
                    </a:lnTo>
                    <a:lnTo>
                      <a:pt x="708" y="119"/>
                    </a:lnTo>
                    <a:lnTo>
                      <a:pt x="708" y="119"/>
                    </a:lnTo>
                    <a:lnTo>
                      <a:pt x="708" y="121"/>
                    </a:lnTo>
                    <a:lnTo>
                      <a:pt x="709" y="121"/>
                    </a:lnTo>
                    <a:lnTo>
                      <a:pt x="711" y="122"/>
                    </a:lnTo>
                    <a:lnTo>
                      <a:pt x="712" y="122"/>
                    </a:lnTo>
                    <a:lnTo>
                      <a:pt x="712" y="124"/>
                    </a:lnTo>
                    <a:lnTo>
                      <a:pt x="714" y="124"/>
                    </a:lnTo>
                    <a:lnTo>
                      <a:pt x="714" y="125"/>
                    </a:lnTo>
                    <a:lnTo>
                      <a:pt x="715" y="125"/>
                    </a:lnTo>
                    <a:lnTo>
                      <a:pt x="715" y="125"/>
                    </a:lnTo>
                    <a:lnTo>
                      <a:pt x="717" y="127"/>
                    </a:lnTo>
                    <a:lnTo>
                      <a:pt x="717" y="127"/>
                    </a:lnTo>
                    <a:lnTo>
                      <a:pt x="718" y="128"/>
                    </a:lnTo>
                    <a:lnTo>
                      <a:pt x="718" y="128"/>
                    </a:lnTo>
                    <a:lnTo>
                      <a:pt x="720" y="128"/>
                    </a:lnTo>
                    <a:lnTo>
                      <a:pt x="720" y="130"/>
                    </a:lnTo>
                    <a:lnTo>
                      <a:pt x="721" y="130"/>
                    </a:lnTo>
                    <a:lnTo>
                      <a:pt x="721" y="130"/>
                    </a:lnTo>
                    <a:lnTo>
                      <a:pt x="723" y="131"/>
                    </a:lnTo>
                    <a:lnTo>
                      <a:pt x="723" y="131"/>
                    </a:lnTo>
                    <a:lnTo>
                      <a:pt x="723" y="131"/>
                    </a:lnTo>
                    <a:lnTo>
                      <a:pt x="725" y="133"/>
                    </a:lnTo>
                    <a:lnTo>
                      <a:pt x="725" y="133"/>
                    </a:lnTo>
                    <a:lnTo>
                      <a:pt x="726" y="133"/>
                    </a:lnTo>
                    <a:lnTo>
                      <a:pt x="728" y="134"/>
                    </a:lnTo>
                    <a:lnTo>
                      <a:pt x="728" y="134"/>
                    </a:lnTo>
                    <a:lnTo>
                      <a:pt x="729" y="136"/>
                    </a:lnTo>
                    <a:lnTo>
                      <a:pt x="729" y="136"/>
                    </a:lnTo>
                    <a:lnTo>
                      <a:pt x="731" y="138"/>
                    </a:lnTo>
                    <a:lnTo>
                      <a:pt x="732" y="138"/>
                    </a:lnTo>
                    <a:lnTo>
                      <a:pt x="734" y="139"/>
                    </a:lnTo>
                    <a:lnTo>
                      <a:pt x="735" y="139"/>
                    </a:lnTo>
                    <a:lnTo>
                      <a:pt x="735" y="141"/>
                    </a:lnTo>
                    <a:lnTo>
                      <a:pt x="735" y="141"/>
                    </a:lnTo>
                    <a:lnTo>
                      <a:pt x="737" y="141"/>
                    </a:lnTo>
                    <a:lnTo>
                      <a:pt x="738" y="142"/>
                    </a:lnTo>
                    <a:lnTo>
                      <a:pt x="740" y="144"/>
                    </a:lnTo>
                    <a:lnTo>
                      <a:pt x="741" y="144"/>
                    </a:lnTo>
                    <a:lnTo>
                      <a:pt x="743" y="145"/>
                    </a:lnTo>
                    <a:lnTo>
                      <a:pt x="743" y="145"/>
                    </a:lnTo>
                    <a:lnTo>
                      <a:pt x="744" y="147"/>
                    </a:lnTo>
                    <a:lnTo>
                      <a:pt x="744" y="147"/>
                    </a:lnTo>
                    <a:lnTo>
                      <a:pt x="746" y="147"/>
                    </a:lnTo>
                    <a:lnTo>
                      <a:pt x="747" y="148"/>
                    </a:lnTo>
                    <a:lnTo>
                      <a:pt x="747" y="148"/>
                    </a:lnTo>
                    <a:lnTo>
                      <a:pt x="749" y="150"/>
                    </a:lnTo>
                    <a:lnTo>
                      <a:pt x="749" y="150"/>
                    </a:lnTo>
                    <a:lnTo>
                      <a:pt x="751" y="150"/>
                    </a:lnTo>
                    <a:lnTo>
                      <a:pt x="751" y="151"/>
                    </a:lnTo>
                    <a:lnTo>
                      <a:pt x="752" y="151"/>
                    </a:lnTo>
                    <a:lnTo>
                      <a:pt x="752" y="153"/>
                    </a:lnTo>
                    <a:lnTo>
                      <a:pt x="754" y="153"/>
                    </a:lnTo>
                    <a:lnTo>
                      <a:pt x="754" y="154"/>
                    </a:lnTo>
                    <a:lnTo>
                      <a:pt x="755" y="154"/>
                    </a:lnTo>
                    <a:lnTo>
                      <a:pt x="755" y="156"/>
                    </a:lnTo>
                    <a:lnTo>
                      <a:pt x="757" y="156"/>
                    </a:lnTo>
                    <a:lnTo>
                      <a:pt x="757" y="157"/>
                    </a:lnTo>
                    <a:lnTo>
                      <a:pt x="758" y="157"/>
                    </a:lnTo>
                    <a:lnTo>
                      <a:pt x="758" y="159"/>
                    </a:lnTo>
                    <a:lnTo>
                      <a:pt x="760" y="160"/>
                    </a:lnTo>
                    <a:lnTo>
                      <a:pt x="761" y="160"/>
                    </a:lnTo>
                    <a:lnTo>
                      <a:pt x="763" y="162"/>
                    </a:lnTo>
                    <a:lnTo>
                      <a:pt x="763" y="164"/>
                    </a:lnTo>
                    <a:lnTo>
                      <a:pt x="764" y="165"/>
                    </a:lnTo>
                    <a:lnTo>
                      <a:pt x="766" y="167"/>
                    </a:lnTo>
                    <a:lnTo>
                      <a:pt x="767" y="168"/>
                    </a:lnTo>
                    <a:lnTo>
                      <a:pt x="767" y="168"/>
                    </a:lnTo>
                    <a:lnTo>
                      <a:pt x="769" y="170"/>
                    </a:lnTo>
                    <a:lnTo>
                      <a:pt x="770" y="171"/>
                    </a:lnTo>
                    <a:lnTo>
                      <a:pt x="772" y="173"/>
                    </a:lnTo>
                    <a:lnTo>
                      <a:pt x="773" y="174"/>
                    </a:lnTo>
                    <a:lnTo>
                      <a:pt x="773" y="174"/>
                    </a:lnTo>
                    <a:lnTo>
                      <a:pt x="775" y="176"/>
                    </a:lnTo>
                    <a:lnTo>
                      <a:pt x="776" y="177"/>
                    </a:lnTo>
                    <a:lnTo>
                      <a:pt x="776" y="179"/>
                    </a:lnTo>
                    <a:lnTo>
                      <a:pt x="778" y="179"/>
                    </a:lnTo>
                    <a:lnTo>
                      <a:pt x="780" y="180"/>
                    </a:lnTo>
                    <a:lnTo>
                      <a:pt x="780" y="180"/>
                    </a:lnTo>
                    <a:lnTo>
                      <a:pt x="781" y="182"/>
                    </a:lnTo>
                    <a:lnTo>
                      <a:pt x="781" y="183"/>
                    </a:lnTo>
                    <a:lnTo>
                      <a:pt x="783" y="183"/>
                    </a:lnTo>
                    <a:lnTo>
                      <a:pt x="783" y="185"/>
                    </a:lnTo>
                    <a:lnTo>
                      <a:pt x="784" y="186"/>
                    </a:lnTo>
                    <a:lnTo>
                      <a:pt x="784" y="186"/>
                    </a:lnTo>
                    <a:lnTo>
                      <a:pt x="786" y="188"/>
                    </a:lnTo>
                    <a:lnTo>
                      <a:pt x="787" y="188"/>
                    </a:lnTo>
                    <a:lnTo>
                      <a:pt x="787" y="189"/>
                    </a:lnTo>
                    <a:lnTo>
                      <a:pt x="789" y="191"/>
                    </a:lnTo>
                    <a:lnTo>
                      <a:pt x="789" y="193"/>
                    </a:lnTo>
                    <a:lnTo>
                      <a:pt x="790" y="193"/>
                    </a:lnTo>
                    <a:lnTo>
                      <a:pt x="792" y="194"/>
                    </a:lnTo>
                    <a:lnTo>
                      <a:pt x="792" y="196"/>
                    </a:lnTo>
                    <a:lnTo>
                      <a:pt x="793" y="197"/>
                    </a:lnTo>
                    <a:lnTo>
                      <a:pt x="795" y="199"/>
                    </a:lnTo>
                    <a:lnTo>
                      <a:pt x="796" y="200"/>
                    </a:lnTo>
                    <a:lnTo>
                      <a:pt x="798" y="202"/>
                    </a:lnTo>
                    <a:lnTo>
                      <a:pt x="799" y="203"/>
                    </a:lnTo>
                    <a:lnTo>
                      <a:pt x="801" y="206"/>
                    </a:lnTo>
                    <a:lnTo>
                      <a:pt x="802" y="208"/>
                    </a:lnTo>
                    <a:lnTo>
                      <a:pt x="802" y="208"/>
                    </a:lnTo>
                    <a:lnTo>
                      <a:pt x="804" y="209"/>
                    </a:lnTo>
                    <a:lnTo>
                      <a:pt x="806" y="212"/>
                    </a:lnTo>
                    <a:lnTo>
                      <a:pt x="807" y="214"/>
                    </a:lnTo>
                    <a:lnTo>
                      <a:pt x="809" y="215"/>
                    </a:lnTo>
                    <a:lnTo>
                      <a:pt x="810" y="217"/>
                    </a:lnTo>
                    <a:lnTo>
                      <a:pt x="812" y="219"/>
                    </a:lnTo>
                    <a:lnTo>
                      <a:pt x="813" y="220"/>
                    </a:lnTo>
                    <a:lnTo>
                      <a:pt x="815" y="222"/>
                    </a:lnTo>
                    <a:lnTo>
                      <a:pt x="815" y="223"/>
                    </a:lnTo>
                    <a:lnTo>
                      <a:pt x="816" y="225"/>
                    </a:lnTo>
                    <a:lnTo>
                      <a:pt x="818" y="226"/>
                    </a:lnTo>
                    <a:lnTo>
                      <a:pt x="818" y="226"/>
                    </a:lnTo>
                    <a:lnTo>
                      <a:pt x="819" y="228"/>
                    </a:lnTo>
                    <a:lnTo>
                      <a:pt x="819" y="229"/>
                    </a:lnTo>
                    <a:lnTo>
                      <a:pt x="821" y="231"/>
                    </a:lnTo>
                    <a:lnTo>
                      <a:pt x="822" y="231"/>
                    </a:lnTo>
                    <a:lnTo>
                      <a:pt x="822" y="232"/>
                    </a:lnTo>
                    <a:lnTo>
                      <a:pt x="824" y="234"/>
                    </a:lnTo>
                    <a:lnTo>
                      <a:pt x="824" y="235"/>
                    </a:lnTo>
                    <a:lnTo>
                      <a:pt x="825" y="237"/>
                    </a:lnTo>
                    <a:lnTo>
                      <a:pt x="827" y="237"/>
                    </a:lnTo>
                    <a:lnTo>
                      <a:pt x="827" y="238"/>
                    </a:lnTo>
                    <a:lnTo>
                      <a:pt x="828" y="240"/>
                    </a:lnTo>
                    <a:lnTo>
                      <a:pt x="830" y="241"/>
                    </a:lnTo>
                    <a:lnTo>
                      <a:pt x="830" y="243"/>
                    </a:lnTo>
                    <a:lnTo>
                      <a:pt x="832" y="245"/>
                    </a:lnTo>
                    <a:lnTo>
                      <a:pt x="833" y="248"/>
                    </a:lnTo>
                    <a:lnTo>
                      <a:pt x="835" y="249"/>
                    </a:lnTo>
                    <a:lnTo>
                      <a:pt x="836" y="251"/>
                    </a:lnTo>
                    <a:lnTo>
                      <a:pt x="838" y="254"/>
                    </a:lnTo>
                    <a:lnTo>
                      <a:pt x="839" y="255"/>
                    </a:lnTo>
                    <a:lnTo>
                      <a:pt x="841" y="258"/>
                    </a:lnTo>
                    <a:lnTo>
                      <a:pt x="841" y="258"/>
                    </a:lnTo>
                    <a:lnTo>
                      <a:pt x="842" y="260"/>
                    </a:lnTo>
                    <a:lnTo>
                      <a:pt x="844" y="263"/>
                    </a:lnTo>
                    <a:lnTo>
                      <a:pt x="845" y="264"/>
                    </a:lnTo>
                    <a:lnTo>
                      <a:pt x="847" y="266"/>
                    </a:lnTo>
                    <a:lnTo>
                      <a:pt x="848" y="269"/>
                    </a:lnTo>
                    <a:lnTo>
                      <a:pt x="850" y="271"/>
                    </a:lnTo>
                    <a:lnTo>
                      <a:pt x="851" y="272"/>
                    </a:lnTo>
                    <a:lnTo>
                      <a:pt x="853" y="274"/>
                    </a:lnTo>
                    <a:lnTo>
                      <a:pt x="853" y="275"/>
                    </a:lnTo>
                    <a:lnTo>
                      <a:pt x="854" y="277"/>
                    </a:lnTo>
                    <a:lnTo>
                      <a:pt x="856" y="278"/>
                    </a:lnTo>
                    <a:lnTo>
                      <a:pt x="856" y="280"/>
                    </a:lnTo>
                    <a:lnTo>
                      <a:pt x="858" y="281"/>
                    </a:lnTo>
                    <a:lnTo>
                      <a:pt x="859" y="281"/>
                    </a:lnTo>
                    <a:lnTo>
                      <a:pt x="859" y="283"/>
                    </a:lnTo>
                    <a:lnTo>
                      <a:pt x="861" y="284"/>
                    </a:lnTo>
                    <a:lnTo>
                      <a:pt x="861" y="286"/>
                    </a:lnTo>
                    <a:lnTo>
                      <a:pt x="862" y="287"/>
                    </a:lnTo>
                    <a:lnTo>
                      <a:pt x="864" y="289"/>
                    </a:lnTo>
                    <a:lnTo>
                      <a:pt x="864" y="290"/>
                    </a:lnTo>
                    <a:lnTo>
                      <a:pt x="865" y="290"/>
                    </a:lnTo>
                    <a:lnTo>
                      <a:pt x="867" y="292"/>
                    </a:lnTo>
                    <a:lnTo>
                      <a:pt x="867" y="293"/>
                    </a:lnTo>
                    <a:lnTo>
                      <a:pt x="868" y="295"/>
                    </a:lnTo>
                    <a:lnTo>
                      <a:pt x="870" y="298"/>
                    </a:lnTo>
                    <a:lnTo>
                      <a:pt x="871" y="300"/>
                    </a:lnTo>
                    <a:lnTo>
                      <a:pt x="873" y="301"/>
                    </a:lnTo>
                    <a:lnTo>
                      <a:pt x="874" y="303"/>
                    </a:lnTo>
                    <a:lnTo>
                      <a:pt x="876" y="306"/>
                    </a:lnTo>
                    <a:lnTo>
                      <a:pt x="877" y="307"/>
                    </a:lnTo>
                    <a:lnTo>
                      <a:pt x="879" y="310"/>
                    </a:lnTo>
                    <a:lnTo>
                      <a:pt x="880" y="312"/>
                    </a:lnTo>
                    <a:lnTo>
                      <a:pt x="880" y="312"/>
                    </a:lnTo>
                    <a:lnTo>
                      <a:pt x="882" y="315"/>
                    </a:lnTo>
                    <a:lnTo>
                      <a:pt x="884" y="316"/>
                    </a:lnTo>
                    <a:lnTo>
                      <a:pt x="885" y="319"/>
                    </a:lnTo>
                    <a:lnTo>
                      <a:pt x="887" y="321"/>
                    </a:lnTo>
                    <a:lnTo>
                      <a:pt x="888" y="324"/>
                    </a:lnTo>
                    <a:lnTo>
                      <a:pt x="890" y="326"/>
                    </a:lnTo>
                    <a:lnTo>
                      <a:pt x="891" y="327"/>
                    </a:lnTo>
                    <a:lnTo>
                      <a:pt x="893" y="329"/>
                    </a:lnTo>
                    <a:lnTo>
                      <a:pt x="893" y="330"/>
                    </a:lnTo>
                    <a:lnTo>
                      <a:pt x="894" y="332"/>
                    </a:lnTo>
                    <a:lnTo>
                      <a:pt x="896" y="333"/>
                    </a:lnTo>
                    <a:lnTo>
                      <a:pt x="896" y="335"/>
                    </a:lnTo>
                    <a:lnTo>
                      <a:pt x="897" y="336"/>
                    </a:lnTo>
                    <a:lnTo>
                      <a:pt x="897" y="336"/>
                    </a:lnTo>
                    <a:lnTo>
                      <a:pt x="899" y="338"/>
                    </a:lnTo>
                    <a:lnTo>
                      <a:pt x="899" y="339"/>
                    </a:lnTo>
                    <a:lnTo>
                      <a:pt x="900" y="341"/>
                    </a:lnTo>
                    <a:lnTo>
                      <a:pt x="900" y="342"/>
                    </a:lnTo>
                    <a:lnTo>
                      <a:pt x="902" y="342"/>
                    </a:lnTo>
                    <a:lnTo>
                      <a:pt x="902" y="344"/>
                    </a:lnTo>
                    <a:lnTo>
                      <a:pt x="903" y="345"/>
                    </a:lnTo>
                    <a:lnTo>
                      <a:pt x="903" y="347"/>
                    </a:lnTo>
                    <a:lnTo>
                      <a:pt x="905" y="348"/>
                    </a:lnTo>
                    <a:lnTo>
                      <a:pt x="905" y="348"/>
                    </a:lnTo>
                    <a:lnTo>
                      <a:pt x="906" y="350"/>
                    </a:lnTo>
                    <a:lnTo>
                      <a:pt x="908" y="352"/>
                    </a:lnTo>
                    <a:lnTo>
                      <a:pt x="908" y="353"/>
                    </a:lnTo>
                    <a:lnTo>
                      <a:pt x="909" y="355"/>
                    </a:lnTo>
                    <a:lnTo>
                      <a:pt x="909" y="358"/>
                    </a:lnTo>
                    <a:lnTo>
                      <a:pt x="911" y="359"/>
                    </a:lnTo>
                    <a:lnTo>
                      <a:pt x="913" y="361"/>
                    </a:lnTo>
                    <a:lnTo>
                      <a:pt x="914" y="362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77"/>
              <p:cNvSpPr>
                <a:spLocks/>
              </p:cNvSpPr>
              <p:nvPr/>
            </p:nvSpPr>
            <p:spPr bwMode="auto">
              <a:xfrm>
                <a:off x="3408" y="2770"/>
                <a:ext cx="457" cy="181"/>
              </a:xfrm>
              <a:custGeom>
                <a:avLst/>
                <a:gdLst>
                  <a:gd name="T0" fmla="*/ 179 w 914"/>
                  <a:gd name="T1" fmla="*/ 363 h 363"/>
                  <a:gd name="T2" fmla="*/ 306 w 914"/>
                  <a:gd name="T3" fmla="*/ 363 h 363"/>
                  <a:gd name="T4" fmla="*/ 371 w 914"/>
                  <a:gd name="T5" fmla="*/ 363 h 363"/>
                  <a:gd name="T6" fmla="*/ 399 w 914"/>
                  <a:gd name="T7" fmla="*/ 361 h 363"/>
                  <a:gd name="T8" fmla="*/ 414 w 914"/>
                  <a:gd name="T9" fmla="*/ 361 h 363"/>
                  <a:gd name="T10" fmla="*/ 428 w 914"/>
                  <a:gd name="T11" fmla="*/ 360 h 363"/>
                  <a:gd name="T12" fmla="*/ 439 w 914"/>
                  <a:gd name="T13" fmla="*/ 360 h 363"/>
                  <a:gd name="T14" fmla="*/ 448 w 914"/>
                  <a:gd name="T15" fmla="*/ 358 h 363"/>
                  <a:gd name="T16" fmla="*/ 460 w 914"/>
                  <a:gd name="T17" fmla="*/ 357 h 363"/>
                  <a:gd name="T18" fmla="*/ 474 w 914"/>
                  <a:gd name="T19" fmla="*/ 353 h 363"/>
                  <a:gd name="T20" fmla="*/ 486 w 914"/>
                  <a:gd name="T21" fmla="*/ 352 h 363"/>
                  <a:gd name="T22" fmla="*/ 495 w 914"/>
                  <a:gd name="T23" fmla="*/ 350 h 363"/>
                  <a:gd name="T24" fmla="*/ 506 w 914"/>
                  <a:gd name="T25" fmla="*/ 347 h 363"/>
                  <a:gd name="T26" fmla="*/ 521 w 914"/>
                  <a:gd name="T27" fmla="*/ 343 h 363"/>
                  <a:gd name="T28" fmla="*/ 536 w 914"/>
                  <a:gd name="T29" fmla="*/ 338 h 363"/>
                  <a:gd name="T30" fmla="*/ 549 w 914"/>
                  <a:gd name="T31" fmla="*/ 334 h 363"/>
                  <a:gd name="T32" fmla="*/ 558 w 914"/>
                  <a:gd name="T33" fmla="*/ 331 h 363"/>
                  <a:gd name="T34" fmla="*/ 569 w 914"/>
                  <a:gd name="T35" fmla="*/ 324 h 363"/>
                  <a:gd name="T36" fmla="*/ 581 w 914"/>
                  <a:gd name="T37" fmla="*/ 318 h 363"/>
                  <a:gd name="T38" fmla="*/ 595 w 914"/>
                  <a:gd name="T39" fmla="*/ 312 h 363"/>
                  <a:gd name="T40" fmla="*/ 605 w 914"/>
                  <a:gd name="T41" fmla="*/ 306 h 363"/>
                  <a:gd name="T42" fmla="*/ 613 w 914"/>
                  <a:gd name="T43" fmla="*/ 303 h 363"/>
                  <a:gd name="T44" fmla="*/ 624 w 914"/>
                  <a:gd name="T45" fmla="*/ 297 h 363"/>
                  <a:gd name="T46" fmla="*/ 636 w 914"/>
                  <a:gd name="T47" fmla="*/ 289 h 363"/>
                  <a:gd name="T48" fmla="*/ 647 w 914"/>
                  <a:gd name="T49" fmla="*/ 283 h 363"/>
                  <a:gd name="T50" fmla="*/ 656 w 914"/>
                  <a:gd name="T51" fmla="*/ 279 h 363"/>
                  <a:gd name="T52" fmla="*/ 662 w 914"/>
                  <a:gd name="T53" fmla="*/ 274 h 363"/>
                  <a:gd name="T54" fmla="*/ 671 w 914"/>
                  <a:gd name="T55" fmla="*/ 268 h 363"/>
                  <a:gd name="T56" fmla="*/ 682 w 914"/>
                  <a:gd name="T57" fmla="*/ 262 h 363"/>
                  <a:gd name="T58" fmla="*/ 689 w 914"/>
                  <a:gd name="T59" fmla="*/ 257 h 363"/>
                  <a:gd name="T60" fmla="*/ 694 w 914"/>
                  <a:gd name="T61" fmla="*/ 253 h 363"/>
                  <a:gd name="T62" fmla="*/ 700 w 914"/>
                  <a:gd name="T63" fmla="*/ 250 h 363"/>
                  <a:gd name="T64" fmla="*/ 708 w 914"/>
                  <a:gd name="T65" fmla="*/ 243 h 363"/>
                  <a:gd name="T66" fmla="*/ 714 w 914"/>
                  <a:gd name="T67" fmla="*/ 239 h 363"/>
                  <a:gd name="T68" fmla="*/ 718 w 914"/>
                  <a:gd name="T69" fmla="*/ 234 h 363"/>
                  <a:gd name="T70" fmla="*/ 723 w 914"/>
                  <a:gd name="T71" fmla="*/ 231 h 363"/>
                  <a:gd name="T72" fmla="*/ 729 w 914"/>
                  <a:gd name="T73" fmla="*/ 227 h 363"/>
                  <a:gd name="T74" fmla="*/ 737 w 914"/>
                  <a:gd name="T75" fmla="*/ 222 h 363"/>
                  <a:gd name="T76" fmla="*/ 744 w 914"/>
                  <a:gd name="T77" fmla="*/ 216 h 363"/>
                  <a:gd name="T78" fmla="*/ 751 w 914"/>
                  <a:gd name="T79" fmla="*/ 211 h 363"/>
                  <a:gd name="T80" fmla="*/ 757 w 914"/>
                  <a:gd name="T81" fmla="*/ 207 h 363"/>
                  <a:gd name="T82" fmla="*/ 763 w 914"/>
                  <a:gd name="T83" fmla="*/ 199 h 363"/>
                  <a:gd name="T84" fmla="*/ 772 w 914"/>
                  <a:gd name="T85" fmla="*/ 190 h 363"/>
                  <a:gd name="T86" fmla="*/ 780 w 914"/>
                  <a:gd name="T87" fmla="*/ 182 h 363"/>
                  <a:gd name="T88" fmla="*/ 784 w 914"/>
                  <a:gd name="T89" fmla="*/ 176 h 363"/>
                  <a:gd name="T90" fmla="*/ 792 w 914"/>
                  <a:gd name="T91" fmla="*/ 168 h 363"/>
                  <a:gd name="T92" fmla="*/ 801 w 914"/>
                  <a:gd name="T93" fmla="*/ 156 h 363"/>
                  <a:gd name="T94" fmla="*/ 810 w 914"/>
                  <a:gd name="T95" fmla="*/ 146 h 363"/>
                  <a:gd name="T96" fmla="*/ 818 w 914"/>
                  <a:gd name="T97" fmla="*/ 136 h 363"/>
                  <a:gd name="T98" fmla="*/ 824 w 914"/>
                  <a:gd name="T99" fmla="*/ 127 h 363"/>
                  <a:gd name="T100" fmla="*/ 832 w 914"/>
                  <a:gd name="T101" fmla="*/ 118 h 363"/>
                  <a:gd name="T102" fmla="*/ 841 w 914"/>
                  <a:gd name="T103" fmla="*/ 104 h 363"/>
                  <a:gd name="T104" fmla="*/ 851 w 914"/>
                  <a:gd name="T105" fmla="*/ 91 h 363"/>
                  <a:gd name="T106" fmla="*/ 859 w 914"/>
                  <a:gd name="T107" fmla="*/ 80 h 363"/>
                  <a:gd name="T108" fmla="*/ 865 w 914"/>
                  <a:gd name="T109" fmla="*/ 71 h 363"/>
                  <a:gd name="T110" fmla="*/ 874 w 914"/>
                  <a:gd name="T111" fmla="*/ 60 h 363"/>
                  <a:gd name="T112" fmla="*/ 884 w 914"/>
                  <a:gd name="T113" fmla="*/ 46 h 363"/>
                  <a:gd name="T114" fmla="*/ 893 w 914"/>
                  <a:gd name="T115" fmla="*/ 32 h 363"/>
                  <a:gd name="T116" fmla="*/ 899 w 914"/>
                  <a:gd name="T117" fmla="*/ 23 h 363"/>
                  <a:gd name="T118" fmla="*/ 905 w 914"/>
                  <a:gd name="T119" fmla="*/ 14 h 363"/>
                  <a:gd name="T120" fmla="*/ 911 w 914"/>
                  <a:gd name="T121" fmla="*/ 3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14" h="363">
                    <a:moveTo>
                      <a:pt x="0" y="363"/>
                    </a:moveTo>
                    <a:lnTo>
                      <a:pt x="35" y="363"/>
                    </a:lnTo>
                    <a:lnTo>
                      <a:pt x="67" y="363"/>
                    </a:lnTo>
                    <a:lnTo>
                      <a:pt x="98" y="363"/>
                    </a:lnTo>
                    <a:lnTo>
                      <a:pt x="127" y="363"/>
                    </a:lnTo>
                    <a:lnTo>
                      <a:pt x="154" y="363"/>
                    </a:lnTo>
                    <a:lnTo>
                      <a:pt x="179" y="363"/>
                    </a:lnTo>
                    <a:lnTo>
                      <a:pt x="202" y="363"/>
                    </a:lnTo>
                    <a:lnTo>
                      <a:pt x="223" y="363"/>
                    </a:lnTo>
                    <a:lnTo>
                      <a:pt x="243" y="363"/>
                    </a:lnTo>
                    <a:lnTo>
                      <a:pt x="260" y="363"/>
                    </a:lnTo>
                    <a:lnTo>
                      <a:pt x="277" y="363"/>
                    </a:lnTo>
                    <a:lnTo>
                      <a:pt x="292" y="363"/>
                    </a:lnTo>
                    <a:lnTo>
                      <a:pt x="306" y="363"/>
                    </a:lnTo>
                    <a:lnTo>
                      <a:pt x="318" y="363"/>
                    </a:lnTo>
                    <a:lnTo>
                      <a:pt x="330" y="363"/>
                    </a:lnTo>
                    <a:lnTo>
                      <a:pt x="339" y="363"/>
                    </a:lnTo>
                    <a:lnTo>
                      <a:pt x="348" y="363"/>
                    </a:lnTo>
                    <a:lnTo>
                      <a:pt x="358" y="363"/>
                    </a:lnTo>
                    <a:lnTo>
                      <a:pt x="364" y="363"/>
                    </a:lnTo>
                    <a:lnTo>
                      <a:pt x="371" y="363"/>
                    </a:lnTo>
                    <a:lnTo>
                      <a:pt x="376" y="363"/>
                    </a:lnTo>
                    <a:lnTo>
                      <a:pt x="382" y="363"/>
                    </a:lnTo>
                    <a:lnTo>
                      <a:pt x="387" y="363"/>
                    </a:lnTo>
                    <a:lnTo>
                      <a:pt x="390" y="363"/>
                    </a:lnTo>
                    <a:lnTo>
                      <a:pt x="393" y="361"/>
                    </a:lnTo>
                    <a:lnTo>
                      <a:pt x="396" y="361"/>
                    </a:lnTo>
                    <a:lnTo>
                      <a:pt x="399" y="361"/>
                    </a:lnTo>
                    <a:lnTo>
                      <a:pt x="402" y="361"/>
                    </a:lnTo>
                    <a:lnTo>
                      <a:pt x="405" y="361"/>
                    </a:lnTo>
                    <a:lnTo>
                      <a:pt x="407" y="361"/>
                    </a:lnTo>
                    <a:lnTo>
                      <a:pt x="410" y="361"/>
                    </a:lnTo>
                    <a:lnTo>
                      <a:pt x="411" y="361"/>
                    </a:lnTo>
                    <a:lnTo>
                      <a:pt x="411" y="361"/>
                    </a:lnTo>
                    <a:lnTo>
                      <a:pt x="414" y="361"/>
                    </a:lnTo>
                    <a:lnTo>
                      <a:pt x="417" y="361"/>
                    </a:lnTo>
                    <a:lnTo>
                      <a:pt x="419" y="361"/>
                    </a:lnTo>
                    <a:lnTo>
                      <a:pt x="422" y="360"/>
                    </a:lnTo>
                    <a:lnTo>
                      <a:pt x="423" y="360"/>
                    </a:lnTo>
                    <a:lnTo>
                      <a:pt x="425" y="360"/>
                    </a:lnTo>
                    <a:lnTo>
                      <a:pt x="426" y="360"/>
                    </a:lnTo>
                    <a:lnTo>
                      <a:pt x="428" y="360"/>
                    </a:lnTo>
                    <a:lnTo>
                      <a:pt x="429" y="360"/>
                    </a:lnTo>
                    <a:lnTo>
                      <a:pt x="431" y="360"/>
                    </a:lnTo>
                    <a:lnTo>
                      <a:pt x="433" y="360"/>
                    </a:lnTo>
                    <a:lnTo>
                      <a:pt x="434" y="360"/>
                    </a:lnTo>
                    <a:lnTo>
                      <a:pt x="436" y="360"/>
                    </a:lnTo>
                    <a:lnTo>
                      <a:pt x="437" y="360"/>
                    </a:lnTo>
                    <a:lnTo>
                      <a:pt x="439" y="360"/>
                    </a:lnTo>
                    <a:lnTo>
                      <a:pt x="440" y="358"/>
                    </a:lnTo>
                    <a:lnTo>
                      <a:pt x="440" y="358"/>
                    </a:lnTo>
                    <a:lnTo>
                      <a:pt x="442" y="358"/>
                    </a:lnTo>
                    <a:lnTo>
                      <a:pt x="443" y="358"/>
                    </a:lnTo>
                    <a:lnTo>
                      <a:pt x="445" y="358"/>
                    </a:lnTo>
                    <a:lnTo>
                      <a:pt x="446" y="358"/>
                    </a:lnTo>
                    <a:lnTo>
                      <a:pt x="448" y="358"/>
                    </a:lnTo>
                    <a:lnTo>
                      <a:pt x="449" y="358"/>
                    </a:lnTo>
                    <a:lnTo>
                      <a:pt x="451" y="358"/>
                    </a:lnTo>
                    <a:lnTo>
                      <a:pt x="452" y="357"/>
                    </a:lnTo>
                    <a:lnTo>
                      <a:pt x="454" y="357"/>
                    </a:lnTo>
                    <a:lnTo>
                      <a:pt x="455" y="357"/>
                    </a:lnTo>
                    <a:lnTo>
                      <a:pt x="457" y="357"/>
                    </a:lnTo>
                    <a:lnTo>
                      <a:pt x="460" y="357"/>
                    </a:lnTo>
                    <a:lnTo>
                      <a:pt x="462" y="355"/>
                    </a:lnTo>
                    <a:lnTo>
                      <a:pt x="465" y="355"/>
                    </a:lnTo>
                    <a:lnTo>
                      <a:pt x="466" y="355"/>
                    </a:lnTo>
                    <a:lnTo>
                      <a:pt x="466" y="355"/>
                    </a:lnTo>
                    <a:lnTo>
                      <a:pt x="469" y="355"/>
                    </a:lnTo>
                    <a:lnTo>
                      <a:pt x="471" y="355"/>
                    </a:lnTo>
                    <a:lnTo>
                      <a:pt x="474" y="353"/>
                    </a:lnTo>
                    <a:lnTo>
                      <a:pt x="475" y="353"/>
                    </a:lnTo>
                    <a:lnTo>
                      <a:pt x="477" y="353"/>
                    </a:lnTo>
                    <a:lnTo>
                      <a:pt x="478" y="353"/>
                    </a:lnTo>
                    <a:lnTo>
                      <a:pt x="481" y="353"/>
                    </a:lnTo>
                    <a:lnTo>
                      <a:pt x="483" y="353"/>
                    </a:lnTo>
                    <a:lnTo>
                      <a:pt x="485" y="352"/>
                    </a:lnTo>
                    <a:lnTo>
                      <a:pt x="486" y="352"/>
                    </a:lnTo>
                    <a:lnTo>
                      <a:pt x="488" y="352"/>
                    </a:lnTo>
                    <a:lnTo>
                      <a:pt x="488" y="352"/>
                    </a:lnTo>
                    <a:lnTo>
                      <a:pt x="489" y="352"/>
                    </a:lnTo>
                    <a:lnTo>
                      <a:pt x="491" y="352"/>
                    </a:lnTo>
                    <a:lnTo>
                      <a:pt x="492" y="350"/>
                    </a:lnTo>
                    <a:lnTo>
                      <a:pt x="494" y="350"/>
                    </a:lnTo>
                    <a:lnTo>
                      <a:pt x="495" y="350"/>
                    </a:lnTo>
                    <a:lnTo>
                      <a:pt x="497" y="350"/>
                    </a:lnTo>
                    <a:lnTo>
                      <a:pt x="498" y="349"/>
                    </a:lnTo>
                    <a:lnTo>
                      <a:pt x="500" y="349"/>
                    </a:lnTo>
                    <a:lnTo>
                      <a:pt x="501" y="349"/>
                    </a:lnTo>
                    <a:lnTo>
                      <a:pt x="503" y="349"/>
                    </a:lnTo>
                    <a:lnTo>
                      <a:pt x="504" y="347"/>
                    </a:lnTo>
                    <a:lnTo>
                      <a:pt x="506" y="347"/>
                    </a:lnTo>
                    <a:lnTo>
                      <a:pt x="507" y="347"/>
                    </a:lnTo>
                    <a:lnTo>
                      <a:pt x="509" y="346"/>
                    </a:lnTo>
                    <a:lnTo>
                      <a:pt x="512" y="346"/>
                    </a:lnTo>
                    <a:lnTo>
                      <a:pt x="514" y="344"/>
                    </a:lnTo>
                    <a:lnTo>
                      <a:pt x="517" y="344"/>
                    </a:lnTo>
                    <a:lnTo>
                      <a:pt x="518" y="344"/>
                    </a:lnTo>
                    <a:lnTo>
                      <a:pt x="521" y="343"/>
                    </a:lnTo>
                    <a:lnTo>
                      <a:pt x="524" y="341"/>
                    </a:lnTo>
                    <a:lnTo>
                      <a:pt x="524" y="341"/>
                    </a:lnTo>
                    <a:lnTo>
                      <a:pt x="527" y="341"/>
                    </a:lnTo>
                    <a:lnTo>
                      <a:pt x="529" y="340"/>
                    </a:lnTo>
                    <a:lnTo>
                      <a:pt x="532" y="340"/>
                    </a:lnTo>
                    <a:lnTo>
                      <a:pt x="533" y="338"/>
                    </a:lnTo>
                    <a:lnTo>
                      <a:pt x="536" y="338"/>
                    </a:lnTo>
                    <a:lnTo>
                      <a:pt x="538" y="337"/>
                    </a:lnTo>
                    <a:lnTo>
                      <a:pt x="540" y="337"/>
                    </a:lnTo>
                    <a:lnTo>
                      <a:pt x="543" y="337"/>
                    </a:lnTo>
                    <a:lnTo>
                      <a:pt x="544" y="335"/>
                    </a:lnTo>
                    <a:lnTo>
                      <a:pt x="546" y="335"/>
                    </a:lnTo>
                    <a:lnTo>
                      <a:pt x="547" y="334"/>
                    </a:lnTo>
                    <a:lnTo>
                      <a:pt x="549" y="334"/>
                    </a:lnTo>
                    <a:lnTo>
                      <a:pt x="550" y="334"/>
                    </a:lnTo>
                    <a:lnTo>
                      <a:pt x="552" y="332"/>
                    </a:lnTo>
                    <a:lnTo>
                      <a:pt x="552" y="332"/>
                    </a:lnTo>
                    <a:lnTo>
                      <a:pt x="553" y="332"/>
                    </a:lnTo>
                    <a:lnTo>
                      <a:pt x="555" y="331"/>
                    </a:lnTo>
                    <a:lnTo>
                      <a:pt x="556" y="331"/>
                    </a:lnTo>
                    <a:lnTo>
                      <a:pt x="558" y="331"/>
                    </a:lnTo>
                    <a:lnTo>
                      <a:pt x="559" y="329"/>
                    </a:lnTo>
                    <a:lnTo>
                      <a:pt x="561" y="329"/>
                    </a:lnTo>
                    <a:lnTo>
                      <a:pt x="562" y="327"/>
                    </a:lnTo>
                    <a:lnTo>
                      <a:pt x="564" y="327"/>
                    </a:lnTo>
                    <a:lnTo>
                      <a:pt x="566" y="327"/>
                    </a:lnTo>
                    <a:lnTo>
                      <a:pt x="567" y="326"/>
                    </a:lnTo>
                    <a:lnTo>
                      <a:pt x="569" y="324"/>
                    </a:lnTo>
                    <a:lnTo>
                      <a:pt x="570" y="324"/>
                    </a:lnTo>
                    <a:lnTo>
                      <a:pt x="572" y="323"/>
                    </a:lnTo>
                    <a:lnTo>
                      <a:pt x="575" y="323"/>
                    </a:lnTo>
                    <a:lnTo>
                      <a:pt x="576" y="321"/>
                    </a:lnTo>
                    <a:lnTo>
                      <a:pt x="579" y="320"/>
                    </a:lnTo>
                    <a:lnTo>
                      <a:pt x="581" y="318"/>
                    </a:lnTo>
                    <a:lnTo>
                      <a:pt x="581" y="318"/>
                    </a:lnTo>
                    <a:lnTo>
                      <a:pt x="584" y="318"/>
                    </a:lnTo>
                    <a:lnTo>
                      <a:pt x="585" y="317"/>
                    </a:lnTo>
                    <a:lnTo>
                      <a:pt x="588" y="315"/>
                    </a:lnTo>
                    <a:lnTo>
                      <a:pt x="590" y="315"/>
                    </a:lnTo>
                    <a:lnTo>
                      <a:pt x="592" y="314"/>
                    </a:lnTo>
                    <a:lnTo>
                      <a:pt x="593" y="312"/>
                    </a:lnTo>
                    <a:lnTo>
                      <a:pt x="595" y="312"/>
                    </a:lnTo>
                    <a:lnTo>
                      <a:pt x="598" y="311"/>
                    </a:lnTo>
                    <a:lnTo>
                      <a:pt x="598" y="311"/>
                    </a:lnTo>
                    <a:lnTo>
                      <a:pt x="599" y="309"/>
                    </a:lnTo>
                    <a:lnTo>
                      <a:pt x="601" y="309"/>
                    </a:lnTo>
                    <a:lnTo>
                      <a:pt x="602" y="308"/>
                    </a:lnTo>
                    <a:lnTo>
                      <a:pt x="604" y="308"/>
                    </a:lnTo>
                    <a:lnTo>
                      <a:pt x="605" y="306"/>
                    </a:lnTo>
                    <a:lnTo>
                      <a:pt x="607" y="306"/>
                    </a:lnTo>
                    <a:lnTo>
                      <a:pt x="607" y="306"/>
                    </a:lnTo>
                    <a:lnTo>
                      <a:pt x="608" y="305"/>
                    </a:lnTo>
                    <a:lnTo>
                      <a:pt x="610" y="305"/>
                    </a:lnTo>
                    <a:lnTo>
                      <a:pt x="611" y="303"/>
                    </a:lnTo>
                    <a:lnTo>
                      <a:pt x="613" y="303"/>
                    </a:lnTo>
                    <a:lnTo>
                      <a:pt x="613" y="303"/>
                    </a:lnTo>
                    <a:lnTo>
                      <a:pt x="614" y="302"/>
                    </a:lnTo>
                    <a:lnTo>
                      <a:pt x="616" y="302"/>
                    </a:lnTo>
                    <a:lnTo>
                      <a:pt x="618" y="300"/>
                    </a:lnTo>
                    <a:lnTo>
                      <a:pt x="619" y="300"/>
                    </a:lnTo>
                    <a:lnTo>
                      <a:pt x="621" y="298"/>
                    </a:lnTo>
                    <a:lnTo>
                      <a:pt x="622" y="297"/>
                    </a:lnTo>
                    <a:lnTo>
                      <a:pt x="624" y="297"/>
                    </a:lnTo>
                    <a:lnTo>
                      <a:pt x="625" y="295"/>
                    </a:lnTo>
                    <a:lnTo>
                      <a:pt x="628" y="294"/>
                    </a:lnTo>
                    <a:lnTo>
                      <a:pt x="630" y="294"/>
                    </a:lnTo>
                    <a:lnTo>
                      <a:pt x="631" y="292"/>
                    </a:lnTo>
                    <a:lnTo>
                      <a:pt x="631" y="292"/>
                    </a:lnTo>
                    <a:lnTo>
                      <a:pt x="634" y="291"/>
                    </a:lnTo>
                    <a:lnTo>
                      <a:pt x="636" y="289"/>
                    </a:lnTo>
                    <a:lnTo>
                      <a:pt x="637" y="289"/>
                    </a:lnTo>
                    <a:lnTo>
                      <a:pt x="639" y="288"/>
                    </a:lnTo>
                    <a:lnTo>
                      <a:pt x="642" y="286"/>
                    </a:lnTo>
                    <a:lnTo>
                      <a:pt x="643" y="286"/>
                    </a:lnTo>
                    <a:lnTo>
                      <a:pt x="645" y="285"/>
                    </a:lnTo>
                    <a:lnTo>
                      <a:pt x="647" y="285"/>
                    </a:lnTo>
                    <a:lnTo>
                      <a:pt x="647" y="283"/>
                    </a:lnTo>
                    <a:lnTo>
                      <a:pt x="648" y="283"/>
                    </a:lnTo>
                    <a:lnTo>
                      <a:pt x="650" y="282"/>
                    </a:lnTo>
                    <a:lnTo>
                      <a:pt x="651" y="282"/>
                    </a:lnTo>
                    <a:lnTo>
                      <a:pt x="651" y="280"/>
                    </a:lnTo>
                    <a:lnTo>
                      <a:pt x="653" y="280"/>
                    </a:lnTo>
                    <a:lnTo>
                      <a:pt x="654" y="280"/>
                    </a:lnTo>
                    <a:lnTo>
                      <a:pt x="656" y="279"/>
                    </a:lnTo>
                    <a:lnTo>
                      <a:pt x="656" y="279"/>
                    </a:lnTo>
                    <a:lnTo>
                      <a:pt x="657" y="277"/>
                    </a:lnTo>
                    <a:lnTo>
                      <a:pt x="657" y="277"/>
                    </a:lnTo>
                    <a:lnTo>
                      <a:pt x="659" y="277"/>
                    </a:lnTo>
                    <a:lnTo>
                      <a:pt x="660" y="276"/>
                    </a:lnTo>
                    <a:lnTo>
                      <a:pt x="662" y="276"/>
                    </a:lnTo>
                    <a:lnTo>
                      <a:pt x="662" y="274"/>
                    </a:lnTo>
                    <a:lnTo>
                      <a:pt x="663" y="274"/>
                    </a:lnTo>
                    <a:lnTo>
                      <a:pt x="665" y="272"/>
                    </a:lnTo>
                    <a:lnTo>
                      <a:pt x="666" y="272"/>
                    </a:lnTo>
                    <a:lnTo>
                      <a:pt x="666" y="271"/>
                    </a:lnTo>
                    <a:lnTo>
                      <a:pt x="668" y="271"/>
                    </a:lnTo>
                    <a:lnTo>
                      <a:pt x="669" y="269"/>
                    </a:lnTo>
                    <a:lnTo>
                      <a:pt x="671" y="268"/>
                    </a:lnTo>
                    <a:lnTo>
                      <a:pt x="673" y="268"/>
                    </a:lnTo>
                    <a:lnTo>
                      <a:pt x="674" y="266"/>
                    </a:lnTo>
                    <a:lnTo>
                      <a:pt x="674" y="266"/>
                    </a:lnTo>
                    <a:lnTo>
                      <a:pt x="677" y="265"/>
                    </a:lnTo>
                    <a:lnTo>
                      <a:pt x="679" y="265"/>
                    </a:lnTo>
                    <a:lnTo>
                      <a:pt x="680" y="263"/>
                    </a:lnTo>
                    <a:lnTo>
                      <a:pt x="682" y="262"/>
                    </a:lnTo>
                    <a:lnTo>
                      <a:pt x="682" y="262"/>
                    </a:lnTo>
                    <a:lnTo>
                      <a:pt x="683" y="260"/>
                    </a:lnTo>
                    <a:lnTo>
                      <a:pt x="685" y="260"/>
                    </a:lnTo>
                    <a:lnTo>
                      <a:pt x="686" y="259"/>
                    </a:lnTo>
                    <a:lnTo>
                      <a:pt x="686" y="259"/>
                    </a:lnTo>
                    <a:lnTo>
                      <a:pt x="688" y="257"/>
                    </a:lnTo>
                    <a:lnTo>
                      <a:pt x="689" y="257"/>
                    </a:lnTo>
                    <a:lnTo>
                      <a:pt x="689" y="256"/>
                    </a:lnTo>
                    <a:lnTo>
                      <a:pt x="691" y="256"/>
                    </a:lnTo>
                    <a:lnTo>
                      <a:pt x="691" y="256"/>
                    </a:lnTo>
                    <a:lnTo>
                      <a:pt x="692" y="254"/>
                    </a:lnTo>
                    <a:lnTo>
                      <a:pt x="692" y="254"/>
                    </a:lnTo>
                    <a:lnTo>
                      <a:pt x="694" y="254"/>
                    </a:lnTo>
                    <a:lnTo>
                      <a:pt x="694" y="253"/>
                    </a:lnTo>
                    <a:lnTo>
                      <a:pt x="695" y="253"/>
                    </a:lnTo>
                    <a:lnTo>
                      <a:pt x="695" y="253"/>
                    </a:lnTo>
                    <a:lnTo>
                      <a:pt x="697" y="251"/>
                    </a:lnTo>
                    <a:lnTo>
                      <a:pt x="697" y="251"/>
                    </a:lnTo>
                    <a:lnTo>
                      <a:pt x="699" y="250"/>
                    </a:lnTo>
                    <a:lnTo>
                      <a:pt x="699" y="250"/>
                    </a:lnTo>
                    <a:lnTo>
                      <a:pt x="700" y="250"/>
                    </a:lnTo>
                    <a:lnTo>
                      <a:pt x="702" y="248"/>
                    </a:lnTo>
                    <a:lnTo>
                      <a:pt x="702" y="248"/>
                    </a:lnTo>
                    <a:lnTo>
                      <a:pt x="703" y="246"/>
                    </a:lnTo>
                    <a:lnTo>
                      <a:pt x="703" y="246"/>
                    </a:lnTo>
                    <a:lnTo>
                      <a:pt x="705" y="245"/>
                    </a:lnTo>
                    <a:lnTo>
                      <a:pt x="706" y="245"/>
                    </a:lnTo>
                    <a:lnTo>
                      <a:pt x="708" y="243"/>
                    </a:lnTo>
                    <a:lnTo>
                      <a:pt x="708" y="243"/>
                    </a:lnTo>
                    <a:lnTo>
                      <a:pt x="708" y="242"/>
                    </a:lnTo>
                    <a:lnTo>
                      <a:pt x="709" y="242"/>
                    </a:lnTo>
                    <a:lnTo>
                      <a:pt x="711" y="240"/>
                    </a:lnTo>
                    <a:lnTo>
                      <a:pt x="712" y="240"/>
                    </a:lnTo>
                    <a:lnTo>
                      <a:pt x="712" y="239"/>
                    </a:lnTo>
                    <a:lnTo>
                      <a:pt x="714" y="239"/>
                    </a:lnTo>
                    <a:lnTo>
                      <a:pt x="714" y="237"/>
                    </a:lnTo>
                    <a:lnTo>
                      <a:pt x="715" y="237"/>
                    </a:lnTo>
                    <a:lnTo>
                      <a:pt x="715" y="236"/>
                    </a:lnTo>
                    <a:lnTo>
                      <a:pt x="717" y="236"/>
                    </a:lnTo>
                    <a:lnTo>
                      <a:pt x="717" y="236"/>
                    </a:lnTo>
                    <a:lnTo>
                      <a:pt x="718" y="234"/>
                    </a:lnTo>
                    <a:lnTo>
                      <a:pt x="718" y="234"/>
                    </a:lnTo>
                    <a:lnTo>
                      <a:pt x="720" y="234"/>
                    </a:lnTo>
                    <a:lnTo>
                      <a:pt x="720" y="233"/>
                    </a:lnTo>
                    <a:lnTo>
                      <a:pt x="721" y="233"/>
                    </a:lnTo>
                    <a:lnTo>
                      <a:pt x="721" y="233"/>
                    </a:lnTo>
                    <a:lnTo>
                      <a:pt x="723" y="231"/>
                    </a:lnTo>
                    <a:lnTo>
                      <a:pt x="723" y="231"/>
                    </a:lnTo>
                    <a:lnTo>
                      <a:pt x="723" y="231"/>
                    </a:lnTo>
                    <a:lnTo>
                      <a:pt x="725" y="230"/>
                    </a:lnTo>
                    <a:lnTo>
                      <a:pt x="725" y="230"/>
                    </a:lnTo>
                    <a:lnTo>
                      <a:pt x="726" y="230"/>
                    </a:lnTo>
                    <a:lnTo>
                      <a:pt x="728" y="228"/>
                    </a:lnTo>
                    <a:lnTo>
                      <a:pt x="728" y="228"/>
                    </a:lnTo>
                    <a:lnTo>
                      <a:pt x="729" y="227"/>
                    </a:lnTo>
                    <a:lnTo>
                      <a:pt x="729" y="227"/>
                    </a:lnTo>
                    <a:lnTo>
                      <a:pt x="731" y="225"/>
                    </a:lnTo>
                    <a:lnTo>
                      <a:pt x="732" y="225"/>
                    </a:lnTo>
                    <a:lnTo>
                      <a:pt x="734" y="224"/>
                    </a:lnTo>
                    <a:lnTo>
                      <a:pt x="735" y="224"/>
                    </a:lnTo>
                    <a:lnTo>
                      <a:pt x="735" y="222"/>
                    </a:lnTo>
                    <a:lnTo>
                      <a:pt x="735" y="222"/>
                    </a:lnTo>
                    <a:lnTo>
                      <a:pt x="737" y="222"/>
                    </a:lnTo>
                    <a:lnTo>
                      <a:pt x="738" y="220"/>
                    </a:lnTo>
                    <a:lnTo>
                      <a:pt x="740" y="219"/>
                    </a:lnTo>
                    <a:lnTo>
                      <a:pt x="741" y="219"/>
                    </a:lnTo>
                    <a:lnTo>
                      <a:pt x="743" y="217"/>
                    </a:lnTo>
                    <a:lnTo>
                      <a:pt x="743" y="217"/>
                    </a:lnTo>
                    <a:lnTo>
                      <a:pt x="744" y="217"/>
                    </a:lnTo>
                    <a:lnTo>
                      <a:pt x="744" y="216"/>
                    </a:lnTo>
                    <a:lnTo>
                      <a:pt x="746" y="216"/>
                    </a:lnTo>
                    <a:lnTo>
                      <a:pt x="747" y="214"/>
                    </a:lnTo>
                    <a:lnTo>
                      <a:pt x="747" y="214"/>
                    </a:lnTo>
                    <a:lnTo>
                      <a:pt x="749" y="213"/>
                    </a:lnTo>
                    <a:lnTo>
                      <a:pt x="749" y="213"/>
                    </a:lnTo>
                    <a:lnTo>
                      <a:pt x="751" y="213"/>
                    </a:lnTo>
                    <a:lnTo>
                      <a:pt x="751" y="211"/>
                    </a:lnTo>
                    <a:lnTo>
                      <a:pt x="752" y="211"/>
                    </a:lnTo>
                    <a:lnTo>
                      <a:pt x="752" y="210"/>
                    </a:lnTo>
                    <a:lnTo>
                      <a:pt x="754" y="210"/>
                    </a:lnTo>
                    <a:lnTo>
                      <a:pt x="754" y="210"/>
                    </a:lnTo>
                    <a:lnTo>
                      <a:pt x="755" y="208"/>
                    </a:lnTo>
                    <a:lnTo>
                      <a:pt x="755" y="207"/>
                    </a:lnTo>
                    <a:lnTo>
                      <a:pt x="757" y="207"/>
                    </a:lnTo>
                    <a:lnTo>
                      <a:pt x="757" y="205"/>
                    </a:lnTo>
                    <a:lnTo>
                      <a:pt x="758" y="205"/>
                    </a:lnTo>
                    <a:lnTo>
                      <a:pt x="758" y="204"/>
                    </a:lnTo>
                    <a:lnTo>
                      <a:pt x="760" y="202"/>
                    </a:lnTo>
                    <a:lnTo>
                      <a:pt x="761" y="202"/>
                    </a:lnTo>
                    <a:lnTo>
                      <a:pt x="763" y="201"/>
                    </a:lnTo>
                    <a:lnTo>
                      <a:pt x="763" y="199"/>
                    </a:lnTo>
                    <a:lnTo>
                      <a:pt x="764" y="198"/>
                    </a:lnTo>
                    <a:lnTo>
                      <a:pt x="766" y="196"/>
                    </a:lnTo>
                    <a:lnTo>
                      <a:pt x="767" y="194"/>
                    </a:lnTo>
                    <a:lnTo>
                      <a:pt x="767" y="194"/>
                    </a:lnTo>
                    <a:lnTo>
                      <a:pt x="769" y="193"/>
                    </a:lnTo>
                    <a:lnTo>
                      <a:pt x="770" y="191"/>
                    </a:lnTo>
                    <a:lnTo>
                      <a:pt x="772" y="190"/>
                    </a:lnTo>
                    <a:lnTo>
                      <a:pt x="773" y="188"/>
                    </a:lnTo>
                    <a:lnTo>
                      <a:pt x="773" y="188"/>
                    </a:lnTo>
                    <a:lnTo>
                      <a:pt x="775" y="187"/>
                    </a:lnTo>
                    <a:lnTo>
                      <a:pt x="776" y="185"/>
                    </a:lnTo>
                    <a:lnTo>
                      <a:pt x="776" y="184"/>
                    </a:lnTo>
                    <a:lnTo>
                      <a:pt x="778" y="184"/>
                    </a:lnTo>
                    <a:lnTo>
                      <a:pt x="780" y="182"/>
                    </a:lnTo>
                    <a:lnTo>
                      <a:pt x="780" y="181"/>
                    </a:lnTo>
                    <a:lnTo>
                      <a:pt x="781" y="181"/>
                    </a:lnTo>
                    <a:lnTo>
                      <a:pt x="781" y="179"/>
                    </a:lnTo>
                    <a:lnTo>
                      <a:pt x="783" y="179"/>
                    </a:lnTo>
                    <a:lnTo>
                      <a:pt x="783" y="178"/>
                    </a:lnTo>
                    <a:lnTo>
                      <a:pt x="784" y="176"/>
                    </a:lnTo>
                    <a:lnTo>
                      <a:pt x="784" y="176"/>
                    </a:lnTo>
                    <a:lnTo>
                      <a:pt x="786" y="175"/>
                    </a:lnTo>
                    <a:lnTo>
                      <a:pt x="787" y="173"/>
                    </a:lnTo>
                    <a:lnTo>
                      <a:pt x="787" y="173"/>
                    </a:lnTo>
                    <a:lnTo>
                      <a:pt x="789" y="172"/>
                    </a:lnTo>
                    <a:lnTo>
                      <a:pt x="789" y="170"/>
                    </a:lnTo>
                    <a:lnTo>
                      <a:pt x="790" y="170"/>
                    </a:lnTo>
                    <a:lnTo>
                      <a:pt x="792" y="168"/>
                    </a:lnTo>
                    <a:lnTo>
                      <a:pt x="792" y="167"/>
                    </a:lnTo>
                    <a:lnTo>
                      <a:pt x="793" y="165"/>
                    </a:lnTo>
                    <a:lnTo>
                      <a:pt x="795" y="164"/>
                    </a:lnTo>
                    <a:lnTo>
                      <a:pt x="796" y="162"/>
                    </a:lnTo>
                    <a:lnTo>
                      <a:pt x="798" y="161"/>
                    </a:lnTo>
                    <a:lnTo>
                      <a:pt x="799" y="158"/>
                    </a:lnTo>
                    <a:lnTo>
                      <a:pt x="801" y="156"/>
                    </a:lnTo>
                    <a:lnTo>
                      <a:pt x="802" y="155"/>
                    </a:lnTo>
                    <a:lnTo>
                      <a:pt x="802" y="155"/>
                    </a:lnTo>
                    <a:lnTo>
                      <a:pt x="804" y="152"/>
                    </a:lnTo>
                    <a:lnTo>
                      <a:pt x="806" y="150"/>
                    </a:lnTo>
                    <a:lnTo>
                      <a:pt x="807" y="149"/>
                    </a:lnTo>
                    <a:lnTo>
                      <a:pt x="809" y="147"/>
                    </a:lnTo>
                    <a:lnTo>
                      <a:pt x="810" y="146"/>
                    </a:lnTo>
                    <a:lnTo>
                      <a:pt x="812" y="144"/>
                    </a:lnTo>
                    <a:lnTo>
                      <a:pt x="813" y="143"/>
                    </a:lnTo>
                    <a:lnTo>
                      <a:pt x="815" y="141"/>
                    </a:lnTo>
                    <a:lnTo>
                      <a:pt x="815" y="139"/>
                    </a:lnTo>
                    <a:lnTo>
                      <a:pt x="816" y="138"/>
                    </a:lnTo>
                    <a:lnTo>
                      <a:pt x="818" y="136"/>
                    </a:lnTo>
                    <a:lnTo>
                      <a:pt x="818" y="136"/>
                    </a:lnTo>
                    <a:lnTo>
                      <a:pt x="819" y="135"/>
                    </a:lnTo>
                    <a:lnTo>
                      <a:pt x="819" y="133"/>
                    </a:lnTo>
                    <a:lnTo>
                      <a:pt x="821" y="132"/>
                    </a:lnTo>
                    <a:lnTo>
                      <a:pt x="822" y="132"/>
                    </a:lnTo>
                    <a:lnTo>
                      <a:pt x="822" y="130"/>
                    </a:lnTo>
                    <a:lnTo>
                      <a:pt x="824" y="129"/>
                    </a:lnTo>
                    <a:lnTo>
                      <a:pt x="824" y="127"/>
                    </a:lnTo>
                    <a:lnTo>
                      <a:pt x="825" y="126"/>
                    </a:lnTo>
                    <a:lnTo>
                      <a:pt x="827" y="126"/>
                    </a:lnTo>
                    <a:lnTo>
                      <a:pt x="827" y="124"/>
                    </a:lnTo>
                    <a:lnTo>
                      <a:pt x="828" y="123"/>
                    </a:lnTo>
                    <a:lnTo>
                      <a:pt x="830" y="121"/>
                    </a:lnTo>
                    <a:lnTo>
                      <a:pt x="830" y="120"/>
                    </a:lnTo>
                    <a:lnTo>
                      <a:pt x="832" y="118"/>
                    </a:lnTo>
                    <a:lnTo>
                      <a:pt x="833" y="115"/>
                    </a:lnTo>
                    <a:lnTo>
                      <a:pt x="835" y="113"/>
                    </a:lnTo>
                    <a:lnTo>
                      <a:pt x="836" y="112"/>
                    </a:lnTo>
                    <a:lnTo>
                      <a:pt x="838" y="110"/>
                    </a:lnTo>
                    <a:lnTo>
                      <a:pt x="839" y="107"/>
                    </a:lnTo>
                    <a:lnTo>
                      <a:pt x="841" y="104"/>
                    </a:lnTo>
                    <a:lnTo>
                      <a:pt x="841" y="104"/>
                    </a:lnTo>
                    <a:lnTo>
                      <a:pt x="842" y="103"/>
                    </a:lnTo>
                    <a:lnTo>
                      <a:pt x="844" y="100"/>
                    </a:lnTo>
                    <a:lnTo>
                      <a:pt x="845" y="98"/>
                    </a:lnTo>
                    <a:lnTo>
                      <a:pt x="847" y="97"/>
                    </a:lnTo>
                    <a:lnTo>
                      <a:pt x="848" y="94"/>
                    </a:lnTo>
                    <a:lnTo>
                      <a:pt x="850" y="92"/>
                    </a:lnTo>
                    <a:lnTo>
                      <a:pt x="851" y="91"/>
                    </a:lnTo>
                    <a:lnTo>
                      <a:pt x="853" y="89"/>
                    </a:lnTo>
                    <a:lnTo>
                      <a:pt x="853" y="87"/>
                    </a:lnTo>
                    <a:lnTo>
                      <a:pt x="854" y="86"/>
                    </a:lnTo>
                    <a:lnTo>
                      <a:pt x="856" y="84"/>
                    </a:lnTo>
                    <a:lnTo>
                      <a:pt x="856" y="83"/>
                    </a:lnTo>
                    <a:lnTo>
                      <a:pt x="858" y="81"/>
                    </a:lnTo>
                    <a:lnTo>
                      <a:pt x="859" y="80"/>
                    </a:lnTo>
                    <a:lnTo>
                      <a:pt x="859" y="80"/>
                    </a:lnTo>
                    <a:lnTo>
                      <a:pt x="861" y="78"/>
                    </a:lnTo>
                    <a:lnTo>
                      <a:pt x="861" y="77"/>
                    </a:lnTo>
                    <a:lnTo>
                      <a:pt x="862" y="75"/>
                    </a:lnTo>
                    <a:lnTo>
                      <a:pt x="864" y="74"/>
                    </a:lnTo>
                    <a:lnTo>
                      <a:pt x="864" y="72"/>
                    </a:lnTo>
                    <a:lnTo>
                      <a:pt x="865" y="71"/>
                    </a:lnTo>
                    <a:lnTo>
                      <a:pt x="867" y="71"/>
                    </a:lnTo>
                    <a:lnTo>
                      <a:pt x="867" y="69"/>
                    </a:lnTo>
                    <a:lnTo>
                      <a:pt x="868" y="68"/>
                    </a:lnTo>
                    <a:lnTo>
                      <a:pt x="870" y="65"/>
                    </a:lnTo>
                    <a:lnTo>
                      <a:pt x="871" y="63"/>
                    </a:lnTo>
                    <a:lnTo>
                      <a:pt x="873" y="61"/>
                    </a:lnTo>
                    <a:lnTo>
                      <a:pt x="874" y="60"/>
                    </a:lnTo>
                    <a:lnTo>
                      <a:pt x="876" y="57"/>
                    </a:lnTo>
                    <a:lnTo>
                      <a:pt x="877" y="55"/>
                    </a:lnTo>
                    <a:lnTo>
                      <a:pt x="879" y="52"/>
                    </a:lnTo>
                    <a:lnTo>
                      <a:pt x="880" y="51"/>
                    </a:lnTo>
                    <a:lnTo>
                      <a:pt x="880" y="51"/>
                    </a:lnTo>
                    <a:lnTo>
                      <a:pt x="882" y="48"/>
                    </a:lnTo>
                    <a:lnTo>
                      <a:pt x="884" y="46"/>
                    </a:lnTo>
                    <a:lnTo>
                      <a:pt x="885" y="43"/>
                    </a:lnTo>
                    <a:lnTo>
                      <a:pt x="887" y="42"/>
                    </a:lnTo>
                    <a:lnTo>
                      <a:pt x="888" y="40"/>
                    </a:lnTo>
                    <a:lnTo>
                      <a:pt x="890" y="37"/>
                    </a:lnTo>
                    <a:lnTo>
                      <a:pt x="891" y="35"/>
                    </a:lnTo>
                    <a:lnTo>
                      <a:pt x="893" y="34"/>
                    </a:lnTo>
                    <a:lnTo>
                      <a:pt x="893" y="32"/>
                    </a:lnTo>
                    <a:lnTo>
                      <a:pt x="894" y="31"/>
                    </a:lnTo>
                    <a:lnTo>
                      <a:pt x="896" y="29"/>
                    </a:lnTo>
                    <a:lnTo>
                      <a:pt x="896" y="28"/>
                    </a:lnTo>
                    <a:lnTo>
                      <a:pt x="897" y="26"/>
                    </a:lnTo>
                    <a:lnTo>
                      <a:pt x="897" y="26"/>
                    </a:lnTo>
                    <a:lnTo>
                      <a:pt x="899" y="25"/>
                    </a:lnTo>
                    <a:lnTo>
                      <a:pt x="899" y="23"/>
                    </a:lnTo>
                    <a:lnTo>
                      <a:pt x="900" y="22"/>
                    </a:lnTo>
                    <a:lnTo>
                      <a:pt x="900" y="20"/>
                    </a:lnTo>
                    <a:lnTo>
                      <a:pt x="902" y="20"/>
                    </a:lnTo>
                    <a:lnTo>
                      <a:pt x="902" y="19"/>
                    </a:lnTo>
                    <a:lnTo>
                      <a:pt x="903" y="17"/>
                    </a:lnTo>
                    <a:lnTo>
                      <a:pt x="903" y="16"/>
                    </a:lnTo>
                    <a:lnTo>
                      <a:pt x="905" y="14"/>
                    </a:lnTo>
                    <a:lnTo>
                      <a:pt x="905" y="14"/>
                    </a:lnTo>
                    <a:lnTo>
                      <a:pt x="906" y="13"/>
                    </a:lnTo>
                    <a:lnTo>
                      <a:pt x="908" y="11"/>
                    </a:lnTo>
                    <a:lnTo>
                      <a:pt x="908" y="9"/>
                    </a:lnTo>
                    <a:lnTo>
                      <a:pt x="909" y="8"/>
                    </a:lnTo>
                    <a:lnTo>
                      <a:pt x="909" y="5"/>
                    </a:lnTo>
                    <a:lnTo>
                      <a:pt x="911" y="3"/>
                    </a:lnTo>
                    <a:lnTo>
                      <a:pt x="913" y="2"/>
                    </a:lnTo>
                    <a:lnTo>
                      <a:pt x="914" y="0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78"/>
              <p:cNvSpPr>
                <a:spLocks/>
              </p:cNvSpPr>
              <p:nvPr/>
            </p:nvSpPr>
            <p:spPr bwMode="auto">
              <a:xfrm>
                <a:off x="3403" y="2587"/>
                <a:ext cx="55" cy="183"/>
              </a:xfrm>
              <a:custGeom>
                <a:avLst/>
                <a:gdLst>
                  <a:gd name="T0" fmla="*/ 6 w 108"/>
                  <a:gd name="T1" fmla="*/ 11 h 365"/>
                  <a:gd name="T2" fmla="*/ 12 w 108"/>
                  <a:gd name="T3" fmla="*/ 23 h 365"/>
                  <a:gd name="T4" fmla="*/ 18 w 108"/>
                  <a:gd name="T5" fmla="*/ 32 h 365"/>
                  <a:gd name="T6" fmla="*/ 21 w 108"/>
                  <a:gd name="T7" fmla="*/ 40 h 365"/>
                  <a:gd name="T8" fmla="*/ 24 w 108"/>
                  <a:gd name="T9" fmla="*/ 46 h 365"/>
                  <a:gd name="T10" fmla="*/ 27 w 108"/>
                  <a:gd name="T11" fmla="*/ 52 h 365"/>
                  <a:gd name="T12" fmla="*/ 30 w 108"/>
                  <a:gd name="T13" fmla="*/ 58 h 365"/>
                  <a:gd name="T14" fmla="*/ 33 w 108"/>
                  <a:gd name="T15" fmla="*/ 64 h 365"/>
                  <a:gd name="T16" fmla="*/ 36 w 108"/>
                  <a:gd name="T17" fmla="*/ 70 h 365"/>
                  <a:gd name="T18" fmla="*/ 38 w 108"/>
                  <a:gd name="T19" fmla="*/ 78 h 365"/>
                  <a:gd name="T20" fmla="*/ 41 w 108"/>
                  <a:gd name="T21" fmla="*/ 82 h 365"/>
                  <a:gd name="T22" fmla="*/ 43 w 108"/>
                  <a:gd name="T23" fmla="*/ 87 h 365"/>
                  <a:gd name="T24" fmla="*/ 44 w 108"/>
                  <a:gd name="T25" fmla="*/ 93 h 365"/>
                  <a:gd name="T26" fmla="*/ 47 w 108"/>
                  <a:gd name="T27" fmla="*/ 98 h 365"/>
                  <a:gd name="T28" fmla="*/ 49 w 108"/>
                  <a:gd name="T29" fmla="*/ 104 h 365"/>
                  <a:gd name="T30" fmla="*/ 52 w 108"/>
                  <a:gd name="T31" fmla="*/ 113 h 365"/>
                  <a:gd name="T32" fmla="*/ 55 w 108"/>
                  <a:gd name="T33" fmla="*/ 119 h 365"/>
                  <a:gd name="T34" fmla="*/ 58 w 108"/>
                  <a:gd name="T35" fmla="*/ 128 h 365"/>
                  <a:gd name="T36" fmla="*/ 61 w 108"/>
                  <a:gd name="T37" fmla="*/ 136 h 365"/>
                  <a:gd name="T38" fmla="*/ 62 w 108"/>
                  <a:gd name="T39" fmla="*/ 141 h 365"/>
                  <a:gd name="T40" fmla="*/ 65 w 108"/>
                  <a:gd name="T41" fmla="*/ 147 h 365"/>
                  <a:gd name="T42" fmla="*/ 67 w 108"/>
                  <a:gd name="T43" fmla="*/ 151 h 365"/>
                  <a:gd name="T44" fmla="*/ 69 w 108"/>
                  <a:gd name="T45" fmla="*/ 157 h 365"/>
                  <a:gd name="T46" fmla="*/ 72 w 108"/>
                  <a:gd name="T47" fmla="*/ 165 h 365"/>
                  <a:gd name="T48" fmla="*/ 73 w 108"/>
                  <a:gd name="T49" fmla="*/ 173 h 365"/>
                  <a:gd name="T50" fmla="*/ 76 w 108"/>
                  <a:gd name="T51" fmla="*/ 182 h 365"/>
                  <a:gd name="T52" fmla="*/ 78 w 108"/>
                  <a:gd name="T53" fmla="*/ 189 h 365"/>
                  <a:gd name="T54" fmla="*/ 81 w 108"/>
                  <a:gd name="T55" fmla="*/ 196 h 365"/>
                  <a:gd name="T56" fmla="*/ 82 w 108"/>
                  <a:gd name="T57" fmla="*/ 200 h 365"/>
                  <a:gd name="T58" fmla="*/ 84 w 108"/>
                  <a:gd name="T59" fmla="*/ 206 h 365"/>
                  <a:gd name="T60" fmla="*/ 85 w 108"/>
                  <a:gd name="T61" fmla="*/ 211 h 365"/>
                  <a:gd name="T62" fmla="*/ 87 w 108"/>
                  <a:gd name="T63" fmla="*/ 219 h 365"/>
                  <a:gd name="T64" fmla="*/ 90 w 108"/>
                  <a:gd name="T65" fmla="*/ 228 h 365"/>
                  <a:gd name="T66" fmla="*/ 93 w 108"/>
                  <a:gd name="T67" fmla="*/ 235 h 365"/>
                  <a:gd name="T68" fmla="*/ 94 w 108"/>
                  <a:gd name="T69" fmla="*/ 243 h 365"/>
                  <a:gd name="T70" fmla="*/ 96 w 108"/>
                  <a:gd name="T71" fmla="*/ 249 h 365"/>
                  <a:gd name="T72" fmla="*/ 98 w 108"/>
                  <a:gd name="T73" fmla="*/ 254 h 365"/>
                  <a:gd name="T74" fmla="*/ 99 w 108"/>
                  <a:gd name="T75" fmla="*/ 258 h 365"/>
                  <a:gd name="T76" fmla="*/ 99 w 108"/>
                  <a:gd name="T77" fmla="*/ 264 h 365"/>
                  <a:gd name="T78" fmla="*/ 101 w 108"/>
                  <a:gd name="T79" fmla="*/ 271 h 365"/>
                  <a:gd name="T80" fmla="*/ 101 w 108"/>
                  <a:gd name="T81" fmla="*/ 278 h 365"/>
                  <a:gd name="T82" fmla="*/ 101 w 108"/>
                  <a:gd name="T83" fmla="*/ 284 h 365"/>
                  <a:gd name="T84" fmla="*/ 102 w 108"/>
                  <a:gd name="T85" fmla="*/ 290 h 365"/>
                  <a:gd name="T86" fmla="*/ 102 w 108"/>
                  <a:gd name="T87" fmla="*/ 297 h 365"/>
                  <a:gd name="T88" fmla="*/ 102 w 108"/>
                  <a:gd name="T89" fmla="*/ 301 h 365"/>
                  <a:gd name="T90" fmla="*/ 104 w 108"/>
                  <a:gd name="T91" fmla="*/ 304 h 365"/>
                  <a:gd name="T92" fmla="*/ 104 w 108"/>
                  <a:gd name="T93" fmla="*/ 307 h 365"/>
                  <a:gd name="T94" fmla="*/ 104 w 108"/>
                  <a:gd name="T95" fmla="*/ 312 h 365"/>
                  <a:gd name="T96" fmla="*/ 105 w 108"/>
                  <a:gd name="T97" fmla="*/ 315 h 365"/>
                  <a:gd name="T98" fmla="*/ 105 w 108"/>
                  <a:gd name="T99" fmla="*/ 319 h 365"/>
                  <a:gd name="T100" fmla="*/ 107 w 108"/>
                  <a:gd name="T101" fmla="*/ 324 h 365"/>
                  <a:gd name="T102" fmla="*/ 107 w 108"/>
                  <a:gd name="T103" fmla="*/ 327 h 365"/>
                  <a:gd name="T104" fmla="*/ 108 w 108"/>
                  <a:gd name="T105" fmla="*/ 332 h 365"/>
                  <a:gd name="T106" fmla="*/ 108 w 108"/>
                  <a:gd name="T107" fmla="*/ 336 h 365"/>
                  <a:gd name="T108" fmla="*/ 108 w 108"/>
                  <a:gd name="T109" fmla="*/ 341 h 365"/>
                  <a:gd name="T110" fmla="*/ 107 w 108"/>
                  <a:gd name="T111" fmla="*/ 347 h 365"/>
                  <a:gd name="T112" fmla="*/ 107 w 108"/>
                  <a:gd name="T113" fmla="*/ 356 h 365"/>
                  <a:gd name="T114" fmla="*/ 0 w 108"/>
                  <a:gd name="T115" fmla="*/ 0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8" h="365">
                    <a:moveTo>
                      <a:pt x="0" y="0"/>
                    </a:moveTo>
                    <a:lnTo>
                      <a:pt x="1" y="3"/>
                    </a:lnTo>
                    <a:lnTo>
                      <a:pt x="4" y="8"/>
                    </a:lnTo>
                    <a:lnTo>
                      <a:pt x="6" y="11"/>
                    </a:lnTo>
                    <a:lnTo>
                      <a:pt x="7" y="14"/>
                    </a:lnTo>
                    <a:lnTo>
                      <a:pt x="9" y="17"/>
                    </a:lnTo>
                    <a:lnTo>
                      <a:pt x="10" y="20"/>
                    </a:lnTo>
                    <a:lnTo>
                      <a:pt x="12" y="23"/>
                    </a:lnTo>
                    <a:lnTo>
                      <a:pt x="13" y="26"/>
                    </a:lnTo>
                    <a:lnTo>
                      <a:pt x="15" y="27"/>
                    </a:lnTo>
                    <a:lnTo>
                      <a:pt x="17" y="30"/>
                    </a:lnTo>
                    <a:lnTo>
                      <a:pt x="18" y="32"/>
                    </a:lnTo>
                    <a:lnTo>
                      <a:pt x="18" y="34"/>
                    </a:lnTo>
                    <a:lnTo>
                      <a:pt x="20" y="37"/>
                    </a:lnTo>
                    <a:lnTo>
                      <a:pt x="21" y="38"/>
                    </a:lnTo>
                    <a:lnTo>
                      <a:pt x="21" y="40"/>
                    </a:lnTo>
                    <a:lnTo>
                      <a:pt x="23" y="41"/>
                    </a:lnTo>
                    <a:lnTo>
                      <a:pt x="23" y="43"/>
                    </a:lnTo>
                    <a:lnTo>
                      <a:pt x="24" y="44"/>
                    </a:lnTo>
                    <a:lnTo>
                      <a:pt x="24" y="46"/>
                    </a:lnTo>
                    <a:lnTo>
                      <a:pt x="26" y="47"/>
                    </a:lnTo>
                    <a:lnTo>
                      <a:pt x="26" y="49"/>
                    </a:lnTo>
                    <a:lnTo>
                      <a:pt x="27" y="50"/>
                    </a:lnTo>
                    <a:lnTo>
                      <a:pt x="27" y="52"/>
                    </a:lnTo>
                    <a:lnTo>
                      <a:pt x="29" y="53"/>
                    </a:lnTo>
                    <a:lnTo>
                      <a:pt x="29" y="53"/>
                    </a:lnTo>
                    <a:lnTo>
                      <a:pt x="29" y="55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2" y="61"/>
                    </a:lnTo>
                    <a:lnTo>
                      <a:pt x="32" y="63"/>
                    </a:lnTo>
                    <a:lnTo>
                      <a:pt x="33" y="64"/>
                    </a:lnTo>
                    <a:lnTo>
                      <a:pt x="33" y="67"/>
                    </a:lnTo>
                    <a:lnTo>
                      <a:pt x="33" y="67"/>
                    </a:lnTo>
                    <a:lnTo>
                      <a:pt x="35" y="69"/>
                    </a:lnTo>
                    <a:lnTo>
                      <a:pt x="36" y="70"/>
                    </a:lnTo>
                    <a:lnTo>
                      <a:pt x="36" y="72"/>
                    </a:lnTo>
                    <a:lnTo>
                      <a:pt x="38" y="75"/>
                    </a:lnTo>
                    <a:lnTo>
                      <a:pt x="38" y="76"/>
                    </a:lnTo>
                    <a:lnTo>
                      <a:pt x="38" y="78"/>
                    </a:lnTo>
                    <a:lnTo>
                      <a:pt x="39" y="79"/>
                    </a:lnTo>
                    <a:lnTo>
                      <a:pt x="39" y="81"/>
                    </a:lnTo>
                    <a:lnTo>
                      <a:pt x="41" y="81"/>
                    </a:lnTo>
                    <a:lnTo>
                      <a:pt x="41" y="82"/>
                    </a:lnTo>
                    <a:lnTo>
                      <a:pt x="41" y="84"/>
                    </a:lnTo>
                    <a:lnTo>
                      <a:pt x="43" y="86"/>
                    </a:lnTo>
                    <a:lnTo>
                      <a:pt x="43" y="87"/>
                    </a:lnTo>
                    <a:lnTo>
                      <a:pt x="43" y="87"/>
                    </a:lnTo>
                    <a:lnTo>
                      <a:pt x="43" y="89"/>
                    </a:lnTo>
                    <a:lnTo>
                      <a:pt x="44" y="90"/>
                    </a:lnTo>
                    <a:lnTo>
                      <a:pt x="44" y="92"/>
                    </a:lnTo>
                    <a:lnTo>
                      <a:pt x="44" y="93"/>
                    </a:lnTo>
                    <a:lnTo>
                      <a:pt x="46" y="93"/>
                    </a:lnTo>
                    <a:lnTo>
                      <a:pt x="46" y="95"/>
                    </a:lnTo>
                    <a:lnTo>
                      <a:pt x="46" y="96"/>
                    </a:lnTo>
                    <a:lnTo>
                      <a:pt x="47" y="98"/>
                    </a:lnTo>
                    <a:lnTo>
                      <a:pt x="47" y="99"/>
                    </a:lnTo>
                    <a:lnTo>
                      <a:pt x="47" y="101"/>
                    </a:lnTo>
                    <a:lnTo>
                      <a:pt x="49" y="102"/>
                    </a:lnTo>
                    <a:lnTo>
                      <a:pt x="49" y="104"/>
                    </a:lnTo>
                    <a:lnTo>
                      <a:pt x="50" y="107"/>
                    </a:lnTo>
                    <a:lnTo>
                      <a:pt x="50" y="108"/>
                    </a:lnTo>
                    <a:lnTo>
                      <a:pt x="52" y="110"/>
                    </a:lnTo>
                    <a:lnTo>
                      <a:pt x="52" y="113"/>
                    </a:lnTo>
                    <a:lnTo>
                      <a:pt x="53" y="115"/>
                    </a:lnTo>
                    <a:lnTo>
                      <a:pt x="53" y="118"/>
                    </a:lnTo>
                    <a:lnTo>
                      <a:pt x="53" y="118"/>
                    </a:lnTo>
                    <a:lnTo>
                      <a:pt x="55" y="119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8" y="127"/>
                    </a:lnTo>
                    <a:lnTo>
                      <a:pt x="58" y="128"/>
                    </a:lnTo>
                    <a:lnTo>
                      <a:pt x="59" y="130"/>
                    </a:lnTo>
                    <a:lnTo>
                      <a:pt x="59" y="131"/>
                    </a:lnTo>
                    <a:lnTo>
                      <a:pt x="61" y="134"/>
                    </a:lnTo>
                    <a:lnTo>
                      <a:pt x="61" y="136"/>
                    </a:lnTo>
                    <a:lnTo>
                      <a:pt x="61" y="138"/>
                    </a:lnTo>
                    <a:lnTo>
                      <a:pt x="62" y="138"/>
                    </a:lnTo>
                    <a:lnTo>
                      <a:pt x="62" y="139"/>
                    </a:lnTo>
                    <a:lnTo>
                      <a:pt x="62" y="141"/>
                    </a:lnTo>
                    <a:lnTo>
                      <a:pt x="64" y="142"/>
                    </a:lnTo>
                    <a:lnTo>
                      <a:pt x="64" y="144"/>
                    </a:lnTo>
                    <a:lnTo>
                      <a:pt x="64" y="145"/>
                    </a:lnTo>
                    <a:lnTo>
                      <a:pt x="65" y="147"/>
                    </a:lnTo>
                    <a:lnTo>
                      <a:pt x="65" y="148"/>
                    </a:lnTo>
                    <a:lnTo>
                      <a:pt x="65" y="148"/>
                    </a:lnTo>
                    <a:lnTo>
                      <a:pt x="65" y="150"/>
                    </a:lnTo>
                    <a:lnTo>
                      <a:pt x="67" y="151"/>
                    </a:lnTo>
                    <a:lnTo>
                      <a:pt x="67" y="153"/>
                    </a:lnTo>
                    <a:lnTo>
                      <a:pt x="67" y="154"/>
                    </a:lnTo>
                    <a:lnTo>
                      <a:pt x="69" y="156"/>
                    </a:lnTo>
                    <a:lnTo>
                      <a:pt x="69" y="157"/>
                    </a:lnTo>
                    <a:lnTo>
                      <a:pt x="69" y="159"/>
                    </a:lnTo>
                    <a:lnTo>
                      <a:pt x="70" y="162"/>
                    </a:lnTo>
                    <a:lnTo>
                      <a:pt x="70" y="164"/>
                    </a:lnTo>
                    <a:lnTo>
                      <a:pt x="72" y="165"/>
                    </a:lnTo>
                    <a:lnTo>
                      <a:pt x="72" y="168"/>
                    </a:lnTo>
                    <a:lnTo>
                      <a:pt x="73" y="170"/>
                    </a:lnTo>
                    <a:lnTo>
                      <a:pt x="73" y="173"/>
                    </a:lnTo>
                    <a:lnTo>
                      <a:pt x="73" y="173"/>
                    </a:lnTo>
                    <a:lnTo>
                      <a:pt x="75" y="176"/>
                    </a:lnTo>
                    <a:lnTo>
                      <a:pt x="75" y="177"/>
                    </a:lnTo>
                    <a:lnTo>
                      <a:pt x="76" y="180"/>
                    </a:lnTo>
                    <a:lnTo>
                      <a:pt x="76" y="182"/>
                    </a:lnTo>
                    <a:lnTo>
                      <a:pt x="76" y="183"/>
                    </a:lnTo>
                    <a:lnTo>
                      <a:pt x="78" y="186"/>
                    </a:lnTo>
                    <a:lnTo>
                      <a:pt x="78" y="188"/>
                    </a:lnTo>
                    <a:lnTo>
                      <a:pt x="78" y="189"/>
                    </a:lnTo>
                    <a:lnTo>
                      <a:pt x="79" y="191"/>
                    </a:lnTo>
                    <a:lnTo>
                      <a:pt x="79" y="193"/>
                    </a:lnTo>
                    <a:lnTo>
                      <a:pt x="79" y="194"/>
                    </a:lnTo>
                    <a:lnTo>
                      <a:pt x="81" y="196"/>
                    </a:lnTo>
                    <a:lnTo>
                      <a:pt x="81" y="196"/>
                    </a:lnTo>
                    <a:lnTo>
                      <a:pt x="81" y="197"/>
                    </a:lnTo>
                    <a:lnTo>
                      <a:pt x="81" y="199"/>
                    </a:lnTo>
                    <a:lnTo>
                      <a:pt x="82" y="200"/>
                    </a:lnTo>
                    <a:lnTo>
                      <a:pt x="82" y="202"/>
                    </a:lnTo>
                    <a:lnTo>
                      <a:pt x="82" y="203"/>
                    </a:lnTo>
                    <a:lnTo>
                      <a:pt x="82" y="205"/>
                    </a:lnTo>
                    <a:lnTo>
                      <a:pt x="84" y="206"/>
                    </a:lnTo>
                    <a:lnTo>
                      <a:pt x="84" y="206"/>
                    </a:lnTo>
                    <a:lnTo>
                      <a:pt x="84" y="208"/>
                    </a:lnTo>
                    <a:lnTo>
                      <a:pt x="85" y="209"/>
                    </a:lnTo>
                    <a:lnTo>
                      <a:pt x="85" y="211"/>
                    </a:lnTo>
                    <a:lnTo>
                      <a:pt x="85" y="214"/>
                    </a:lnTo>
                    <a:lnTo>
                      <a:pt x="87" y="215"/>
                    </a:lnTo>
                    <a:lnTo>
                      <a:pt x="87" y="217"/>
                    </a:lnTo>
                    <a:lnTo>
                      <a:pt x="87" y="219"/>
                    </a:lnTo>
                    <a:lnTo>
                      <a:pt x="88" y="222"/>
                    </a:lnTo>
                    <a:lnTo>
                      <a:pt x="88" y="223"/>
                    </a:lnTo>
                    <a:lnTo>
                      <a:pt x="90" y="226"/>
                    </a:lnTo>
                    <a:lnTo>
                      <a:pt x="90" y="228"/>
                    </a:lnTo>
                    <a:lnTo>
                      <a:pt x="90" y="228"/>
                    </a:lnTo>
                    <a:lnTo>
                      <a:pt x="91" y="231"/>
                    </a:lnTo>
                    <a:lnTo>
                      <a:pt x="91" y="232"/>
                    </a:lnTo>
                    <a:lnTo>
                      <a:pt x="93" y="235"/>
                    </a:lnTo>
                    <a:lnTo>
                      <a:pt x="93" y="237"/>
                    </a:lnTo>
                    <a:lnTo>
                      <a:pt x="94" y="240"/>
                    </a:lnTo>
                    <a:lnTo>
                      <a:pt x="94" y="241"/>
                    </a:lnTo>
                    <a:lnTo>
                      <a:pt x="94" y="243"/>
                    </a:lnTo>
                    <a:lnTo>
                      <a:pt x="96" y="245"/>
                    </a:lnTo>
                    <a:lnTo>
                      <a:pt x="96" y="246"/>
                    </a:lnTo>
                    <a:lnTo>
                      <a:pt x="96" y="248"/>
                    </a:lnTo>
                    <a:lnTo>
                      <a:pt x="96" y="249"/>
                    </a:lnTo>
                    <a:lnTo>
                      <a:pt x="98" y="251"/>
                    </a:lnTo>
                    <a:lnTo>
                      <a:pt x="98" y="252"/>
                    </a:lnTo>
                    <a:lnTo>
                      <a:pt x="98" y="254"/>
                    </a:lnTo>
                    <a:lnTo>
                      <a:pt x="98" y="254"/>
                    </a:lnTo>
                    <a:lnTo>
                      <a:pt x="98" y="255"/>
                    </a:lnTo>
                    <a:lnTo>
                      <a:pt x="98" y="257"/>
                    </a:lnTo>
                    <a:lnTo>
                      <a:pt x="99" y="258"/>
                    </a:lnTo>
                    <a:lnTo>
                      <a:pt x="99" y="258"/>
                    </a:lnTo>
                    <a:lnTo>
                      <a:pt x="99" y="260"/>
                    </a:lnTo>
                    <a:lnTo>
                      <a:pt x="99" y="261"/>
                    </a:lnTo>
                    <a:lnTo>
                      <a:pt x="99" y="263"/>
                    </a:lnTo>
                    <a:lnTo>
                      <a:pt x="99" y="264"/>
                    </a:lnTo>
                    <a:lnTo>
                      <a:pt x="99" y="266"/>
                    </a:lnTo>
                    <a:lnTo>
                      <a:pt x="99" y="267"/>
                    </a:lnTo>
                    <a:lnTo>
                      <a:pt x="99" y="269"/>
                    </a:lnTo>
                    <a:lnTo>
                      <a:pt x="101" y="271"/>
                    </a:lnTo>
                    <a:lnTo>
                      <a:pt x="101" y="272"/>
                    </a:lnTo>
                    <a:lnTo>
                      <a:pt x="101" y="274"/>
                    </a:lnTo>
                    <a:lnTo>
                      <a:pt x="101" y="275"/>
                    </a:lnTo>
                    <a:lnTo>
                      <a:pt x="101" y="278"/>
                    </a:lnTo>
                    <a:lnTo>
                      <a:pt x="101" y="280"/>
                    </a:lnTo>
                    <a:lnTo>
                      <a:pt x="101" y="280"/>
                    </a:lnTo>
                    <a:lnTo>
                      <a:pt x="101" y="281"/>
                    </a:lnTo>
                    <a:lnTo>
                      <a:pt x="101" y="284"/>
                    </a:lnTo>
                    <a:lnTo>
                      <a:pt x="101" y="286"/>
                    </a:lnTo>
                    <a:lnTo>
                      <a:pt x="102" y="287"/>
                    </a:lnTo>
                    <a:lnTo>
                      <a:pt x="102" y="289"/>
                    </a:lnTo>
                    <a:lnTo>
                      <a:pt x="102" y="290"/>
                    </a:lnTo>
                    <a:lnTo>
                      <a:pt x="102" y="292"/>
                    </a:lnTo>
                    <a:lnTo>
                      <a:pt x="102" y="293"/>
                    </a:lnTo>
                    <a:lnTo>
                      <a:pt x="102" y="295"/>
                    </a:lnTo>
                    <a:lnTo>
                      <a:pt x="102" y="297"/>
                    </a:lnTo>
                    <a:lnTo>
                      <a:pt x="102" y="298"/>
                    </a:lnTo>
                    <a:lnTo>
                      <a:pt x="102" y="298"/>
                    </a:lnTo>
                    <a:lnTo>
                      <a:pt x="102" y="300"/>
                    </a:lnTo>
                    <a:lnTo>
                      <a:pt x="102" y="301"/>
                    </a:lnTo>
                    <a:lnTo>
                      <a:pt x="102" y="301"/>
                    </a:lnTo>
                    <a:lnTo>
                      <a:pt x="104" y="303"/>
                    </a:lnTo>
                    <a:lnTo>
                      <a:pt x="104" y="303"/>
                    </a:lnTo>
                    <a:lnTo>
                      <a:pt x="104" y="304"/>
                    </a:lnTo>
                    <a:lnTo>
                      <a:pt x="104" y="306"/>
                    </a:lnTo>
                    <a:lnTo>
                      <a:pt x="104" y="306"/>
                    </a:lnTo>
                    <a:lnTo>
                      <a:pt x="104" y="307"/>
                    </a:lnTo>
                    <a:lnTo>
                      <a:pt x="104" y="307"/>
                    </a:lnTo>
                    <a:lnTo>
                      <a:pt x="104" y="309"/>
                    </a:lnTo>
                    <a:lnTo>
                      <a:pt x="104" y="309"/>
                    </a:lnTo>
                    <a:lnTo>
                      <a:pt x="104" y="310"/>
                    </a:lnTo>
                    <a:lnTo>
                      <a:pt x="104" y="312"/>
                    </a:lnTo>
                    <a:lnTo>
                      <a:pt x="105" y="312"/>
                    </a:lnTo>
                    <a:lnTo>
                      <a:pt x="105" y="313"/>
                    </a:lnTo>
                    <a:lnTo>
                      <a:pt x="105" y="315"/>
                    </a:lnTo>
                    <a:lnTo>
                      <a:pt x="105" y="315"/>
                    </a:lnTo>
                    <a:lnTo>
                      <a:pt x="105" y="316"/>
                    </a:lnTo>
                    <a:lnTo>
                      <a:pt x="105" y="318"/>
                    </a:lnTo>
                    <a:lnTo>
                      <a:pt x="105" y="318"/>
                    </a:lnTo>
                    <a:lnTo>
                      <a:pt x="105" y="319"/>
                    </a:lnTo>
                    <a:lnTo>
                      <a:pt x="107" y="321"/>
                    </a:lnTo>
                    <a:lnTo>
                      <a:pt x="107" y="321"/>
                    </a:lnTo>
                    <a:lnTo>
                      <a:pt x="107" y="323"/>
                    </a:lnTo>
                    <a:lnTo>
                      <a:pt x="107" y="324"/>
                    </a:lnTo>
                    <a:lnTo>
                      <a:pt x="107" y="326"/>
                    </a:lnTo>
                    <a:lnTo>
                      <a:pt x="107" y="326"/>
                    </a:lnTo>
                    <a:lnTo>
                      <a:pt x="107" y="327"/>
                    </a:lnTo>
                    <a:lnTo>
                      <a:pt x="107" y="327"/>
                    </a:lnTo>
                    <a:lnTo>
                      <a:pt x="107" y="329"/>
                    </a:lnTo>
                    <a:lnTo>
                      <a:pt x="108" y="330"/>
                    </a:lnTo>
                    <a:lnTo>
                      <a:pt x="108" y="330"/>
                    </a:lnTo>
                    <a:lnTo>
                      <a:pt x="108" y="332"/>
                    </a:lnTo>
                    <a:lnTo>
                      <a:pt x="108" y="333"/>
                    </a:lnTo>
                    <a:lnTo>
                      <a:pt x="108" y="333"/>
                    </a:lnTo>
                    <a:lnTo>
                      <a:pt x="108" y="335"/>
                    </a:lnTo>
                    <a:lnTo>
                      <a:pt x="108" y="336"/>
                    </a:lnTo>
                    <a:lnTo>
                      <a:pt x="108" y="336"/>
                    </a:lnTo>
                    <a:lnTo>
                      <a:pt x="108" y="338"/>
                    </a:lnTo>
                    <a:lnTo>
                      <a:pt x="108" y="339"/>
                    </a:lnTo>
                    <a:lnTo>
                      <a:pt x="108" y="341"/>
                    </a:lnTo>
                    <a:lnTo>
                      <a:pt x="108" y="342"/>
                    </a:lnTo>
                    <a:lnTo>
                      <a:pt x="108" y="344"/>
                    </a:lnTo>
                    <a:lnTo>
                      <a:pt x="108" y="345"/>
                    </a:lnTo>
                    <a:lnTo>
                      <a:pt x="107" y="347"/>
                    </a:lnTo>
                    <a:lnTo>
                      <a:pt x="107" y="350"/>
                    </a:lnTo>
                    <a:lnTo>
                      <a:pt x="107" y="352"/>
                    </a:lnTo>
                    <a:lnTo>
                      <a:pt x="107" y="355"/>
                    </a:lnTo>
                    <a:lnTo>
                      <a:pt x="107" y="356"/>
                    </a:lnTo>
                    <a:lnTo>
                      <a:pt x="107" y="359"/>
                    </a:lnTo>
                    <a:lnTo>
                      <a:pt x="107" y="362"/>
                    </a:lnTo>
                    <a:lnTo>
                      <a:pt x="107" y="3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79"/>
              <p:cNvSpPr>
                <a:spLocks/>
              </p:cNvSpPr>
              <p:nvPr/>
            </p:nvSpPr>
            <p:spPr bwMode="auto">
              <a:xfrm>
                <a:off x="3403" y="2587"/>
                <a:ext cx="55" cy="183"/>
              </a:xfrm>
              <a:custGeom>
                <a:avLst/>
                <a:gdLst>
                  <a:gd name="T0" fmla="*/ 6 w 108"/>
                  <a:gd name="T1" fmla="*/ 11 h 365"/>
                  <a:gd name="T2" fmla="*/ 12 w 108"/>
                  <a:gd name="T3" fmla="*/ 23 h 365"/>
                  <a:gd name="T4" fmla="*/ 18 w 108"/>
                  <a:gd name="T5" fmla="*/ 32 h 365"/>
                  <a:gd name="T6" fmla="*/ 21 w 108"/>
                  <a:gd name="T7" fmla="*/ 40 h 365"/>
                  <a:gd name="T8" fmla="*/ 24 w 108"/>
                  <a:gd name="T9" fmla="*/ 46 h 365"/>
                  <a:gd name="T10" fmla="*/ 27 w 108"/>
                  <a:gd name="T11" fmla="*/ 52 h 365"/>
                  <a:gd name="T12" fmla="*/ 30 w 108"/>
                  <a:gd name="T13" fmla="*/ 58 h 365"/>
                  <a:gd name="T14" fmla="*/ 33 w 108"/>
                  <a:gd name="T15" fmla="*/ 64 h 365"/>
                  <a:gd name="T16" fmla="*/ 36 w 108"/>
                  <a:gd name="T17" fmla="*/ 70 h 365"/>
                  <a:gd name="T18" fmla="*/ 38 w 108"/>
                  <a:gd name="T19" fmla="*/ 78 h 365"/>
                  <a:gd name="T20" fmla="*/ 41 w 108"/>
                  <a:gd name="T21" fmla="*/ 82 h 365"/>
                  <a:gd name="T22" fmla="*/ 43 w 108"/>
                  <a:gd name="T23" fmla="*/ 87 h 365"/>
                  <a:gd name="T24" fmla="*/ 44 w 108"/>
                  <a:gd name="T25" fmla="*/ 93 h 365"/>
                  <a:gd name="T26" fmla="*/ 47 w 108"/>
                  <a:gd name="T27" fmla="*/ 98 h 365"/>
                  <a:gd name="T28" fmla="*/ 49 w 108"/>
                  <a:gd name="T29" fmla="*/ 104 h 365"/>
                  <a:gd name="T30" fmla="*/ 52 w 108"/>
                  <a:gd name="T31" fmla="*/ 113 h 365"/>
                  <a:gd name="T32" fmla="*/ 55 w 108"/>
                  <a:gd name="T33" fmla="*/ 119 h 365"/>
                  <a:gd name="T34" fmla="*/ 58 w 108"/>
                  <a:gd name="T35" fmla="*/ 128 h 365"/>
                  <a:gd name="T36" fmla="*/ 61 w 108"/>
                  <a:gd name="T37" fmla="*/ 136 h 365"/>
                  <a:gd name="T38" fmla="*/ 62 w 108"/>
                  <a:gd name="T39" fmla="*/ 141 h 365"/>
                  <a:gd name="T40" fmla="*/ 65 w 108"/>
                  <a:gd name="T41" fmla="*/ 147 h 365"/>
                  <a:gd name="T42" fmla="*/ 67 w 108"/>
                  <a:gd name="T43" fmla="*/ 151 h 365"/>
                  <a:gd name="T44" fmla="*/ 69 w 108"/>
                  <a:gd name="T45" fmla="*/ 157 h 365"/>
                  <a:gd name="T46" fmla="*/ 72 w 108"/>
                  <a:gd name="T47" fmla="*/ 165 h 365"/>
                  <a:gd name="T48" fmla="*/ 73 w 108"/>
                  <a:gd name="T49" fmla="*/ 173 h 365"/>
                  <a:gd name="T50" fmla="*/ 76 w 108"/>
                  <a:gd name="T51" fmla="*/ 182 h 365"/>
                  <a:gd name="T52" fmla="*/ 78 w 108"/>
                  <a:gd name="T53" fmla="*/ 189 h 365"/>
                  <a:gd name="T54" fmla="*/ 81 w 108"/>
                  <a:gd name="T55" fmla="*/ 196 h 365"/>
                  <a:gd name="T56" fmla="*/ 82 w 108"/>
                  <a:gd name="T57" fmla="*/ 200 h 365"/>
                  <a:gd name="T58" fmla="*/ 84 w 108"/>
                  <a:gd name="T59" fmla="*/ 206 h 365"/>
                  <a:gd name="T60" fmla="*/ 85 w 108"/>
                  <a:gd name="T61" fmla="*/ 211 h 365"/>
                  <a:gd name="T62" fmla="*/ 87 w 108"/>
                  <a:gd name="T63" fmla="*/ 219 h 365"/>
                  <a:gd name="T64" fmla="*/ 90 w 108"/>
                  <a:gd name="T65" fmla="*/ 228 h 365"/>
                  <a:gd name="T66" fmla="*/ 93 w 108"/>
                  <a:gd name="T67" fmla="*/ 235 h 365"/>
                  <a:gd name="T68" fmla="*/ 94 w 108"/>
                  <a:gd name="T69" fmla="*/ 243 h 365"/>
                  <a:gd name="T70" fmla="*/ 96 w 108"/>
                  <a:gd name="T71" fmla="*/ 249 h 365"/>
                  <a:gd name="T72" fmla="*/ 98 w 108"/>
                  <a:gd name="T73" fmla="*/ 254 h 365"/>
                  <a:gd name="T74" fmla="*/ 99 w 108"/>
                  <a:gd name="T75" fmla="*/ 258 h 365"/>
                  <a:gd name="T76" fmla="*/ 99 w 108"/>
                  <a:gd name="T77" fmla="*/ 264 h 365"/>
                  <a:gd name="T78" fmla="*/ 101 w 108"/>
                  <a:gd name="T79" fmla="*/ 271 h 365"/>
                  <a:gd name="T80" fmla="*/ 101 w 108"/>
                  <a:gd name="T81" fmla="*/ 278 h 365"/>
                  <a:gd name="T82" fmla="*/ 101 w 108"/>
                  <a:gd name="T83" fmla="*/ 284 h 365"/>
                  <a:gd name="T84" fmla="*/ 102 w 108"/>
                  <a:gd name="T85" fmla="*/ 290 h 365"/>
                  <a:gd name="T86" fmla="*/ 102 w 108"/>
                  <a:gd name="T87" fmla="*/ 297 h 365"/>
                  <a:gd name="T88" fmla="*/ 102 w 108"/>
                  <a:gd name="T89" fmla="*/ 301 h 365"/>
                  <a:gd name="T90" fmla="*/ 104 w 108"/>
                  <a:gd name="T91" fmla="*/ 304 h 365"/>
                  <a:gd name="T92" fmla="*/ 104 w 108"/>
                  <a:gd name="T93" fmla="*/ 307 h 365"/>
                  <a:gd name="T94" fmla="*/ 104 w 108"/>
                  <a:gd name="T95" fmla="*/ 312 h 365"/>
                  <a:gd name="T96" fmla="*/ 105 w 108"/>
                  <a:gd name="T97" fmla="*/ 315 h 365"/>
                  <a:gd name="T98" fmla="*/ 105 w 108"/>
                  <a:gd name="T99" fmla="*/ 319 h 365"/>
                  <a:gd name="T100" fmla="*/ 107 w 108"/>
                  <a:gd name="T101" fmla="*/ 324 h 365"/>
                  <a:gd name="T102" fmla="*/ 107 w 108"/>
                  <a:gd name="T103" fmla="*/ 327 h 365"/>
                  <a:gd name="T104" fmla="*/ 108 w 108"/>
                  <a:gd name="T105" fmla="*/ 332 h 365"/>
                  <a:gd name="T106" fmla="*/ 108 w 108"/>
                  <a:gd name="T107" fmla="*/ 336 h 365"/>
                  <a:gd name="T108" fmla="*/ 108 w 108"/>
                  <a:gd name="T109" fmla="*/ 341 h 365"/>
                  <a:gd name="T110" fmla="*/ 107 w 108"/>
                  <a:gd name="T111" fmla="*/ 347 h 365"/>
                  <a:gd name="T112" fmla="*/ 107 w 108"/>
                  <a:gd name="T113" fmla="*/ 356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8" h="365">
                    <a:moveTo>
                      <a:pt x="0" y="0"/>
                    </a:moveTo>
                    <a:lnTo>
                      <a:pt x="1" y="3"/>
                    </a:lnTo>
                    <a:lnTo>
                      <a:pt x="4" y="8"/>
                    </a:lnTo>
                    <a:lnTo>
                      <a:pt x="6" y="11"/>
                    </a:lnTo>
                    <a:lnTo>
                      <a:pt x="7" y="14"/>
                    </a:lnTo>
                    <a:lnTo>
                      <a:pt x="9" y="17"/>
                    </a:lnTo>
                    <a:lnTo>
                      <a:pt x="10" y="20"/>
                    </a:lnTo>
                    <a:lnTo>
                      <a:pt x="12" y="23"/>
                    </a:lnTo>
                    <a:lnTo>
                      <a:pt x="13" y="26"/>
                    </a:lnTo>
                    <a:lnTo>
                      <a:pt x="15" y="27"/>
                    </a:lnTo>
                    <a:lnTo>
                      <a:pt x="17" y="30"/>
                    </a:lnTo>
                    <a:lnTo>
                      <a:pt x="18" y="32"/>
                    </a:lnTo>
                    <a:lnTo>
                      <a:pt x="18" y="34"/>
                    </a:lnTo>
                    <a:lnTo>
                      <a:pt x="20" y="37"/>
                    </a:lnTo>
                    <a:lnTo>
                      <a:pt x="21" y="38"/>
                    </a:lnTo>
                    <a:lnTo>
                      <a:pt x="21" y="40"/>
                    </a:lnTo>
                    <a:lnTo>
                      <a:pt x="23" y="41"/>
                    </a:lnTo>
                    <a:lnTo>
                      <a:pt x="23" y="43"/>
                    </a:lnTo>
                    <a:lnTo>
                      <a:pt x="24" y="44"/>
                    </a:lnTo>
                    <a:lnTo>
                      <a:pt x="24" y="46"/>
                    </a:lnTo>
                    <a:lnTo>
                      <a:pt x="26" y="47"/>
                    </a:lnTo>
                    <a:lnTo>
                      <a:pt x="26" y="49"/>
                    </a:lnTo>
                    <a:lnTo>
                      <a:pt x="27" y="50"/>
                    </a:lnTo>
                    <a:lnTo>
                      <a:pt x="27" y="52"/>
                    </a:lnTo>
                    <a:lnTo>
                      <a:pt x="29" y="53"/>
                    </a:lnTo>
                    <a:lnTo>
                      <a:pt x="29" y="53"/>
                    </a:lnTo>
                    <a:lnTo>
                      <a:pt x="29" y="55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2" y="61"/>
                    </a:lnTo>
                    <a:lnTo>
                      <a:pt x="32" y="63"/>
                    </a:lnTo>
                    <a:lnTo>
                      <a:pt x="33" y="64"/>
                    </a:lnTo>
                    <a:lnTo>
                      <a:pt x="33" y="67"/>
                    </a:lnTo>
                    <a:lnTo>
                      <a:pt x="33" y="67"/>
                    </a:lnTo>
                    <a:lnTo>
                      <a:pt x="35" y="69"/>
                    </a:lnTo>
                    <a:lnTo>
                      <a:pt x="36" y="70"/>
                    </a:lnTo>
                    <a:lnTo>
                      <a:pt x="36" y="72"/>
                    </a:lnTo>
                    <a:lnTo>
                      <a:pt x="38" y="75"/>
                    </a:lnTo>
                    <a:lnTo>
                      <a:pt x="38" y="76"/>
                    </a:lnTo>
                    <a:lnTo>
                      <a:pt x="38" y="78"/>
                    </a:lnTo>
                    <a:lnTo>
                      <a:pt x="39" y="79"/>
                    </a:lnTo>
                    <a:lnTo>
                      <a:pt x="39" y="81"/>
                    </a:lnTo>
                    <a:lnTo>
                      <a:pt x="41" y="81"/>
                    </a:lnTo>
                    <a:lnTo>
                      <a:pt x="41" y="82"/>
                    </a:lnTo>
                    <a:lnTo>
                      <a:pt x="41" y="84"/>
                    </a:lnTo>
                    <a:lnTo>
                      <a:pt x="43" y="86"/>
                    </a:lnTo>
                    <a:lnTo>
                      <a:pt x="43" y="87"/>
                    </a:lnTo>
                    <a:lnTo>
                      <a:pt x="43" y="87"/>
                    </a:lnTo>
                    <a:lnTo>
                      <a:pt x="43" y="89"/>
                    </a:lnTo>
                    <a:lnTo>
                      <a:pt x="44" y="90"/>
                    </a:lnTo>
                    <a:lnTo>
                      <a:pt x="44" y="92"/>
                    </a:lnTo>
                    <a:lnTo>
                      <a:pt x="44" y="93"/>
                    </a:lnTo>
                    <a:lnTo>
                      <a:pt x="46" y="93"/>
                    </a:lnTo>
                    <a:lnTo>
                      <a:pt x="46" y="95"/>
                    </a:lnTo>
                    <a:lnTo>
                      <a:pt x="46" y="96"/>
                    </a:lnTo>
                    <a:lnTo>
                      <a:pt x="47" y="98"/>
                    </a:lnTo>
                    <a:lnTo>
                      <a:pt x="47" y="99"/>
                    </a:lnTo>
                    <a:lnTo>
                      <a:pt x="47" y="101"/>
                    </a:lnTo>
                    <a:lnTo>
                      <a:pt x="49" y="102"/>
                    </a:lnTo>
                    <a:lnTo>
                      <a:pt x="49" y="104"/>
                    </a:lnTo>
                    <a:lnTo>
                      <a:pt x="50" y="107"/>
                    </a:lnTo>
                    <a:lnTo>
                      <a:pt x="50" y="108"/>
                    </a:lnTo>
                    <a:lnTo>
                      <a:pt x="52" y="110"/>
                    </a:lnTo>
                    <a:lnTo>
                      <a:pt x="52" y="113"/>
                    </a:lnTo>
                    <a:lnTo>
                      <a:pt x="53" y="115"/>
                    </a:lnTo>
                    <a:lnTo>
                      <a:pt x="53" y="118"/>
                    </a:lnTo>
                    <a:lnTo>
                      <a:pt x="53" y="118"/>
                    </a:lnTo>
                    <a:lnTo>
                      <a:pt x="55" y="119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8" y="127"/>
                    </a:lnTo>
                    <a:lnTo>
                      <a:pt x="58" y="128"/>
                    </a:lnTo>
                    <a:lnTo>
                      <a:pt x="59" y="130"/>
                    </a:lnTo>
                    <a:lnTo>
                      <a:pt x="59" y="131"/>
                    </a:lnTo>
                    <a:lnTo>
                      <a:pt x="61" y="134"/>
                    </a:lnTo>
                    <a:lnTo>
                      <a:pt x="61" y="136"/>
                    </a:lnTo>
                    <a:lnTo>
                      <a:pt x="61" y="138"/>
                    </a:lnTo>
                    <a:lnTo>
                      <a:pt x="62" y="138"/>
                    </a:lnTo>
                    <a:lnTo>
                      <a:pt x="62" y="139"/>
                    </a:lnTo>
                    <a:lnTo>
                      <a:pt x="62" y="141"/>
                    </a:lnTo>
                    <a:lnTo>
                      <a:pt x="64" y="142"/>
                    </a:lnTo>
                    <a:lnTo>
                      <a:pt x="64" y="144"/>
                    </a:lnTo>
                    <a:lnTo>
                      <a:pt x="64" y="145"/>
                    </a:lnTo>
                    <a:lnTo>
                      <a:pt x="65" y="147"/>
                    </a:lnTo>
                    <a:lnTo>
                      <a:pt x="65" y="148"/>
                    </a:lnTo>
                    <a:lnTo>
                      <a:pt x="65" y="148"/>
                    </a:lnTo>
                    <a:lnTo>
                      <a:pt x="65" y="150"/>
                    </a:lnTo>
                    <a:lnTo>
                      <a:pt x="67" y="151"/>
                    </a:lnTo>
                    <a:lnTo>
                      <a:pt x="67" y="153"/>
                    </a:lnTo>
                    <a:lnTo>
                      <a:pt x="67" y="154"/>
                    </a:lnTo>
                    <a:lnTo>
                      <a:pt x="69" y="156"/>
                    </a:lnTo>
                    <a:lnTo>
                      <a:pt x="69" y="157"/>
                    </a:lnTo>
                    <a:lnTo>
                      <a:pt x="69" y="159"/>
                    </a:lnTo>
                    <a:lnTo>
                      <a:pt x="70" y="162"/>
                    </a:lnTo>
                    <a:lnTo>
                      <a:pt x="70" y="164"/>
                    </a:lnTo>
                    <a:lnTo>
                      <a:pt x="72" y="165"/>
                    </a:lnTo>
                    <a:lnTo>
                      <a:pt x="72" y="168"/>
                    </a:lnTo>
                    <a:lnTo>
                      <a:pt x="73" y="170"/>
                    </a:lnTo>
                    <a:lnTo>
                      <a:pt x="73" y="173"/>
                    </a:lnTo>
                    <a:lnTo>
                      <a:pt x="73" y="173"/>
                    </a:lnTo>
                    <a:lnTo>
                      <a:pt x="75" y="176"/>
                    </a:lnTo>
                    <a:lnTo>
                      <a:pt x="75" y="177"/>
                    </a:lnTo>
                    <a:lnTo>
                      <a:pt x="76" y="180"/>
                    </a:lnTo>
                    <a:lnTo>
                      <a:pt x="76" y="182"/>
                    </a:lnTo>
                    <a:lnTo>
                      <a:pt x="76" y="183"/>
                    </a:lnTo>
                    <a:lnTo>
                      <a:pt x="78" y="186"/>
                    </a:lnTo>
                    <a:lnTo>
                      <a:pt x="78" y="188"/>
                    </a:lnTo>
                    <a:lnTo>
                      <a:pt x="78" y="189"/>
                    </a:lnTo>
                    <a:lnTo>
                      <a:pt x="79" y="191"/>
                    </a:lnTo>
                    <a:lnTo>
                      <a:pt x="79" y="193"/>
                    </a:lnTo>
                    <a:lnTo>
                      <a:pt x="79" y="194"/>
                    </a:lnTo>
                    <a:lnTo>
                      <a:pt x="81" y="196"/>
                    </a:lnTo>
                    <a:lnTo>
                      <a:pt x="81" y="196"/>
                    </a:lnTo>
                    <a:lnTo>
                      <a:pt x="81" y="197"/>
                    </a:lnTo>
                    <a:lnTo>
                      <a:pt x="81" y="199"/>
                    </a:lnTo>
                    <a:lnTo>
                      <a:pt x="82" y="200"/>
                    </a:lnTo>
                    <a:lnTo>
                      <a:pt x="82" y="202"/>
                    </a:lnTo>
                    <a:lnTo>
                      <a:pt x="82" y="203"/>
                    </a:lnTo>
                    <a:lnTo>
                      <a:pt x="82" y="205"/>
                    </a:lnTo>
                    <a:lnTo>
                      <a:pt x="84" y="206"/>
                    </a:lnTo>
                    <a:lnTo>
                      <a:pt x="84" y="206"/>
                    </a:lnTo>
                    <a:lnTo>
                      <a:pt x="84" y="208"/>
                    </a:lnTo>
                    <a:lnTo>
                      <a:pt x="85" y="209"/>
                    </a:lnTo>
                    <a:lnTo>
                      <a:pt x="85" y="211"/>
                    </a:lnTo>
                    <a:lnTo>
                      <a:pt x="85" y="214"/>
                    </a:lnTo>
                    <a:lnTo>
                      <a:pt x="87" y="215"/>
                    </a:lnTo>
                    <a:lnTo>
                      <a:pt x="87" y="217"/>
                    </a:lnTo>
                    <a:lnTo>
                      <a:pt x="87" y="219"/>
                    </a:lnTo>
                    <a:lnTo>
                      <a:pt x="88" y="222"/>
                    </a:lnTo>
                    <a:lnTo>
                      <a:pt x="88" y="223"/>
                    </a:lnTo>
                    <a:lnTo>
                      <a:pt x="90" y="226"/>
                    </a:lnTo>
                    <a:lnTo>
                      <a:pt x="90" y="228"/>
                    </a:lnTo>
                    <a:lnTo>
                      <a:pt x="90" y="228"/>
                    </a:lnTo>
                    <a:lnTo>
                      <a:pt x="91" y="231"/>
                    </a:lnTo>
                    <a:lnTo>
                      <a:pt x="91" y="232"/>
                    </a:lnTo>
                    <a:lnTo>
                      <a:pt x="93" y="235"/>
                    </a:lnTo>
                    <a:lnTo>
                      <a:pt x="93" y="237"/>
                    </a:lnTo>
                    <a:lnTo>
                      <a:pt x="94" y="240"/>
                    </a:lnTo>
                    <a:lnTo>
                      <a:pt x="94" y="241"/>
                    </a:lnTo>
                    <a:lnTo>
                      <a:pt x="94" y="243"/>
                    </a:lnTo>
                    <a:lnTo>
                      <a:pt x="96" y="245"/>
                    </a:lnTo>
                    <a:lnTo>
                      <a:pt x="96" y="246"/>
                    </a:lnTo>
                    <a:lnTo>
                      <a:pt x="96" y="248"/>
                    </a:lnTo>
                    <a:lnTo>
                      <a:pt x="96" y="249"/>
                    </a:lnTo>
                    <a:lnTo>
                      <a:pt x="98" y="251"/>
                    </a:lnTo>
                    <a:lnTo>
                      <a:pt x="98" y="252"/>
                    </a:lnTo>
                    <a:lnTo>
                      <a:pt x="98" y="254"/>
                    </a:lnTo>
                    <a:lnTo>
                      <a:pt x="98" y="254"/>
                    </a:lnTo>
                    <a:lnTo>
                      <a:pt x="98" y="255"/>
                    </a:lnTo>
                    <a:lnTo>
                      <a:pt x="98" y="257"/>
                    </a:lnTo>
                    <a:lnTo>
                      <a:pt x="99" y="258"/>
                    </a:lnTo>
                    <a:lnTo>
                      <a:pt x="99" y="258"/>
                    </a:lnTo>
                    <a:lnTo>
                      <a:pt x="99" y="260"/>
                    </a:lnTo>
                    <a:lnTo>
                      <a:pt x="99" y="261"/>
                    </a:lnTo>
                    <a:lnTo>
                      <a:pt x="99" y="263"/>
                    </a:lnTo>
                    <a:lnTo>
                      <a:pt x="99" y="264"/>
                    </a:lnTo>
                    <a:lnTo>
                      <a:pt x="99" y="266"/>
                    </a:lnTo>
                    <a:lnTo>
                      <a:pt x="99" y="267"/>
                    </a:lnTo>
                    <a:lnTo>
                      <a:pt x="99" y="269"/>
                    </a:lnTo>
                    <a:lnTo>
                      <a:pt x="101" y="271"/>
                    </a:lnTo>
                    <a:lnTo>
                      <a:pt x="101" y="272"/>
                    </a:lnTo>
                    <a:lnTo>
                      <a:pt x="101" y="274"/>
                    </a:lnTo>
                    <a:lnTo>
                      <a:pt x="101" y="275"/>
                    </a:lnTo>
                    <a:lnTo>
                      <a:pt x="101" y="278"/>
                    </a:lnTo>
                    <a:lnTo>
                      <a:pt x="101" y="280"/>
                    </a:lnTo>
                    <a:lnTo>
                      <a:pt x="101" y="280"/>
                    </a:lnTo>
                    <a:lnTo>
                      <a:pt x="101" y="281"/>
                    </a:lnTo>
                    <a:lnTo>
                      <a:pt x="101" y="284"/>
                    </a:lnTo>
                    <a:lnTo>
                      <a:pt x="101" y="286"/>
                    </a:lnTo>
                    <a:lnTo>
                      <a:pt x="102" y="287"/>
                    </a:lnTo>
                    <a:lnTo>
                      <a:pt x="102" y="289"/>
                    </a:lnTo>
                    <a:lnTo>
                      <a:pt x="102" y="290"/>
                    </a:lnTo>
                    <a:lnTo>
                      <a:pt x="102" y="292"/>
                    </a:lnTo>
                    <a:lnTo>
                      <a:pt x="102" y="293"/>
                    </a:lnTo>
                    <a:lnTo>
                      <a:pt x="102" y="295"/>
                    </a:lnTo>
                    <a:lnTo>
                      <a:pt x="102" y="297"/>
                    </a:lnTo>
                    <a:lnTo>
                      <a:pt x="102" y="298"/>
                    </a:lnTo>
                    <a:lnTo>
                      <a:pt x="102" y="298"/>
                    </a:lnTo>
                    <a:lnTo>
                      <a:pt x="102" y="300"/>
                    </a:lnTo>
                    <a:lnTo>
                      <a:pt x="102" y="301"/>
                    </a:lnTo>
                    <a:lnTo>
                      <a:pt x="102" y="301"/>
                    </a:lnTo>
                    <a:lnTo>
                      <a:pt x="104" y="303"/>
                    </a:lnTo>
                    <a:lnTo>
                      <a:pt x="104" y="303"/>
                    </a:lnTo>
                    <a:lnTo>
                      <a:pt x="104" y="304"/>
                    </a:lnTo>
                    <a:lnTo>
                      <a:pt x="104" y="306"/>
                    </a:lnTo>
                    <a:lnTo>
                      <a:pt x="104" y="306"/>
                    </a:lnTo>
                    <a:lnTo>
                      <a:pt x="104" y="307"/>
                    </a:lnTo>
                    <a:lnTo>
                      <a:pt x="104" y="307"/>
                    </a:lnTo>
                    <a:lnTo>
                      <a:pt x="104" y="309"/>
                    </a:lnTo>
                    <a:lnTo>
                      <a:pt x="104" y="309"/>
                    </a:lnTo>
                    <a:lnTo>
                      <a:pt x="104" y="310"/>
                    </a:lnTo>
                    <a:lnTo>
                      <a:pt x="104" y="312"/>
                    </a:lnTo>
                    <a:lnTo>
                      <a:pt x="105" y="312"/>
                    </a:lnTo>
                    <a:lnTo>
                      <a:pt x="105" y="313"/>
                    </a:lnTo>
                    <a:lnTo>
                      <a:pt x="105" y="315"/>
                    </a:lnTo>
                    <a:lnTo>
                      <a:pt x="105" y="315"/>
                    </a:lnTo>
                    <a:lnTo>
                      <a:pt x="105" y="316"/>
                    </a:lnTo>
                    <a:lnTo>
                      <a:pt x="105" y="318"/>
                    </a:lnTo>
                    <a:lnTo>
                      <a:pt x="105" y="318"/>
                    </a:lnTo>
                    <a:lnTo>
                      <a:pt x="105" y="319"/>
                    </a:lnTo>
                    <a:lnTo>
                      <a:pt x="107" y="321"/>
                    </a:lnTo>
                    <a:lnTo>
                      <a:pt x="107" y="321"/>
                    </a:lnTo>
                    <a:lnTo>
                      <a:pt x="107" y="323"/>
                    </a:lnTo>
                    <a:lnTo>
                      <a:pt x="107" y="324"/>
                    </a:lnTo>
                    <a:lnTo>
                      <a:pt x="107" y="326"/>
                    </a:lnTo>
                    <a:lnTo>
                      <a:pt x="107" y="326"/>
                    </a:lnTo>
                    <a:lnTo>
                      <a:pt x="107" y="327"/>
                    </a:lnTo>
                    <a:lnTo>
                      <a:pt x="107" y="327"/>
                    </a:lnTo>
                    <a:lnTo>
                      <a:pt x="107" y="329"/>
                    </a:lnTo>
                    <a:lnTo>
                      <a:pt x="108" y="330"/>
                    </a:lnTo>
                    <a:lnTo>
                      <a:pt x="108" y="330"/>
                    </a:lnTo>
                    <a:lnTo>
                      <a:pt x="108" y="332"/>
                    </a:lnTo>
                    <a:lnTo>
                      <a:pt x="108" y="333"/>
                    </a:lnTo>
                    <a:lnTo>
                      <a:pt x="108" y="333"/>
                    </a:lnTo>
                    <a:lnTo>
                      <a:pt x="108" y="335"/>
                    </a:lnTo>
                    <a:lnTo>
                      <a:pt x="108" y="336"/>
                    </a:lnTo>
                    <a:lnTo>
                      <a:pt x="108" y="336"/>
                    </a:lnTo>
                    <a:lnTo>
                      <a:pt x="108" y="338"/>
                    </a:lnTo>
                    <a:lnTo>
                      <a:pt x="108" y="339"/>
                    </a:lnTo>
                    <a:lnTo>
                      <a:pt x="108" y="341"/>
                    </a:lnTo>
                    <a:lnTo>
                      <a:pt x="108" y="342"/>
                    </a:lnTo>
                    <a:lnTo>
                      <a:pt x="108" y="344"/>
                    </a:lnTo>
                    <a:lnTo>
                      <a:pt x="108" y="345"/>
                    </a:lnTo>
                    <a:lnTo>
                      <a:pt x="107" y="347"/>
                    </a:lnTo>
                    <a:lnTo>
                      <a:pt x="107" y="350"/>
                    </a:lnTo>
                    <a:lnTo>
                      <a:pt x="107" y="352"/>
                    </a:lnTo>
                    <a:lnTo>
                      <a:pt x="107" y="355"/>
                    </a:lnTo>
                    <a:lnTo>
                      <a:pt x="107" y="356"/>
                    </a:lnTo>
                    <a:lnTo>
                      <a:pt x="107" y="359"/>
                    </a:lnTo>
                    <a:lnTo>
                      <a:pt x="107" y="362"/>
                    </a:lnTo>
                    <a:lnTo>
                      <a:pt x="107" y="365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80"/>
              <p:cNvSpPr>
                <a:spLocks/>
              </p:cNvSpPr>
              <p:nvPr/>
            </p:nvSpPr>
            <p:spPr bwMode="auto">
              <a:xfrm>
                <a:off x="3403" y="2768"/>
                <a:ext cx="55" cy="183"/>
              </a:xfrm>
              <a:custGeom>
                <a:avLst/>
                <a:gdLst>
                  <a:gd name="T0" fmla="*/ 6 w 108"/>
                  <a:gd name="T1" fmla="*/ 355 h 366"/>
                  <a:gd name="T2" fmla="*/ 12 w 108"/>
                  <a:gd name="T3" fmla="*/ 343 h 366"/>
                  <a:gd name="T4" fmla="*/ 18 w 108"/>
                  <a:gd name="T5" fmla="*/ 334 h 366"/>
                  <a:gd name="T6" fmla="*/ 21 w 108"/>
                  <a:gd name="T7" fmla="*/ 326 h 366"/>
                  <a:gd name="T8" fmla="*/ 24 w 108"/>
                  <a:gd name="T9" fmla="*/ 320 h 366"/>
                  <a:gd name="T10" fmla="*/ 27 w 108"/>
                  <a:gd name="T11" fmla="*/ 315 h 366"/>
                  <a:gd name="T12" fmla="*/ 30 w 108"/>
                  <a:gd name="T13" fmla="*/ 309 h 366"/>
                  <a:gd name="T14" fmla="*/ 33 w 108"/>
                  <a:gd name="T15" fmla="*/ 301 h 366"/>
                  <a:gd name="T16" fmla="*/ 36 w 108"/>
                  <a:gd name="T17" fmla="*/ 295 h 366"/>
                  <a:gd name="T18" fmla="*/ 38 w 108"/>
                  <a:gd name="T19" fmla="*/ 288 h 366"/>
                  <a:gd name="T20" fmla="*/ 41 w 108"/>
                  <a:gd name="T21" fmla="*/ 283 h 366"/>
                  <a:gd name="T22" fmla="*/ 43 w 108"/>
                  <a:gd name="T23" fmla="*/ 279 h 366"/>
                  <a:gd name="T24" fmla="*/ 44 w 108"/>
                  <a:gd name="T25" fmla="*/ 272 h 366"/>
                  <a:gd name="T26" fmla="*/ 47 w 108"/>
                  <a:gd name="T27" fmla="*/ 268 h 366"/>
                  <a:gd name="T28" fmla="*/ 49 w 108"/>
                  <a:gd name="T29" fmla="*/ 262 h 366"/>
                  <a:gd name="T30" fmla="*/ 52 w 108"/>
                  <a:gd name="T31" fmla="*/ 253 h 366"/>
                  <a:gd name="T32" fmla="*/ 55 w 108"/>
                  <a:gd name="T33" fmla="*/ 246 h 366"/>
                  <a:gd name="T34" fmla="*/ 58 w 108"/>
                  <a:gd name="T35" fmla="*/ 237 h 366"/>
                  <a:gd name="T36" fmla="*/ 61 w 108"/>
                  <a:gd name="T37" fmla="*/ 230 h 366"/>
                  <a:gd name="T38" fmla="*/ 62 w 108"/>
                  <a:gd name="T39" fmla="*/ 225 h 366"/>
                  <a:gd name="T40" fmla="*/ 65 w 108"/>
                  <a:gd name="T41" fmla="*/ 219 h 366"/>
                  <a:gd name="T42" fmla="*/ 67 w 108"/>
                  <a:gd name="T43" fmla="*/ 214 h 366"/>
                  <a:gd name="T44" fmla="*/ 69 w 108"/>
                  <a:gd name="T45" fmla="*/ 208 h 366"/>
                  <a:gd name="T46" fmla="*/ 72 w 108"/>
                  <a:gd name="T47" fmla="*/ 201 h 366"/>
                  <a:gd name="T48" fmla="*/ 73 w 108"/>
                  <a:gd name="T49" fmla="*/ 193 h 366"/>
                  <a:gd name="T50" fmla="*/ 76 w 108"/>
                  <a:gd name="T51" fmla="*/ 184 h 366"/>
                  <a:gd name="T52" fmla="*/ 78 w 108"/>
                  <a:gd name="T53" fmla="*/ 176 h 366"/>
                  <a:gd name="T54" fmla="*/ 81 w 108"/>
                  <a:gd name="T55" fmla="*/ 170 h 366"/>
                  <a:gd name="T56" fmla="*/ 82 w 108"/>
                  <a:gd name="T57" fmla="*/ 165 h 366"/>
                  <a:gd name="T58" fmla="*/ 84 w 108"/>
                  <a:gd name="T59" fmla="*/ 159 h 366"/>
                  <a:gd name="T60" fmla="*/ 85 w 108"/>
                  <a:gd name="T61" fmla="*/ 155 h 366"/>
                  <a:gd name="T62" fmla="*/ 87 w 108"/>
                  <a:gd name="T63" fmla="*/ 147 h 366"/>
                  <a:gd name="T64" fmla="*/ 90 w 108"/>
                  <a:gd name="T65" fmla="*/ 138 h 366"/>
                  <a:gd name="T66" fmla="*/ 93 w 108"/>
                  <a:gd name="T67" fmla="*/ 130 h 366"/>
                  <a:gd name="T68" fmla="*/ 94 w 108"/>
                  <a:gd name="T69" fmla="*/ 123 h 366"/>
                  <a:gd name="T70" fmla="*/ 96 w 108"/>
                  <a:gd name="T71" fmla="*/ 116 h 366"/>
                  <a:gd name="T72" fmla="*/ 98 w 108"/>
                  <a:gd name="T73" fmla="*/ 112 h 366"/>
                  <a:gd name="T74" fmla="*/ 99 w 108"/>
                  <a:gd name="T75" fmla="*/ 107 h 366"/>
                  <a:gd name="T76" fmla="*/ 99 w 108"/>
                  <a:gd name="T77" fmla="*/ 101 h 366"/>
                  <a:gd name="T78" fmla="*/ 101 w 108"/>
                  <a:gd name="T79" fmla="*/ 95 h 366"/>
                  <a:gd name="T80" fmla="*/ 101 w 108"/>
                  <a:gd name="T81" fmla="*/ 87 h 366"/>
                  <a:gd name="T82" fmla="*/ 101 w 108"/>
                  <a:gd name="T83" fmla="*/ 81 h 366"/>
                  <a:gd name="T84" fmla="*/ 102 w 108"/>
                  <a:gd name="T85" fmla="*/ 75 h 366"/>
                  <a:gd name="T86" fmla="*/ 102 w 108"/>
                  <a:gd name="T87" fmla="*/ 69 h 366"/>
                  <a:gd name="T88" fmla="*/ 102 w 108"/>
                  <a:gd name="T89" fmla="*/ 64 h 366"/>
                  <a:gd name="T90" fmla="*/ 104 w 108"/>
                  <a:gd name="T91" fmla="*/ 61 h 366"/>
                  <a:gd name="T92" fmla="*/ 104 w 108"/>
                  <a:gd name="T93" fmla="*/ 58 h 366"/>
                  <a:gd name="T94" fmla="*/ 104 w 108"/>
                  <a:gd name="T95" fmla="*/ 54 h 366"/>
                  <a:gd name="T96" fmla="*/ 105 w 108"/>
                  <a:gd name="T97" fmla="*/ 51 h 366"/>
                  <a:gd name="T98" fmla="*/ 105 w 108"/>
                  <a:gd name="T99" fmla="*/ 46 h 366"/>
                  <a:gd name="T100" fmla="*/ 107 w 108"/>
                  <a:gd name="T101" fmla="*/ 42 h 366"/>
                  <a:gd name="T102" fmla="*/ 107 w 108"/>
                  <a:gd name="T103" fmla="*/ 38 h 366"/>
                  <a:gd name="T104" fmla="*/ 108 w 108"/>
                  <a:gd name="T105" fmla="*/ 34 h 366"/>
                  <a:gd name="T106" fmla="*/ 108 w 108"/>
                  <a:gd name="T107" fmla="*/ 29 h 366"/>
                  <a:gd name="T108" fmla="*/ 108 w 108"/>
                  <a:gd name="T109" fmla="*/ 25 h 366"/>
                  <a:gd name="T110" fmla="*/ 107 w 108"/>
                  <a:gd name="T111" fmla="*/ 19 h 366"/>
                  <a:gd name="T112" fmla="*/ 107 w 108"/>
                  <a:gd name="T113" fmla="*/ 9 h 366"/>
                  <a:gd name="T114" fmla="*/ 0 w 108"/>
                  <a:gd name="T115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8" h="366">
                    <a:moveTo>
                      <a:pt x="0" y="366"/>
                    </a:moveTo>
                    <a:lnTo>
                      <a:pt x="1" y="361"/>
                    </a:lnTo>
                    <a:lnTo>
                      <a:pt x="4" y="358"/>
                    </a:lnTo>
                    <a:lnTo>
                      <a:pt x="6" y="355"/>
                    </a:lnTo>
                    <a:lnTo>
                      <a:pt x="7" y="352"/>
                    </a:lnTo>
                    <a:lnTo>
                      <a:pt x="9" y="349"/>
                    </a:lnTo>
                    <a:lnTo>
                      <a:pt x="10" y="346"/>
                    </a:lnTo>
                    <a:lnTo>
                      <a:pt x="12" y="343"/>
                    </a:lnTo>
                    <a:lnTo>
                      <a:pt x="13" y="340"/>
                    </a:lnTo>
                    <a:lnTo>
                      <a:pt x="15" y="338"/>
                    </a:lnTo>
                    <a:lnTo>
                      <a:pt x="17" y="335"/>
                    </a:lnTo>
                    <a:lnTo>
                      <a:pt x="18" y="334"/>
                    </a:lnTo>
                    <a:lnTo>
                      <a:pt x="18" y="332"/>
                    </a:lnTo>
                    <a:lnTo>
                      <a:pt x="20" y="329"/>
                    </a:lnTo>
                    <a:lnTo>
                      <a:pt x="21" y="327"/>
                    </a:lnTo>
                    <a:lnTo>
                      <a:pt x="21" y="326"/>
                    </a:lnTo>
                    <a:lnTo>
                      <a:pt x="23" y="324"/>
                    </a:lnTo>
                    <a:lnTo>
                      <a:pt x="23" y="323"/>
                    </a:lnTo>
                    <a:lnTo>
                      <a:pt x="24" y="321"/>
                    </a:lnTo>
                    <a:lnTo>
                      <a:pt x="24" y="320"/>
                    </a:lnTo>
                    <a:lnTo>
                      <a:pt x="26" y="318"/>
                    </a:lnTo>
                    <a:lnTo>
                      <a:pt x="26" y="317"/>
                    </a:lnTo>
                    <a:lnTo>
                      <a:pt x="27" y="315"/>
                    </a:lnTo>
                    <a:lnTo>
                      <a:pt x="27" y="315"/>
                    </a:lnTo>
                    <a:lnTo>
                      <a:pt x="29" y="314"/>
                    </a:lnTo>
                    <a:lnTo>
                      <a:pt x="29" y="312"/>
                    </a:lnTo>
                    <a:lnTo>
                      <a:pt x="29" y="311"/>
                    </a:lnTo>
                    <a:lnTo>
                      <a:pt x="30" y="309"/>
                    </a:lnTo>
                    <a:lnTo>
                      <a:pt x="30" y="306"/>
                    </a:lnTo>
                    <a:lnTo>
                      <a:pt x="32" y="305"/>
                    </a:lnTo>
                    <a:lnTo>
                      <a:pt x="32" y="303"/>
                    </a:lnTo>
                    <a:lnTo>
                      <a:pt x="33" y="301"/>
                    </a:lnTo>
                    <a:lnTo>
                      <a:pt x="33" y="298"/>
                    </a:lnTo>
                    <a:lnTo>
                      <a:pt x="33" y="298"/>
                    </a:lnTo>
                    <a:lnTo>
                      <a:pt x="35" y="297"/>
                    </a:lnTo>
                    <a:lnTo>
                      <a:pt x="36" y="295"/>
                    </a:lnTo>
                    <a:lnTo>
                      <a:pt x="36" y="294"/>
                    </a:lnTo>
                    <a:lnTo>
                      <a:pt x="38" y="291"/>
                    </a:lnTo>
                    <a:lnTo>
                      <a:pt x="38" y="289"/>
                    </a:lnTo>
                    <a:lnTo>
                      <a:pt x="38" y="288"/>
                    </a:lnTo>
                    <a:lnTo>
                      <a:pt x="39" y="286"/>
                    </a:lnTo>
                    <a:lnTo>
                      <a:pt x="39" y="285"/>
                    </a:lnTo>
                    <a:lnTo>
                      <a:pt x="41" y="285"/>
                    </a:lnTo>
                    <a:lnTo>
                      <a:pt x="41" y="283"/>
                    </a:lnTo>
                    <a:lnTo>
                      <a:pt x="41" y="282"/>
                    </a:lnTo>
                    <a:lnTo>
                      <a:pt x="43" y="280"/>
                    </a:lnTo>
                    <a:lnTo>
                      <a:pt x="43" y="279"/>
                    </a:lnTo>
                    <a:lnTo>
                      <a:pt x="43" y="279"/>
                    </a:lnTo>
                    <a:lnTo>
                      <a:pt x="43" y="277"/>
                    </a:lnTo>
                    <a:lnTo>
                      <a:pt x="44" y="275"/>
                    </a:lnTo>
                    <a:lnTo>
                      <a:pt x="44" y="274"/>
                    </a:lnTo>
                    <a:lnTo>
                      <a:pt x="44" y="272"/>
                    </a:lnTo>
                    <a:lnTo>
                      <a:pt x="46" y="272"/>
                    </a:lnTo>
                    <a:lnTo>
                      <a:pt x="46" y="271"/>
                    </a:lnTo>
                    <a:lnTo>
                      <a:pt x="46" y="269"/>
                    </a:lnTo>
                    <a:lnTo>
                      <a:pt x="47" y="268"/>
                    </a:lnTo>
                    <a:lnTo>
                      <a:pt x="47" y="266"/>
                    </a:lnTo>
                    <a:lnTo>
                      <a:pt x="47" y="265"/>
                    </a:lnTo>
                    <a:lnTo>
                      <a:pt x="49" y="263"/>
                    </a:lnTo>
                    <a:lnTo>
                      <a:pt x="49" y="262"/>
                    </a:lnTo>
                    <a:lnTo>
                      <a:pt x="50" y="260"/>
                    </a:lnTo>
                    <a:lnTo>
                      <a:pt x="50" y="257"/>
                    </a:lnTo>
                    <a:lnTo>
                      <a:pt x="52" y="256"/>
                    </a:lnTo>
                    <a:lnTo>
                      <a:pt x="52" y="253"/>
                    </a:lnTo>
                    <a:lnTo>
                      <a:pt x="53" y="251"/>
                    </a:lnTo>
                    <a:lnTo>
                      <a:pt x="53" y="248"/>
                    </a:lnTo>
                    <a:lnTo>
                      <a:pt x="53" y="248"/>
                    </a:lnTo>
                    <a:lnTo>
                      <a:pt x="55" y="246"/>
                    </a:lnTo>
                    <a:lnTo>
                      <a:pt x="56" y="243"/>
                    </a:lnTo>
                    <a:lnTo>
                      <a:pt x="56" y="242"/>
                    </a:lnTo>
                    <a:lnTo>
                      <a:pt x="58" y="239"/>
                    </a:lnTo>
                    <a:lnTo>
                      <a:pt x="58" y="237"/>
                    </a:lnTo>
                    <a:lnTo>
                      <a:pt x="59" y="236"/>
                    </a:lnTo>
                    <a:lnTo>
                      <a:pt x="59" y="234"/>
                    </a:lnTo>
                    <a:lnTo>
                      <a:pt x="61" y="231"/>
                    </a:lnTo>
                    <a:lnTo>
                      <a:pt x="61" y="230"/>
                    </a:lnTo>
                    <a:lnTo>
                      <a:pt x="61" y="228"/>
                    </a:lnTo>
                    <a:lnTo>
                      <a:pt x="62" y="227"/>
                    </a:lnTo>
                    <a:lnTo>
                      <a:pt x="62" y="227"/>
                    </a:lnTo>
                    <a:lnTo>
                      <a:pt x="62" y="225"/>
                    </a:lnTo>
                    <a:lnTo>
                      <a:pt x="64" y="223"/>
                    </a:lnTo>
                    <a:lnTo>
                      <a:pt x="64" y="222"/>
                    </a:lnTo>
                    <a:lnTo>
                      <a:pt x="64" y="220"/>
                    </a:lnTo>
                    <a:lnTo>
                      <a:pt x="65" y="219"/>
                    </a:lnTo>
                    <a:lnTo>
                      <a:pt x="65" y="217"/>
                    </a:lnTo>
                    <a:lnTo>
                      <a:pt x="65" y="216"/>
                    </a:lnTo>
                    <a:lnTo>
                      <a:pt x="65" y="216"/>
                    </a:lnTo>
                    <a:lnTo>
                      <a:pt x="67" y="214"/>
                    </a:lnTo>
                    <a:lnTo>
                      <a:pt x="67" y="213"/>
                    </a:lnTo>
                    <a:lnTo>
                      <a:pt x="67" y="211"/>
                    </a:lnTo>
                    <a:lnTo>
                      <a:pt x="69" y="210"/>
                    </a:lnTo>
                    <a:lnTo>
                      <a:pt x="69" y="208"/>
                    </a:lnTo>
                    <a:lnTo>
                      <a:pt x="69" y="207"/>
                    </a:lnTo>
                    <a:lnTo>
                      <a:pt x="70" y="204"/>
                    </a:lnTo>
                    <a:lnTo>
                      <a:pt x="70" y="202"/>
                    </a:lnTo>
                    <a:lnTo>
                      <a:pt x="72" y="201"/>
                    </a:lnTo>
                    <a:lnTo>
                      <a:pt x="72" y="197"/>
                    </a:lnTo>
                    <a:lnTo>
                      <a:pt x="73" y="196"/>
                    </a:lnTo>
                    <a:lnTo>
                      <a:pt x="73" y="193"/>
                    </a:lnTo>
                    <a:lnTo>
                      <a:pt x="73" y="193"/>
                    </a:lnTo>
                    <a:lnTo>
                      <a:pt x="75" y="190"/>
                    </a:lnTo>
                    <a:lnTo>
                      <a:pt x="75" y="188"/>
                    </a:lnTo>
                    <a:lnTo>
                      <a:pt x="76" y="185"/>
                    </a:lnTo>
                    <a:lnTo>
                      <a:pt x="76" y="184"/>
                    </a:lnTo>
                    <a:lnTo>
                      <a:pt x="76" y="182"/>
                    </a:lnTo>
                    <a:lnTo>
                      <a:pt x="78" y="179"/>
                    </a:lnTo>
                    <a:lnTo>
                      <a:pt x="78" y="178"/>
                    </a:lnTo>
                    <a:lnTo>
                      <a:pt x="78" y="176"/>
                    </a:lnTo>
                    <a:lnTo>
                      <a:pt x="79" y="175"/>
                    </a:lnTo>
                    <a:lnTo>
                      <a:pt x="79" y="173"/>
                    </a:lnTo>
                    <a:lnTo>
                      <a:pt x="79" y="171"/>
                    </a:lnTo>
                    <a:lnTo>
                      <a:pt x="81" y="170"/>
                    </a:lnTo>
                    <a:lnTo>
                      <a:pt x="81" y="168"/>
                    </a:lnTo>
                    <a:lnTo>
                      <a:pt x="81" y="168"/>
                    </a:lnTo>
                    <a:lnTo>
                      <a:pt x="81" y="167"/>
                    </a:lnTo>
                    <a:lnTo>
                      <a:pt x="82" y="165"/>
                    </a:lnTo>
                    <a:lnTo>
                      <a:pt x="82" y="164"/>
                    </a:lnTo>
                    <a:lnTo>
                      <a:pt x="82" y="162"/>
                    </a:lnTo>
                    <a:lnTo>
                      <a:pt x="82" y="161"/>
                    </a:lnTo>
                    <a:lnTo>
                      <a:pt x="84" y="159"/>
                    </a:lnTo>
                    <a:lnTo>
                      <a:pt x="84" y="158"/>
                    </a:lnTo>
                    <a:lnTo>
                      <a:pt x="84" y="158"/>
                    </a:lnTo>
                    <a:lnTo>
                      <a:pt x="85" y="156"/>
                    </a:lnTo>
                    <a:lnTo>
                      <a:pt x="85" y="155"/>
                    </a:lnTo>
                    <a:lnTo>
                      <a:pt x="85" y="152"/>
                    </a:lnTo>
                    <a:lnTo>
                      <a:pt x="87" y="150"/>
                    </a:lnTo>
                    <a:lnTo>
                      <a:pt x="87" y="149"/>
                    </a:lnTo>
                    <a:lnTo>
                      <a:pt x="87" y="147"/>
                    </a:lnTo>
                    <a:lnTo>
                      <a:pt x="88" y="144"/>
                    </a:lnTo>
                    <a:lnTo>
                      <a:pt x="88" y="142"/>
                    </a:lnTo>
                    <a:lnTo>
                      <a:pt x="90" y="139"/>
                    </a:lnTo>
                    <a:lnTo>
                      <a:pt x="90" y="138"/>
                    </a:lnTo>
                    <a:lnTo>
                      <a:pt x="90" y="138"/>
                    </a:lnTo>
                    <a:lnTo>
                      <a:pt x="91" y="135"/>
                    </a:lnTo>
                    <a:lnTo>
                      <a:pt x="91" y="133"/>
                    </a:lnTo>
                    <a:lnTo>
                      <a:pt x="93" y="130"/>
                    </a:lnTo>
                    <a:lnTo>
                      <a:pt x="93" y="129"/>
                    </a:lnTo>
                    <a:lnTo>
                      <a:pt x="94" y="127"/>
                    </a:lnTo>
                    <a:lnTo>
                      <a:pt x="94" y="124"/>
                    </a:lnTo>
                    <a:lnTo>
                      <a:pt x="94" y="123"/>
                    </a:lnTo>
                    <a:lnTo>
                      <a:pt x="96" y="121"/>
                    </a:lnTo>
                    <a:lnTo>
                      <a:pt x="96" y="120"/>
                    </a:lnTo>
                    <a:lnTo>
                      <a:pt x="96" y="118"/>
                    </a:lnTo>
                    <a:lnTo>
                      <a:pt x="96" y="116"/>
                    </a:lnTo>
                    <a:lnTo>
                      <a:pt x="98" y="115"/>
                    </a:lnTo>
                    <a:lnTo>
                      <a:pt x="98" y="113"/>
                    </a:lnTo>
                    <a:lnTo>
                      <a:pt x="98" y="113"/>
                    </a:lnTo>
                    <a:lnTo>
                      <a:pt x="98" y="112"/>
                    </a:lnTo>
                    <a:lnTo>
                      <a:pt x="98" y="110"/>
                    </a:lnTo>
                    <a:lnTo>
                      <a:pt x="98" y="109"/>
                    </a:lnTo>
                    <a:lnTo>
                      <a:pt x="99" y="107"/>
                    </a:lnTo>
                    <a:lnTo>
                      <a:pt x="99" y="107"/>
                    </a:lnTo>
                    <a:lnTo>
                      <a:pt x="99" y="106"/>
                    </a:lnTo>
                    <a:lnTo>
                      <a:pt x="99" y="104"/>
                    </a:lnTo>
                    <a:lnTo>
                      <a:pt x="99" y="103"/>
                    </a:lnTo>
                    <a:lnTo>
                      <a:pt x="99" y="101"/>
                    </a:lnTo>
                    <a:lnTo>
                      <a:pt x="99" y="100"/>
                    </a:lnTo>
                    <a:lnTo>
                      <a:pt x="99" y="98"/>
                    </a:lnTo>
                    <a:lnTo>
                      <a:pt x="99" y="97"/>
                    </a:lnTo>
                    <a:lnTo>
                      <a:pt x="101" y="95"/>
                    </a:lnTo>
                    <a:lnTo>
                      <a:pt x="101" y="94"/>
                    </a:lnTo>
                    <a:lnTo>
                      <a:pt x="101" y="92"/>
                    </a:lnTo>
                    <a:lnTo>
                      <a:pt x="101" y="90"/>
                    </a:lnTo>
                    <a:lnTo>
                      <a:pt x="101" y="87"/>
                    </a:lnTo>
                    <a:lnTo>
                      <a:pt x="101" y="86"/>
                    </a:lnTo>
                    <a:lnTo>
                      <a:pt x="101" y="86"/>
                    </a:lnTo>
                    <a:lnTo>
                      <a:pt x="101" y="84"/>
                    </a:lnTo>
                    <a:lnTo>
                      <a:pt x="101" y="81"/>
                    </a:lnTo>
                    <a:lnTo>
                      <a:pt x="101" y="80"/>
                    </a:lnTo>
                    <a:lnTo>
                      <a:pt x="102" y="78"/>
                    </a:lnTo>
                    <a:lnTo>
                      <a:pt x="102" y="77"/>
                    </a:lnTo>
                    <a:lnTo>
                      <a:pt x="102" y="75"/>
                    </a:lnTo>
                    <a:lnTo>
                      <a:pt x="102" y="74"/>
                    </a:lnTo>
                    <a:lnTo>
                      <a:pt x="102" y="72"/>
                    </a:lnTo>
                    <a:lnTo>
                      <a:pt x="102" y="71"/>
                    </a:lnTo>
                    <a:lnTo>
                      <a:pt x="102" y="69"/>
                    </a:lnTo>
                    <a:lnTo>
                      <a:pt x="102" y="68"/>
                    </a:lnTo>
                    <a:lnTo>
                      <a:pt x="102" y="68"/>
                    </a:lnTo>
                    <a:lnTo>
                      <a:pt x="102" y="66"/>
                    </a:lnTo>
                    <a:lnTo>
                      <a:pt x="102" y="64"/>
                    </a:lnTo>
                    <a:lnTo>
                      <a:pt x="102" y="64"/>
                    </a:lnTo>
                    <a:lnTo>
                      <a:pt x="104" y="63"/>
                    </a:lnTo>
                    <a:lnTo>
                      <a:pt x="104" y="63"/>
                    </a:lnTo>
                    <a:lnTo>
                      <a:pt x="104" y="61"/>
                    </a:lnTo>
                    <a:lnTo>
                      <a:pt x="104" y="61"/>
                    </a:lnTo>
                    <a:lnTo>
                      <a:pt x="104" y="60"/>
                    </a:lnTo>
                    <a:lnTo>
                      <a:pt x="104" y="58"/>
                    </a:lnTo>
                    <a:lnTo>
                      <a:pt x="104" y="58"/>
                    </a:lnTo>
                    <a:lnTo>
                      <a:pt x="104" y="57"/>
                    </a:lnTo>
                    <a:lnTo>
                      <a:pt x="104" y="57"/>
                    </a:lnTo>
                    <a:lnTo>
                      <a:pt x="104" y="55"/>
                    </a:lnTo>
                    <a:lnTo>
                      <a:pt x="104" y="54"/>
                    </a:lnTo>
                    <a:lnTo>
                      <a:pt x="105" y="54"/>
                    </a:lnTo>
                    <a:lnTo>
                      <a:pt x="105" y="52"/>
                    </a:lnTo>
                    <a:lnTo>
                      <a:pt x="105" y="51"/>
                    </a:lnTo>
                    <a:lnTo>
                      <a:pt x="105" y="51"/>
                    </a:lnTo>
                    <a:lnTo>
                      <a:pt x="105" y="49"/>
                    </a:lnTo>
                    <a:lnTo>
                      <a:pt x="105" y="48"/>
                    </a:lnTo>
                    <a:lnTo>
                      <a:pt x="105" y="48"/>
                    </a:lnTo>
                    <a:lnTo>
                      <a:pt x="105" y="46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43"/>
                    </a:lnTo>
                    <a:lnTo>
                      <a:pt x="107" y="42"/>
                    </a:lnTo>
                    <a:lnTo>
                      <a:pt x="107" y="42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7" y="38"/>
                    </a:lnTo>
                    <a:lnTo>
                      <a:pt x="107" y="37"/>
                    </a:lnTo>
                    <a:lnTo>
                      <a:pt x="108" y="35"/>
                    </a:lnTo>
                    <a:lnTo>
                      <a:pt x="108" y="35"/>
                    </a:lnTo>
                    <a:lnTo>
                      <a:pt x="108" y="34"/>
                    </a:lnTo>
                    <a:lnTo>
                      <a:pt x="108" y="34"/>
                    </a:lnTo>
                    <a:lnTo>
                      <a:pt x="108" y="32"/>
                    </a:lnTo>
                    <a:lnTo>
                      <a:pt x="108" y="31"/>
                    </a:lnTo>
                    <a:lnTo>
                      <a:pt x="108" y="29"/>
                    </a:lnTo>
                    <a:lnTo>
                      <a:pt x="108" y="29"/>
                    </a:lnTo>
                    <a:lnTo>
                      <a:pt x="108" y="28"/>
                    </a:lnTo>
                    <a:lnTo>
                      <a:pt x="108" y="26"/>
                    </a:lnTo>
                    <a:lnTo>
                      <a:pt x="108" y="25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8" y="20"/>
                    </a:lnTo>
                    <a:lnTo>
                      <a:pt x="107" y="19"/>
                    </a:lnTo>
                    <a:lnTo>
                      <a:pt x="107" y="16"/>
                    </a:lnTo>
                    <a:lnTo>
                      <a:pt x="107" y="14"/>
                    </a:lnTo>
                    <a:lnTo>
                      <a:pt x="107" y="11"/>
                    </a:lnTo>
                    <a:lnTo>
                      <a:pt x="107" y="9"/>
                    </a:lnTo>
                    <a:lnTo>
                      <a:pt x="107" y="6"/>
                    </a:lnTo>
                    <a:lnTo>
                      <a:pt x="107" y="3"/>
                    </a:lnTo>
                    <a:lnTo>
                      <a:pt x="107" y="0"/>
                    </a:lnTo>
                    <a:lnTo>
                      <a:pt x="0" y="366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81"/>
              <p:cNvSpPr>
                <a:spLocks/>
              </p:cNvSpPr>
              <p:nvPr/>
            </p:nvSpPr>
            <p:spPr bwMode="auto">
              <a:xfrm>
                <a:off x="3403" y="2768"/>
                <a:ext cx="55" cy="183"/>
              </a:xfrm>
              <a:custGeom>
                <a:avLst/>
                <a:gdLst>
                  <a:gd name="T0" fmla="*/ 6 w 108"/>
                  <a:gd name="T1" fmla="*/ 355 h 366"/>
                  <a:gd name="T2" fmla="*/ 12 w 108"/>
                  <a:gd name="T3" fmla="*/ 343 h 366"/>
                  <a:gd name="T4" fmla="*/ 18 w 108"/>
                  <a:gd name="T5" fmla="*/ 334 h 366"/>
                  <a:gd name="T6" fmla="*/ 21 w 108"/>
                  <a:gd name="T7" fmla="*/ 326 h 366"/>
                  <a:gd name="T8" fmla="*/ 24 w 108"/>
                  <a:gd name="T9" fmla="*/ 320 h 366"/>
                  <a:gd name="T10" fmla="*/ 27 w 108"/>
                  <a:gd name="T11" fmla="*/ 315 h 366"/>
                  <a:gd name="T12" fmla="*/ 30 w 108"/>
                  <a:gd name="T13" fmla="*/ 309 h 366"/>
                  <a:gd name="T14" fmla="*/ 33 w 108"/>
                  <a:gd name="T15" fmla="*/ 301 h 366"/>
                  <a:gd name="T16" fmla="*/ 36 w 108"/>
                  <a:gd name="T17" fmla="*/ 295 h 366"/>
                  <a:gd name="T18" fmla="*/ 38 w 108"/>
                  <a:gd name="T19" fmla="*/ 288 h 366"/>
                  <a:gd name="T20" fmla="*/ 41 w 108"/>
                  <a:gd name="T21" fmla="*/ 283 h 366"/>
                  <a:gd name="T22" fmla="*/ 43 w 108"/>
                  <a:gd name="T23" fmla="*/ 279 h 366"/>
                  <a:gd name="T24" fmla="*/ 44 w 108"/>
                  <a:gd name="T25" fmla="*/ 272 h 366"/>
                  <a:gd name="T26" fmla="*/ 47 w 108"/>
                  <a:gd name="T27" fmla="*/ 268 h 366"/>
                  <a:gd name="T28" fmla="*/ 49 w 108"/>
                  <a:gd name="T29" fmla="*/ 262 h 366"/>
                  <a:gd name="T30" fmla="*/ 52 w 108"/>
                  <a:gd name="T31" fmla="*/ 253 h 366"/>
                  <a:gd name="T32" fmla="*/ 55 w 108"/>
                  <a:gd name="T33" fmla="*/ 246 h 366"/>
                  <a:gd name="T34" fmla="*/ 58 w 108"/>
                  <a:gd name="T35" fmla="*/ 237 h 366"/>
                  <a:gd name="T36" fmla="*/ 61 w 108"/>
                  <a:gd name="T37" fmla="*/ 230 h 366"/>
                  <a:gd name="T38" fmla="*/ 62 w 108"/>
                  <a:gd name="T39" fmla="*/ 225 h 366"/>
                  <a:gd name="T40" fmla="*/ 65 w 108"/>
                  <a:gd name="T41" fmla="*/ 219 h 366"/>
                  <a:gd name="T42" fmla="*/ 67 w 108"/>
                  <a:gd name="T43" fmla="*/ 214 h 366"/>
                  <a:gd name="T44" fmla="*/ 69 w 108"/>
                  <a:gd name="T45" fmla="*/ 208 h 366"/>
                  <a:gd name="T46" fmla="*/ 72 w 108"/>
                  <a:gd name="T47" fmla="*/ 201 h 366"/>
                  <a:gd name="T48" fmla="*/ 73 w 108"/>
                  <a:gd name="T49" fmla="*/ 193 h 366"/>
                  <a:gd name="T50" fmla="*/ 76 w 108"/>
                  <a:gd name="T51" fmla="*/ 184 h 366"/>
                  <a:gd name="T52" fmla="*/ 78 w 108"/>
                  <a:gd name="T53" fmla="*/ 176 h 366"/>
                  <a:gd name="T54" fmla="*/ 81 w 108"/>
                  <a:gd name="T55" fmla="*/ 170 h 366"/>
                  <a:gd name="T56" fmla="*/ 82 w 108"/>
                  <a:gd name="T57" fmla="*/ 165 h 366"/>
                  <a:gd name="T58" fmla="*/ 84 w 108"/>
                  <a:gd name="T59" fmla="*/ 159 h 366"/>
                  <a:gd name="T60" fmla="*/ 85 w 108"/>
                  <a:gd name="T61" fmla="*/ 155 h 366"/>
                  <a:gd name="T62" fmla="*/ 87 w 108"/>
                  <a:gd name="T63" fmla="*/ 147 h 366"/>
                  <a:gd name="T64" fmla="*/ 90 w 108"/>
                  <a:gd name="T65" fmla="*/ 138 h 366"/>
                  <a:gd name="T66" fmla="*/ 93 w 108"/>
                  <a:gd name="T67" fmla="*/ 130 h 366"/>
                  <a:gd name="T68" fmla="*/ 94 w 108"/>
                  <a:gd name="T69" fmla="*/ 123 h 366"/>
                  <a:gd name="T70" fmla="*/ 96 w 108"/>
                  <a:gd name="T71" fmla="*/ 116 h 366"/>
                  <a:gd name="T72" fmla="*/ 98 w 108"/>
                  <a:gd name="T73" fmla="*/ 112 h 366"/>
                  <a:gd name="T74" fmla="*/ 99 w 108"/>
                  <a:gd name="T75" fmla="*/ 107 h 366"/>
                  <a:gd name="T76" fmla="*/ 99 w 108"/>
                  <a:gd name="T77" fmla="*/ 101 h 366"/>
                  <a:gd name="T78" fmla="*/ 101 w 108"/>
                  <a:gd name="T79" fmla="*/ 95 h 366"/>
                  <a:gd name="T80" fmla="*/ 101 w 108"/>
                  <a:gd name="T81" fmla="*/ 87 h 366"/>
                  <a:gd name="T82" fmla="*/ 101 w 108"/>
                  <a:gd name="T83" fmla="*/ 81 h 366"/>
                  <a:gd name="T84" fmla="*/ 102 w 108"/>
                  <a:gd name="T85" fmla="*/ 75 h 366"/>
                  <a:gd name="T86" fmla="*/ 102 w 108"/>
                  <a:gd name="T87" fmla="*/ 69 h 366"/>
                  <a:gd name="T88" fmla="*/ 102 w 108"/>
                  <a:gd name="T89" fmla="*/ 64 h 366"/>
                  <a:gd name="T90" fmla="*/ 104 w 108"/>
                  <a:gd name="T91" fmla="*/ 61 h 366"/>
                  <a:gd name="T92" fmla="*/ 104 w 108"/>
                  <a:gd name="T93" fmla="*/ 58 h 366"/>
                  <a:gd name="T94" fmla="*/ 104 w 108"/>
                  <a:gd name="T95" fmla="*/ 54 h 366"/>
                  <a:gd name="T96" fmla="*/ 105 w 108"/>
                  <a:gd name="T97" fmla="*/ 51 h 366"/>
                  <a:gd name="T98" fmla="*/ 105 w 108"/>
                  <a:gd name="T99" fmla="*/ 46 h 366"/>
                  <a:gd name="T100" fmla="*/ 107 w 108"/>
                  <a:gd name="T101" fmla="*/ 42 h 366"/>
                  <a:gd name="T102" fmla="*/ 107 w 108"/>
                  <a:gd name="T103" fmla="*/ 38 h 366"/>
                  <a:gd name="T104" fmla="*/ 108 w 108"/>
                  <a:gd name="T105" fmla="*/ 34 h 366"/>
                  <a:gd name="T106" fmla="*/ 108 w 108"/>
                  <a:gd name="T107" fmla="*/ 29 h 366"/>
                  <a:gd name="T108" fmla="*/ 108 w 108"/>
                  <a:gd name="T109" fmla="*/ 25 h 366"/>
                  <a:gd name="T110" fmla="*/ 107 w 108"/>
                  <a:gd name="T111" fmla="*/ 19 h 366"/>
                  <a:gd name="T112" fmla="*/ 107 w 108"/>
                  <a:gd name="T113" fmla="*/ 9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8" h="366">
                    <a:moveTo>
                      <a:pt x="0" y="366"/>
                    </a:moveTo>
                    <a:lnTo>
                      <a:pt x="1" y="361"/>
                    </a:lnTo>
                    <a:lnTo>
                      <a:pt x="4" y="358"/>
                    </a:lnTo>
                    <a:lnTo>
                      <a:pt x="6" y="355"/>
                    </a:lnTo>
                    <a:lnTo>
                      <a:pt x="7" y="352"/>
                    </a:lnTo>
                    <a:lnTo>
                      <a:pt x="9" y="349"/>
                    </a:lnTo>
                    <a:lnTo>
                      <a:pt x="10" y="346"/>
                    </a:lnTo>
                    <a:lnTo>
                      <a:pt x="12" y="343"/>
                    </a:lnTo>
                    <a:lnTo>
                      <a:pt x="13" y="340"/>
                    </a:lnTo>
                    <a:lnTo>
                      <a:pt x="15" y="338"/>
                    </a:lnTo>
                    <a:lnTo>
                      <a:pt x="17" y="335"/>
                    </a:lnTo>
                    <a:lnTo>
                      <a:pt x="18" y="334"/>
                    </a:lnTo>
                    <a:lnTo>
                      <a:pt x="18" y="332"/>
                    </a:lnTo>
                    <a:lnTo>
                      <a:pt x="20" y="329"/>
                    </a:lnTo>
                    <a:lnTo>
                      <a:pt x="21" y="327"/>
                    </a:lnTo>
                    <a:lnTo>
                      <a:pt x="21" y="326"/>
                    </a:lnTo>
                    <a:lnTo>
                      <a:pt x="23" y="324"/>
                    </a:lnTo>
                    <a:lnTo>
                      <a:pt x="23" y="323"/>
                    </a:lnTo>
                    <a:lnTo>
                      <a:pt x="24" y="321"/>
                    </a:lnTo>
                    <a:lnTo>
                      <a:pt x="24" y="320"/>
                    </a:lnTo>
                    <a:lnTo>
                      <a:pt x="26" y="318"/>
                    </a:lnTo>
                    <a:lnTo>
                      <a:pt x="26" y="317"/>
                    </a:lnTo>
                    <a:lnTo>
                      <a:pt x="27" y="315"/>
                    </a:lnTo>
                    <a:lnTo>
                      <a:pt x="27" y="315"/>
                    </a:lnTo>
                    <a:lnTo>
                      <a:pt x="29" y="314"/>
                    </a:lnTo>
                    <a:lnTo>
                      <a:pt x="29" y="312"/>
                    </a:lnTo>
                    <a:lnTo>
                      <a:pt x="29" y="311"/>
                    </a:lnTo>
                    <a:lnTo>
                      <a:pt x="30" y="309"/>
                    </a:lnTo>
                    <a:lnTo>
                      <a:pt x="30" y="306"/>
                    </a:lnTo>
                    <a:lnTo>
                      <a:pt x="32" y="305"/>
                    </a:lnTo>
                    <a:lnTo>
                      <a:pt x="32" y="303"/>
                    </a:lnTo>
                    <a:lnTo>
                      <a:pt x="33" y="301"/>
                    </a:lnTo>
                    <a:lnTo>
                      <a:pt x="33" y="298"/>
                    </a:lnTo>
                    <a:lnTo>
                      <a:pt x="33" y="298"/>
                    </a:lnTo>
                    <a:lnTo>
                      <a:pt x="35" y="297"/>
                    </a:lnTo>
                    <a:lnTo>
                      <a:pt x="36" y="295"/>
                    </a:lnTo>
                    <a:lnTo>
                      <a:pt x="36" y="294"/>
                    </a:lnTo>
                    <a:lnTo>
                      <a:pt x="38" y="291"/>
                    </a:lnTo>
                    <a:lnTo>
                      <a:pt x="38" y="289"/>
                    </a:lnTo>
                    <a:lnTo>
                      <a:pt x="38" y="288"/>
                    </a:lnTo>
                    <a:lnTo>
                      <a:pt x="39" y="286"/>
                    </a:lnTo>
                    <a:lnTo>
                      <a:pt x="39" y="285"/>
                    </a:lnTo>
                    <a:lnTo>
                      <a:pt x="41" y="285"/>
                    </a:lnTo>
                    <a:lnTo>
                      <a:pt x="41" y="283"/>
                    </a:lnTo>
                    <a:lnTo>
                      <a:pt x="41" y="282"/>
                    </a:lnTo>
                    <a:lnTo>
                      <a:pt x="43" y="280"/>
                    </a:lnTo>
                    <a:lnTo>
                      <a:pt x="43" y="279"/>
                    </a:lnTo>
                    <a:lnTo>
                      <a:pt x="43" y="279"/>
                    </a:lnTo>
                    <a:lnTo>
                      <a:pt x="43" y="277"/>
                    </a:lnTo>
                    <a:lnTo>
                      <a:pt x="44" y="275"/>
                    </a:lnTo>
                    <a:lnTo>
                      <a:pt x="44" y="274"/>
                    </a:lnTo>
                    <a:lnTo>
                      <a:pt x="44" y="272"/>
                    </a:lnTo>
                    <a:lnTo>
                      <a:pt x="46" y="272"/>
                    </a:lnTo>
                    <a:lnTo>
                      <a:pt x="46" y="271"/>
                    </a:lnTo>
                    <a:lnTo>
                      <a:pt x="46" y="269"/>
                    </a:lnTo>
                    <a:lnTo>
                      <a:pt x="47" y="268"/>
                    </a:lnTo>
                    <a:lnTo>
                      <a:pt x="47" y="266"/>
                    </a:lnTo>
                    <a:lnTo>
                      <a:pt x="47" y="265"/>
                    </a:lnTo>
                    <a:lnTo>
                      <a:pt x="49" y="263"/>
                    </a:lnTo>
                    <a:lnTo>
                      <a:pt x="49" y="262"/>
                    </a:lnTo>
                    <a:lnTo>
                      <a:pt x="50" y="260"/>
                    </a:lnTo>
                    <a:lnTo>
                      <a:pt x="50" y="257"/>
                    </a:lnTo>
                    <a:lnTo>
                      <a:pt x="52" y="256"/>
                    </a:lnTo>
                    <a:lnTo>
                      <a:pt x="52" y="253"/>
                    </a:lnTo>
                    <a:lnTo>
                      <a:pt x="53" y="251"/>
                    </a:lnTo>
                    <a:lnTo>
                      <a:pt x="53" y="248"/>
                    </a:lnTo>
                    <a:lnTo>
                      <a:pt x="53" y="248"/>
                    </a:lnTo>
                    <a:lnTo>
                      <a:pt x="55" y="246"/>
                    </a:lnTo>
                    <a:lnTo>
                      <a:pt x="56" y="243"/>
                    </a:lnTo>
                    <a:lnTo>
                      <a:pt x="56" y="242"/>
                    </a:lnTo>
                    <a:lnTo>
                      <a:pt x="58" y="239"/>
                    </a:lnTo>
                    <a:lnTo>
                      <a:pt x="58" y="237"/>
                    </a:lnTo>
                    <a:lnTo>
                      <a:pt x="59" y="236"/>
                    </a:lnTo>
                    <a:lnTo>
                      <a:pt x="59" y="234"/>
                    </a:lnTo>
                    <a:lnTo>
                      <a:pt x="61" y="231"/>
                    </a:lnTo>
                    <a:lnTo>
                      <a:pt x="61" y="230"/>
                    </a:lnTo>
                    <a:lnTo>
                      <a:pt x="61" y="228"/>
                    </a:lnTo>
                    <a:lnTo>
                      <a:pt x="62" y="227"/>
                    </a:lnTo>
                    <a:lnTo>
                      <a:pt x="62" y="227"/>
                    </a:lnTo>
                    <a:lnTo>
                      <a:pt x="62" y="225"/>
                    </a:lnTo>
                    <a:lnTo>
                      <a:pt x="64" y="223"/>
                    </a:lnTo>
                    <a:lnTo>
                      <a:pt x="64" y="222"/>
                    </a:lnTo>
                    <a:lnTo>
                      <a:pt x="64" y="220"/>
                    </a:lnTo>
                    <a:lnTo>
                      <a:pt x="65" y="219"/>
                    </a:lnTo>
                    <a:lnTo>
                      <a:pt x="65" y="217"/>
                    </a:lnTo>
                    <a:lnTo>
                      <a:pt x="65" y="216"/>
                    </a:lnTo>
                    <a:lnTo>
                      <a:pt x="65" y="216"/>
                    </a:lnTo>
                    <a:lnTo>
                      <a:pt x="67" y="214"/>
                    </a:lnTo>
                    <a:lnTo>
                      <a:pt x="67" y="213"/>
                    </a:lnTo>
                    <a:lnTo>
                      <a:pt x="67" y="211"/>
                    </a:lnTo>
                    <a:lnTo>
                      <a:pt x="69" y="210"/>
                    </a:lnTo>
                    <a:lnTo>
                      <a:pt x="69" y="208"/>
                    </a:lnTo>
                    <a:lnTo>
                      <a:pt x="69" y="207"/>
                    </a:lnTo>
                    <a:lnTo>
                      <a:pt x="70" y="204"/>
                    </a:lnTo>
                    <a:lnTo>
                      <a:pt x="70" y="202"/>
                    </a:lnTo>
                    <a:lnTo>
                      <a:pt x="72" y="201"/>
                    </a:lnTo>
                    <a:lnTo>
                      <a:pt x="72" y="197"/>
                    </a:lnTo>
                    <a:lnTo>
                      <a:pt x="73" y="196"/>
                    </a:lnTo>
                    <a:lnTo>
                      <a:pt x="73" y="193"/>
                    </a:lnTo>
                    <a:lnTo>
                      <a:pt x="73" y="193"/>
                    </a:lnTo>
                    <a:lnTo>
                      <a:pt x="75" y="190"/>
                    </a:lnTo>
                    <a:lnTo>
                      <a:pt x="75" y="188"/>
                    </a:lnTo>
                    <a:lnTo>
                      <a:pt x="76" y="185"/>
                    </a:lnTo>
                    <a:lnTo>
                      <a:pt x="76" y="184"/>
                    </a:lnTo>
                    <a:lnTo>
                      <a:pt x="76" y="182"/>
                    </a:lnTo>
                    <a:lnTo>
                      <a:pt x="78" y="179"/>
                    </a:lnTo>
                    <a:lnTo>
                      <a:pt x="78" y="178"/>
                    </a:lnTo>
                    <a:lnTo>
                      <a:pt x="78" y="176"/>
                    </a:lnTo>
                    <a:lnTo>
                      <a:pt x="79" y="175"/>
                    </a:lnTo>
                    <a:lnTo>
                      <a:pt x="79" y="173"/>
                    </a:lnTo>
                    <a:lnTo>
                      <a:pt x="79" y="171"/>
                    </a:lnTo>
                    <a:lnTo>
                      <a:pt x="81" y="170"/>
                    </a:lnTo>
                    <a:lnTo>
                      <a:pt x="81" y="168"/>
                    </a:lnTo>
                    <a:lnTo>
                      <a:pt x="81" y="168"/>
                    </a:lnTo>
                    <a:lnTo>
                      <a:pt x="81" y="167"/>
                    </a:lnTo>
                    <a:lnTo>
                      <a:pt x="82" y="165"/>
                    </a:lnTo>
                    <a:lnTo>
                      <a:pt x="82" y="164"/>
                    </a:lnTo>
                    <a:lnTo>
                      <a:pt x="82" y="162"/>
                    </a:lnTo>
                    <a:lnTo>
                      <a:pt x="82" y="161"/>
                    </a:lnTo>
                    <a:lnTo>
                      <a:pt x="84" y="159"/>
                    </a:lnTo>
                    <a:lnTo>
                      <a:pt x="84" y="158"/>
                    </a:lnTo>
                    <a:lnTo>
                      <a:pt x="84" y="158"/>
                    </a:lnTo>
                    <a:lnTo>
                      <a:pt x="85" y="156"/>
                    </a:lnTo>
                    <a:lnTo>
                      <a:pt x="85" y="155"/>
                    </a:lnTo>
                    <a:lnTo>
                      <a:pt x="85" y="152"/>
                    </a:lnTo>
                    <a:lnTo>
                      <a:pt x="87" y="150"/>
                    </a:lnTo>
                    <a:lnTo>
                      <a:pt x="87" y="149"/>
                    </a:lnTo>
                    <a:lnTo>
                      <a:pt x="87" y="147"/>
                    </a:lnTo>
                    <a:lnTo>
                      <a:pt x="88" y="144"/>
                    </a:lnTo>
                    <a:lnTo>
                      <a:pt x="88" y="142"/>
                    </a:lnTo>
                    <a:lnTo>
                      <a:pt x="90" y="139"/>
                    </a:lnTo>
                    <a:lnTo>
                      <a:pt x="90" y="138"/>
                    </a:lnTo>
                    <a:lnTo>
                      <a:pt x="90" y="138"/>
                    </a:lnTo>
                    <a:lnTo>
                      <a:pt x="91" y="135"/>
                    </a:lnTo>
                    <a:lnTo>
                      <a:pt x="91" y="133"/>
                    </a:lnTo>
                    <a:lnTo>
                      <a:pt x="93" y="130"/>
                    </a:lnTo>
                    <a:lnTo>
                      <a:pt x="93" y="129"/>
                    </a:lnTo>
                    <a:lnTo>
                      <a:pt x="94" y="127"/>
                    </a:lnTo>
                    <a:lnTo>
                      <a:pt x="94" y="124"/>
                    </a:lnTo>
                    <a:lnTo>
                      <a:pt x="94" y="123"/>
                    </a:lnTo>
                    <a:lnTo>
                      <a:pt x="96" y="121"/>
                    </a:lnTo>
                    <a:lnTo>
                      <a:pt x="96" y="120"/>
                    </a:lnTo>
                    <a:lnTo>
                      <a:pt x="96" y="118"/>
                    </a:lnTo>
                    <a:lnTo>
                      <a:pt x="96" y="116"/>
                    </a:lnTo>
                    <a:lnTo>
                      <a:pt x="98" y="115"/>
                    </a:lnTo>
                    <a:lnTo>
                      <a:pt x="98" y="113"/>
                    </a:lnTo>
                    <a:lnTo>
                      <a:pt x="98" y="113"/>
                    </a:lnTo>
                    <a:lnTo>
                      <a:pt x="98" y="112"/>
                    </a:lnTo>
                    <a:lnTo>
                      <a:pt x="98" y="110"/>
                    </a:lnTo>
                    <a:lnTo>
                      <a:pt x="98" y="109"/>
                    </a:lnTo>
                    <a:lnTo>
                      <a:pt x="99" y="107"/>
                    </a:lnTo>
                    <a:lnTo>
                      <a:pt x="99" y="107"/>
                    </a:lnTo>
                    <a:lnTo>
                      <a:pt x="99" y="106"/>
                    </a:lnTo>
                    <a:lnTo>
                      <a:pt x="99" y="104"/>
                    </a:lnTo>
                    <a:lnTo>
                      <a:pt x="99" y="103"/>
                    </a:lnTo>
                    <a:lnTo>
                      <a:pt x="99" y="101"/>
                    </a:lnTo>
                    <a:lnTo>
                      <a:pt x="99" y="100"/>
                    </a:lnTo>
                    <a:lnTo>
                      <a:pt x="99" y="98"/>
                    </a:lnTo>
                    <a:lnTo>
                      <a:pt x="99" y="97"/>
                    </a:lnTo>
                    <a:lnTo>
                      <a:pt x="101" y="95"/>
                    </a:lnTo>
                    <a:lnTo>
                      <a:pt x="101" y="94"/>
                    </a:lnTo>
                    <a:lnTo>
                      <a:pt x="101" y="92"/>
                    </a:lnTo>
                    <a:lnTo>
                      <a:pt x="101" y="90"/>
                    </a:lnTo>
                    <a:lnTo>
                      <a:pt x="101" y="87"/>
                    </a:lnTo>
                    <a:lnTo>
                      <a:pt x="101" y="86"/>
                    </a:lnTo>
                    <a:lnTo>
                      <a:pt x="101" y="86"/>
                    </a:lnTo>
                    <a:lnTo>
                      <a:pt x="101" y="84"/>
                    </a:lnTo>
                    <a:lnTo>
                      <a:pt x="101" y="81"/>
                    </a:lnTo>
                    <a:lnTo>
                      <a:pt x="101" y="80"/>
                    </a:lnTo>
                    <a:lnTo>
                      <a:pt x="102" y="78"/>
                    </a:lnTo>
                    <a:lnTo>
                      <a:pt x="102" y="77"/>
                    </a:lnTo>
                    <a:lnTo>
                      <a:pt x="102" y="75"/>
                    </a:lnTo>
                    <a:lnTo>
                      <a:pt x="102" y="74"/>
                    </a:lnTo>
                    <a:lnTo>
                      <a:pt x="102" y="72"/>
                    </a:lnTo>
                    <a:lnTo>
                      <a:pt x="102" y="71"/>
                    </a:lnTo>
                    <a:lnTo>
                      <a:pt x="102" y="69"/>
                    </a:lnTo>
                    <a:lnTo>
                      <a:pt x="102" y="68"/>
                    </a:lnTo>
                    <a:lnTo>
                      <a:pt x="102" y="68"/>
                    </a:lnTo>
                    <a:lnTo>
                      <a:pt x="102" y="66"/>
                    </a:lnTo>
                    <a:lnTo>
                      <a:pt x="102" y="64"/>
                    </a:lnTo>
                    <a:lnTo>
                      <a:pt x="102" y="64"/>
                    </a:lnTo>
                    <a:lnTo>
                      <a:pt x="104" y="63"/>
                    </a:lnTo>
                    <a:lnTo>
                      <a:pt x="104" y="63"/>
                    </a:lnTo>
                    <a:lnTo>
                      <a:pt x="104" y="61"/>
                    </a:lnTo>
                    <a:lnTo>
                      <a:pt x="104" y="61"/>
                    </a:lnTo>
                    <a:lnTo>
                      <a:pt x="104" y="60"/>
                    </a:lnTo>
                    <a:lnTo>
                      <a:pt x="104" y="58"/>
                    </a:lnTo>
                    <a:lnTo>
                      <a:pt x="104" y="58"/>
                    </a:lnTo>
                    <a:lnTo>
                      <a:pt x="104" y="57"/>
                    </a:lnTo>
                    <a:lnTo>
                      <a:pt x="104" y="57"/>
                    </a:lnTo>
                    <a:lnTo>
                      <a:pt x="104" y="55"/>
                    </a:lnTo>
                    <a:lnTo>
                      <a:pt x="104" y="54"/>
                    </a:lnTo>
                    <a:lnTo>
                      <a:pt x="105" y="54"/>
                    </a:lnTo>
                    <a:lnTo>
                      <a:pt x="105" y="52"/>
                    </a:lnTo>
                    <a:lnTo>
                      <a:pt x="105" y="51"/>
                    </a:lnTo>
                    <a:lnTo>
                      <a:pt x="105" y="51"/>
                    </a:lnTo>
                    <a:lnTo>
                      <a:pt x="105" y="49"/>
                    </a:lnTo>
                    <a:lnTo>
                      <a:pt x="105" y="48"/>
                    </a:lnTo>
                    <a:lnTo>
                      <a:pt x="105" y="48"/>
                    </a:lnTo>
                    <a:lnTo>
                      <a:pt x="105" y="46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43"/>
                    </a:lnTo>
                    <a:lnTo>
                      <a:pt x="107" y="42"/>
                    </a:lnTo>
                    <a:lnTo>
                      <a:pt x="107" y="42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7" y="38"/>
                    </a:lnTo>
                    <a:lnTo>
                      <a:pt x="107" y="37"/>
                    </a:lnTo>
                    <a:lnTo>
                      <a:pt x="108" y="35"/>
                    </a:lnTo>
                    <a:lnTo>
                      <a:pt x="108" y="35"/>
                    </a:lnTo>
                    <a:lnTo>
                      <a:pt x="108" y="34"/>
                    </a:lnTo>
                    <a:lnTo>
                      <a:pt x="108" y="34"/>
                    </a:lnTo>
                    <a:lnTo>
                      <a:pt x="108" y="32"/>
                    </a:lnTo>
                    <a:lnTo>
                      <a:pt x="108" y="31"/>
                    </a:lnTo>
                    <a:lnTo>
                      <a:pt x="108" y="29"/>
                    </a:lnTo>
                    <a:lnTo>
                      <a:pt x="108" y="29"/>
                    </a:lnTo>
                    <a:lnTo>
                      <a:pt x="108" y="28"/>
                    </a:lnTo>
                    <a:lnTo>
                      <a:pt x="108" y="26"/>
                    </a:lnTo>
                    <a:lnTo>
                      <a:pt x="108" y="25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8" y="20"/>
                    </a:lnTo>
                    <a:lnTo>
                      <a:pt x="107" y="19"/>
                    </a:lnTo>
                    <a:lnTo>
                      <a:pt x="107" y="16"/>
                    </a:lnTo>
                    <a:lnTo>
                      <a:pt x="107" y="14"/>
                    </a:lnTo>
                    <a:lnTo>
                      <a:pt x="107" y="11"/>
                    </a:lnTo>
                    <a:lnTo>
                      <a:pt x="107" y="9"/>
                    </a:lnTo>
                    <a:lnTo>
                      <a:pt x="107" y="6"/>
                    </a:lnTo>
                    <a:lnTo>
                      <a:pt x="107" y="3"/>
                    </a:lnTo>
                    <a:lnTo>
                      <a:pt x="107" y="0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87" name="Object 82"/>
          <p:cNvGraphicFramePr>
            <a:graphicFrameLocks noChangeAspect="1"/>
          </p:cNvGraphicFramePr>
          <p:nvPr/>
        </p:nvGraphicFramePr>
        <p:xfrm>
          <a:off x="5543550" y="1949450"/>
          <a:ext cx="24844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1206360" imgH="393480" progId="Equation.3">
                  <p:embed/>
                </p:oleObj>
              </mc:Choice>
              <mc:Fallback>
                <p:oleObj name="Equation" r:id="rId4" imgW="1206360" imgH="393480" progId="Equation.3">
                  <p:embed/>
                  <p:pic>
                    <p:nvPicPr>
                      <p:cNvPr id="87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1949450"/>
                        <a:ext cx="248443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Text Box 83"/>
          <p:cNvSpPr txBox="1">
            <a:spLocks noChangeArrowheads="1"/>
          </p:cNvSpPr>
          <p:nvPr/>
        </p:nvSpPr>
        <p:spPr bwMode="auto">
          <a:xfrm>
            <a:off x="4800600" y="1447800"/>
            <a:ext cx="3849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dirty="0">
                <a:latin typeface="Arial" pitchFamily="34" charset="0"/>
              </a:rPr>
              <a:t>Implement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77384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SPLD - PAL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89" name="Group 4"/>
          <p:cNvGrpSpPr>
            <a:grpSpLocks/>
          </p:cNvGrpSpPr>
          <p:nvPr/>
        </p:nvGrpSpPr>
        <p:grpSpPr bwMode="auto">
          <a:xfrm>
            <a:off x="1295400" y="1360487"/>
            <a:ext cx="5926138" cy="4752975"/>
            <a:chOff x="900" y="670"/>
            <a:chExt cx="3841" cy="3236"/>
          </a:xfrm>
        </p:grpSpPr>
        <p:sp>
          <p:nvSpPr>
            <p:cNvPr id="90" name="Rectangle 5"/>
            <p:cNvSpPr>
              <a:spLocks noChangeArrowheads="1"/>
            </p:cNvSpPr>
            <p:nvPr/>
          </p:nvSpPr>
          <p:spPr bwMode="auto">
            <a:xfrm>
              <a:off x="900" y="1573"/>
              <a:ext cx="2537" cy="233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>
              <a:spLocks/>
            </p:cNvSpPr>
            <p:nvPr/>
          </p:nvSpPr>
          <p:spPr bwMode="auto">
            <a:xfrm>
              <a:off x="2998" y="2218"/>
              <a:ext cx="330" cy="329"/>
            </a:xfrm>
            <a:custGeom>
              <a:avLst/>
              <a:gdLst>
                <a:gd name="T0" fmla="*/ 312 w 658"/>
                <a:gd name="T1" fmla="*/ 0 h 659"/>
                <a:gd name="T2" fmla="*/ 263 w 658"/>
                <a:gd name="T3" fmla="*/ 7 h 659"/>
                <a:gd name="T4" fmla="*/ 216 w 658"/>
                <a:gd name="T5" fmla="*/ 20 h 659"/>
                <a:gd name="T6" fmla="*/ 172 w 658"/>
                <a:gd name="T7" fmla="*/ 40 h 659"/>
                <a:gd name="T8" fmla="*/ 133 w 658"/>
                <a:gd name="T9" fmla="*/ 66 h 659"/>
                <a:gd name="T10" fmla="*/ 97 w 658"/>
                <a:gd name="T11" fmla="*/ 96 h 659"/>
                <a:gd name="T12" fmla="*/ 65 w 658"/>
                <a:gd name="T13" fmla="*/ 132 h 659"/>
                <a:gd name="T14" fmla="*/ 39 w 658"/>
                <a:gd name="T15" fmla="*/ 172 h 659"/>
                <a:gd name="T16" fmla="*/ 20 w 658"/>
                <a:gd name="T17" fmla="*/ 216 h 659"/>
                <a:gd name="T18" fmla="*/ 6 w 658"/>
                <a:gd name="T19" fmla="*/ 263 h 659"/>
                <a:gd name="T20" fmla="*/ 1 w 658"/>
                <a:gd name="T21" fmla="*/ 312 h 659"/>
                <a:gd name="T22" fmla="*/ 1 w 658"/>
                <a:gd name="T23" fmla="*/ 346 h 659"/>
                <a:gd name="T24" fmla="*/ 6 w 658"/>
                <a:gd name="T25" fmla="*/ 396 h 659"/>
                <a:gd name="T26" fmla="*/ 20 w 658"/>
                <a:gd name="T27" fmla="*/ 442 h 659"/>
                <a:gd name="T28" fmla="*/ 39 w 658"/>
                <a:gd name="T29" fmla="*/ 486 h 659"/>
                <a:gd name="T30" fmla="*/ 65 w 658"/>
                <a:gd name="T31" fmla="*/ 526 h 659"/>
                <a:gd name="T32" fmla="*/ 97 w 658"/>
                <a:gd name="T33" fmla="*/ 563 h 659"/>
                <a:gd name="T34" fmla="*/ 133 w 658"/>
                <a:gd name="T35" fmla="*/ 593 h 659"/>
                <a:gd name="T36" fmla="*/ 172 w 658"/>
                <a:gd name="T37" fmla="*/ 619 h 659"/>
                <a:gd name="T38" fmla="*/ 216 w 658"/>
                <a:gd name="T39" fmla="*/ 639 h 659"/>
                <a:gd name="T40" fmla="*/ 263 w 658"/>
                <a:gd name="T41" fmla="*/ 652 h 659"/>
                <a:gd name="T42" fmla="*/ 312 w 658"/>
                <a:gd name="T43" fmla="*/ 659 h 659"/>
                <a:gd name="T44" fmla="*/ 347 w 658"/>
                <a:gd name="T45" fmla="*/ 659 h 659"/>
                <a:gd name="T46" fmla="*/ 396 w 658"/>
                <a:gd name="T47" fmla="*/ 652 h 659"/>
                <a:gd name="T48" fmla="*/ 443 w 658"/>
                <a:gd name="T49" fmla="*/ 639 h 659"/>
                <a:gd name="T50" fmla="*/ 487 w 658"/>
                <a:gd name="T51" fmla="*/ 619 h 659"/>
                <a:gd name="T52" fmla="*/ 526 w 658"/>
                <a:gd name="T53" fmla="*/ 593 h 659"/>
                <a:gd name="T54" fmla="*/ 562 w 658"/>
                <a:gd name="T55" fmla="*/ 563 h 659"/>
                <a:gd name="T56" fmla="*/ 594 w 658"/>
                <a:gd name="T57" fmla="*/ 526 h 659"/>
                <a:gd name="T58" fmla="*/ 620 w 658"/>
                <a:gd name="T59" fmla="*/ 486 h 659"/>
                <a:gd name="T60" fmla="*/ 639 w 658"/>
                <a:gd name="T61" fmla="*/ 442 h 659"/>
                <a:gd name="T62" fmla="*/ 653 w 658"/>
                <a:gd name="T63" fmla="*/ 396 h 659"/>
                <a:gd name="T64" fmla="*/ 658 w 658"/>
                <a:gd name="T65" fmla="*/ 346 h 659"/>
                <a:gd name="T66" fmla="*/ 658 w 658"/>
                <a:gd name="T67" fmla="*/ 312 h 659"/>
                <a:gd name="T68" fmla="*/ 653 w 658"/>
                <a:gd name="T69" fmla="*/ 263 h 659"/>
                <a:gd name="T70" fmla="*/ 639 w 658"/>
                <a:gd name="T71" fmla="*/ 216 h 659"/>
                <a:gd name="T72" fmla="*/ 620 w 658"/>
                <a:gd name="T73" fmla="*/ 172 h 659"/>
                <a:gd name="T74" fmla="*/ 594 w 658"/>
                <a:gd name="T75" fmla="*/ 132 h 659"/>
                <a:gd name="T76" fmla="*/ 562 w 658"/>
                <a:gd name="T77" fmla="*/ 96 h 659"/>
                <a:gd name="T78" fmla="*/ 526 w 658"/>
                <a:gd name="T79" fmla="*/ 66 h 659"/>
                <a:gd name="T80" fmla="*/ 487 w 658"/>
                <a:gd name="T81" fmla="*/ 40 h 659"/>
                <a:gd name="T82" fmla="*/ 443 w 658"/>
                <a:gd name="T83" fmla="*/ 20 h 659"/>
                <a:gd name="T84" fmla="*/ 396 w 658"/>
                <a:gd name="T85" fmla="*/ 7 h 659"/>
                <a:gd name="T86" fmla="*/ 347 w 658"/>
                <a:gd name="T87" fmla="*/ 0 h 659"/>
                <a:gd name="T88" fmla="*/ 329 w 658"/>
                <a:gd name="T89" fmla="*/ 33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8" h="659">
                  <a:moveTo>
                    <a:pt x="329" y="330"/>
                  </a:moveTo>
                  <a:lnTo>
                    <a:pt x="329" y="0"/>
                  </a:lnTo>
                  <a:lnTo>
                    <a:pt x="312" y="0"/>
                  </a:lnTo>
                  <a:lnTo>
                    <a:pt x="296" y="2"/>
                  </a:lnTo>
                  <a:lnTo>
                    <a:pt x="279" y="4"/>
                  </a:lnTo>
                  <a:lnTo>
                    <a:pt x="263" y="7"/>
                  </a:lnTo>
                  <a:lnTo>
                    <a:pt x="248" y="10"/>
                  </a:lnTo>
                  <a:lnTo>
                    <a:pt x="231" y="15"/>
                  </a:lnTo>
                  <a:lnTo>
                    <a:pt x="216" y="20"/>
                  </a:lnTo>
                  <a:lnTo>
                    <a:pt x="201" y="26"/>
                  </a:lnTo>
                  <a:lnTo>
                    <a:pt x="186" y="33"/>
                  </a:lnTo>
                  <a:lnTo>
                    <a:pt x="172" y="40"/>
                  </a:lnTo>
                  <a:lnTo>
                    <a:pt x="159" y="48"/>
                  </a:lnTo>
                  <a:lnTo>
                    <a:pt x="145" y="57"/>
                  </a:lnTo>
                  <a:lnTo>
                    <a:pt x="133" y="66"/>
                  </a:lnTo>
                  <a:lnTo>
                    <a:pt x="120" y="76"/>
                  </a:lnTo>
                  <a:lnTo>
                    <a:pt x="108" y="85"/>
                  </a:lnTo>
                  <a:lnTo>
                    <a:pt x="97" y="96"/>
                  </a:lnTo>
                  <a:lnTo>
                    <a:pt x="86" y="107"/>
                  </a:lnTo>
                  <a:lnTo>
                    <a:pt x="75" y="120"/>
                  </a:lnTo>
                  <a:lnTo>
                    <a:pt x="65" y="132"/>
                  </a:lnTo>
                  <a:lnTo>
                    <a:pt x="56" y="146"/>
                  </a:lnTo>
                  <a:lnTo>
                    <a:pt x="48" y="158"/>
                  </a:lnTo>
                  <a:lnTo>
                    <a:pt x="39" y="172"/>
                  </a:lnTo>
                  <a:lnTo>
                    <a:pt x="33" y="187"/>
                  </a:lnTo>
                  <a:lnTo>
                    <a:pt x="26" y="201"/>
                  </a:lnTo>
                  <a:lnTo>
                    <a:pt x="20" y="216"/>
                  </a:lnTo>
                  <a:lnTo>
                    <a:pt x="15" y="231"/>
                  </a:lnTo>
                  <a:lnTo>
                    <a:pt x="11" y="247"/>
                  </a:lnTo>
                  <a:lnTo>
                    <a:pt x="6" y="263"/>
                  </a:lnTo>
                  <a:lnTo>
                    <a:pt x="4" y="279"/>
                  </a:lnTo>
                  <a:lnTo>
                    <a:pt x="2" y="295"/>
                  </a:lnTo>
                  <a:lnTo>
                    <a:pt x="1" y="312"/>
                  </a:lnTo>
                  <a:lnTo>
                    <a:pt x="0" y="330"/>
                  </a:lnTo>
                  <a:lnTo>
                    <a:pt x="0" y="330"/>
                  </a:lnTo>
                  <a:lnTo>
                    <a:pt x="1" y="346"/>
                  </a:lnTo>
                  <a:lnTo>
                    <a:pt x="2" y="363"/>
                  </a:lnTo>
                  <a:lnTo>
                    <a:pt x="4" y="379"/>
                  </a:lnTo>
                  <a:lnTo>
                    <a:pt x="6" y="396"/>
                  </a:lnTo>
                  <a:lnTo>
                    <a:pt x="11" y="412"/>
                  </a:lnTo>
                  <a:lnTo>
                    <a:pt x="15" y="427"/>
                  </a:lnTo>
                  <a:lnTo>
                    <a:pt x="20" y="442"/>
                  </a:lnTo>
                  <a:lnTo>
                    <a:pt x="26" y="457"/>
                  </a:lnTo>
                  <a:lnTo>
                    <a:pt x="33" y="473"/>
                  </a:lnTo>
                  <a:lnTo>
                    <a:pt x="39" y="486"/>
                  </a:lnTo>
                  <a:lnTo>
                    <a:pt x="48" y="500"/>
                  </a:lnTo>
                  <a:lnTo>
                    <a:pt x="56" y="514"/>
                  </a:lnTo>
                  <a:lnTo>
                    <a:pt x="65" y="526"/>
                  </a:lnTo>
                  <a:lnTo>
                    <a:pt x="75" y="538"/>
                  </a:lnTo>
                  <a:lnTo>
                    <a:pt x="86" y="551"/>
                  </a:lnTo>
                  <a:lnTo>
                    <a:pt x="97" y="563"/>
                  </a:lnTo>
                  <a:lnTo>
                    <a:pt x="108" y="573"/>
                  </a:lnTo>
                  <a:lnTo>
                    <a:pt x="120" y="584"/>
                  </a:lnTo>
                  <a:lnTo>
                    <a:pt x="133" y="593"/>
                  </a:lnTo>
                  <a:lnTo>
                    <a:pt x="145" y="603"/>
                  </a:lnTo>
                  <a:lnTo>
                    <a:pt x="159" y="611"/>
                  </a:lnTo>
                  <a:lnTo>
                    <a:pt x="172" y="619"/>
                  </a:lnTo>
                  <a:lnTo>
                    <a:pt x="186" y="626"/>
                  </a:lnTo>
                  <a:lnTo>
                    <a:pt x="201" y="633"/>
                  </a:lnTo>
                  <a:lnTo>
                    <a:pt x="216" y="639"/>
                  </a:lnTo>
                  <a:lnTo>
                    <a:pt x="231" y="644"/>
                  </a:lnTo>
                  <a:lnTo>
                    <a:pt x="248" y="648"/>
                  </a:lnTo>
                  <a:lnTo>
                    <a:pt x="263" y="652"/>
                  </a:lnTo>
                  <a:lnTo>
                    <a:pt x="279" y="655"/>
                  </a:lnTo>
                  <a:lnTo>
                    <a:pt x="296" y="658"/>
                  </a:lnTo>
                  <a:lnTo>
                    <a:pt x="312" y="659"/>
                  </a:lnTo>
                  <a:lnTo>
                    <a:pt x="329" y="659"/>
                  </a:lnTo>
                  <a:lnTo>
                    <a:pt x="329" y="659"/>
                  </a:lnTo>
                  <a:lnTo>
                    <a:pt x="347" y="659"/>
                  </a:lnTo>
                  <a:lnTo>
                    <a:pt x="363" y="658"/>
                  </a:lnTo>
                  <a:lnTo>
                    <a:pt x="380" y="655"/>
                  </a:lnTo>
                  <a:lnTo>
                    <a:pt x="396" y="652"/>
                  </a:lnTo>
                  <a:lnTo>
                    <a:pt x="411" y="648"/>
                  </a:lnTo>
                  <a:lnTo>
                    <a:pt x="428" y="644"/>
                  </a:lnTo>
                  <a:lnTo>
                    <a:pt x="443" y="639"/>
                  </a:lnTo>
                  <a:lnTo>
                    <a:pt x="458" y="633"/>
                  </a:lnTo>
                  <a:lnTo>
                    <a:pt x="473" y="626"/>
                  </a:lnTo>
                  <a:lnTo>
                    <a:pt x="487" y="619"/>
                  </a:lnTo>
                  <a:lnTo>
                    <a:pt x="500" y="611"/>
                  </a:lnTo>
                  <a:lnTo>
                    <a:pt x="514" y="603"/>
                  </a:lnTo>
                  <a:lnTo>
                    <a:pt x="526" y="593"/>
                  </a:lnTo>
                  <a:lnTo>
                    <a:pt x="539" y="584"/>
                  </a:lnTo>
                  <a:lnTo>
                    <a:pt x="551" y="573"/>
                  </a:lnTo>
                  <a:lnTo>
                    <a:pt x="562" y="563"/>
                  </a:lnTo>
                  <a:lnTo>
                    <a:pt x="573" y="551"/>
                  </a:lnTo>
                  <a:lnTo>
                    <a:pt x="584" y="538"/>
                  </a:lnTo>
                  <a:lnTo>
                    <a:pt x="594" y="526"/>
                  </a:lnTo>
                  <a:lnTo>
                    <a:pt x="603" y="514"/>
                  </a:lnTo>
                  <a:lnTo>
                    <a:pt x="611" y="500"/>
                  </a:lnTo>
                  <a:lnTo>
                    <a:pt x="620" y="486"/>
                  </a:lnTo>
                  <a:lnTo>
                    <a:pt x="627" y="473"/>
                  </a:lnTo>
                  <a:lnTo>
                    <a:pt x="633" y="457"/>
                  </a:lnTo>
                  <a:lnTo>
                    <a:pt x="639" y="442"/>
                  </a:lnTo>
                  <a:lnTo>
                    <a:pt x="644" y="427"/>
                  </a:lnTo>
                  <a:lnTo>
                    <a:pt x="649" y="412"/>
                  </a:lnTo>
                  <a:lnTo>
                    <a:pt x="653" y="396"/>
                  </a:lnTo>
                  <a:lnTo>
                    <a:pt x="655" y="379"/>
                  </a:lnTo>
                  <a:lnTo>
                    <a:pt x="657" y="363"/>
                  </a:lnTo>
                  <a:lnTo>
                    <a:pt x="658" y="346"/>
                  </a:lnTo>
                  <a:lnTo>
                    <a:pt x="658" y="330"/>
                  </a:lnTo>
                  <a:lnTo>
                    <a:pt x="658" y="330"/>
                  </a:lnTo>
                  <a:lnTo>
                    <a:pt x="658" y="312"/>
                  </a:lnTo>
                  <a:lnTo>
                    <a:pt x="657" y="295"/>
                  </a:lnTo>
                  <a:lnTo>
                    <a:pt x="655" y="279"/>
                  </a:lnTo>
                  <a:lnTo>
                    <a:pt x="653" y="263"/>
                  </a:lnTo>
                  <a:lnTo>
                    <a:pt x="649" y="247"/>
                  </a:lnTo>
                  <a:lnTo>
                    <a:pt x="644" y="231"/>
                  </a:lnTo>
                  <a:lnTo>
                    <a:pt x="639" y="216"/>
                  </a:lnTo>
                  <a:lnTo>
                    <a:pt x="633" y="201"/>
                  </a:lnTo>
                  <a:lnTo>
                    <a:pt x="627" y="187"/>
                  </a:lnTo>
                  <a:lnTo>
                    <a:pt x="620" y="172"/>
                  </a:lnTo>
                  <a:lnTo>
                    <a:pt x="611" y="158"/>
                  </a:lnTo>
                  <a:lnTo>
                    <a:pt x="603" y="146"/>
                  </a:lnTo>
                  <a:lnTo>
                    <a:pt x="594" y="132"/>
                  </a:lnTo>
                  <a:lnTo>
                    <a:pt x="584" y="120"/>
                  </a:lnTo>
                  <a:lnTo>
                    <a:pt x="573" y="107"/>
                  </a:lnTo>
                  <a:lnTo>
                    <a:pt x="562" y="96"/>
                  </a:lnTo>
                  <a:lnTo>
                    <a:pt x="551" y="85"/>
                  </a:lnTo>
                  <a:lnTo>
                    <a:pt x="539" y="76"/>
                  </a:lnTo>
                  <a:lnTo>
                    <a:pt x="526" y="66"/>
                  </a:lnTo>
                  <a:lnTo>
                    <a:pt x="514" y="57"/>
                  </a:lnTo>
                  <a:lnTo>
                    <a:pt x="500" y="48"/>
                  </a:lnTo>
                  <a:lnTo>
                    <a:pt x="487" y="40"/>
                  </a:lnTo>
                  <a:lnTo>
                    <a:pt x="473" y="33"/>
                  </a:lnTo>
                  <a:lnTo>
                    <a:pt x="458" y="26"/>
                  </a:lnTo>
                  <a:lnTo>
                    <a:pt x="443" y="20"/>
                  </a:lnTo>
                  <a:lnTo>
                    <a:pt x="428" y="15"/>
                  </a:lnTo>
                  <a:lnTo>
                    <a:pt x="411" y="10"/>
                  </a:lnTo>
                  <a:lnTo>
                    <a:pt x="396" y="7"/>
                  </a:lnTo>
                  <a:lnTo>
                    <a:pt x="380" y="4"/>
                  </a:lnTo>
                  <a:lnTo>
                    <a:pt x="363" y="2"/>
                  </a:lnTo>
                  <a:lnTo>
                    <a:pt x="347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29" y="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7"/>
            <p:cNvSpPr>
              <a:spLocks noChangeShapeType="1"/>
            </p:cNvSpPr>
            <p:nvPr/>
          </p:nvSpPr>
          <p:spPr bwMode="auto">
            <a:xfrm>
              <a:off x="995" y="3412"/>
              <a:ext cx="194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8"/>
            <p:cNvSpPr>
              <a:spLocks noChangeShapeType="1"/>
            </p:cNvSpPr>
            <p:nvPr/>
          </p:nvSpPr>
          <p:spPr bwMode="auto">
            <a:xfrm>
              <a:off x="995" y="2904"/>
              <a:ext cx="194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9"/>
            <p:cNvSpPr>
              <a:spLocks noChangeShapeType="1"/>
            </p:cNvSpPr>
            <p:nvPr/>
          </p:nvSpPr>
          <p:spPr bwMode="auto">
            <a:xfrm>
              <a:off x="995" y="2382"/>
              <a:ext cx="194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10"/>
            <p:cNvSpPr>
              <a:spLocks noChangeShapeType="1"/>
            </p:cNvSpPr>
            <p:nvPr/>
          </p:nvSpPr>
          <p:spPr bwMode="auto">
            <a:xfrm>
              <a:off x="995" y="1874"/>
              <a:ext cx="194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Rectangle 11"/>
            <p:cNvSpPr>
              <a:spLocks noChangeArrowheads="1"/>
            </p:cNvSpPr>
            <p:nvPr/>
          </p:nvSpPr>
          <p:spPr bwMode="auto">
            <a:xfrm>
              <a:off x="3522" y="1692"/>
              <a:ext cx="12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Times-Roman"/>
                </a:rPr>
                <a:t>P </a:t>
              </a:r>
              <a:endParaRPr lang="en-US" altLang="en-US"/>
            </a:p>
          </p:txBody>
        </p:sp>
        <p:sp>
          <p:nvSpPr>
            <p:cNvPr id="97" name="Rectangle 12"/>
            <p:cNvSpPr>
              <a:spLocks noChangeArrowheads="1"/>
            </p:cNvSpPr>
            <p:nvPr/>
          </p:nvSpPr>
          <p:spPr bwMode="auto">
            <a:xfrm>
              <a:off x="3591" y="1744"/>
              <a:ext cx="8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30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en-US"/>
            </a:p>
          </p:txBody>
        </p:sp>
        <p:sp>
          <p:nvSpPr>
            <p:cNvPr id="98" name="Rectangle 13"/>
            <p:cNvSpPr>
              <a:spLocks noChangeArrowheads="1"/>
            </p:cNvSpPr>
            <p:nvPr/>
          </p:nvSpPr>
          <p:spPr bwMode="auto">
            <a:xfrm>
              <a:off x="3522" y="2207"/>
              <a:ext cx="124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Times-Roman"/>
                </a:rPr>
                <a:t>P </a:t>
              </a:r>
              <a:endParaRPr lang="en-US" altLang="en-US"/>
            </a:p>
          </p:txBody>
        </p:sp>
        <p:sp>
          <p:nvSpPr>
            <p:cNvPr id="99" name="Rectangle 14"/>
            <p:cNvSpPr>
              <a:spLocks noChangeArrowheads="1"/>
            </p:cNvSpPr>
            <p:nvPr/>
          </p:nvSpPr>
          <p:spPr bwMode="auto">
            <a:xfrm>
              <a:off x="3591" y="2259"/>
              <a:ext cx="8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300" i="1">
                  <a:solidFill>
                    <a:srgbClr val="000000"/>
                  </a:solidFill>
                  <a:latin typeface="Times-Roman"/>
                </a:rPr>
                <a:t>2 </a:t>
              </a:r>
              <a:endParaRPr lang="en-US" altLang="en-US"/>
            </a:p>
          </p:txBody>
        </p:sp>
        <p:sp>
          <p:nvSpPr>
            <p:cNvPr id="100" name="Rectangle 15"/>
            <p:cNvSpPr>
              <a:spLocks noChangeArrowheads="1"/>
            </p:cNvSpPr>
            <p:nvPr/>
          </p:nvSpPr>
          <p:spPr bwMode="auto">
            <a:xfrm>
              <a:off x="1132" y="670"/>
              <a:ext cx="102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 i="1">
                  <a:solidFill>
                    <a:srgbClr val="000000"/>
                  </a:solidFill>
                  <a:latin typeface="Times-Roman"/>
                </a:rPr>
                <a:t>x </a:t>
              </a:r>
              <a:endParaRPr lang="en-US" altLang="en-US"/>
            </a:p>
          </p:txBody>
        </p:sp>
        <p:sp>
          <p:nvSpPr>
            <p:cNvPr id="101" name="Rectangle 16"/>
            <p:cNvSpPr>
              <a:spLocks noChangeArrowheads="1"/>
            </p:cNvSpPr>
            <p:nvPr/>
          </p:nvSpPr>
          <p:spPr bwMode="auto">
            <a:xfrm>
              <a:off x="1192" y="733"/>
              <a:ext cx="83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20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en-US"/>
            </a:p>
          </p:txBody>
        </p:sp>
        <p:sp>
          <p:nvSpPr>
            <p:cNvPr id="102" name="Rectangle 17"/>
            <p:cNvSpPr>
              <a:spLocks noChangeArrowheads="1"/>
            </p:cNvSpPr>
            <p:nvPr/>
          </p:nvSpPr>
          <p:spPr bwMode="auto">
            <a:xfrm>
              <a:off x="1714" y="670"/>
              <a:ext cx="103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 i="1">
                  <a:solidFill>
                    <a:srgbClr val="000000"/>
                  </a:solidFill>
                  <a:latin typeface="Times-Roman"/>
                </a:rPr>
                <a:t>x </a:t>
              </a:r>
              <a:endParaRPr lang="en-US" altLang="en-US"/>
            </a:p>
          </p:txBody>
        </p:sp>
        <p:sp>
          <p:nvSpPr>
            <p:cNvPr id="103" name="Rectangle 18"/>
            <p:cNvSpPr>
              <a:spLocks noChangeArrowheads="1"/>
            </p:cNvSpPr>
            <p:nvPr/>
          </p:nvSpPr>
          <p:spPr bwMode="auto">
            <a:xfrm>
              <a:off x="1773" y="733"/>
              <a:ext cx="8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200">
                  <a:solidFill>
                    <a:srgbClr val="000000"/>
                  </a:solidFill>
                  <a:latin typeface="Times-Roman"/>
                </a:rPr>
                <a:t>2 </a:t>
              </a:r>
              <a:endParaRPr lang="en-US" altLang="en-US"/>
            </a:p>
          </p:txBody>
        </p:sp>
        <p:sp>
          <p:nvSpPr>
            <p:cNvPr id="104" name="Rectangle 19"/>
            <p:cNvSpPr>
              <a:spLocks noChangeArrowheads="1"/>
            </p:cNvSpPr>
            <p:nvPr/>
          </p:nvSpPr>
          <p:spPr bwMode="auto">
            <a:xfrm>
              <a:off x="2298" y="670"/>
              <a:ext cx="103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 i="1">
                  <a:solidFill>
                    <a:srgbClr val="000000"/>
                  </a:solidFill>
                  <a:latin typeface="Times-Roman"/>
                </a:rPr>
                <a:t>x </a:t>
              </a:r>
              <a:endParaRPr lang="en-US" altLang="en-US"/>
            </a:p>
          </p:txBody>
        </p:sp>
        <p:sp>
          <p:nvSpPr>
            <p:cNvPr id="105" name="Line 20"/>
            <p:cNvSpPr>
              <a:spLocks noChangeShapeType="1"/>
            </p:cNvSpPr>
            <p:nvPr/>
          </p:nvSpPr>
          <p:spPr bwMode="auto">
            <a:xfrm>
              <a:off x="1476" y="1010"/>
              <a:ext cx="1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Line 21"/>
            <p:cNvSpPr>
              <a:spLocks noChangeShapeType="1"/>
            </p:cNvSpPr>
            <p:nvPr/>
          </p:nvSpPr>
          <p:spPr bwMode="auto">
            <a:xfrm>
              <a:off x="2065" y="1010"/>
              <a:ext cx="1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Line 22"/>
            <p:cNvSpPr>
              <a:spLocks noChangeShapeType="1"/>
            </p:cNvSpPr>
            <p:nvPr/>
          </p:nvSpPr>
          <p:spPr bwMode="auto">
            <a:xfrm>
              <a:off x="2642" y="1010"/>
              <a:ext cx="1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Line 23"/>
            <p:cNvSpPr>
              <a:spLocks noChangeShapeType="1"/>
            </p:cNvSpPr>
            <p:nvPr/>
          </p:nvSpPr>
          <p:spPr bwMode="auto">
            <a:xfrm flipV="1">
              <a:off x="1187" y="859"/>
              <a:ext cx="1" cy="29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Line 24"/>
            <p:cNvSpPr>
              <a:spLocks noChangeShapeType="1"/>
            </p:cNvSpPr>
            <p:nvPr/>
          </p:nvSpPr>
          <p:spPr bwMode="auto">
            <a:xfrm flipV="1">
              <a:off x="1777" y="859"/>
              <a:ext cx="1" cy="29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25"/>
            <p:cNvSpPr>
              <a:spLocks noChangeShapeType="1"/>
            </p:cNvSpPr>
            <p:nvPr/>
          </p:nvSpPr>
          <p:spPr bwMode="auto">
            <a:xfrm flipV="1">
              <a:off x="2354" y="859"/>
              <a:ext cx="1" cy="29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Line 26"/>
            <p:cNvSpPr>
              <a:spLocks noChangeShapeType="1"/>
            </p:cNvSpPr>
            <p:nvPr/>
          </p:nvSpPr>
          <p:spPr bwMode="auto">
            <a:xfrm>
              <a:off x="1187" y="1010"/>
              <a:ext cx="28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27"/>
            <p:cNvSpPr>
              <a:spLocks noChangeShapeType="1"/>
            </p:cNvSpPr>
            <p:nvPr/>
          </p:nvSpPr>
          <p:spPr bwMode="auto">
            <a:xfrm>
              <a:off x="1777" y="1010"/>
              <a:ext cx="2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28"/>
            <p:cNvSpPr>
              <a:spLocks noChangeShapeType="1"/>
            </p:cNvSpPr>
            <p:nvPr/>
          </p:nvSpPr>
          <p:spPr bwMode="auto">
            <a:xfrm>
              <a:off x="2354" y="1010"/>
              <a:ext cx="2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29"/>
            <p:cNvSpPr>
              <a:spLocks noChangeShapeType="1"/>
            </p:cNvSpPr>
            <p:nvPr/>
          </p:nvSpPr>
          <p:spPr bwMode="auto">
            <a:xfrm flipV="1">
              <a:off x="1476" y="1545"/>
              <a:ext cx="1" cy="2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30"/>
            <p:cNvSpPr>
              <a:spLocks noChangeShapeType="1"/>
            </p:cNvSpPr>
            <p:nvPr/>
          </p:nvSpPr>
          <p:spPr bwMode="auto">
            <a:xfrm>
              <a:off x="2065" y="1545"/>
              <a:ext cx="1" cy="2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Line 31"/>
            <p:cNvSpPr>
              <a:spLocks noChangeShapeType="1"/>
            </p:cNvSpPr>
            <p:nvPr/>
          </p:nvSpPr>
          <p:spPr bwMode="auto">
            <a:xfrm flipV="1">
              <a:off x="2642" y="1545"/>
              <a:ext cx="1" cy="22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Line 32"/>
            <p:cNvSpPr>
              <a:spLocks noChangeShapeType="1"/>
            </p:cNvSpPr>
            <p:nvPr/>
          </p:nvSpPr>
          <p:spPr bwMode="auto">
            <a:xfrm flipH="1">
              <a:off x="3314" y="1874"/>
              <a:ext cx="49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Line 33"/>
            <p:cNvSpPr>
              <a:spLocks noChangeShapeType="1"/>
            </p:cNvSpPr>
            <p:nvPr/>
          </p:nvSpPr>
          <p:spPr bwMode="auto">
            <a:xfrm flipH="1">
              <a:off x="3314" y="2382"/>
              <a:ext cx="49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Line 34"/>
            <p:cNvSpPr>
              <a:spLocks noChangeShapeType="1"/>
            </p:cNvSpPr>
            <p:nvPr/>
          </p:nvSpPr>
          <p:spPr bwMode="auto">
            <a:xfrm flipH="1">
              <a:off x="3314" y="2905"/>
              <a:ext cx="50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35"/>
            <p:cNvSpPr>
              <a:spLocks/>
            </p:cNvSpPr>
            <p:nvPr/>
          </p:nvSpPr>
          <p:spPr bwMode="auto">
            <a:xfrm>
              <a:off x="1174" y="996"/>
              <a:ext cx="27" cy="27"/>
            </a:xfrm>
            <a:custGeom>
              <a:avLst/>
              <a:gdLst>
                <a:gd name="T0" fmla="*/ 55 w 55"/>
                <a:gd name="T1" fmla="*/ 26 h 55"/>
                <a:gd name="T2" fmla="*/ 55 w 55"/>
                <a:gd name="T3" fmla="*/ 22 h 55"/>
                <a:gd name="T4" fmla="*/ 54 w 55"/>
                <a:gd name="T5" fmla="*/ 18 h 55"/>
                <a:gd name="T6" fmla="*/ 53 w 55"/>
                <a:gd name="T7" fmla="*/ 14 h 55"/>
                <a:gd name="T8" fmla="*/ 51 w 55"/>
                <a:gd name="T9" fmla="*/ 11 h 55"/>
                <a:gd name="T10" fmla="*/ 48 w 55"/>
                <a:gd name="T11" fmla="*/ 8 h 55"/>
                <a:gd name="T12" fmla="*/ 44 w 55"/>
                <a:gd name="T13" fmla="*/ 5 h 55"/>
                <a:gd name="T14" fmla="*/ 42 w 55"/>
                <a:gd name="T15" fmla="*/ 3 h 55"/>
                <a:gd name="T16" fmla="*/ 37 w 55"/>
                <a:gd name="T17" fmla="*/ 1 h 55"/>
                <a:gd name="T18" fmla="*/ 35 w 55"/>
                <a:gd name="T19" fmla="*/ 0 h 55"/>
                <a:gd name="T20" fmla="*/ 31 w 55"/>
                <a:gd name="T21" fmla="*/ 0 h 55"/>
                <a:gd name="T22" fmla="*/ 26 w 55"/>
                <a:gd name="T23" fmla="*/ 0 h 55"/>
                <a:gd name="T24" fmla="*/ 22 w 55"/>
                <a:gd name="T25" fmla="*/ 0 h 55"/>
                <a:gd name="T26" fmla="*/ 20 w 55"/>
                <a:gd name="T27" fmla="*/ 1 h 55"/>
                <a:gd name="T28" fmla="*/ 15 w 55"/>
                <a:gd name="T29" fmla="*/ 3 h 55"/>
                <a:gd name="T30" fmla="*/ 13 w 55"/>
                <a:gd name="T31" fmla="*/ 5 h 55"/>
                <a:gd name="T32" fmla="*/ 9 w 55"/>
                <a:gd name="T33" fmla="*/ 8 h 55"/>
                <a:gd name="T34" fmla="*/ 6 w 55"/>
                <a:gd name="T35" fmla="*/ 11 h 55"/>
                <a:gd name="T36" fmla="*/ 5 w 55"/>
                <a:gd name="T37" fmla="*/ 14 h 55"/>
                <a:gd name="T38" fmla="*/ 3 w 55"/>
                <a:gd name="T39" fmla="*/ 18 h 55"/>
                <a:gd name="T40" fmla="*/ 2 w 55"/>
                <a:gd name="T41" fmla="*/ 22 h 55"/>
                <a:gd name="T42" fmla="*/ 2 w 55"/>
                <a:gd name="T43" fmla="*/ 26 h 55"/>
                <a:gd name="T44" fmla="*/ 2 w 55"/>
                <a:gd name="T45" fmla="*/ 29 h 55"/>
                <a:gd name="T46" fmla="*/ 2 w 55"/>
                <a:gd name="T47" fmla="*/ 33 h 55"/>
                <a:gd name="T48" fmla="*/ 3 w 55"/>
                <a:gd name="T49" fmla="*/ 37 h 55"/>
                <a:gd name="T50" fmla="*/ 5 w 55"/>
                <a:gd name="T51" fmla="*/ 40 h 55"/>
                <a:gd name="T52" fmla="*/ 6 w 55"/>
                <a:gd name="T53" fmla="*/ 44 h 55"/>
                <a:gd name="T54" fmla="*/ 9 w 55"/>
                <a:gd name="T55" fmla="*/ 47 h 55"/>
                <a:gd name="T56" fmla="*/ 13 w 55"/>
                <a:gd name="T57" fmla="*/ 49 h 55"/>
                <a:gd name="T58" fmla="*/ 15 w 55"/>
                <a:gd name="T59" fmla="*/ 51 h 55"/>
                <a:gd name="T60" fmla="*/ 20 w 55"/>
                <a:gd name="T61" fmla="*/ 54 h 55"/>
                <a:gd name="T62" fmla="*/ 22 w 55"/>
                <a:gd name="T63" fmla="*/ 54 h 55"/>
                <a:gd name="T64" fmla="*/ 26 w 55"/>
                <a:gd name="T65" fmla="*/ 55 h 55"/>
                <a:gd name="T66" fmla="*/ 31 w 55"/>
                <a:gd name="T67" fmla="*/ 55 h 55"/>
                <a:gd name="T68" fmla="*/ 35 w 55"/>
                <a:gd name="T69" fmla="*/ 54 h 55"/>
                <a:gd name="T70" fmla="*/ 37 w 55"/>
                <a:gd name="T71" fmla="*/ 54 h 55"/>
                <a:gd name="T72" fmla="*/ 42 w 55"/>
                <a:gd name="T73" fmla="*/ 51 h 55"/>
                <a:gd name="T74" fmla="*/ 44 w 55"/>
                <a:gd name="T75" fmla="*/ 49 h 55"/>
                <a:gd name="T76" fmla="*/ 48 w 55"/>
                <a:gd name="T77" fmla="*/ 47 h 55"/>
                <a:gd name="T78" fmla="*/ 51 w 55"/>
                <a:gd name="T79" fmla="*/ 44 h 55"/>
                <a:gd name="T80" fmla="*/ 53 w 55"/>
                <a:gd name="T81" fmla="*/ 40 h 55"/>
                <a:gd name="T82" fmla="*/ 54 w 55"/>
                <a:gd name="T83" fmla="*/ 37 h 55"/>
                <a:gd name="T84" fmla="*/ 55 w 55"/>
                <a:gd name="T85" fmla="*/ 33 h 55"/>
                <a:gd name="T86" fmla="*/ 55 w 55"/>
                <a:gd name="T87" fmla="*/ 29 h 55"/>
                <a:gd name="T88" fmla="*/ 28 w 55"/>
                <a:gd name="T89" fmla="*/ 2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55">
                  <a:moveTo>
                    <a:pt x="28" y="27"/>
                  </a:moveTo>
                  <a:lnTo>
                    <a:pt x="55" y="27"/>
                  </a:lnTo>
                  <a:lnTo>
                    <a:pt x="55" y="26"/>
                  </a:lnTo>
                  <a:lnTo>
                    <a:pt x="55" y="25"/>
                  </a:lnTo>
                  <a:lnTo>
                    <a:pt x="55" y="23"/>
                  </a:lnTo>
                  <a:lnTo>
                    <a:pt x="55" y="22"/>
                  </a:lnTo>
                  <a:lnTo>
                    <a:pt x="55" y="21"/>
                  </a:lnTo>
                  <a:lnTo>
                    <a:pt x="55" y="19"/>
                  </a:lnTo>
                  <a:lnTo>
                    <a:pt x="54" y="18"/>
                  </a:lnTo>
                  <a:lnTo>
                    <a:pt x="54" y="16"/>
                  </a:lnTo>
                  <a:lnTo>
                    <a:pt x="54" y="15"/>
                  </a:lnTo>
                  <a:lnTo>
                    <a:pt x="53" y="14"/>
                  </a:lnTo>
                  <a:lnTo>
                    <a:pt x="53" y="12"/>
                  </a:lnTo>
                  <a:lnTo>
                    <a:pt x="51" y="12"/>
                  </a:lnTo>
                  <a:lnTo>
                    <a:pt x="51" y="11"/>
                  </a:lnTo>
                  <a:lnTo>
                    <a:pt x="50" y="10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7" y="7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4"/>
                  </a:lnTo>
                  <a:lnTo>
                    <a:pt x="42" y="3"/>
                  </a:lnTo>
                  <a:lnTo>
                    <a:pt x="40" y="3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3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10" y="7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10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0"/>
                  </a:lnTo>
                  <a:lnTo>
                    <a:pt x="5" y="41"/>
                  </a:lnTo>
                  <a:lnTo>
                    <a:pt x="6" y="43"/>
                  </a:lnTo>
                  <a:lnTo>
                    <a:pt x="6" y="44"/>
                  </a:lnTo>
                  <a:lnTo>
                    <a:pt x="7" y="45"/>
                  </a:lnTo>
                  <a:lnTo>
                    <a:pt x="9" y="45"/>
                  </a:lnTo>
                  <a:lnTo>
                    <a:pt x="9" y="47"/>
                  </a:lnTo>
                  <a:lnTo>
                    <a:pt x="10" y="48"/>
                  </a:lnTo>
                  <a:lnTo>
                    <a:pt x="11" y="48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20" y="54"/>
                  </a:lnTo>
                  <a:lnTo>
                    <a:pt x="21" y="54"/>
                  </a:lnTo>
                  <a:lnTo>
                    <a:pt x="22" y="54"/>
                  </a:lnTo>
                  <a:lnTo>
                    <a:pt x="22" y="54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8" y="55"/>
                  </a:lnTo>
                  <a:lnTo>
                    <a:pt x="28" y="55"/>
                  </a:lnTo>
                  <a:lnTo>
                    <a:pt x="31" y="55"/>
                  </a:lnTo>
                  <a:lnTo>
                    <a:pt x="32" y="55"/>
                  </a:lnTo>
                  <a:lnTo>
                    <a:pt x="33" y="55"/>
                  </a:lnTo>
                  <a:lnTo>
                    <a:pt x="35" y="54"/>
                  </a:lnTo>
                  <a:lnTo>
                    <a:pt x="35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9" y="52"/>
                  </a:lnTo>
                  <a:lnTo>
                    <a:pt x="40" y="52"/>
                  </a:lnTo>
                  <a:lnTo>
                    <a:pt x="42" y="51"/>
                  </a:lnTo>
                  <a:lnTo>
                    <a:pt x="43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8"/>
                  </a:lnTo>
                  <a:lnTo>
                    <a:pt x="47" y="48"/>
                  </a:lnTo>
                  <a:lnTo>
                    <a:pt x="48" y="47"/>
                  </a:lnTo>
                  <a:lnTo>
                    <a:pt x="48" y="45"/>
                  </a:lnTo>
                  <a:lnTo>
                    <a:pt x="50" y="45"/>
                  </a:lnTo>
                  <a:lnTo>
                    <a:pt x="51" y="44"/>
                  </a:lnTo>
                  <a:lnTo>
                    <a:pt x="51" y="43"/>
                  </a:lnTo>
                  <a:lnTo>
                    <a:pt x="53" y="41"/>
                  </a:lnTo>
                  <a:lnTo>
                    <a:pt x="53" y="40"/>
                  </a:lnTo>
                  <a:lnTo>
                    <a:pt x="54" y="40"/>
                  </a:lnTo>
                  <a:lnTo>
                    <a:pt x="54" y="38"/>
                  </a:lnTo>
                  <a:lnTo>
                    <a:pt x="54" y="37"/>
                  </a:lnTo>
                  <a:lnTo>
                    <a:pt x="55" y="36"/>
                  </a:lnTo>
                  <a:lnTo>
                    <a:pt x="55" y="34"/>
                  </a:lnTo>
                  <a:lnTo>
                    <a:pt x="55" y="33"/>
                  </a:lnTo>
                  <a:lnTo>
                    <a:pt x="55" y="32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28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36"/>
            <p:cNvSpPr>
              <a:spLocks/>
            </p:cNvSpPr>
            <p:nvPr/>
          </p:nvSpPr>
          <p:spPr bwMode="auto">
            <a:xfrm>
              <a:off x="1165" y="988"/>
              <a:ext cx="34" cy="33"/>
            </a:xfrm>
            <a:custGeom>
              <a:avLst/>
              <a:gdLst>
                <a:gd name="T0" fmla="*/ 67 w 67"/>
                <a:gd name="T1" fmla="*/ 30 h 65"/>
                <a:gd name="T2" fmla="*/ 66 w 67"/>
                <a:gd name="T3" fmla="*/ 24 h 65"/>
                <a:gd name="T4" fmla="*/ 64 w 67"/>
                <a:gd name="T5" fmla="*/ 20 h 65"/>
                <a:gd name="T6" fmla="*/ 63 w 67"/>
                <a:gd name="T7" fmla="*/ 15 h 65"/>
                <a:gd name="T8" fmla="*/ 60 w 67"/>
                <a:gd name="T9" fmla="*/ 12 h 65"/>
                <a:gd name="T10" fmla="*/ 56 w 67"/>
                <a:gd name="T11" fmla="*/ 8 h 65"/>
                <a:gd name="T12" fmla="*/ 52 w 67"/>
                <a:gd name="T13" fmla="*/ 5 h 65"/>
                <a:gd name="T14" fmla="*/ 48 w 67"/>
                <a:gd name="T15" fmla="*/ 2 h 65"/>
                <a:gd name="T16" fmla="*/ 44 w 67"/>
                <a:gd name="T17" fmla="*/ 1 h 65"/>
                <a:gd name="T18" fmla="*/ 38 w 67"/>
                <a:gd name="T19" fmla="*/ 0 h 65"/>
                <a:gd name="T20" fmla="*/ 34 w 67"/>
                <a:gd name="T21" fmla="*/ 0 h 65"/>
                <a:gd name="T22" fmla="*/ 30 w 67"/>
                <a:gd name="T23" fmla="*/ 0 h 65"/>
                <a:gd name="T24" fmla="*/ 26 w 67"/>
                <a:gd name="T25" fmla="*/ 0 h 65"/>
                <a:gd name="T26" fmla="*/ 21 w 67"/>
                <a:gd name="T27" fmla="*/ 2 h 65"/>
                <a:gd name="T28" fmla="*/ 16 w 67"/>
                <a:gd name="T29" fmla="*/ 4 h 65"/>
                <a:gd name="T30" fmla="*/ 12 w 67"/>
                <a:gd name="T31" fmla="*/ 6 h 65"/>
                <a:gd name="T32" fmla="*/ 10 w 67"/>
                <a:gd name="T33" fmla="*/ 10 h 65"/>
                <a:gd name="T34" fmla="*/ 5 w 67"/>
                <a:gd name="T35" fmla="*/ 13 h 65"/>
                <a:gd name="T36" fmla="*/ 4 w 67"/>
                <a:gd name="T37" fmla="*/ 17 h 65"/>
                <a:gd name="T38" fmla="*/ 1 w 67"/>
                <a:gd name="T39" fmla="*/ 23 h 65"/>
                <a:gd name="T40" fmla="*/ 1 w 67"/>
                <a:gd name="T41" fmla="*/ 27 h 65"/>
                <a:gd name="T42" fmla="*/ 0 w 67"/>
                <a:gd name="T43" fmla="*/ 32 h 65"/>
                <a:gd name="T44" fmla="*/ 0 w 67"/>
                <a:gd name="T45" fmla="*/ 37 h 65"/>
                <a:gd name="T46" fmla="*/ 1 w 67"/>
                <a:gd name="T47" fmla="*/ 41 h 65"/>
                <a:gd name="T48" fmla="*/ 3 w 67"/>
                <a:gd name="T49" fmla="*/ 46 h 65"/>
                <a:gd name="T50" fmla="*/ 5 w 67"/>
                <a:gd name="T51" fmla="*/ 50 h 65"/>
                <a:gd name="T52" fmla="*/ 8 w 67"/>
                <a:gd name="T53" fmla="*/ 54 h 65"/>
                <a:gd name="T54" fmla="*/ 11 w 67"/>
                <a:gd name="T55" fmla="*/ 57 h 65"/>
                <a:gd name="T56" fmla="*/ 15 w 67"/>
                <a:gd name="T57" fmla="*/ 60 h 65"/>
                <a:gd name="T58" fmla="*/ 19 w 67"/>
                <a:gd name="T59" fmla="*/ 63 h 65"/>
                <a:gd name="T60" fmla="*/ 23 w 67"/>
                <a:gd name="T61" fmla="*/ 64 h 65"/>
                <a:gd name="T62" fmla="*/ 29 w 67"/>
                <a:gd name="T63" fmla="*/ 65 h 65"/>
                <a:gd name="T64" fmla="*/ 34 w 67"/>
                <a:gd name="T65" fmla="*/ 65 h 65"/>
                <a:gd name="T66" fmla="*/ 37 w 67"/>
                <a:gd name="T67" fmla="*/ 65 h 65"/>
                <a:gd name="T68" fmla="*/ 42 w 67"/>
                <a:gd name="T69" fmla="*/ 65 h 65"/>
                <a:gd name="T70" fmla="*/ 47 w 67"/>
                <a:gd name="T71" fmla="*/ 64 h 65"/>
                <a:gd name="T72" fmla="*/ 51 w 67"/>
                <a:gd name="T73" fmla="*/ 61 h 65"/>
                <a:gd name="T74" fmla="*/ 55 w 67"/>
                <a:gd name="T75" fmla="*/ 59 h 65"/>
                <a:gd name="T76" fmla="*/ 59 w 67"/>
                <a:gd name="T77" fmla="*/ 54 h 65"/>
                <a:gd name="T78" fmla="*/ 62 w 67"/>
                <a:gd name="T79" fmla="*/ 52 h 65"/>
                <a:gd name="T80" fmla="*/ 64 w 67"/>
                <a:gd name="T81" fmla="*/ 48 h 65"/>
                <a:gd name="T82" fmla="*/ 66 w 67"/>
                <a:gd name="T83" fmla="*/ 42 h 65"/>
                <a:gd name="T84" fmla="*/ 67 w 67"/>
                <a:gd name="T85" fmla="*/ 38 h 65"/>
                <a:gd name="T86" fmla="*/ 67 w 67"/>
                <a:gd name="T87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7" h="65">
                  <a:moveTo>
                    <a:pt x="67" y="32"/>
                  </a:moveTo>
                  <a:lnTo>
                    <a:pt x="67" y="31"/>
                  </a:lnTo>
                  <a:lnTo>
                    <a:pt x="67" y="30"/>
                  </a:lnTo>
                  <a:lnTo>
                    <a:pt x="67" y="27"/>
                  </a:lnTo>
                  <a:lnTo>
                    <a:pt x="67" y="26"/>
                  </a:lnTo>
                  <a:lnTo>
                    <a:pt x="66" y="24"/>
                  </a:lnTo>
                  <a:lnTo>
                    <a:pt x="66" y="23"/>
                  </a:lnTo>
                  <a:lnTo>
                    <a:pt x="66" y="21"/>
                  </a:lnTo>
                  <a:lnTo>
                    <a:pt x="64" y="20"/>
                  </a:lnTo>
                  <a:lnTo>
                    <a:pt x="64" y="17"/>
                  </a:lnTo>
                  <a:lnTo>
                    <a:pt x="63" y="16"/>
                  </a:lnTo>
                  <a:lnTo>
                    <a:pt x="63" y="15"/>
                  </a:lnTo>
                  <a:lnTo>
                    <a:pt x="62" y="13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9" y="10"/>
                  </a:lnTo>
                  <a:lnTo>
                    <a:pt x="58" y="9"/>
                  </a:lnTo>
                  <a:lnTo>
                    <a:pt x="56" y="8"/>
                  </a:lnTo>
                  <a:lnTo>
                    <a:pt x="55" y="6"/>
                  </a:lnTo>
                  <a:lnTo>
                    <a:pt x="53" y="5"/>
                  </a:lnTo>
                  <a:lnTo>
                    <a:pt x="52" y="5"/>
                  </a:lnTo>
                  <a:lnTo>
                    <a:pt x="51" y="4"/>
                  </a:lnTo>
                  <a:lnTo>
                    <a:pt x="49" y="4"/>
                  </a:lnTo>
                  <a:lnTo>
                    <a:pt x="48" y="2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5"/>
                  </a:lnTo>
                  <a:lnTo>
                    <a:pt x="14" y="5"/>
                  </a:lnTo>
                  <a:lnTo>
                    <a:pt x="12" y="6"/>
                  </a:lnTo>
                  <a:lnTo>
                    <a:pt x="11" y="8"/>
                  </a:lnTo>
                  <a:lnTo>
                    <a:pt x="10" y="9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7" y="12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20"/>
                  </a:lnTo>
                  <a:lnTo>
                    <a:pt x="3" y="21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3" y="43"/>
                  </a:lnTo>
                  <a:lnTo>
                    <a:pt x="3" y="46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7" y="53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0" y="56"/>
                  </a:lnTo>
                  <a:lnTo>
                    <a:pt x="11" y="57"/>
                  </a:lnTo>
                  <a:lnTo>
                    <a:pt x="12" y="59"/>
                  </a:lnTo>
                  <a:lnTo>
                    <a:pt x="14" y="60"/>
                  </a:lnTo>
                  <a:lnTo>
                    <a:pt x="15" y="60"/>
                  </a:lnTo>
                  <a:lnTo>
                    <a:pt x="16" y="61"/>
                  </a:lnTo>
                  <a:lnTo>
                    <a:pt x="18" y="61"/>
                  </a:lnTo>
                  <a:lnTo>
                    <a:pt x="19" y="63"/>
                  </a:lnTo>
                  <a:lnTo>
                    <a:pt x="21" y="64"/>
                  </a:lnTo>
                  <a:lnTo>
                    <a:pt x="22" y="64"/>
                  </a:lnTo>
                  <a:lnTo>
                    <a:pt x="23" y="64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5"/>
                  </a:lnTo>
                  <a:lnTo>
                    <a:pt x="37" y="65"/>
                  </a:lnTo>
                  <a:lnTo>
                    <a:pt x="38" y="65"/>
                  </a:lnTo>
                  <a:lnTo>
                    <a:pt x="41" y="65"/>
                  </a:lnTo>
                  <a:lnTo>
                    <a:pt x="42" y="65"/>
                  </a:lnTo>
                  <a:lnTo>
                    <a:pt x="44" y="64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48" y="63"/>
                  </a:lnTo>
                  <a:lnTo>
                    <a:pt x="49" y="61"/>
                  </a:lnTo>
                  <a:lnTo>
                    <a:pt x="51" y="61"/>
                  </a:lnTo>
                  <a:lnTo>
                    <a:pt x="52" y="60"/>
                  </a:lnTo>
                  <a:lnTo>
                    <a:pt x="53" y="60"/>
                  </a:lnTo>
                  <a:lnTo>
                    <a:pt x="55" y="59"/>
                  </a:lnTo>
                  <a:lnTo>
                    <a:pt x="56" y="57"/>
                  </a:lnTo>
                  <a:lnTo>
                    <a:pt x="58" y="56"/>
                  </a:lnTo>
                  <a:lnTo>
                    <a:pt x="59" y="54"/>
                  </a:lnTo>
                  <a:lnTo>
                    <a:pt x="60" y="54"/>
                  </a:lnTo>
                  <a:lnTo>
                    <a:pt x="60" y="53"/>
                  </a:lnTo>
                  <a:lnTo>
                    <a:pt x="62" y="52"/>
                  </a:lnTo>
                  <a:lnTo>
                    <a:pt x="63" y="50"/>
                  </a:lnTo>
                  <a:lnTo>
                    <a:pt x="63" y="49"/>
                  </a:lnTo>
                  <a:lnTo>
                    <a:pt x="64" y="48"/>
                  </a:lnTo>
                  <a:lnTo>
                    <a:pt x="64" y="46"/>
                  </a:lnTo>
                  <a:lnTo>
                    <a:pt x="66" y="43"/>
                  </a:lnTo>
                  <a:lnTo>
                    <a:pt x="66" y="42"/>
                  </a:lnTo>
                  <a:lnTo>
                    <a:pt x="66" y="41"/>
                  </a:lnTo>
                  <a:lnTo>
                    <a:pt x="67" y="39"/>
                  </a:lnTo>
                  <a:lnTo>
                    <a:pt x="67" y="38"/>
                  </a:lnTo>
                  <a:lnTo>
                    <a:pt x="67" y="37"/>
                  </a:lnTo>
                  <a:lnTo>
                    <a:pt x="67" y="34"/>
                  </a:lnTo>
                  <a:lnTo>
                    <a:pt x="67" y="32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37"/>
            <p:cNvSpPr>
              <a:spLocks noChangeShapeType="1"/>
            </p:cNvSpPr>
            <p:nvPr/>
          </p:nvSpPr>
          <p:spPr bwMode="auto">
            <a:xfrm flipH="1">
              <a:off x="3314" y="3412"/>
              <a:ext cx="49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Rectangle 38"/>
            <p:cNvSpPr>
              <a:spLocks noChangeArrowheads="1"/>
            </p:cNvSpPr>
            <p:nvPr/>
          </p:nvSpPr>
          <p:spPr bwMode="auto">
            <a:xfrm>
              <a:off x="2358" y="733"/>
              <a:ext cx="82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200">
                  <a:solidFill>
                    <a:srgbClr val="000000"/>
                  </a:solidFill>
                  <a:latin typeface="Times-Roman"/>
                </a:rPr>
                <a:t>3 </a:t>
              </a:r>
              <a:endParaRPr lang="en-US" altLang="en-US"/>
            </a:p>
          </p:txBody>
        </p:sp>
        <p:sp>
          <p:nvSpPr>
            <p:cNvPr id="124" name="Line 39"/>
            <p:cNvSpPr>
              <a:spLocks noChangeShapeType="1"/>
            </p:cNvSpPr>
            <p:nvPr/>
          </p:nvSpPr>
          <p:spPr bwMode="auto">
            <a:xfrm flipV="1">
              <a:off x="1476" y="1490"/>
              <a:ext cx="1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Line 40"/>
            <p:cNvSpPr>
              <a:spLocks noChangeShapeType="1"/>
            </p:cNvSpPr>
            <p:nvPr/>
          </p:nvSpPr>
          <p:spPr bwMode="auto">
            <a:xfrm>
              <a:off x="1476" y="1078"/>
              <a:ext cx="1" cy="1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41"/>
            <p:cNvSpPr>
              <a:spLocks/>
            </p:cNvSpPr>
            <p:nvPr/>
          </p:nvSpPr>
          <p:spPr bwMode="auto">
            <a:xfrm>
              <a:off x="1366" y="1202"/>
              <a:ext cx="219" cy="220"/>
            </a:xfrm>
            <a:custGeom>
              <a:avLst/>
              <a:gdLst>
                <a:gd name="T0" fmla="*/ 219 w 439"/>
                <a:gd name="T1" fmla="*/ 439 h 439"/>
                <a:gd name="T2" fmla="*/ 0 w 439"/>
                <a:gd name="T3" fmla="*/ 0 h 439"/>
                <a:gd name="T4" fmla="*/ 439 w 439"/>
                <a:gd name="T5" fmla="*/ 0 h 439"/>
                <a:gd name="T6" fmla="*/ 219 w 439"/>
                <a:gd name="T7" fmla="*/ 439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9" h="439">
                  <a:moveTo>
                    <a:pt x="219" y="439"/>
                  </a:moveTo>
                  <a:lnTo>
                    <a:pt x="0" y="0"/>
                  </a:lnTo>
                  <a:lnTo>
                    <a:pt x="439" y="0"/>
                  </a:lnTo>
                  <a:lnTo>
                    <a:pt x="219" y="439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42"/>
            <p:cNvSpPr>
              <a:spLocks/>
            </p:cNvSpPr>
            <p:nvPr/>
          </p:nvSpPr>
          <p:spPr bwMode="auto">
            <a:xfrm>
              <a:off x="1447" y="1435"/>
              <a:ext cx="59" cy="57"/>
            </a:xfrm>
            <a:custGeom>
              <a:avLst/>
              <a:gdLst>
                <a:gd name="T0" fmla="*/ 116 w 116"/>
                <a:gd name="T1" fmla="*/ 52 h 115"/>
                <a:gd name="T2" fmla="*/ 115 w 116"/>
                <a:gd name="T3" fmla="*/ 43 h 115"/>
                <a:gd name="T4" fmla="*/ 112 w 116"/>
                <a:gd name="T5" fmla="*/ 36 h 115"/>
                <a:gd name="T6" fmla="*/ 108 w 116"/>
                <a:gd name="T7" fmla="*/ 28 h 115"/>
                <a:gd name="T8" fmla="*/ 103 w 116"/>
                <a:gd name="T9" fmla="*/ 21 h 115"/>
                <a:gd name="T10" fmla="*/ 97 w 116"/>
                <a:gd name="T11" fmla="*/ 15 h 115"/>
                <a:gd name="T12" fmla="*/ 90 w 116"/>
                <a:gd name="T13" fmla="*/ 10 h 115"/>
                <a:gd name="T14" fmla="*/ 83 w 116"/>
                <a:gd name="T15" fmla="*/ 6 h 115"/>
                <a:gd name="T16" fmla="*/ 75 w 116"/>
                <a:gd name="T17" fmla="*/ 3 h 115"/>
                <a:gd name="T18" fmla="*/ 67 w 116"/>
                <a:gd name="T19" fmla="*/ 0 h 115"/>
                <a:gd name="T20" fmla="*/ 59 w 116"/>
                <a:gd name="T21" fmla="*/ 0 h 115"/>
                <a:gd name="T22" fmla="*/ 52 w 116"/>
                <a:gd name="T23" fmla="*/ 0 h 115"/>
                <a:gd name="T24" fmla="*/ 44 w 116"/>
                <a:gd name="T25" fmla="*/ 1 h 115"/>
                <a:gd name="T26" fmla="*/ 35 w 116"/>
                <a:gd name="T27" fmla="*/ 4 h 115"/>
                <a:gd name="T28" fmla="*/ 29 w 116"/>
                <a:gd name="T29" fmla="*/ 8 h 115"/>
                <a:gd name="T30" fmla="*/ 22 w 116"/>
                <a:gd name="T31" fmla="*/ 12 h 115"/>
                <a:gd name="T32" fmla="*/ 15 w 116"/>
                <a:gd name="T33" fmla="*/ 19 h 115"/>
                <a:gd name="T34" fmla="*/ 11 w 116"/>
                <a:gd name="T35" fmla="*/ 25 h 115"/>
                <a:gd name="T36" fmla="*/ 5 w 116"/>
                <a:gd name="T37" fmla="*/ 33 h 115"/>
                <a:gd name="T38" fmla="*/ 3 w 116"/>
                <a:gd name="T39" fmla="*/ 40 h 115"/>
                <a:gd name="T40" fmla="*/ 1 w 116"/>
                <a:gd name="T41" fmla="*/ 50 h 115"/>
                <a:gd name="T42" fmla="*/ 0 w 116"/>
                <a:gd name="T43" fmla="*/ 58 h 115"/>
                <a:gd name="T44" fmla="*/ 1 w 116"/>
                <a:gd name="T45" fmla="*/ 63 h 115"/>
                <a:gd name="T46" fmla="*/ 3 w 116"/>
                <a:gd name="T47" fmla="*/ 73 h 115"/>
                <a:gd name="T48" fmla="*/ 5 w 116"/>
                <a:gd name="T49" fmla="*/ 81 h 115"/>
                <a:gd name="T50" fmla="*/ 8 w 116"/>
                <a:gd name="T51" fmla="*/ 88 h 115"/>
                <a:gd name="T52" fmla="*/ 13 w 116"/>
                <a:gd name="T53" fmla="*/ 95 h 115"/>
                <a:gd name="T54" fmla="*/ 19 w 116"/>
                <a:gd name="T55" fmla="*/ 100 h 115"/>
                <a:gd name="T56" fmla="*/ 26 w 116"/>
                <a:gd name="T57" fmla="*/ 106 h 115"/>
                <a:gd name="T58" fmla="*/ 33 w 116"/>
                <a:gd name="T59" fmla="*/ 110 h 115"/>
                <a:gd name="T60" fmla="*/ 41 w 116"/>
                <a:gd name="T61" fmla="*/ 114 h 115"/>
                <a:gd name="T62" fmla="*/ 49 w 116"/>
                <a:gd name="T63" fmla="*/ 115 h 115"/>
                <a:gd name="T64" fmla="*/ 59 w 116"/>
                <a:gd name="T65" fmla="*/ 115 h 115"/>
                <a:gd name="T66" fmla="*/ 64 w 116"/>
                <a:gd name="T67" fmla="*/ 115 h 115"/>
                <a:gd name="T68" fmla="*/ 72 w 116"/>
                <a:gd name="T69" fmla="*/ 114 h 115"/>
                <a:gd name="T70" fmla="*/ 81 w 116"/>
                <a:gd name="T71" fmla="*/ 111 h 115"/>
                <a:gd name="T72" fmla="*/ 89 w 116"/>
                <a:gd name="T73" fmla="*/ 107 h 115"/>
                <a:gd name="T74" fmla="*/ 96 w 116"/>
                <a:gd name="T75" fmla="*/ 103 h 115"/>
                <a:gd name="T76" fmla="*/ 101 w 116"/>
                <a:gd name="T77" fmla="*/ 98 h 115"/>
                <a:gd name="T78" fmla="*/ 107 w 116"/>
                <a:gd name="T79" fmla="*/ 91 h 115"/>
                <a:gd name="T80" fmla="*/ 111 w 116"/>
                <a:gd name="T81" fmla="*/ 82 h 115"/>
                <a:gd name="T82" fmla="*/ 114 w 116"/>
                <a:gd name="T83" fmla="*/ 76 h 115"/>
                <a:gd name="T84" fmla="*/ 116 w 116"/>
                <a:gd name="T85" fmla="*/ 66 h 115"/>
                <a:gd name="T86" fmla="*/ 116 w 116"/>
                <a:gd name="T87" fmla="*/ 5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6" h="115">
                  <a:moveTo>
                    <a:pt x="116" y="58"/>
                  </a:moveTo>
                  <a:lnTo>
                    <a:pt x="116" y="55"/>
                  </a:lnTo>
                  <a:lnTo>
                    <a:pt x="116" y="52"/>
                  </a:lnTo>
                  <a:lnTo>
                    <a:pt x="116" y="50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4" y="40"/>
                  </a:lnTo>
                  <a:lnTo>
                    <a:pt x="114" y="37"/>
                  </a:lnTo>
                  <a:lnTo>
                    <a:pt x="112" y="36"/>
                  </a:lnTo>
                  <a:lnTo>
                    <a:pt x="111" y="33"/>
                  </a:lnTo>
                  <a:lnTo>
                    <a:pt x="110" y="30"/>
                  </a:lnTo>
                  <a:lnTo>
                    <a:pt x="108" y="28"/>
                  </a:lnTo>
                  <a:lnTo>
                    <a:pt x="107" y="25"/>
                  </a:lnTo>
                  <a:lnTo>
                    <a:pt x="105" y="23"/>
                  </a:lnTo>
                  <a:lnTo>
                    <a:pt x="103" y="21"/>
                  </a:lnTo>
                  <a:lnTo>
                    <a:pt x="101" y="19"/>
                  </a:lnTo>
                  <a:lnTo>
                    <a:pt x="100" y="17"/>
                  </a:lnTo>
                  <a:lnTo>
                    <a:pt x="97" y="15"/>
                  </a:lnTo>
                  <a:lnTo>
                    <a:pt x="96" y="12"/>
                  </a:lnTo>
                  <a:lnTo>
                    <a:pt x="93" y="11"/>
                  </a:lnTo>
                  <a:lnTo>
                    <a:pt x="90" y="10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3" y="6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5" y="3"/>
                  </a:lnTo>
                  <a:lnTo>
                    <a:pt x="72" y="1"/>
                  </a:lnTo>
                  <a:lnTo>
                    <a:pt x="70" y="1"/>
                  </a:lnTo>
                  <a:lnTo>
                    <a:pt x="67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5" y="4"/>
                  </a:lnTo>
                  <a:lnTo>
                    <a:pt x="33" y="6"/>
                  </a:lnTo>
                  <a:lnTo>
                    <a:pt x="30" y="7"/>
                  </a:lnTo>
                  <a:lnTo>
                    <a:pt x="29" y="8"/>
                  </a:lnTo>
                  <a:lnTo>
                    <a:pt x="26" y="10"/>
                  </a:lnTo>
                  <a:lnTo>
                    <a:pt x="23" y="11"/>
                  </a:lnTo>
                  <a:lnTo>
                    <a:pt x="22" y="12"/>
                  </a:lnTo>
                  <a:lnTo>
                    <a:pt x="19" y="15"/>
                  </a:lnTo>
                  <a:lnTo>
                    <a:pt x="18" y="17"/>
                  </a:lnTo>
                  <a:lnTo>
                    <a:pt x="15" y="19"/>
                  </a:lnTo>
                  <a:lnTo>
                    <a:pt x="13" y="21"/>
                  </a:lnTo>
                  <a:lnTo>
                    <a:pt x="12" y="23"/>
                  </a:lnTo>
                  <a:lnTo>
                    <a:pt x="11" y="25"/>
                  </a:lnTo>
                  <a:lnTo>
                    <a:pt x="8" y="28"/>
                  </a:lnTo>
                  <a:lnTo>
                    <a:pt x="7" y="30"/>
                  </a:lnTo>
                  <a:lnTo>
                    <a:pt x="5" y="33"/>
                  </a:lnTo>
                  <a:lnTo>
                    <a:pt x="5" y="36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1" y="52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1"/>
                  </a:lnTo>
                  <a:lnTo>
                    <a:pt x="1" y="63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3" y="73"/>
                  </a:lnTo>
                  <a:lnTo>
                    <a:pt x="3" y="76"/>
                  </a:lnTo>
                  <a:lnTo>
                    <a:pt x="4" y="78"/>
                  </a:lnTo>
                  <a:lnTo>
                    <a:pt x="5" y="81"/>
                  </a:lnTo>
                  <a:lnTo>
                    <a:pt x="5" y="82"/>
                  </a:lnTo>
                  <a:lnTo>
                    <a:pt x="7" y="85"/>
                  </a:lnTo>
                  <a:lnTo>
                    <a:pt x="8" y="88"/>
                  </a:lnTo>
                  <a:lnTo>
                    <a:pt x="11" y="91"/>
                  </a:lnTo>
                  <a:lnTo>
                    <a:pt x="12" y="92"/>
                  </a:lnTo>
                  <a:lnTo>
                    <a:pt x="13" y="95"/>
                  </a:lnTo>
                  <a:lnTo>
                    <a:pt x="15" y="98"/>
                  </a:lnTo>
                  <a:lnTo>
                    <a:pt x="18" y="99"/>
                  </a:lnTo>
                  <a:lnTo>
                    <a:pt x="19" y="100"/>
                  </a:lnTo>
                  <a:lnTo>
                    <a:pt x="22" y="103"/>
                  </a:lnTo>
                  <a:lnTo>
                    <a:pt x="23" y="104"/>
                  </a:lnTo>
                  <a:lnTo>
                    <a:pt x="26" y="106"/>
                  </a:lnTo>
                  <a:lnTo>
                    <a:pt x="29" y="107"/>
                  </a:lnTo>
                  <a:lnTo>
                    <a:pt x="30" y="109"/>
                  </a:lnTo>
                  <a:lnTo>
                    <a:pt x="33" y="110"/>
                  </a:lnTo>
                  <a:lnTo>
                    <a:pt x="35" y="111"/>
                  </a:lnTo>
                  <a:lnTo>
                    <a:pt x="38" y="113"/>
                  </a:lnTo>
                  <a:lnTo>
                    <a:pt x="41" y="114"/>
                  </a:lnTo>
                  <a:lnTo>
                    <a:pt x="44" y="114"/>
                  </a:lnTo>
                  <a:lnTo>
                    <a:pt x="46" y="115"/>
                  </a:lnTo>
                  <a:lnTo>
                    <a:pt x="49" y="115"/>
                  </a:lnTo>
                  <a:lnTo>
                    <a:pt x="52" y="115"/>
                  </a:lnTo>
                  <a:lnTo>
                    <a:pt x="56" y="115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62" y="115"/>
                  </a:lnTo>
                  <a:lnTo>
                    <a:pt x="64" y="115"/>
                  </a:lnTo>
                  <a:lnTo>
                    <a:pt x="67" y="115"/>
                  </a:lnTo>
                  <a:lnTo>
                    <a:pt x="70" y="115"/>
                  </a:lnTo>
                  <a:lnTo>
                    <a:pt x="72" y="114"/>
                  </a:lnTo>
                  <a:lnTo>
                    <a:pt x="75" y="114"/>
                  </a:lnTo>
                  <a:lnTo>
                    <a:pt x="78" y="113"/>
                  </a:lnTo>
                  <a:lnTo>
                    <a:pt x="81" y="111"/>
                  </a:lnTo>
                  <a:lnTo>
                    <a:pt x="83" y="110"/>
                  </a:lnTo>
                  <a:lnTo>
                    <a:pt x="86" y="109"/>
                  </a:lnTo>
                  <a:lnTo>
                    <a:pt x="89" y="107"/>
                  </a:lnTo>
                  <a:lnTo>
                    <a:pt x="90" y="106"/>
                  </a:lnTo>
                  <a:lnTo>
                    <a:pt x="93" y="104"/>
                  </a:lnTo>
                  <a:lnTo>
                    <a:pt x="96" y="103"/>
                  </a:lnTo>
                  <a:lnTo>
                    <a:pt x="97" y="100"/>
                  </a:lnTo>
                  <a:lnTo>
                    <a:pt x="100" y="99"/>
                  </a:lnTo>
                  <a:lnTo>
                    <a:pt x="101" y="98"/>
                  </a:lnTo>
                  <a:lnTo>
                    <a:pt x="103" y="95"/>
                  </a:lnTo>
                  <a:lnTo>
                    <a:pt x="105" y="92"/>
                  </a:lnTo>
                  <a:lnTo>
                    <a:pt x="107" y="91"/>
                  </a:lnTo>
                  <a:lnTo>
                    <a:pt x="108" y="88"/>
                  </a:lnTo>
                  <a:lnTo>
                    <a:pt x="110" y="85"/>
                  </a:lnTo>
                  <a:lnTo>
                    <a:pt x="111" y="82"/>
                  </a:lnTo>
                  <a:lnTo>
                    <a:pt x="112" y="81"/>
                  </a:lnTo>
                  <a:lnTo>
                    <a:pt x="114" y="78"/>
                  </a:lnTo>
                  <a:lnTo>
                    <a:pt x="114" y="76"/>
                  </a:lnTo>
                  <a:lnTo>
                    <a:pt x="115" y="73"/>
                  </a:lnTo>
                  <a:lnTo>
                    <a:pt x="115" y="70"/>
                  </a:lnTo>
                  <a:lnTo>
                    <a:pt x="116" y="66"/>
                  </a:lnTo>
                  <a:lnTo>
                    <a:pt x="116" y="63"/>
                  </a:lnTo>
                  <a:lnTo>
                    <a:pt x="116" y="61"/>
                  </a:lnTo>
                  <a:lnTo>
                    <a:pt x="116" y="58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Line 43"/>
            <p:cNvSpPr>
              <a:spLocks noChangeShapeType="1"/>
            </p:cNvSpPr>
            <p:nvPr/>
          </p:nvSpPr>
          <p:spPr bwMode="auto">
            <a:xfrm flipV="1">
              <a:off x="2065" y="1490"/>
              <a:ext cx="1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44"/>
            <p:cNvSpPr>
              <a:spLocks noChangeShapeType="1"/>
            </p:cNvSpPr>
            <p:nvPr/>
          </p:nvSpPr>
          <p:spPr bwMode="auto">
            <a:xfrm>
              <a:off x="2065" y="1078"/>
              <a:ext cx="1" cy="1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45"/>
            <p:cNvSpPr>
              <a:spLocks/>
            </p:cNvSpPr>
            <p:nvPr/>
          </p:nvSpPr>
          <p:spPr bwMode="auto">
            <a:xfrm>
              <a:off x="1956" y="1202"/>
              <a:ext cx="219" cy="220"/>
            </a:xfrm>
            <a:custGeom>
              <a:avLst/>
              <a:gdLst>
                <a:gd name="T0" fmla="*/ 220 w 439"/>
                <a:gd name="T1" fmla="*/ 439 h 439"/>
                <a:gd name="T2" fmla="*/ 0 w 439"/>
                <a:gd name="T3" fmla="*/ 0 h 439"/>
                <a:gd name="T4" fmla="*/ 439 w 439"/>
                <a:gd name="T5" fmla="*/ 0 h 439"/>
                <a:gd name="T6" fmla="*/ 220 w 439"/>
                <a:gd name="T7" fmla="*/ 439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9" h="439">
                  <a:moveTo>
                    <a:pt x="220" y="439"/>
                  </a:moveTo>
                  <a:lnTo>
                    <a:pt x="0" y="0"/>
                  </a:lnTo>
                  <a:lnTo>
                    <a:pt x="439" y="0"/>
                  </a:lnTo>
                  <a:lnTo>
                    <a:pt x="220" y="439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46"/>
            <p:cNvSpPr>
              <a:spLocks/>
            </p:cNvSpPr>
            <p:nvPr/>
          </p:nvSpPr>
          <p:spPr bwMode="auto">
            <a:xfrm>
              <a:off x="2037" y="1435"/>
              <a:ext cx="59" cy="57"/>
            </a:xfrm>
            <a:custGeom>
              <a:avLst/>
              <a:gdLst>
                <a:gd name="T0" fmla="*/ 116 w 116"/>
                <a:gd name="T1" fmla="*/ 52 h 115"/>
                <a:gd name="T2" fmla="*/ 115 w 116"/>
                <a:gd name="T3" fmla="*/ 43 h 115"/>
                <a:gd name="T4" fmla="*/ 112 w 116"/>
                <a:gd name="T5" fmla="*/ 36 h 115"/>
                <a:gd name="T6" fmla="*/ 108 w 116"/>
                <a:gd name="T7" fmla="*/ 28 h 115"/>
                <a:gd name="T8" fmla="*/ 102 w 116"/>
                <a:gd name="T9" fmla="*/ 21 h 115"/>
                <a:gd name="T10" fmla="*/ 97 w 116"/>
                <a:gd name="T11" fmla="*/ 15 h 115"/>
                <a:gd name="T12" fmla="*/ 90 w 116"/>
                <a:gd name="T13" fmla="*/ 10 h 115"/>
                <a:gd name="T14" fmla="*/ 83 w 116"/>
                <a:gd name="T15" fmla="*/ 6 h 115"/>
                <a:gd name="T16" fmla="*/ 75 w 116"/>
                <a:gd name="T17" fmla="*/ 3 h 115"/>
                <a:gd name="T18" fmla="*/ 67 w 116"/>
                <a:gd name="T19" fmla="*/ 0 h 115"/>
                <a:gd name="T20" fmla="*/ 59 w 116"/>
                <a:gd name="T21" fmla="*/ 0 h 115"/>
                <a:gd name="T22" fmla="*/ 52 w 116"/>
                <a:gd name="T23" fmla="*/ 0 h 115"/>
                <a:gd name="T24" fmla="*/ 44 w 116"/>
                <a:gd name="T25" fmla="*/ 1 h 115"/>
                <a:gd name="T26" fmla="*/ 35 w 116"/>
                <a:gd name="T27" fmla="*/ 4 h 115"/>
                <a:gd name="T28" fmla="*/ 28 w 116"/>
                <a:gd name="T29" fmla="*/ 8 h 115"/>
                <a:gd name="T30" fmla="*/ 22 w 116"/>
                <a:gd name="T31" fmla="*/ 12 h 115"/>
                <a:gd name="T32" fmla="*/ 15 w 116"/>
                <a:gd name="T33" fmla="*/ 19 h 115"/>
                <a:gd name="T34" fmla="*/ 11 w 116"/>
                <a:gd name="T35" fmla="*/ 25 h 115"/>
                <a:gd name="T36" fmla="*/ 5 w 116"/>
                <a:gd name="T37" fmla="*/ 33 h 115"/>
                <a:gd name="T38" fmla="*/ 2 w 116"/>
                <a:gd name="T39" fmla="*/ 40 h 115"/>
                <a:gd name="T40" fmla="*/ 1 w 116"/>
                <a:gd name="T41" fmla="*/ 50 h 115"/>
                <a:gd name="T42" fmla="*/ 0 w 116"/>
                <a:gd name="T43" fmla="*/ 58 h 115"/>
                <a:gd name="T44" fmla="*/ 1 w 116"/>
                <a:gd name="T45" fmla="*/ 63 h 115"/>
                <a:gd name="T46" fmla="*/ 2 w 116"/>
                <a:gd name="T47" fmla="*/ 73 h 115"/>
                <a:gd name="T48" fmla="*/ 5 w 116"/>
                <a:gd name="T49" fmla="*/ 81 h 115"/>
                <a:gd name="T50" fmla="*/ 8 w 116"/>
                <a:gd name="T51" fmla="*/ 88 h 115"/>
                <a:gd name="T52" fmla="*/ 13 w 116"/>
                <a:gd name="T53" fmla="*/ 95 h 115"/>
                <a:gd name="T54" fmla="*/ 19 w 116"/>
                <a:gd name="T55" fmla="*/ 100 h 115"/>
                <a:gd name="T56" fmla="*/ 26 w 116"/>
                <a:gd name="T57" fmla="*/ 106 h 115"/>
                <a:gd name="T58" fmla="*/ 33 w 116"/>
                <a:gd name="T59" fmla="*/ 110 h 115"/>
                <a:gd name="T60" fmla="*/ 41 w 116"/>
                <a:gd name="T61" fmla="*/ 114 h 115"/>
                <a:gd name="T62" fmla="*/ 49 w 116"/>
                <a:gd name="T63" fmla="*/ 115 h 115"/>
                <a:gd name="T64" fmla="*/ 59 w 116"/>
                <a:gd name="T65" fmla="*/ 115 h 115"/>
                <a:gd name="T66" fmla="*/ 64 w 116"/>
                <a:gd name="T67" fmla="*/ 115 h 115"/>
                <a:gd name="T68" fmla="*/ 72 w 116"/>
                <a:gd name="T69" fmla="*/ 114 h 115"/>
                <a:gd name="T70" fmla="*/ 81 w 116"/>
                <a:gd name="T71" fmla="*/ 111 h 115"/>
                <a:gd name="T72" fmla="*/ 89 w 116"/>
                <a:gd name="T73" fmla="*/ 107 h 115"/>
                <a:gd name="T74" fmla="*/ 96 w 116"/>
                <a:gd name="T75" fmla="*/ 103 h 115"/>
                <a:gd name="T76" fmla="*/ 101 w 116"/>
                <a:gd name="T77" fmla="*/ 98 h 115"/>
                <a:gd name="T78" fmla="*/ 107 w 116"/>
                <a:gd name="T79" fmla="*/ 91 h 115"/>
                <a:gd name="T80" fmla="*/ 111 w 116"/>
                <a:gd name="T81" fmla="*/ 82 h 115"/>
                <a:gd name="T82" fmla="*/ 113 w 116"/>
                <a:gd name="T83" fmla="*/ 76 h 115"/>
                <a:gd name="T84" fmla="*/ 116 w 116"/>
                <a:gd name="T85" fmla="*/ 66 h 115"/>
                <a:gd name="T86" fmla="*/ 116 w 116"/>
                <a:gd name="T87" fmla="*/ 5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6" h="115">
                  <a:moveTo>
                    <a:pt x="116" y="58"/>
                  </a:moveTo>
                  <a:lnTo>
                    <a:pt x="116" y="55"/>
                  </a:lnTo>
                  <a:lnTo>
                    <a:pt x="116" y="52"/>
                  </a:lnTo>
                  <a:lnTo>
                    <a:pt x="116" y="50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0"/>
                  </a:lnTo>
                  <a:lnTo>
                    <a:pt x="113" y="37"/>
                  </a:lnTo>
                  <a:lnTo>
                    <a:pt x="112" y="36"/>
                  </a:lnTo>
                  <a:lnTo>
                    <a:pt x="111" y="33"/>
                  </a:lnTo>
                  <a:lnTo>
                    <a:pt x="109" y="30"/>
                  </a:lnTo>
                  <a:lnTo>
                    <a:pt x="108" y="28"/>
                  </a:lnTo>
                  <a:lnTo>
                    <a:pt x="107" y="25"/>
                  </a:lnTo>
                  <a:lnTo>
                    <a:pt x="105" y="23"/>
                  </a:lnTo>
                  <a:lnTo>
                    <a:pt x="102" y="21"/>
                  </a:lnTo>
                  <a:lnTo>
                    <a:pt x="101" y="19"/>
                  </a:lnTo>
                  <a:lnTo>
                    <a:pt x="100" y="17"/>
                  </a:lnTo>
                  <a:lnTo>
                    <a:pt x="97" y="15"/>
                  </a:lnTo>
                  <a:lnTo>
                    <a:pt x="96" y="12"/>
                  </a:lnTo>
                  <a:lnTo>
                    <a:pt x="93" y="11"/>
                  </a:lnTo>
                  <a:lnTo>
                    <a:pt x="90" y="10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3" y="6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5" y="3"/>
                  </a:lnTo>
                  <a:lnTo>
                    <a:pt x="72" y="1"/>
                  </a:lnTo>
                  <a:lnTo>
                    <a:pt x="70" y="1"/>
                  </a:lnTo>
                  <a:lnTo>
                    <a:pt x="67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5" y="4"/>
                  </a:lnTo>
                  <a:lnTo>
                    <a:pt x="33" y="6"/>
                  </a:lnTo>
                  <a:lnTo>
                    <a:pt x="30" y="7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3" y="11"/>
                  </a:lnTo>
                  <a:lnTo>
                    <a:pt x="22" y="12"/>
                  </a:lnTo>
                  <a:lnTo>
                    <a:pt x="19" y="15"/>
                  </a:lnTo>
                  <a:lnTo>
                    <a:pt x="17" y="17"/>
                  </a:lnTo>
                  <a:lnTo>
                    <a:pt x="15" y="19"/>
                  </a:lnTo>
                  <a:lnTo>
                    <a:pt x="13" y="21"/>
                  </a:lnTo>
                  <a:lnTo>
                    <a:pt x="12" y="23"/>
                  </a:lnTo>
                  <a:lnTo>
                    <a:pt x="11" y="25"/>
                  </a:lnTo>
                  <a:lnTo>
                    <a:pt x="8" y="28"/>
                  </a:lnTo>
                  <a:lnTo>
                    <a:pt x="6" y="30"/>
                  </a:lnTo>
                  <a:lnTo>
                    <a:pt x="5" y="33"/>
                  </a:lnTo>
                  <a:lnTo>
                    <a:pt x="5" y="36"/>
                  </a:lnTo>
                  <a:lnTo>
                    <a:pt x="4" y="37"/>
                  </a:lnTo>
                  <a:lnTo>
                    <a:pt x="2" y="40"/>
                  </a:lnTo>
                  <a:lnTo>
                    <a:pt x="2" y="43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1" y="52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1"/>
                  </a:lnTo>
                  <a:lnTo>
                    <a:pt x="1" y="63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2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5" y="81"/>
                  </a:lnTo>
                  <a:lnTo>
                    <a:pt x="5" y="82"/>
                  </a:lnTo>
                  <a:lnTo>
                    <a:pt x="6" y="85"/>
                  </a:lnTo>
                  <a:lnTo>
                    <a:pt x="8" y="88"/>
                  </a:lnTo>
                  <a:lnTo>
                    <a:pt x="11" y="91"/>
                  </a:lnTo>
                  <a:lnTo>
                    <a:pt x="12" y="92"/>
                  </a:lnTo>
                  <a:lnTo>
                    <a:pt x="13" y="95"/>
                  </a:lnTo>
                  <a:lnTo>
                    <a:pt x="15" y="98"/>
                  </a:lnTo>
                  <a:lnTo>
                    <a:pt x="17" y="99"/>
                  </a:lnTo>
                  <a:lnTo>
                    <a:pt x="19" y="100"/>
                  </a:lnTo>
                  <a:lnTo>
                    <a:pt x="22" y="103"/>
                  </a:lnTo>
                  <a:lnTo>
                    <a:pt x="23" y="104"/>
                  </a:lnTo>
                  <a:lnTo>
                    <a:pt x="26" y="106"/>
                  </a:lnTo>
                  <a:lnTo>
                    <a:pt x="28" y="107"/>
                  </a:lnTo>
                  <a:lnTo>
                    <a:pt x="30" y="109"/>
                  </a:lnTo>
                  <a:lnTo>
                    <a:pt x="33" y="110"/>
                  </a:lnTo>
                  <a:lnTo>
                    <a:pt x="35" y="111"/>
                  </a:lnTo>
                  <a:lnTo>
                    <a:pt x="38" y="113"/>
                  </a:lnTo>
                  <a:lnTo>
                    <a:pt x="41" y="114"/>
                  </a:lnTo>
                  <a:lnTo>
                    <a:pt x="44" y="114"/>
                  </a:lnTo>
                  <a:lnTo>
                    <a:pt x="46" y="115"/>
                  </a:lnTo>
                  <a:lnTo>
                    <a:pt x="49" y="115"/>
                  </a:lnTo>
                  <a:lnTo>
                    <a:pt x="52" y="115"/>
                  </a:lnTo>
                  <a:lnTo>
                    <a:pt x="56" y="115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61" y="115"/>
                  </a:lnTo>
                  <a:lnTo>
                    <a:pt x="64" y="115"/>
                  </a:lnTo>
                  <a:lnTo>
                    <a:pt x="67" y="115"/>
                  </a:lnTo>
                  <a:lnTo>
                    <a:pt x="70" y="115"/>
                  </a:lnTo>
                  <a:lnTo>
                    <a:pt x="72" y="114"/>
                  </a:lnTo>
                  <a:lnTo>
                    <a:pt x="75" y="114"/>
                  </a:lnTo>
                  <a:lnTo>
                    <a:pt x="78" y="113"/>
                  </a:lnTo>
                  <a:lnTo>
                    <a:pt x="81" y="111"/>
                  </a:lnTo>
                  <a:lnTo>
                    <a:pt x="83" y="110"/>
                  </a:lnTo>
                  <a:lnTo>
                    <a:pt x="86" y="109"/>
                  </a:lnTo>
                  <a:lnTo>
                    <a:pt x="89" y="107"/>
                  </a:lnTo>
                  <a:lnTo>
                    <a:pt x="90" y="106"/>
                  </a:lnTo>
                  <a:lnTo>
                    <a:pt x="93" y="104"/>
                  </a:lnTo>
                  <a:lnTo>
                    <a:pt x="96" y="103"/>
                  </a:lnTo>
                  <a:lnTo>
                    <a:pt x="97" y="100"/>
                  </a:lnTo>
                  <a:lnTo>
                    <a:pt x="100" y="99"/>
                  </a:lnTo>
                  <a:lnTo>
                    <a:pt x="101" y="98"/>
                  </a:lnTo>
                  <a:lnTo>
                    <a:pt x="102" y="95"/>
                  </a:lnTo>
                  <a:lnTo>
                    <a:pt x="105" y="92"/>
                  </a:lnTo>
                  <a:lnTo>
                    <a:pt x="107" y="91"/>
                  </a:lnTo>
                  <a:lnTo>
                    <a:pt x="108" y="88"/>
                  </a:lnTo>
                  <a:lnTo>
                    <a:pt x="109" y="85"/>
                  </a:lnTo>
                  <a:lnTo>
                    <a:pt x="111" y="82"/>
                  </a:lnTo>
                  <a:lnTo>
                    <a:pt x="112" y="81"/>
                  </a:lnTo>
                  <a:lnTo>
                    <a:pt x="113" y="78"/>
                  </a:lnTo>
                  <a:lnTo>
                    <a:pt x="113" y="76"/>
                  </a:lnTo>
                  <a:lnTo>
                    <a:pt x="115" y="73"/>
                  </a:lnTo>
                  <a:lnTo>
                    <a:pt x="115" y="70"/>
                  </a:lnTo>
                  <a:lnTo>
                    <a:pt x="116" y="66"/>
                  </a:lnTo>
                  <a:lnTo>
                    <a:pt x="116" y="63"/>
                  </a:lnTo>
                  <a:lnTo>
                    <a:pt x="116" y="61"/>
                  </a:lnTo>
                  <a:lnTo>
                    <a:pt x="116" y="58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47"/>
            <p:cNvSpPr>
              <a:spLocks noChangeShapeType="1"/>
            </p:cNvSpPr>
            <p:nvPr/>
          </p:nvSpPr>
          <p:spPr bwMode="auto">
            <a:xfrm flipV="1">
              <a:off x="2642" y="1490"/>
              <a:ext cx="1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48"/>
            <p:cNvSpPr>
              <a:spLocks noChangeShapeType="1"/>
            </p:cNvSpPr>
            <p:nvPr/>
          </p:nvSpPr>
          <p:spPr bwMode="auto">
            <a:xfrm>
              <a:off x="2642" y="1078"/>
              <a:ext cx="1" cy="1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49"/>
            <p:cNvSpPr>
              <a:spLocks/>
            </p:cNvSpPr>
            <p:nvPr/>
          </p:nvSpPr>
          <p:spPr bwMode="auto">
            <a:xfrm>
              <a:off x="2532" y="1202"/>
              <a:ext cx="219" cy="220"/>
            </a:xfrm>
            <a:custGeom>
              <a:avLst/>
              <a:gdLst>
                <a:gd name="T0" fmla="*/ 219 w 439"/>
                <a:gd name="T1" fmla="*/ 439 h 439"/>
                <a:gd name="T2" fmla="*/ 0 w 439"/>
                <a:gd name="T3" fmla="*/ 0 h 439"/>
                <a:gd name="T4" fmla="*/ 439 w 439"/>
                <a:gd name="T5" fmla="*/ 0 h 439"/>
                <a:gd name="T6" fmla="*/ 219 w 439"/>
                <a:gd name="T7" fmla="*/ 439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9" h="439">
                  <a:moveTo>
                    <a:pt x="219" y="439"/>
                  </a:moveTo>
                  <a:lnTo>
                    <a:pt x="0" y="0"/>
                  </a:lnTo>
                  <a:lnTo>
                    <a:pt x="439" y="0"/>
                  </a:lnTo>
                  <a:lnTo>
                    <a:pt x="219" y="439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50"/>
            <p:cNvSpPr>
              <a:spLocks/>
            </p:cNvSpPr>
            <p:nvPr/>
          </p:nvSpPr>
          <p:spPr bwMode="auto">
            <a:xfrm>
              <a:off x="2613" y="1435"/>
              <a:ext cx="59" cy="57"/>
            </a:xfrm>
            <a:custGeom>
              <a:avLst/>
              <a:gdLst>
                <a:gd name="T0" fmla="*/ 117 w 117"/>
                <a:gd name="T1" fmla="*/ 52 h 115"/>
                <a:gd name="T2" fmla="*/ 115 w 117"/>
                <a:gd name="T3" fmla="*/ 43 h 115"/>
                <a:gd name="T4" fmla="*/ 112 w 117"/>
                <a:gd name="T5" fmla="*/ 36 h 115"/>
                <a:gd name="T6" fmla="*/ 108 w 117"/>
                <a:gd name="T7" fmla="*/ 28 h 115"/>
                <a:gd name="T8" fmla="*/ 103 w 117"/>
                <a:gd name="T9" fmla="*/ 21 h 115"/>
                <a:gd name="T10" fmla="*/ 97 w 117"/>
                <a:gd name="T11" fmla="*/ 15 h 115"/>
                <a:gd name="T12" fmla="*/ 91 w 117"/>
                <a:gd name="T13" fmla="*/ 10 h 115"/>
                <a:gd name="T14" fmla="*/ 84 w 117"/>
                <a:gd name="T15" fmla="*/ 6 h 115"/>
                <a:gd name="T16" fmla="*/ 75 w 117"/>
                <a:gd name="T17" fmla="*/ 3 h 115"/>
                <a:gd name="T18" fmla="*/ 67 w 117"/>
                <a:gd name="T19" fmla="*/ 0 h 115"/>
                <a:gd name="T20" fmla="*/ 59 w 117"/>
                <a:gd name="T21" fmla="*/ 0 h 115"/>
                <a:gd name="T22" fmla="*/ 52 w 117"/>
                <a:gd name="T23" fmla="*/ 0 h 115"/>
                <a:gd name="T24" fmla="*/ 44 w 117"/>
                <a:gd name="T25" fmla="*/ 1 h 115"/>
                <a:gd name="T26" fmla="*/ 36 w 117"/>
                <a:gd name="T27" fmla="*/ 4 h 115"/>
                <a:gd name="T28" fmla="*/ 29 w 117"/>
                <a:gd name="T29" fmla="*/ 8 h 115"/>
                <a:gd name="T30" fmla="*/ 22 w 117"/>
                <a:gd name="T31" fmla="*/ 12 h 115"/>
                <a:gd name="T32" fmla="*/ 15 w 117"/>
                <a:gd name="T33" fmla="*/ 19 h 115"/>
                <a:gd name="T34" fmla="*/ 11 w 117"/>
                <a:gd name="T35" fmla="*/ 25 h 115"/>
                <a:gd name="T36" fmla="*/ 5 w 117"/>
                <a:gd name="T37" fmla="*/ 33 h 115"/>
                <a:gd name="T38" fmla="*/ 3 w 117"/>
                <a:gd name="T39" fmla="*/ 40 h 115"/>
                <a:gd name="T40" fmla="*/ 1 w 117"/>
                <a:gd name="T41" fmla="*/ 50 h 115"/>
                <a:gd name="T42" fmla="*/ 0 w 117"/>
                <a:gd name="T43" fmla="*/ 58 h 115"/>
                <a:gd name="T44" fmla="*/ 1 w 117"/>
                <a:gd name="T45" fmla="*/ 63 h 115"/>
                <a:gd name="T46" fmla="*/ 3 w 117"/>
                <a:gd name="T47" fmla="*/ 73 h 115"/>
                <a:gd name="T48" fmla="*/ 5 w 117"/>
                <a:gd name="T49" fmla="*/ 81 h 115"/>
                <a:gd name="T50" fmla="*/ 8 w 117"/>
                <a:gd name="T51" fmla="*/ 88 h 115"/>
                <a:gd name="T52" fmla="*/ 14 w 117"/>
                <a:gd name="T53" fmla="*/ 95 h 115"/>
                <a:gd name="T54" fmla="*/ 19 w 117"/>
                <a:gd name="T55" fmla="*/ 100 h 115"/>
                <a:gd name="T56" fmla="*/ 26 w 117"/>
                <a:gd name="T57" fmla="*/ 106 h 115"/>
                <a:gd name="T58" fmla="*/ 33 w 117"/>
                <a:gd name="T59" fmla="*/ 110 h 115"/>
                <a:gd name="T60" fmla="*/ 41 w 117"/>
                <a:gd name="T61" fmla="*/ 114 h 115"/>
                <a:gd name="T62" fmla="*/ 49 w 117"/>
                <a:gd name="T63" fmla="*/ 115 h 115"/>
                <a:gd name="T64" fmla="*/ 59 w 117"/>
                <a:gd name="T65" fmla="*/ 115 h 115"/>
                <a:gd name="T66" fmla="*/ 64 w 117"/>
                <a:gd name="T67" fmla="*/ 115 h 115"/>
                <a:gd name="T68" fmla="*/ 73 w 117"/>
                <a:gd name="T69" fmla="*/ 114 h 115"/>
                <a:gd name="T70" fmla="*/ 81 w 117"/>
                <a:gd name="T71" fmla="*/ 111 h 115"/>
                <a:gd name="T72" fmla="*/ 89 w 117"/>
                <a:gd name="T73" fmla="*/ 107 h 115"/>
                <a:gd name="T74" fmla="*/ 96 w 117"/>
                <a:gd name="T75" fmla="*/ 103 h 115"/>
                <a:gd name="T76" fmla="*/ 102 w 117"/>
                <a:gd name="T77" fmla="*/ 98 h 115"/>
                <a:gd name="T78" fmla="*/ 107 w 117"/>
                <a:gd name="T79" fmla="*/ 91 h 115"/>
                <a:gd name="T80" fmla="*/ 111 w 117"/>
                <a:gd name="T81" fmla="*/ 82 h 115"/>
                <a:gd name="T82" fmla="*/ 114 w 117"/>
                <a:gd name="T83" fmla="*/ 76 h 115"/>
                <a:gd name="T84" fmla="*/ 117 w 117"/>
                <a:gd name="T85" fmla="*/ 66 h 115"/>
                <a:gd name="T86" fmla="*/ 117 w 117"/>
                <a:gd name="T87" fmla="*/ 5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7" h="115">
                  <a:moveTo>
                    <a:pt x="117" y="58"/>
                  </a:moveTo>
                  <a:lnTo>
                    <a:pt x="117" y="55"/>
                  </a:lnTo>
                  <a:lnTo>
                    <a:pt x="117" y="52"/>
                  </a:lnTo>
                  <a:lnTo>
                    <a:pt x="117" y="50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4" y="40"/>
                  </a:lnTo>
                  <a:lnTo>
                    <a:pt x="114" y="37"/>
                  </a:lnTo>
                  <a:lnTo>
                    <a:pt x="112" y="36"/>
                  </a:lnTo>
                  <a:lnTo>
                    <a:pt x="111" y="33"/>
                  </a:lnTo>
                  <a:lnTo>
                    <a:pt x="110" y="30"/>
                  </a:lnTo>
                  <a:lnTo>
                    <a:pt x="108" y="28"/>
                  </a:lnTo>
                  <a:lnTo>
                    <a:pt x="107" y="25"/>
                  </a:lnTo>
                  <a:lnTo>
                    <a:pt x="106" y="23"/>
                  </a:lnTo>
                  <a:lnTo>
                    <a:pt x="103" y="21"/>
                  </a:lnTo>
                  <a:lnTo>
                    <a:pt x="102" y="19"/>
                  </a:lnTo>
                  <a:lnTo>
                    <a:pt x="100" y="17"/>
                  </a:lnTo>
                  <a:lnTo>
                    <a:pt x="97" y="15"/>
                  </a:lnTo>
                  <a:lnTo>
                    <a:pt x="96" y="12"/>
                  </a:lnTo>
                  <a:lnTo>
                    <a:pt x="93" y="11"/>
                  </a:lnTo>
                  <a:lnTo>
                    <a:pt x="91" y="10"/>
                  </a:lnTo>
                  <a:lnTo>
                    <a:pt x="89" y="8"/>
                  </a:lnTo>
                  <a:lnTo>
                    <a:pt x="86" y="7"/>
                  </a:lnTo>
                  <a:lnTo>
                    <a:pt x="84" y="6"/>
                  </a:lnTo>
                  <a:lnTo>
                    <a:pt x="81" y="4"/>
                  </a:lnTo>
                  <a:lnTo>
                    <a:pt x="78" y="3"/>
                  </a:lnTo>
                  <a:lnTo>
                    <a:pt x="75" y="3"/>
                  </a:lnTo>
                  <a:lnTo>
                    <a:pt x="73" y="1"/>
                  </a:lnTo>
                  <a:lnTo>
                    <a:pt x="70" y="1"/>
                  </a:lnTo>
                  <a:lnTo>
                    <a:pt x="67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4" y="1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6" y="4"/>
                  </a:lnTo>
                  <a:lnTo>
                    <a:pt x="33" y="6"/>
                  </a:lnTo>
                  <a:lnTo>
                    <a:pt x="30" y="7"/>
                  </a:lnTo>
                  <a:lnTo>
                    <a:pt x="29" y="8"/>
                  </a:lnTo>
                  <a:lnTo>
                    <a:pt x="26" y="10"/>
                  </a:lnTo>
                  <a:lnTo>
                    <a:pt x="23" y="11"/>
                  </a:lnTo>
                  <a:lnTo>
                    <a:pt x="22" y="12"/>
                  </a:lnTo>
                  <a:lnTo>
                    <a:pt x="19" y="15"/>
                  </a:lnTo>
                  <a:lnTo>
                    <a:pt x="18" y="17"/>
                  </a:lnTo>
                  <a:lnTo>
                    <a:pt x="15" y="19"/>
                  </a:lnTo>
                  <a:lnTo>
                    <a:pt x="14" y="21"/>
                  </a:lnTo>
                  <a:lnTo>
                    <a:pt x="12" y="23"/>
                  </a:lnTo>
                  <a:lnTo>
                    <a:pt x="11" y="25"/>
                  </a:lnTo>
                  <a:lnTo>
                    <a:pt x="8" y="28"/>
                  </a:lnTo>
                  <a:lnTo>
                    <a:pt x="7" y="30"/>
                  </a:lnTo>
                  <a:lnTo>
                    <a:pt x="5" y="33"/>
                  </a:lnTo>
                  <a:lnTo>
                    <a:pt x="5" y="36"/>
                  </a:lnTo>
                  <a:lnTo>
                    <a:pt x="4" y="37"/>
                  </a:lnTo>
                  <a:lnTo>
                    <a:pt x="3" y="40"/>
                  </a:lnTo>
                  <a:lnTo>
                    <a:pt x="3" y="43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1" y="52"/>
                  </a:lnTo>
                  <a:lnTo>
                    <a:pt x="0" y="5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1"/>
                  </a:lnTo>
                  <a:lnTo>
                    <a:pt x="1" y="63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3" y="73"/>
                  </a:lnTo>
                  <a:lnTo>
                    <a:pt x="3" y="76"/>
                  </a:lnTo>
                  <a:lnTo>
                    <a:pt x="4" y="78"/>
                  </a:lnTo>
                  <a:lnTo>
                    <a:pt x="5" y="81"/>
                  </a:lnTo>
                  <a:lnTo>
                    <a:pt x="5" y="82"/>
                  </a:lnTo>
                  <a:lnTo>
                    <a:pt x="7" y="85"/>
                  </a:lnTo>
                  <a:lnTo>
                    <a:pt x="8" y="88"/>
                  </a:lnTo>
                  <a:lnTo>
                    <a:pt x="11" y="91"/>
                  </a:lnTo>
                  <a:lnTo>
                    <a:pt x="12" y="92"/>
                  </a:lnTo>
                  <a:lnTo>
                    <a:pt x="14" y="95"/>
                  </a:lnTo>
                  <a:lnTo>
                    <a:pt x="15" y="98"/>
                  </a:lnTo>
                  <a:lnTo>
                    <a:pt x="18" y="99"/>
                  </a:lnTo>
                  <a:lnTo>
                    <a:pt x="19" y="100"/>
                  </a:lnTo>
                  <a:lnTo>
                    <a:pt x="22" y="103"/>
                  </a:lnTo>
                  <a:lnTo>
                    <a:pt x="23" y="104"/>
                  </a:lnTo>
                  <a:lnTo>
                    <a:pt x="26" y="106"/>
                  </a:lnTo>
                  <a:lnTo>
                    <a:pt x="29" y="107"/>
                  </a:lnTo>
                  <a:lnTo>
                    <a:pt x="30" y="109"/>
                  </a:lnTo>
                  <a:lnTo>
                    <a:pt x="33" y="110"/>
                  </a:lnTo>
                  <a:lnTo>
                    <a:pt x="36" y="111"/>
                  </a:lnTo>
                  <a:lnTo>
                    <a:pt x="38" y="113"/>
                  </a:lnTo>
                  <a:lnTo>
                    <a:pt x="41" y="114"/>
                  </a:lnTo>
                  <a:lnTo>
                    <a:pt x="44" y="114"/>
                  </a:lnTo>
                  <a:lnTo>
                    <a:pt x="47" y="115"/>
                  </a:lnTo>
                  <a:lnTo>
                    <a:pt x="49" y="115"/>
                  </a:lnTo>
                  <a:lnTo>
                    <a:pt x="52" y="115"/>
                  </a:lnTo>
                  <a:lnTo>
                    <a:pt x="56" y="115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62" y="115"/>
                  </a:lnTo>
                  <a:lnTo>
                    <a:pt x="64" y="115"/>
                  </a:lnTo>
                  <a:lnTo>
                    <a:pt x="67" y="115"/>
                  </a:lnTo>
                  <a:lnTo>
                    <a:pt x="70" y="115"/>
                  </a:lnTo>
                  <a:lnTo>
                    <a:pt x="73" y="114"/>
                  </a:lnTo>
                  <a:lnTo>
                    <a:pt x="75" y="114"/>
                  </a:lnTo>
                  <a:lnTo>
                    <a:pt x="78" y="113"/>
                  </a:lnTo>
                  <a:lnTo>
                    <a:pt x="81" y="111"/>
                  </a:lnTo>
                  <a:lnTo>
                    <a:pt x="84" y="110"/>
                  </a:lnTo>
                  <a:lnTo>
                    <a:pt x="86" y="109"/>
                  </a:lnTo>
                  <a:lnTo>
                    <a:pt x="89" y="107"/>
                  </a:lnTo>
                  <a:lnTo>
                    <a:pt x="91" y="106"/>
                  </a:lnTo>
                  <a:lnTo>
                    <a:pt x="93" y="104"/>
                  </a:lnTo>
                  <a:lnTo>
                    <a:pt x="96" y="103"/>
                  </a:lnTo>
                  <a:lnTo>
                    <a:pt x="97" y="100"/>
                  </a:lnTo>
                  <a:lnTo>
                    <a:pt x="100" y="99"/>
                  </a:lnTo>
                  <a:lnTo>
                    <a:pt x="102" y="98"/>
                  </a:lnTo>
                  <a:lnTo>
                    <a:pt x="103" y="95"/>
                  </a:lnTo>
                  <a:lnTo>
                    <a:pt x="106" y="92"/>
                  </a:lnTo>
                  <a:lnTo>
                    <a:pt x="107" y="91"/>
                  </a:lnTo>
                  <a:lnTo>
                    <a:pt x="108" y="88"/>
                  </a:lnTo>
                  <a:lnTo>
                    <a:pt x="110" y="85"/>
                  </a:lnTo>
                  <a:lnTo>
                    <a:pt x="111" y="82"/>
                  </a:lnTo>
                  <a:lnTo>
                    <a:pt x="112" y="81"/>
                  </a:lnTo>
                  <a:lnTo>
                    <a:pt x="114" y="78"/>
                  </a:lnTo>
                  <a:lnTo>
                    <a:pt x="114" y="76"/>
                  </a:lnTo>
                  <a:lnTo>
                    <a:pt x="115" y="73"/>
                  </a:lnTo>
                  <a:lnTo>
                    <a:pt x="115" y="70"/>
                  </a:lnTo>
                  <a:lnTo>
                    <a:pt x="117" y="66"/>
                  </a:lnTo>
                  <a:lnTo>
                    <a:pt x="117" y="63"/>
                  </a:lnTo>
                  <a:lnTo>
                    <a:pt x="117" y="61"/>
                  </a:lnTo>
                  <a:lnTo>
                    <a:pt x="117" y="58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51"/>
            <p:cNvSpPr>
              <a:spLocks/>
            </p:cNvSpPr>
            <p:nvPr/>
          </p:nvSpPr>
          <p:spPr bwMode="auto">
            <a:xfrm>
              <a:off x="1764" y="996"/>
              <a:ext cx="27" cy="27"/>
            </a:xfrm>
            <a:custGeom>
              <a:avLst/>
              <a:gdLst>
                <a:gd name="T0" fmla="*/ 55 w 55"/>
                <a:gd name="T1" fmla="*/ 26 h 55"/>
                <a:gd name="T2" fmla="*/ 55 w 55"/>
                <a:gd name="T3" fmla="*/ 22 h 55"/>
                <a:gd name="T4" fmla="*/ 54 w 55"/>
                <a:gd name="T5" fmla="*/ 18 h 55"/>
                <a:gd name="T6" fmla="*/ 52 w 55"/>
                <a:gd name="T7" fmla="*/ 14 h 55"/>
                <a:gd name="T8" fmla="*/ 51 w 55"/>
                <a:gd name="T9" fmla="*/ 11 h 55"/>
                <a:gd name="T10" fmla="*/ 48 w 55"/>
                <a:gd name="T11" fmla="*/ 8 h 55"/>
                <a:gd name="T12" fmla="*/ 44 w 55"/>
                <a:gd name="T13" fmla="*/ 5 h 55"/>
                <a:gd name="T14" fmla="*/ 41 w 55"/>
                <a:gd name="T15" fmla="*/ 3 h 55"/>
                <a:gd name="T16" fmla="*/ 37 w 55"/>
                <a:gd name="T17" fmla="*/ 1 h 55"/>
                <a:gd name="T18" fmla="*/ 35 w 55"/>
                <a:gd name="T19" fmla="*/ 0 h 55"/>
                <a:gd name="T20" fmla="*/ 30 w 55"/>
                <a:gd name="T21" fmla="*/ 0 h 55"/>
                <a:gd name="T22" fmla="*/ 26 w 55"/>
                <a:gd name="T23" fmla="*/ 0 h 55"/>
                <a:gd name="T24" fmla="*/ 22 w 55"/>
                <a:gd name="T25" fmla="*/ 0 h 55"/>
                <a:gd name="T26" fmla="*/ 19 w 55"/>
                <a:gd name="T27" fmla="*/ 1 h 55"/>
                <a:gd name="T28" fmla="*/ 15 w 55"/>
                <a:gd name="T29" fmla="*/ 3 h 55"/>
                <a:gd name="T30" fmla="*/ 13 w 55"/>
                <a:gd name="T31" fmla="*/ 5 h 55"/>
                <a:gd name="T32" fmla="*/ 8 w 55"/>
                <a:gd name="T33" fmla="*/ 8 h 55"/>
                <a:gd name="T34" fmla="*/ 6 w 55"/>
                <a:gd name="T35" fmla="*/ 11 h 55"/>
                <a:gd name="T36" fmla="*/ 4 w 55"/>
                <a:gd name="T37" fmla="*/ 14 h 55"/>
                <a:gd name="T38" fmla="*/ 3 w 55"/>
                <a:gd name="T39" fmla="*/ 18 h 55"/>
                <a:gd name="T40" fmla="*/ 2 w 55"/>
                <a:gd name="T41" fmla="*/ 22 h 55"/>
                <a:gd name="T42" fmla="*/ 2 w 55"/>
                <a:gd name="T43" fmla="*/ 26 h 55"/>
                <a:gd name="T44" fmla="*/ 2 w 55"/>
                <a:gd name="T45" fmla="*/ 29 h 55"/>
                <a:gd name="T46" fmla="*/ 2 w 55"/>
                <a:gd name="T47" fmla="*/ 33 h 55"/>
                <a:gd name="T48" fmla="*/ 3 w 55"/>
                <a:gd name="T49" fmla="*/ 37 h 55"/>
                <a:gd name="T50" fmla="*/ 4 w 55"/>
                <a:gd name="T51" fmla="*/ 40 h 55"/>
                <a:gd name="T52" fmla="*/ 6 w 55"/>
                <a:gd name="T53" fmla="*/ 44 h 55"/>
                <a:gd name="T54" fmla="*/ 8 w 55"/>
                <a:gd name="T55" fmla="*/ 47 h 55"/>
                <a:gd name="T56" fmla="*/ 13 w 55"/>
                <a:gd name="T57" fmla="*/ 49 h 55"/>
                <a:gd name="T58" fmla="*/ 15 w 55"/>
                <a:gd name="T59" fmla="*/ 51 h 55"/>
                <a:gd name="T60" fmla="*/ 19 w 55"/>
                <a:gd name="T61" fmla="*/ 54 h 55"/>
                <a:gd name="T62" fmla="*/ 22 w 55"/>
                <a:gd name="T63" fmla="*/ 54 h 55"/>
                <a:gd name="T64" fmla="*/ 26 w 55"/>
                <a:gd name="T65" fmla="*/ 55 h 55"/>
                <a:gd name="T66" fmla="*/ 30 w 55"/>
                <a:gd name="T67" fmla="*/ 55 h 55"/>
                <a:gd name="T68" fmla="*/ 35 w 55"/>
                <a:gd name="T69" fmla="*/ 54 h 55"/>
                <a:gd name="T70" fmla="*/ 37 w 55"/>
                <a:gd name="T71" fmla="*/ 54 h 55"/>
                <a:gd name="T72" fmla="*/ 41 w 55"/>
                <a:gd name="T73" fmla="*/ 51 h 55"/>
                <a:gd name="T74" fmla="*/ 44 w 55"/>
                <a:gd name="T75" fmla="*/ 49 h 55"/>
                <a:gd name="T76" fmla="*/ 48 w 55"/>
                <a:gd name="T77" fmla="*/ 47 h 55"/>
                <a:gd name="T78" fmla="*/ 51 w 55"/>
                <a:gd name="T79" fmla="*/ 44 h 55"/>
                <a:gd name="T80" fmla="*/ 52 w 55"/>
                <a:gd name="T81" fmla="*/ 40 h 55"/>
                <a:gd name="T82" fmla="*/ 54 w 55"/>
                <a:gd name="T83" fmla="*/ 37 h 55"/>
                <a:gd name="T84" fmla="*/ 55 w 55"/>
                <a:gd name="T85" fmla="*/ 33 h 55"/>
                <a:gd name="T86" fmla="*/ 55 w 55"/>
                <a:gd name="T87" fmla="*/ 29 h 55"/>
                <a:gd name="T88" fmla="*/ 28 w 55"/>
                <a:gd name="T89" fmla="*/ 2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55">
                  <a:moveTo>
                    <a:pt x="28" y="27"/>
                  </a:moveTo>
                  <a:lnTo>
                    <a:pt x="55" y="27"/>
                  </a:lnTo>
                  <a:lnTo>
                    <a:pt x="55" y="26"/>
                  </a:lnTo>
                  <a:lnTo>
                    <a:pt x="55" y="25"/>
                  </a:lnTo>
                  <a:lnTo>
                    <a:pt x="55" y="23"/>
                  </a:lnTo>
                  <a:lnTo>
                    <a:pt x="55" y="22"/>
                  </a:lnTo>
                  <a:lnTo>
                    <a:pt x="55" y="21"/>
                  </a:lnTo>
                  <a:lnTo>
                    <a:pt x="55" y="19"/>
                  </a:lnTo>
                  <a:lnTo>
                    <a:pt x="54" y="18"/>
                  </a:lnTo>
                  <a:lnTo>
                    <a:pt x="54" y="16"/>
                  </a:lnTo>
                  <a:lnTo>
                    <a:pt x="54" y="15"/>
                  </a:lnTo>
                  <a:lnTo>
                    <a:pt x="52" y="14"/>
                  </a:lnTo>
                  <a:lnTo>
                    <a:pt x="52" y="12"/>
                  </a:lnTo>
                  <a:lnTo>
                    <a:pt x="51" y="12"/>
                  </a:lnTo>
                  <a:lnTo>
                    <a:pt x="51" y="11"/>
                  </a:lnTo>
                  <a:lnTo>
                    <a:pt x="50" y="10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7" y="7"/>
                  </a:lnTo>
                  <a:lnTo>
                    <a:pt x="45" y="5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4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3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10" y="7"/>
                  </a:lnTo>
                  <a:lnTo>
                    <a:pt x="8" y="8"/>
                  </a:lnTo>
                  <a:lnTo>
                    <a:pt x="8" y="8"/>
                  </a:lnTo>
                  <a:lnTo>
                    <a:pt x="7" y="10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3" y="37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6" y="43"/>
                  </a:lnTo>
                  <a:lnTo>
                    <a:pt x="6" y="44"/>
                  </a:lnTo>
                  <a:lnTo>
                    <a:pt x="7" y="45"/>
                  </a:lnTo>
                  <a:lnTo>
                    <a:pt x="8" y="45"/>
                  </a:lnTo>
                  <a:lnTo>
                    <a:pt x="8" y="47"/>
                  </a:lnTo>
                  <a:lnTo>
                    <a:pt x="10" y="48"/>
                  </a:lnTo>
                  <a:lnTo>
                    <a:pt x="11" y="48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9" y="54"/>
                  </a:lnTo>
                  <a:lnTo>
                    <a:pt x="21" y="54"/>
                  </a:lnTo>
                  <a:lnTo>
                    <a:pt x="21" y="54"/>
                  </a:lnTo>
                  <a:lnTo>
                    <a:pt x="22" y="54"/>
                  </a:lnTo>
                  <a:lnTo>
                    <a:pt x="24" y="55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8" y="55"/>
                  </a:lnTo>
                  <a:lnTo>
                    <a:pt x="28" y="55"/>
                  </a:lnTo>
                  <a:lnTo>
                    <a:pt x="30" y="55"/>
                  </a:lnTo>
                  <a:lnTo>
                    <a:pt x="32" y="55"/>
                  </a:lnTo>
                  <a:lnTo>
                    <a:pt x="33" y="55"/>
                  </a:lnTo>
                  <a:lnTo>
                    <a:pt x="35" y="54"/>
                  </a:lnTo>
                  <a:lnTo>
                    <a:pt x="35" y="54"/>
                  </a:lnTo>
                  <a:lnTo>
                    <a:pt x="36" y="54"/>
                  </a:lnTo>
                  <a:lnTo>
                    <a:pt x="37" y="54"/>
                  </a:lnTo>
                  <a:lnTo>
                    <a:pt x="39" y="52"/>
                  </a:lnTo>
                  <a:lnTo>
                    <a:pt x="40" y="52"/>
                  </a:lnTo>
                  <a:lnTo>
                    <a:pt x="41" y="51"/>
                  </a:lnTo>
                  <a:lnTo>
                    <a:pt x="43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5" y="48"/>
                  </a:lnTo>
                  <a:lnTo>
                    <a:pt x="47" y="48"/>
                  </a:lnTo>
                  <a:lnTo>
                    <a:pt x="48" y="47"/>
                  </a:lnTo>
                  <a:lnTo>
                    <a:pt x="48" y="45"/>
                  </a:lnTo>
                  <a:lnTo>
                    <a:pt x="50" y="45"/>
                  </a:lnTo>
                  <a:lnTo>
                    <a:pt x="51" y="44"/>
                  </a:lnTo>
                  <a:lnTo>
                    <a:pt x="51" y="43"/>
                  </a:lnTo>
                  <a:lnTo>
                    <a:pt x="52" y="41"/>
                  </a:lnTo>
                  <a:lnTo>
                    <a:pt x="52" y="40"/>
                  </a:lnTo>
                  <a:lnTo>
                    <a:pt x="54" y="40"/>
                  </a:lnTo>
                  <a:lnTo>
                    <a:pt x="54" y="38"/>
                  </a:lnTo>
                  <a:lnTo>
                    <a:pt x="54" y="37"/>
                  </a:lnTo>
                  <a:lnTo>
                    <a:pt x="55" y="36"/>
                  </a:lnTo>
                  <a:lnTo>
                    <a:pt x="55" y="34"/>
                  </a:lnTo>
                  <a:lnTo>
                    <a:pt x="55" y="33"/>
                  </a:lnTo>
                  <a:lnTo>
                    <a:pt x="55" y="32"/>
                  </a:lnTo>
                  <a:lnTo>
                    <a:pt x="55" y="30"/>
                  </a:lnTo>
                  <a:lnTo>
                    <a:pt x="55" y="29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28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52"/>
            <p:cNvSpPr>
              <a:spLocks/>
            </p:cNvSpPr>
            <p:nvPr/>
          </p:nvSpPr>
          <p:spPr bwMode="auto">
            <a:xfrm>
              <a:off x="1755" y="988"/>
              <a:ext cx="34" cy="33"/>
            </a:xfrm>
            <a:custGeom>
              <a:avLst/>
              <a:gdLst>
                <a:gd name="T0" fmla="*/ 67 w 67"/>
                <a:gd name="T1" fmla="*/ 30 h 65"/>
                <a:gd name="T2" fmla="*/ 66 w 67"/>
                <a:gd name="T3" fmla="*/ 24 h 65"/>
                <a:gd name="T4" fmla="*/ 64 w 67"/>
                <a:gd name="T5" fmla="*/ 20 h 65"/>
                <a:gd name="T6" fmla="*/ 63 w 67"/>
                <a:gd name="T7" fmla="*/ 15 h 65"/>
                <a:gd name="T8" fmla="*/ 60 w 67"/>
                <a:gd name="T9" fmla="*/ 12 h 65"/>
                <a:gd name="T10" fmla="*/ 56 w 67"/>
                <a:gd name="T11" fmla="*/ 8 h 65"/>
                <a:gd name="T12" fmla="*/ 52 w 67"/>
                <a:gd name="T13" fmla="*/ 5 h 65"/>
                <a:gd name="T14" fmla="*/ 48 w 67"/>
                <a:gd name="T15" fmla="*/ 2 h 65"/>
                <a:gd name="T16" fmla="*/ 44 w 67"/>
                <a:gd name="T17" fmla="*/ 1 h 65"/>
                <a:gd name="T18" fmla="*/ 38 w 67"/>
                <a:gd name="T19" fmla="*/ 0 h 65"/>
                <a:gd name="T20" fmla="*/ 34 w 67"/>
                <a:gd name="T21" fmla="*/ 0 h 65"/>
                <a:gd name="T22" fmla="*/ 30 w 67"/>
                <a:gd name="T23" fmla="*/ 0 h 65"/>
                <a:gd name="T24" fmla="*/ 26 w 67"/>
                <a:gd name="T25" fmla="*/ 0 h 65"/>
                <a:gd name="T26" fmla="*/ 20 w 67"/>
                <a:gd name="T27" fmla="*/ 2 h 65"/>
                <a:gd name="T28" fmla="*/ 16 w 67"/>
                <a:gd name="T29" fmla="*/ 4 h 65"/>
                <a:gd name="T30" fmla="*/ 12 w 67"/>
                <a:gd name="T31" fmla="*/ 6 h 65"/>
                <a:gd name="T32" fmla="*/ 9 w 67"/>
                <a:gd name="T33" fmla="*/ 10 h 65"/>
                <a:gd name="T34" fmla="*/ 5 w 67"/>
                <a:gd name="T35" fmla="*/ 13 h 65"/>
                <a:gd name="T36" fmla="*/ 4 w 67"/>
                <a:gd name="T37" fmla="*/ 17 h 65"/>
                <a:gd name="T38" fmla="*/ 1 w 67"/>
                <a:gd name="T39" fmla="*/ 23 h 65"/>
                <a:gd name="T40" fmla="*/ 1 w 67"/>
                <a:gd name="T41" fmla="*/ 27 h 65"/>
                <a:gd name="T42" fmla="*/ 0 w 67"/>
                <a:gd name="T43" fmla="*/ 32 h 65"/>
                <a:gd name="T44" fmla="*/ 0 w 67"/>
                <a:gd name="T45" fmla="*/ 37 h 65"/>
                <a:gd name="T46" fmla="*/ 1 w 67"/>
                <a:gd name="T47" fmla="*/ 41 h 65"/>
                <a:gd name="T48" fmla="*/ 2 w 67"/>
                <a:gd name="T49" fmla="*/ 46 h 65"/>
                <a:gd name="T50" fmla="*/ 5 w 67"/>
                <a:gd name="T51" fmla="*/ 50 h 65"/>
                <a:gd name="T52" fmla="*/ 8 w 67"/>
                <a:gd name="T53" fmla="*/ 54 h 65"/>
                <a:gd name="T54" fmla="*/ 11 w 67"/>
                <a:gd name="T55" fmla="*/ 57 h 65"/>
                <a:gd name="T56" fmla="*/ 15 w 67"/>
                <a:gd name="T57" fmla="*/ 60 h 65"/>
                <a:gd name="T58" fmla="*/ 19 w 67"/>
                <a:gd name="T59" fmla="*/ 63 h 65"/>
                <a:gd name="T60" fmla="*/ 23 w 67"/>
                <a:gd name="T61" fmla="*/ 64 h 65"/>
                <a:gd name="T62" fmla="*/ 29 w 67"/>
                <a:gd name="T63" fmla="*/ 65 h 65"/>
                <a:gd name="T64" fmla="*/ 34 w 67"/>
                <a:gd name="T65" fmla="*/ 65 h 65"/>
                <a:gd name="T66" fmla="*/ 37 w 67"/>
                <a:gd name="T67" fmla="*/ 65 h 65"/>
                <a:gd name="T68" fmla="*/ 42 w 67"/>
                <a:gd name="T69" fmla="*/ 65 h 65"/>
                <a:gd name="T70" fmla="*/ 46 w 67"/>
                <a:gd name="T71" fmla="*/ 64 h 65"/>
                <a:gd name="T72" fmla="*/ 51 w 67"/>
                <a:gd name="T73" fmla="*/ 61 h 65"/>
                <a:gd name="T74" fmla="*/ 55 w 67"/>
                <a:gd name="T75" fmla="*/ 59 h 65"/>
                <a:gd name="T76" fmla="*/ 59 w 67"/>
                <a:gd name="T77" fmla="*/ 54 h 65"/>
                <a:gd name="T78" fmla="*/ 61 w 67"/>
                <a:gd name="T79" fmla="*/ 52 h 65"/>
                <a:gd name="T80" fmla="*/ 64 w 67"/>
                <a:gd name="T81" fmla="*/ 48 h 65"/>
                <a:gd name="T82" fmla="*/ 66 w 67"/>
                <a:gd name="T83" fmla="*/ 42 h 65"/>
                <a:gd name="T84" fmla="*/ 67 w 67"/>
                <a:gd name="T85" fmla="*/ 38 h 65"/>
                <a:gd name="T86" fmla="*/ 67 w 67"/>
                <a:gd name="T87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7" h="65">
                  <a:moveTo>
                    <a:pt x="67" y="32"/>
                  </a:moveTo>
                  <a:lnTo>
                    <a:pt x="67" y="31"/>
                  </a:lnTo>
                  <a:lnTo>
                    <a:pt x="67" y="30"/>
                  </a:lnTo>
                  <a:lnTo>
                    <a:pt x="67" y="27"/>
                  </a:lnTo>
                  <a:lnTo>
                    <a:pt x="67" y="26"/>
                  </a:lnTo>
                  <a:lnTo>
                    <a:pt x="66" y="24"/>
                  </a:lnTo>
                  <a:lnTo>
                    <a:pt x="66" y="23"/>
                  </a:lnTo>
                  <a:lnTo>
                    <a:pt x="66" y="21"/>
                  </a:lnTo>
                  <a:lnTo>
                    <a:pt x="64" y="20"/>
                  </a:lnTo>
                  <a:lnTo>
                    <a:pt x="64" y="17"/>
                  </a:lnTo>
                  <a:lnTo>
                    <a:pt x="63" y="16"/>
                  </a:lnTo>
                  <a:lnTo>
                    <a:pt x="63" y="15"/>
                  </a:lnTo>
                  <a:lnTo>
                    <a:pt x="61" y="13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9" y="10"/>
                  </a:lnTo>
                  <a:lnTo>
                    <a:pt x="57" y="9"/>
                  </a:lnTo>
                  <a:lnTo>
                    <a:pt x="56" y="8"/>
                  </a:lnTo>
                  <a:lnTo>
                    <a:pt x="55" y="6"/>
                  </a:lnTo>
                  <a:lnTo>
                    <a:pt x="53" y="5"/>
                  </a:lnTo>
                  <a:lnTo>
                    <a:pt x="52" y="5"/>
                  </a:lnTo>
                  <a:lnTo>
                    <a:pt x="51" y="4"/>
                  </a:lnTo>
                  <a:lnTo>
                    <a:pt x="49" y="4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5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11" y="8"/>
                  </a:lnTo>
                  <a:lnTo>
                    <a:pt x="9" y="9"/>
                  </a:lnTo>
                  <a:lnTo>
                    <a:pt x="9" y="10"/>
                  </a:lnTo>
                  <a:lnTo>
                    <a:pt x="8" y="12"/>
                  </a:lnTo>
                  <a:lnTo>
                    <a:pt x="7" y="12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2" y="43"/>
                  </a:lnTo>
                  <a:lnTo>
                    <a:pt x="2" y="46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7" y="53"/>
                  </a:lnTo>
                  <a:lnTo>
                    <a:pt x="8" y="54"/>
                  </a:lnTo>
                  <a:lnTo>
                    <a:pt x="9" y="54"/>
                  </a:lnTo>
                  <a:lnTo>
                    <a:pt x="9" y="56"/>
                  </a:lnTo>
                  <a:lnTo>
                    <a:pt x="11" y="57"/>
                  </a:lnTo>
                  <a:lnTo>
                    <a:pt x="12" y="59"/>
                  </a:lnTo>
                  <a:lnTo>
                    <a:pt x="13" y="60"/>
                  </a:lnTo>
                  <a:lnTo>
                    <a:pt x="15" y="60"/>
                  </a:lnTo>
                  <a:lnTo>
                    <a:pt x="16" y="61"/>
                  </a:lnTo>
                  <a:lnTo>
                    <a:pt x="18" y="61"/>
                  </a:lnTo>
                  <a:lnTo>
                    <a:pt x="19" y="63"/>
                  </a:lnTo>
                  <a:lnTo>
                    <a:pt x="20" y="64"/>
                  </a:lnTo>
                  <a:lnTo>
                    <a:pt x="22" y="64"/>
                  </a:lnTo>
                  <a:lnTo>
                    <a:pt x="23" y="64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9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8" y="65"/>
                  </a:lnTo>
                  <a:lnTo>
                    <a:pt x="41" y="65"/>
                  </a:lnTo>
                  <a:lnTo>
                    <a:pt x="42" y="65"/>
                  </a:lnTo>
                  <a:lnTo>
                    <a:pt x="44" y="64"/>
                  </a:lnTo>
                  <a:lnTo>
                    <a:pt x="45" y="64"/>
                  </a:lnTo>
                  <a:lnTo>
                    <a:pt x="46" y="64"/>
                  </a:lnTo>
                  <a:lnTo>
                    <a:pt x="48" y="63"/>
                  </a:lnTo>
                  <a:lnTo>
                    <a:pt x="49" y="61"/>
                  </a:lnTo>
                  <a:lnTo>
                    <a:pt x="51" y="61"/>
                  </a:lnTo>
                  <a:lnTo>
                    <a:pt x="52" y="60"/>
                  </a:lnTo>
                  <a:lnTo>
                    <a:pt x="53" y="60"/>
                  </a:lnTo>
                  <a:lnTo>
                    <a:pt x="55" y="59"/>
                  </a:lnTo>
                  <a:lnTo>
                    <a:pt x="56" y="57"/>
                  </a:lnTo>
                  <a:lnTo>
                    <a:pt x="57" y="56"/>
                  </a:lnTo>
                  <a:lnTo>
                    <a:pt x="59" y="54"/>
                  </a:lnTo>
                  <a:lnTo>
                    <a:pt x="60" y="54"/>
                  </a:lnTo>
                  <a:lnTo>
                    <a:pt x="60" y="53"/>
                  </a:lnTo>
                  <a:lnTo>
                    <a:pt x="61" y="52"/>
                  </a:lnTo>
                  <a:lnTo>
                    <a:pt x="63" y="50"/>
                  </a:lnTo>
                  <a:lnTo>
                    <a:pt x="63" y="49"/>
                  </a:lnTo>
                  <a:lnTo>
                    <a:pt x="64" y="48"/>
                  </a:lnTo>
                  <a:lnTo>
                    <a:pt x="64" y="46"/>
                  </a:lnTo>
                  <a:lnTo>
                    <a:pt x="66" y="43"/>
                  </a:lnTo>
                  <a:lnTo>
                    <a:pt x="66" y="42"/>
                  </a:lnTo>
                  <a:lnTo>
                    <a:pt x="66" y="41"/>
                  </a:lnTo>
                  <a:lnTo>
                    <a:pt x="67" y="39"/>
                  </a:lnTo>
                  <a:lnTo>
                    <a:pt x="67" y="38"/>
                  </a:lnTo>
                  <a:lnTo>
                    <a:pt x="67" y="37"/>
                  </a:lnTo>
                  <a:lnTo>
                    <a:pt x="67" y="34"/>
                  </a:lnTo>
                  <a:lnTo>
                    <a:pt x="67" y="32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53"/>
            <p:cNvSpPr>
              <a:spLocks/>
            </p:cNvSpPr>
            <p:nvPr/>
          </p:nvSpPr>
          <p:spPr bwMode="auto">
            <a:xfrm>
              <a:off x="2340" y="996"/>
              <a:ext cx="27" cy="27"/>
            </a:xfrm>
            <a:custGeom>
              <a:avLst/>
              <a:gdLst>
                <a:gd name="T0" fmla="*/ 54 w 54"/>
                <a:gd name="T1" fmla="*/ 26 h 55"/>
                <a:gd name="T2" fmla="*/ 54 w 54"/>
                <a:gd name="T3" fmla="*/ 22 h 55"/>
                <a:gd name="T4" fmla="*/ 53 w 54"/>
                <a:gd name="T5" fmla="*/ 18 h 55"/>
                <a:gd name="T6" fmla="*/ 52 w 54"/>
                <a:gd name="T7" fmla="*/ 14 h 55"/>
                <a:gd name="T8" fmla="*/ 50 w 54"/>
                <a:gd name="T9" fmla="*/ 11 h 55"/>
                <a:gd name="T10" fmla="*/ 48 w 54"/>
                <a:gd name="T11" fmla="*/ 8 h 55"/>
                <a:gd name="T12" fmla="*/ 44 w 54"/>
                <a:gd name="T13" fmla="*/ 5 h 55"/>
                <a:gd name="T14" fmla="*/ 41 w 54"/>
                <a:gd name="T15" fmla="*/ 3 h 55"/>
                <a:gd name="T16" fmla="*/ 37 w 54"/>
                <a:gd name="T17" fmla="*/ 1 h 55"/>
                <a:gd name="T18" fmla="*/ 34 w 54"/>
                <a:gd name="T19" fmla="*/ 0 h 55"/>
                <a:gd name="T20" fmla="*/ 30 w 54"/>
                <a:gd name="T21" fmla="*/ 0 h 55"/>
                <a:gd name="T22" fmla="*/ 26 w 54"/>
                <a:gd name="T23" fmla="*/ 0 h 55"/>
                <a:gd name="T24" fmla="*/ 22 w 54"/>
                <a:gd name="T25" fmla="*/ 0 h 55"/>
                <a:gd name="T26" fmla="*/ 19 w 54"/>
                <a:gd name="T27" fmla="*/ 1 h 55"/>
                <a:gd name="T28" fmla="*/ 15 w 54"/>
                <a:gd name="T29" fmla="*/ 3 h 55"/>
                <a:gd name="T30" fmla="*/ 12 w 54"/>
                <a:gd name="T31" fmla="*/ 5 h 55"/>
                <a:gd name="T32" fmla="*/ 8 w 54"/>
                <a:gd name="T33" fmla="*/ 8 h 55"/>
                <a:gd name="T34" fmla="*/ 5 w 54"/>
                <a:gd name="T35" fmla="*/ 11 h 55"/>
                <a:gd name="T36" fmla="*/ 4 w 54"/>
                <a:gd name="T37" fmla="*/ 14 h 55"/>
                <a:gd name="T38" fmla="*/ 2 w 54"/>
                <a:gd name="T39" fmla="*/ 18 h 55"/>
                <a:gd name="T40" fmla="*/ 1 w 54"/>
                <a:gd name="T41" fmla="*/ 22 h 55"/>
                <a:gd name="T42" fmla="*/ 1 w 54"/>
                <a:gd name="T43" fmla="*/ 26 h 55"/>
                <a:gd name="T44" fmla="*/ 1 w 54"/>
                <a:gd name="T45" fmla="*/ 29 h 55"/>
                <a:gd name="T46" fmla="*/ 1 w 54"/>
                <a:gd name="T47" fmla="*/ 33 h 55"/>
                <a:gd name="T48" fmla="*/ 2 w 54"/>
                <a:gd name="T49" fmla="*/ 37 h 55"/>
                <a:gd name="T50" fmla="*/ 4 w 54"/>
                <a:gd name="T51" fmla="*/ 40 h 55"/>
                <a:gd name="T52" fmla="*/ 5 w 54"/>
                <a:gd name="T53" fmla="*/ 44 h 55"/>
                <a:gd name="T54" fmla="*/ 8 w 54"/>
                <a:gd name="T55" fmla="*/ 47 h 55"/>
                <a:gd name="T56" fmla="*/ 12 w 54"/>
                <a:gd name="T57" fmla="*/ 49 h 55"/>
                <a:gd name="T58" fmla="*/ 15 w 54"/>
                <a:gd name="T59" fmla="*/ 51 h 55"/>
                <a:gd name="T60" fmla="*/ 19 w 54"/>
                <a:gd name="T61" fmla="*/ 54 h 55"/>
                <a:gd name="T62" fmla="*/ 22 w 54"/>
                <a:gd name="T63" fmla="*/ 54 h 55"/>
                <a:gd name="T64" fmla="*/ 26 w 54"/>
                <a:gd name="T65" fmla="*/ 55 h 55"/>
                <a:gd name="T66" fmla="*/ 30 w 54"/>
                <a:gd name="T67" fmla="*/ 55 h 55"/>
                <a:gd name="T68" fmla="*/ 34 w 54"/>
                <a:gd name="T69" fmla="*/ 54 h 55"/>
                <a:gd name="T70" fmla="*/ 37 w 54"/>
                <a:gd name="T71" fmla="*/ 54 h 55"/>
                <a:gd name="T72" fmla="*/ 41 w 54"/>
                <a:gd name="T73" fmla="*/ 51 h 55"/>
                <a:gd name="T74" fmla="*/ 44 w 54"/>
                <a:gd name="T75" fmla="*/ 49 h 55"/>
                <a:gd name="T76" fmla="*/ 48 w 54"/>
                <a:gd name="T77" fmla="*/ 47 h 55"/>
                <a:gd name="T78" fmla="*/ 50 w 54"/>
                <a:gd name="T79" fmla="*/ 44 h 55"/>
                <a:gd name="T80" fmla="*/ 52 w 54"/>
                <a:gd name="T81" fmla="*/ 40 h 55"/>
                <a:gd name="T82" fmla="*/ 53 w 54"/>
                <a:gd name="T83" fmla="*/ 37 h 55"/>
                <a:gd name="T84" fmla="*/ 54 w 54"/>
                <a:gd name="T85" fmla="*/ 33 h 55"/>
                <a:gd name="T86" fmla="*/ 54 w 54"/>
                <a:gd name="T87" fmla="*/ 29 h 55"/>
                <a:gd name="T88" fmla="*/ 27 w 54"/>
                <a:gd name="T89" fmla="*/ 27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4" h="55">
                  <a:moveTo>
                    <a:pt x="27" y="27"/>
                  </a:moveTo>
                  <a:lnTo>
                    <a:pt x="54" y="27"/>
                  </a:lnTo>
                  <a:lnTo>
                    <a:pt x="54" y="26"/>
                  </a:lnTo>
                  <a:lnTo>
                    <a:pt x="54" y="25"/>
                  </a:lnTo>
                  <a:lnTo>
                    <a:pt x="54" y="23"/>
                  </a:lnTo>
                  <a:lnTo>
                    <a:pt x="54" y="22"/>
                  </a:lnTo>
                  <a:lnTo>
                    <a:pt x="54" y="21"/>
                  </a:lnTo>
                  <a:lnTo>
                    <a:pt x="54" y="19"/>
                  </a:lnTo>
                  <a:lnTo>
                    <a:pt x="53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4"/>
                  </a:lnTo>
                  <a:lnTo>
                    <a:pt x="52" y="12"/>
                  </a:lnTo>
                  <a:lnTo>
                    <a:pt x="50" y="12"/>
                  </a:lnTo>
                  <a:lnTo>
                    <a:pt x="50" y="11"/>
                  </a:lnTo>
                  <a:lnTo>
                    <a:pt x="49" y="10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6" y="7"/>
                  </a:lnTo>
                  <a:lnTo>
                    <a:pt x="45" y="5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2" y="4"/>
                  </a:lnTo>
                  <a:lnTo>
                    <a:pt x="41" y="3"/>
                  </a:lnTo>
                  <a:lnTo>
                    <a:pt x="39" y="3"/>
                  </a:lnTo>
                  <a:lnTo>
                    <a:pt x="38" y="1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7" y="1"/>
                  </a:lnTo>
                  <a:lnTo>
                    <a:pt x="16" y="3"/>
                  </a:lnTo>
                  <a:lnTo>
                    <a:pt x="15" y="3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9" y="7"/>
                  </a:lnTo>
                  <a:lnTo>
                    <a:pt x="8" y="8"/>
                  </a:lnTo>
                  <a:lnTo>
                    <a:pt x="8" y="8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1" y="26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1" y="30"/>
                  </a:lnTo>
                  <a:lnTo>
                    <a:pt x="1" y="32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6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4" y="40"/>
                  </a:lnTo>
                  <a:lnTo>
                    <a:pt x="4" y="41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8" y="47"/>
                  </a:lnTo>
                  <a:lnTo>
                    <a:pt x="9" y="48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13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9" y="54"/>
                  </a:lnTo>
                  <a:lnTo>
                    <a:pt x="20" y="54"/>
                  </a:lnTo>
                  <a:lnTo>
                    <a:pt x="20" y="54"/>
                  </a:lnTo>
                  <a:lnTo>
                    <a:pt x="22" y="54"/>
                  </a:lnTo>
                  <a:lnTo>
                    <a:pt x="23" y="55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0" y="55"/>
                  </a:lnTo>
                  <a:lnTo>
                    <a:pt x="31" y="55"/>
                  </a:lnTo>
                  <a:lnTo>
                    <a:pt x="33" y="55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35" y="54"/>
                  </a:lnTo>
                  <a:lnTo>
                    <a:pt x="37" y="54"/>
                  </a:lnTo>
                  <a:lnTo>
                    <a:pt x="38" y="52"/>
                  </a:lnTo>
                  <a:lnTo>
                    <a:pt x="39" y="52"/>
                  </a:lnTo>
                  <a:lnTo>
                    <a:pt x="41" y="51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5" y="48"/>
                  </a:lnTo>
                  <a:lnTo>
                    <a:pt x="46" y="48"/>
                  </a:lnTo>
                  <a:lnTo>
                    <a:pt x="48" y="47"/>
                  </a:lnTo>
                  <a:lnTo>
                    <a:pt x="48" y="45"/>
                  </a:lnTo>
                  <a:lnTo>
                    <a:pt x="49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2" y="41"/>
                  </a:lnTo>
                  <a:lnTo>
                    <a:pt x="52" y="40"/>
                  </a:lnTo>
                  <a:lnTo>
                    <a:pt x="53" y="40"/>
                  </a:lnTo>
                  <a:lnTo>
                    <a:pt x="53" y="38"/>
                  </a:lnTo>
                  <a:lnTo>
                    <a:pt x="53" y="37"/>
                  </a:lnTo>
                  <a:lnTo>
                    <a:pt x="54" y="36"/>
                  </a:lnTo>
                  <a:lnTo>
                    <a:pt x="54" y="34"/>
                  </a:lnTo>
                  <a:lnTo>
                    <a:pt x="54" y="33"/>
                  </a:lnTo>
                  <a:lnTo>
                    <a:pt x="54" y="32"/>
                  </a:lnTo>
                  <a:lnTo>
                    <a:pt x="54" y="30"/>
                  </a:lnTo>
                  <a:lnTo>
                    <a:pt x="54" y="29"/>
                  </a:lnTo>
                  <a:lnTo>
                    <a:pt x="54" y="27"/>
                  </a:lnTo>
                  <a:lnTo>
                    <a:pt x="54" y="27"/>
                  </a:lnTo>
                  <a:lnTo>
                    <a:pt x="27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54"/>
            <p:cNvSpPr>
              <a:spLocks/>
            </p:cNvSpPr>
            <p:nvPr/>
          </p:nvSpPr>
          <p:spPr bwMode="auto">
            <a:xfrm>
              <a:off x="2345" y="988"/>
              <a:ext cx="34" cy="33"/>
            </a:xfrm>
            <a:custGeom>
              <a:avLst/>
              <a:gdLst>
                <a:gd name="T0" fmla="*/ 67 w 67"/>
                <a:gd name="T1" fmla="*/ 30 h 65"/>
                <a:gd name="T2" fmla="*/ 65 w 67"/>
                <a:gd name="T3" fmla="*/ 24 h 65"/>
                <a:gd name="T4" fmla="*/ 64 w 67"/>
                <a:gd name="T5" fmla="*/ 20 h 65"/>
                <a:gd name="T6" fmla="*/ 63 w 67"/>
                <a:gd name="T7" fmla="*/ 15 h 65"/>
                <a:gd name="T8" fmla="*/ 60 w 67"/>
                <a:gd name="T9" fmla="*/ 12 h 65"/>
                <a:gd name="T10" fmla="*/ 56 w 67"/>
                <a:gd name="T11" fmla="*/ 8 h 65"/>
                <a:gd name="T12" fmla="*/ 52 w 67"/>
                <a:gd name="T13" fmla="*/ 5 h 65"/>
                <a:gd name="T14" fmla="*/ 48 w 67"/>
                <a:gd name="T15" fmla="*/ 2 h 65"/>
                <a:gd name="T16" fmla="*/ 43 w 67"/>
                <a:gd name="T17" fmla="*/ 1 h 65"/>
                <a:gd name="T18" fmla="*/ 38 w 67"/>
                <a:gd name="T19" fmla="*/ 0 h 65"/>
                <a:gd name="T20" fmla="*/ 34 w 67"/>
                <a:gd name="T21" fmla="*/ 0 h 65"/>
                <a:gd name="T22" fmla="*/ 30 w 67"/>
                <a:gd name="T23" fmla="*/ 0 h 65"/>
                <a:gd name="T24" fmla="*/ 26 w 67"/>
                <a:gd name="T25" fmla="*/ 0 h 65"/>
                <a:gd name="T26" fmla="*/ 20 w 67"/>
                <a:gd name="T27" fmla="*/ 2 h 65"/>
                <a:gd name="T28" fmla="*/ 16 w 67"/>
                <a:gd name="T29" fmla="*/ 4 h 65"/>
                <a:gd name="T30" fmla="*/ 12 w 67"/>
                <a:gd name="T31" fmla="*/ 6 h 65"/>
                <a:gd name="T32" fmla="*/ 9 w 67"/>
                <a:gd name="T33" fmla="*/ 10 h 65"/>
                <a:gd name="T34" fmla="*/ 5 w 67"/>
                <a:gd name="T35" fmla="*/ 13 h 65"/>
                <a:gd name="T36" fmla="*/ 4 w 67"/>
                <a:gd name="T37" fmla="*/ 17 h 65"/>
                <a:gd name="T38" fmla="*/ 1 w 67"/>
                <a:gd name="T39" fmla="*/ 23 h 65"/>
                <a:gd name="T40" fmla="*/ 1 w 67"/>
                <a:gd name="T41" fmla="*/ 27 h 65"/>
                <a:gd name="T42" fmla="*/ 0 w 67"/>
                <a:gd name="T43" fmla="*/ 32 h 65"/>
                <a:gd name="T44" fmla="*/ 0 w 67"/>
                <a:gd name="T45" fmla="*/ 37 h 65"/>
                <a:gd name="T46" fmla="*/ 1 w 67"/>
                <a:gd name="T47" fmla="*/ 41 h 65"/>
                <a:gd name="T48" fmla="*/ 2 w 67"/>
                <a:gd name="T49" fmla="*/ 46 h 65"/>
                <a:gd name="T50" fmla="*/ 5 w 67"/>
                <a:gd name="T51" fmla="*/ 50 h 65"/>
                <a:gd name="T52" fmla="*/ 8 w 67"/>
                <a:gd name="T53" fmla="*/ 54 h 65"/>
                <a:gd name="T54" fmla="*/ 11 w 67"/>
                <a:gd name="T55" fmla="*/ 57 h 65"/>
                <a:gd name="T56" fmla="*/ 15 w 67"/>
                <a:gd name="T57" fmla="*/ 60 h 65"/>
                <a:gd name="T58" fmla="*/ 19 w 67"/>
                <a:gd name="T59" fmla="*/ 63 h 65"/>
                <a:gd name="T60" fmla="*/ 23 w 67"/>
                <a:gd name="T61" fmla="*/ 64 h 65"/>
                <a:gd name="T62" fmla="*/ 28 w 67"/>
                <a:gd name="T63" fmla="*/ 65 h 65"/>
                <a:gd name="T64" fmla="*/ 34 w 67"/>
                <a:gd name="T65" fmla="*/ 65 h 65"/>
                <a:gd name="T66" fmla="*/ 37 w 67"/>
                <a:gd name="T67" fmla="*/ 65 h 65"/>
                <a:gd name="T68" fmla="*/ 42 w 67"/>
                <a:gd name="T69" fmla="*/ 65 h 65"/>
                <a:gd name="T70" fmla="*/ 46 w 67"/>
                <a:gd name="T71" fmla="*/ 64 h 65"/>
                <a:gd name="T72" fmla="*/ 50 w 67"/>
                <a:gd name="T73" fmla="*/ 61 h 65"/>
                <a:gd name="T74" fmla="*/ 54 w 67"/>
                <a:gd name="T75" fmla="*/ 59 h 65"/>
                <a:gd name="T76" fmla="*/ 59 w 67"/>
                <a:gd name="T77" fmla="*/ 54 h 65"/>
                <a:gd name="T78" fmla="*/ 61 w 67"/>
                <a:gd name="T79" fmla="*/ 52 h 65"/>
                <a:gd name="T80" fmla="*/ 64 w 67"/>
                <a:gd name="T81" fmla="*/ 48 h 65"/>
                <a:gd name="T82" fmla="*/ 65 w 67"/>
                <a:gd name="T83" fmla="*/ 42 h 65"/>
                <a:gd name="T84" fmla="*/ 67 w 67"/>
                <a:gd name="T85" fmla="*/ 38 h 65"/>
                <a:gd name="T86" fmla="*/ 67 w 67"/>
                <a:gd name="T87" fmla="*/ 3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7" h="65">
                  <a:moveTo>
                    <a:pt x="67" y="32"/>
                  </a:moveTo>
                  <a:lnTo>
                    <a:pt x="67" y="31"/>
                  </a:lnTo>
                  <a:lnTo>
                    <a:pt x="67" y="30"/>
                  </a:lnTo>
                  <a:lnTo>
                    <a:pt x="67" y="27"/>
                  </a:lnTo>
                  <a:lnTo>
                    <a:pt x="67" y="26"/>
                  </a:lnTo>
                  <a:lnTo>
                    <a:pt x="65" y="24"/>
                  </a:lnTo>
                  <a:lnTo>
                    <a:pt x="65" y="23"/>
                  </a:lnTo>
                  <a:lnTo>
                    <a:pt x="65" y="21"/>
                  </a:lnTo>
                  <a:lnTo>
                    <a:pt x="64" y="20"/>
                  </a:lnTo>
                  <a:lnTo>
                    <a:pt x="64" y="17"/>
                  </a:lnTo>
                  <a:lnTo>
                    <a:pt x="63" y="16"/>
                  </a:lnTo>
                  <a:lnTo>
                    <a:pt x="63" y="15"/>
                  </a:lnTo>
                  <a:lnTo>
                    <a:pt x="61" y="13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9" y="10"/>
                  </a:lnTo>
                  <a:lnTo>
                    <a:pt x="57" y="9"/>
                  </a:lnTo>
                  <a:lnTo>
                    <a:pt x="56" y="8"/>
                  </a:lnTo>
                  <a:lnTo>
                    <a:pt x="54" y="6"/>
                  </a:lnTo>
                  <a:lnTo>
                    <a:pt x="53" y="5"/>
                  </a:lnTo>
                  <a:lnTo>
                    <a:pt x="52" y="5"/>
                  </a:lnTo>
                  <a:lnTo>
                    <a:pt x="50" y="4"/>
                  </a:lnTo>
                  <a:lnTo>
                    <a:pt x="49" y="4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43" y="1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5" y="5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11" y="8"/>
                  </a:lnTo>
                  <a:lnTo>
                    <a:pt x="9" y="9"/>
                  </a:lnTo>
                  <a:lnTo>
                    <a:pt x="9" y="10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7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2" y="43"/>
                  </a:lnTo>
                  <a:lnTo>
                    <a:pt x="2" y="46"/>
                  </a:lnTo>
                  <a:lnTo>
                    <a:pt x="4" y="48"/>
                  </a:lnTo>
                  <a:lnTo>
                    <a:pt x="4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4"/>
                  </a:lnTo>
                  <a:lnTo>
                    <a:pt x="9" y="54"/>
                  </a:lnTo>
                  <a:lnTo>
                    <a:pt x="9" y="56"/>
                  </a:lnTo>
                  <a:lnTo>
                    <a:pt x="11" y="57"/>
                  </a:lnTo>
                  <a:lnTo>
                    <a:pt x="12" y="59"/>
                  </a:lnTo>
                  <a:lnTo>
                    <a:pt x="13" y="60"/>
                  </a:lnTo>
                  <a:lnTo>
                    <a:pt x="15" y="60"/>
                  </a:lnTo>
                  <a:lnTo>
                    <a:pt x="16" y="61"/>
                  </a:lnTo>
                  <a:lnTo>
                    <a:pt x="17" y="61"/>
                  </a:lnTo>
                  <a:lnTo>
                    <a:pt x="19" y="63"/>
                  </a:lnTo>
                  <a:lnTo>
                    <a:pt x="20" y="64"/>
                  </a:lnTo>
                  <a:lnTo>
                    <a:pt x="22" y="64"/>
                  </a:lnTo>
                  <a:lnTo>
                    <a:pt x="23" y="64"/>
                  </a:lnTo>
                  <a:lnTo>
                    <a:pt x="26" y="65"/>
                  </a:lnTo>
                  <a:lnTo>
                    <a:pt x="27" y="65"/>
                  </a:lnTo>
                  <a:lnTo>
                    <a:pt x="28" y="65"/>
                  </a:lnTo>
                  <a:lnTo>
                    <a:pt x="30" y="65"/>
                  </a:lnTo>
                  <a:lnTo>
                    <a:pt x="31" y="65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8" y="65"/>
                  </a:lnTo>
                  <a:lnTo>
                    <a:pt x="41" y="65"/>
                  </a:lnTo>
                  <a:lnTo>
                    <a:pt x="42" y="65"/>
                  </a:lnTo>
                  <a:lnTo>
                    <a:pt x="43" y="64"/>
                  </a:lnTo>
                  <a:lnTo>
                    <a:pt x="45" y="64"/>
                  </a:lnTo>
                  <a:lnTo>
                    <a:pt x="46" y="64"/>
                  </a:lnTo>
                  <a:lnTo>
                    <a:pt x="48" y="63"/>
                  </a:lnTo>
                  <a:lnTo>
                    <a:pt x="49" y="61"/>
                  </a:lnTo>
                  <a:lnTo>
                    <a:pt x="50" y="61"/>
                  </a:lnTo>
                  <a:lnTo>
                    <a:pt x="52" y="60"/>
                  </a:lnTo>
                  <a:lnTo>
                    <a:pt x="53" y="60"/>
                  </a:lnTo>
                  <a:lnTo>
                    <a:pt x="54" y="59"/>
                  </a:lnTo>
                  <a:lnTo>
                    <a:pt x="56" y="57"/>
                  </a:lnTo>
                  <a:lnTo>
                    <a:pt x="57" y="56"/>
                  </a:lnTo>
                  <a:lnTo>
                    <a:pt x="59" y="54"/>
                  </a:lnTo>
                  <a:lnTo>
                    <a:pt x="60" y="54"/>
                  </a:lnTo>
                  <a:lnTo>
                    <a:pt x="60" y="53"/>
                  </a:lnTo>
                  <a:lnTo>
                    <a:pt x="61" y="52"/>
                  </a:lnTo>
                  <a:lnTo>
                    <a:pt x="63" y="50"/>
                  </a:lnTo>
                  <a:lnTo>
                    <a:pt x="63" y="49"/>
                  </a:lnTo>
                  <a:lnTo>
                    <a:pt x="64" y="48"/>
                  </a:lnTo>
                  <a:lnTo>
                    <a:pt x="64" y="46"/>
                  </a:lnTo>
                  <a:lnTo>
                    <a:pt x="65" y="43"/>
                  </a:lnTo>
                  <a:lnTo>
                    <a:pt x="65" y="42"/>
                  </a:lnTo>
                  <a:lnTo>
                    <a:pt x="65" y="41"/>
                  </a:lnTo>
                  <a:lnTo>
                    <a:pt x="67" y="39"/>
                  </a:lnTo>
                  <a:lnTo>
                    <a:pt x="67" y="38"/>
                  </a:lnTo>
                  <a:lnTo>
                    <a:pt x="67" y="37"/>
                  </a:lnTo>
                  <a:lnTo>
                    <a:pt x="67" y="34"/>
                  </a:lnTo>
                  <a:lnTo>
                    <a:pt x="67" y="32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Rectangle 55"/>
            <p:cNvSpPr>
              <a:spLocks noChangeArrowheads="1"/>
            </p:cNvSpPr>
            <p:nvPr/>
          </p:nvSpPr>
          <p:spPr bwMode="auto">
            <a:xfrm>
              <a:off x="3522" y="2722"/>
              <a:ext cx="124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Times-Roman"/>
                </a:rPr>
                <a:t>P </a:t>
              </a:r>
              <a:endParaRPr lang="en-US" altLang="en-US"/>
            </a:p>
          </p:txBody>
        </p:sp>
        <p:sp>
          <p:nvSpPr>
            <p:cNvPr id="141" name="Rectangle 56"/>
            <p:cNvSpPr>
              <a:spLocks noChangeArrowheads="1"/>
            </p:cNvSpPr>
            <p:nvPr/>
          </p:nvSpPr>
          <p:spPr bwMode="auto">
            <a:xfrm>
              <a:off x="3591" y="2775"/>
              <a:ext cx="8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300" i="1">
                  <a:solidFill>
                    <a:srgbClr val="000000"/>
                  </a:solidFill>
                  <a:latin typeface="Times-Roman"/>
                </a:rPr>
                <a:t>3 </a:t>
              </a:r>
              <a:endParaRPr lang="en-US" altLang="en-US"/>
            </a:p>
          </p:txBody>
        </p:sp>
        <p:sp>
          <p:nvSpPr>
            <p:cNvPr id="142" name="Rectangle 57"/>
            <p:cNvSpPr>
              <a:spLocks noChangeArrowheads="1"/>
            </p:cNvSpPr>
            <p:nvPr/>
          </p:nvSpPr>
          <p:spPr bwMode="auto">
            <a:xfrm>
              <a:off x="3522" y="3233"/>
              <a:ext cx="124" cy="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Times-Roman"/>
                </a:rPr>
                <a:t>P </a:t>
              </a:r>
              <a:endParaRPr lang="en-US" altLang="en-US"/>
            </a:p>
          </p:txBody>
        </p:sp>
        <p:sp>
          <p:nvSpPr>
            <p:cNvPr id="143" name="Freeform 58"/>
            <p:cNvSpPr>
              <a:spLocks/>
            </p:cNvSpPr>
            <p:nvPr/>
          </p:nvSpPr>
          <p:spPr bwMode="auto">
            <a:xfrm>
              <a:off x="3808" y="1874"/>
              <a:ext cx="274" cy="179"/>
            </a:xfrm>
            <a:custGeom>
              <a:avLst/>
              <a:gdLst>
                <a:gd name="T0" fmla="*/ 0 w 549"/>
                <a:gd name="T1" fmla="*/ 0 h 357"/>
                <a:gd name="T2" fmla="*/ 0 w 549"/>
                <a:gd name="T3" fmla="*/ 357 h 357"/>
                <a:gd name="T4" fmla="*/ 549 w 549"/>
                <a:gd name="T5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9" h="357">
                  <a:moveTo>
                    <a:pt x="0" y="0"/>
                  </a:moveTo>
                  <a:lnTo>
                    <a:pt x="0" y="357"/>
                  </a:lnTo>
                  <a:lnTo>
                    <a:pt x="549" y="357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59"/>
            <p:cNvSpPr>
              <a:spLocks/>
            </p:cNvSpPr>
            <p:nvPr/>
          </p:nvSpPr>
          <p:spPr bwMode="auto">
            <a:xfrm>
              <a:off x="3808" y="2204"/>
              <a:ext cx="274" cy="178"/>
            </a:xfrm>
            <a:custGeom>
              <a:avLst/>
              <a:gdLst>
                <a:gd name="T0" fmla="*/ 0 w 549"/>
                <a:gd name="T1" fmla="*/ 357 h 357"/>
                <a:gd name="T2" fmla="*/ 0 w 549"/>
                <a:gd name="T3" fmla="*/ 0 h 357"/>
                <a:gd name="T4" fmla="*/ 549 w 549"/>
                <a:gd name="T5" fmla="*/ 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49" h="357">
                  <a:moveTo>
                    <a:pt x="0" y="357"/>
                  </a:moveTo>
                  <a:lnTo>
                    <a:pt x="0" y="0"/>
                  </a:lnTo>
                  <a:lnTo>
                    <a:pt x="549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Line 60"/>
            <p:cNvSpPr>
              <a:spLocks noChangeShapeType="1"/>
            </p:cNvSpPr>
            <p:nvPr/>
          </p:nvSpPr>
          <p:spPr bwMode="auto">
            <a:xfrm flipH="1">
              <a:off x="4453" y="2122"/>
              <a:ext cx="28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61"/>
            <p:cNvSpPr>
              <a:spLocks/>
            </p:cNvSpPr>
            <p:nvPr/>
          </p:nvSpPr>
          <p:spPr bwMode="auto">
            <a:xfrm>
              <a:off x="3821" y="2904"/>
              <a:ext cx="261" cy="178"/>
            </a:xfrm>
            <a:custGeom>
              <a:avLst/>
              <a:gdLst>
                <a:gd name="T0" fmla="*/ 0 w 521"/>
                <a:gd name="T1" fmla="*/ 0 h 357"/>
                <a:gd name="T2" fmla="*/ 0 w 521"/>
                <a:gd name="T3" fmla="*/ 357 h 357"/>
                <a:gd name="T4" fmla="*/ 521 w 521"/>
                <a:gd name="T5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1" h="357">
                  <a:moveTo>
                    <a:pt x="0" y="0"/>
                  </a:moveTo>
                  <a:lnTo>
                    <a:pt x="0" y="357"/>
                  </a:lnTo>
                  <a:lnTo>
                    <a:pt x="521" y="357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62"/>
            <p:cNvSpPr>
              <a:spLocks/>
            </p:cNvSpPr>
            <p:nvPr/>
          </p:nvSpPr>
          <p:spPr bwMode="auto">
            <a:xfrm>
              <a:off x="3821" y="3233"/>
              <a:ext cx="261" cy="179"/>
            </a:xfrm>
            <a:custGeom>
              <a:avLst/>
              <a:gdLst>
                <a:gd name="T0" fmla="*/ 0 w 521"/>
                <a:gd name="T1" fmla="*/ 357 h 357"/>
                <a:gd name="T2" fmla="*/ 0 w 521"/>
                <a:gd name="T3" fmla="*/ 0 h 357"/>
                <a:gd name="T4" fmla="*/ 521 w 521"/>
                <a:gd name="T5" fmla="*/ 0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1" h="357">
                  <a:moveTo>
                    <a:pt x="0" y="357"/>
                  </a:moveTo>
                  <a:lnTo>
                    <a:pt x="0" y="0"/>
                  </a:lnTo>
                  <a:lnTo>
                    <a:pt x="521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Line 63"/>
            <p:cNvSpPr>
              <a:spLocks noChangeShapeType="1"/>
            </p:cNvSpPr>
            <p:nvPr/>
          </p:nvSpPr>
          <p:spPr bwMode="auto">
            <a:xfrm flipH="1">
              <a:off x="4455" y="3151"/>
              <a:ext cx="28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Rectangle 64"/>
            <p:cNvSpPr>
              <a:spLocks noChangeArrowheads="1"/>
            </p:cNvSpPr>
            <p:nvPr/>
          </p:nvSpPr>
          <p:spPr bwMode="auto">
            <a:xfrm>
              <a:off x="3591" y="3285"/>
              <a:ext cx="89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300" i="1">
                  <a:solidFill>
                    <a:srgbClr val="000000"/>
                  </a:solidFill>
                  <a:latin typeface="Times-Roman"/>
                </a:rPr>
                <a:t>4 </a:t>
              </a:r>
              <a:endParaRPr lang="en-US" altLang="en-US"/>
            </a:p>
          </p:txBody>
        </p:sp>
        <p:sp>
          <p:nvSpPr>
            <p:cNvPr id="150" name="AutoShape 65"/>
            <p:cNvSpPr>
              <a:spLocks noChangeArrowheads="1"/>
            </p:cNvSpPr>
            <p:nvPr/>
          </p:nvSpPr>
          <p:spPr bwMode="auto">
            <a:xfrm>
              <a:off x="2943" y="3253"/>
              <a:ext cx="378" cy="31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AutoShape 66"/>
            <p:cNvSpPr>
              <a:spLocks noChangeArrowheads="1"/>
            </p:cNvSpPr>
            <p:nvPr/>
          </p:nvSpPr>
          <p:spPr bwMode="auto">
            <a:xfrm>
              <a:off x="2943" y="2746"/>
              <a:ext cx="378" cy="31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AutoShape 67"/>
            <p:cNvSpPr>
              <a:spLocks noChangeArrowheads="1"/>
            </p:cNvSpPr>
            <p:nvPr/>
          </p:nvSpPr>
          <p:spPr bwMode="auto">
            <a:xfrm>
              <a:off x="2943" y="2221"/>
              <a:ext cx="378" cy="31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" name="AutoShape 68"/>
            <p:cNvSpPr>
              <a:spLocks noChangeArrowheads="1"/>
            </p:cNvSpPr>
            <p:nvPr/>
          </p:nvSpPr>
          <p:spPr bwMode="auto">
            <a:xfrm>
              <a:off x="2943" y="1714"/>
              <a:ext cx="378" cy="31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4" name="Group 69"/>
            <p:cNvGrpSpPr>
              <a:grpSpLocks/>
            </p:cNvGrpSpPr>
            <p:nvPr/>
          </p:nvGrpSpPr>
          <p:grpSpPr bwMode="auto">
            <a:xfrm>
              <a:off x="4050" y="1965"/>
              <a:ext cx="403" cy="316"/>
              <a:chOff x="3403" y="2587"/>
              <a:chExt cx="462" cy="364"/>
            </a:xfrm>
          </p:grpSpPr>
          <p:sp>
            <p:nvSpPr>
              <p:cNvPr id="162" name="Freeform 70"/>
              <p:cNvSpPr>
                <a:spLocks/>
              </p:cNvSpPr>
              <p:nvPr/>
            </p:nvSpPr>
            <p:spPr bwMode="auto">
              <a:xfrm>
                <a:off x="3408" y="2587"/>
                <a:ext cx="457" cy="181"/>
              </a:xfrm>
              <a:custGeom>
                <a:avLst/>
                <a:gdLst>
                  <a:gd name="T0" fmla="*/ 179 w 914"/>
                  <a:gd name="T1" fmla="*/ 0 h 362"/>
                  <a:gd name="T2" fmla="*/ 306 w 914"/>
                  <a:gd name="T3" fmla="*/ 0 h 362"/>
                  <a:gd name="T4" fmla="*/ 371 w 914"/>
                  <a:gd name="T5" fmla="*/ 0 h 362"/>
                  <a:gd name="T6" fmla="*/ 399 w 914"/>
                  <a:gd name="T7" fmla="*/ 1 h 362"/>
                  <a:gd name="T8" fmla="*/ 414 w 914"/>
                  <a:gd name="T9" fmla="*/ 1 h 362"/>
                  <a:gd name="T10" fmla="*/ 428 w 914"/>
                  <a:gd name="T11" fmla="*/ 3 h 362"/>
                  <a:gd name="T12" fmla="*/ 439 w 914"/>
                  <a:gd name="T13" fmla="*/ 3 h 362"/>
                  <a:gd name="T14" fmla="*/ 448 w 914"/>
                  <a:gd name="T15" fmla="*/ 5 h 362"/>
                  <a:gd name="T16" fmla="*/ 460 w 914"/>
                  <a:gd name="T17" fmla="*/ 6 h 362"/>
                  <a:gd name="T18" fmla="*/ 474 w 914"/>
                  <a:gd name="T19" fmla="*/ 9 h 362"/>
                  <a:gd name="T20" fmla="*/ 486 w 914"/>
                  <a:gd name="T21" fmla="*/ 11 h 362"/>
                  <a:gd name="T22" fmla="*/ 495 w 914"/>
                  <a:gd name="T23" fmla="*/ 12 h 362"/>
                  <a:gd name="T24" fmla="*/ 506 w 914"/>
                  <a:gd name="T25" fmla="*/ 15 h 362"/>
                  <a:gd name="T26" fmla="*/ 521 w 914"/>
                  <a:gd name="T27" fmla="*/ 20 h 362"/>
                  <a:gd name="T28" fmla="*/ 536 w 914"/>
                  <a:gd name="T29" fmla="*/ 24 h 362"/>
                  <a:gd name="T30" fmla="*/ 549 w 914"/>
                  <a:gd name="T31" fmla="*/ 29 h 362"/>
                  <a:gd name="T32" fmla="*/ 558 w 914"/>
                  <a:gd name="T33" fmla="*/ 32 h 362"/>
                  <a:gd name="T34" fmla="*/ 569 w 914"/>
                  <a:gd name="T35" fmla="*/ 38 h 362"/>
                  <a:gd name="T36" fmla="*/ 581 w 914"/>
                  <a:gd name="T37" fmla="*/ 44 h 362"/>
                  <a:gd name="T38" fmla="*/ 595 w 914"/>
                  <a:gd name="T39" fmla="*/ 50 h 362"/>
                  <a:gd name="T40" fmla="*/ 605 w 914"/>
                  <a:gd name="T41" fmla="*/ 56 h 362"/>
                  <a:gd name="T42" fmla="*/ 613 w 914"/>
                  <a:gd name="T43" fmla="*/ 61 h 362"/>
                  <a:gd name="T44" fmla="*/ 624 w 914"/>
                  <a:gd name="T45" fmla="*/ 66 h 362"/>
                  <a:gd name="T46" fmla="*/ 636 w 914"/>
                  <a:gd name="T47" fmla="*/ 73 h 362"/>
                  <a:gd name="T48" fmla="*/ 647 w 914"/>
                  <a:gd name="T49" fmla="*/ 79 h 362"/>
                  <a:gd name="T50" fmla="*/ 656 w 914"/>
                  <a:gd name="T51" fmla="*/ 84 h 362"/>
                  <a:gd name="T52" fmla="*/ 662 w 914"/>
                  <a:gd name="T53" fmla="*/ 89 h 362"/>
                  <a:gd name="T54" fmla="*/ 671 w 914"/>
                  <a:gd name="T55" fmla="*/ 95 h 362"/>
                  <a:gd name="T56" fmla="*/ 682 w 914"/>
                  <a:gd name="T57" fmla="*/ 101 h 362"/>
                  <a:gd name="T58" fmla="*/ 689 w 914"/>
                  <a:gd name="T59" fmla="*/ 105 h 362"/>
                  <a:gd name="T60" fmla="*/ 694 w 914"/>
                  <a:gd name="T61" fmla="*/ 110 h 362"/>
                  <a:gd name="T62" fmla="*/ 700 w 914"/>
                  <a:gd name="T63" fmla="*/ 113 h 362"/>
                  <a:gd name="T64" fmla="*/ 708 w 914"/>
                  <a:gd name="T65" fmla="*/ 119 h 362"/>
                  <a:gd name="T66" fmla="*/ 714 w 914"/>
                  <a:gd name="T67" fmla="*/ 124 h 362"/>
                  <a:gd name="T68" fmla="*/ 718 w 914"/>
                  <a:gd name="T69" fmla="*/ 128 h 362"/>
                  <a:gd name="T70" fmla="*/ 723 w 914"/>
                  <a:gd name="T71" fmla="*/ 131 h 362"/>
                  <a:gd name="T72" fmla="*/ 729 w 914"/>
                  <a:gd name="T73" fmla="*/ 136 h 362"/>
                  <a:gd name="T74" fmla="*/ 737 w 914"/>
                  <a:gd name="T75" fmla="*/ 141 h 362"/>
                  <a:gd name="T76" fmla="*/ 744 w 914"/>
                  <a:gd name="T77" fmla="*/ 147 h 362"/>
                  <a:gd name="T78" fmla="*/ 751 w 914"/>
                  <a:gd name="T79" fmla="*/ 151 h 362"/>
                  <a:gd name="T80" fmla="*/ 757 w 914"/>
                  <a:gd name="T81" fmla="*/ 156 h 362"/>
                  <a:gd name="T82" fmla="*/ 763 w 914"/>
                  <a:gd name="T83" fmla="*/ 164 h 362"/>
                  <a:gd name="T84" fmla="*/ 772 w 914"/>
                  <a:gd name="T85" fmla="*/ 173 h 362"/>
                  <a:gd name="T86" fmla="*/ 780 w 914"/>
                  <a:gd name="T87" fmla="*/ 180 h 362"/>
                  <a:gd name="T88" fmla="*/ 784 w 914"/>
                  <a:gd name="T89" fmla="*/ 186 h 362"/>
                  <a:gd name="T90" fmla="*/ 792 w 914"/>
                  <a:gd name="T91" fmla="*/ 194 h 362"/>
                  <a:gd name="T92" fmla="*/ 801 w 914"/>
                  <a:gd name="T93" fmla="*/ 206 h 362"/>
                  <a:gd name="T94" fmla="*/ 810 w 914"/>
                  <a:gd name="T95" fmla="*/ 217 h 362"/>
                  <a:gd name="T96" fmla="*/ 818 w 914"/>
                  <a:gd name="T97" fmla="*/ 226 h 362"/>
                  <a:gd name="T98" fmla="*/ 824 w 914"/>
                  <a:gd name="T99" fmla="*/ 235 h 362"/>
                  <a:gd name="T100" fmla="*/ 832 w 914"/>
                  <a:gd name="T101" fmla="*/ 245 h 362"/>
                  <a:gd name="T102" fmla="*/ 841 w 914"/>
                  <a:gd name="T103" fmla="*/ 258 h 362"/>
                  <a:gd name="T104" fmla="*/ 851 w 914"/>
                  <a:gd name="T105" fmla="*/ 272 h 362"/>
                  <a:gd name="T106" fmla="*/ 859 w 914"/>
                  <a:gd name="T107" fmla="*/ 281 h 362"/>
                  <a:gd name="T108" fmla="*/ 865 w 914"/>
                  <a:gd name="T109" fmla="*/ 290 h 362"/>
                  <a:gd name="T110" fmla="*/ 874 w 914"/>
                  <a:gd name="T111" fmla="*/ 303 h 362"/>
                  <a:gd name="T112" fmla="*/ 884 w 914"/>
                  <a:gd name="T113" fmla="*/ 316 h 362"/>
                  <a:gd name="T114" fmla="*/ 893 w 914"/>
                  <a:gd name="T115" fmla="*/ 330 h 362"/>
                  <a:gd name="T116" fmla="*/ 899 w 914"/>
                  <a:gd name="T117" fmla="*/ 339 h 362"/>
                  <a:gd name="T118" fmla="*/ 905 w 914"/>
                  <a:gd name="T119" fmla="*/ 348 h 362"/>
                  <a:gd name="T120" fmla="*/ 911 w 914"/>
                  <a:gd name="T121" fmla="*/ 359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14" h="362">
                    <a:moveTo>
                      <a:pt x="0" y="0"/>
                    </a:moveTo>
                    <a:lnTo>
                      <a:pt x="35" y="0"/>
                    </a:lnTo>
                    <a:lnTo>
                      <a:pt x="67" y="0"/>
                    </a:lnTo>
                    <a:lnTo>
                      <a:pt x="98" y="0"/>
                    </a:lnTo>
                    <a:lnTo>
                      <a:pt x="127" y="0"/>
                    </a:lnTo>
                    <a:lnTo>
                      <a:pt x="154" y="0"/>
                    </a:lnTo>
                    <a:lnTo>
                      <a:pt x="179" y="0"/>
                    </a:lnTo>
                    <a:lnTo>
                      <a:pt x="202" y="0"/>
                    </a:lnTo>
                    <a:lnTo>
                      <a:pt x="223" y="0"/>
                    </a:lnTo>
                    <a:lnTo>
                      <a:pt x="243" y="0"/>
                    </a:lnTo>
                    <a:lnTo>
                      <a:pt x="260" y="0"/>
                    </a:lnTo>
                    <a:lnTo>
                      <a:pt x="277" y="0"/>
                    </a:lnTo>
                    <a:lnTo>
                      <a:pt x="292" y="0"/>
                    </a:lnTo>
                    <a:lnTo>
                      <a:pt x="306" y="0"/>
                    </a:lnTo>
                    <a:lnTo>
                      <a:pt x="318" y="0"/>
                    </a:lnTo>
                    <a:lnTo>
                      <a:pt x="330" y="0"/>
                    </a:lnTo>
                    <a:lnTo>
                      <a:pt x="339" y="0"/>
                    </a:lnTo>
                    <a:lnTo>
                      <a:pt x="348" y="0"/>
                    </a:lnTo>
                    <a:lnTo>
                      <a:pt x="358" y="0"/>
                    </a:lnTo>
                    <a:lnTo>
                      <a:pt x="364" y="0"/>
                    </a:lnTo>
                    <a:lnTo>
                      <a:pt x="371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7" y="0"/>
                    </a:lnTo>
                    <a:lnTo>
                      <a:pt x="390" y="0"/>
                    </a:lnTo>
                    <a:lnTo>
                      <a:pt x="393" y="0"/>
                    </a:lnTo>
                    <a:lnTo>
                      <a:pt x="396" y="0"/>
                    </a:lnTo>
                    <a:lnTo>
                      <a:pt x="399" y="1"/>
                    </a:lnTo>
                    <a:lnTo>
                      <a:pt x="402" y="1"/>
                    </a:lnTo>
                    <a:lnTo>
                      <a:pt x="405" y="1"/>
                    </a:lnTo>
                    <a:lnTo>
                      <a:pt x="407" y="1"/>
                    </a:lnTo>
                    <a:lnTo>
                      <a:pt x="410" y="1"/>
                    </a:lnTo>
                    <a:lnTo>
                      <a:pt x="411" y="1"/>
                    </a:lnTo>
                    <a:lnTo>
                      <a:pt x="411" y="1"/>
                    </a:lnTo>
                    <a:lnTo>
                      <a:pt x="414" y="1"/>
                    </a:lnTo>
                    <a:lnTo>
                      <a:pt x="417" y="1"/>
                    </a:lnTo>
                    <a:lnTo>
                      <a:pt x="419" y="1"/>
                    </a:lnTo>
                    <a:lnTo>
                      <a:pt x="422" y="3"/>
                    </a:lnTo>
                    <a:lnTo>
                      <a:pt x="423" y="3"/>
                    </a:lnTo>
                    <a:lnTo>
                      <a:pt x="425" y="3"/>
                    </a:lnTo>
                    <a:lnTo>
                      <a:pt x="426" y="3"/>
                    </a:lnTo>
                    <a:lnTo>
                      <a:pt x="428" y="3"/>
                    </a:lnTo>
                    <a:lnTo>
                      <a:pt x="429" y="3"/>
                    </a:lnTo>
                    <a:lnTo>
                      <a:pt x="431" y="3"/>
                    </a:lnTo>
                    <a:lnTo>
                      <a:pt x="433" y="3"/>
                    </a:lnTo>
                    <a:lnTo>
                      <a:pt x="434" y="3"/>
                    </a:lnTo>
                    <a:lnTo>
                      <a:pt x="436" y="3"/>
                    </a:lnTo>
                    <a:lnTo>
                      <a:pt x="437" y="3"/>
                    </a:lnTo>
                    <a:lnTo>
                      <a:pt x="439" y="3"/>
                    </a:lnTo>
                    <a:lnTo>
                      <a:pt x="440" y="5"/>
                    </a:lnTo>
                    <a:lnTo>
                      <a:pt x="440" y="5"/>
                    </a:lnTo>
                    <a:lnTo>
                      <a:pt x="442" y="5"/>
                    </a:lnTo>
                    <a:lnTo>
                      <a:pt x="443" y="5"/>
                    </a:lnTo>
                    <a:lnTo>
                      <a:pt x="445" y="5"/>
                    </a:lnTo>
                    <a:lnTo>
                      <a:pt x="446" y="5"/>
                    </a:lnTo>
                    <a:lnTo>
                      <a:pt x="448" y="5"/>
                    </a:lnTo>
                    <a:lnTo>
                      <a:pt x="449" y="5"/>
                    </a:lnTo>
                    <a:lnTo>
                      <a:pt x="451" y="5"/>
                    </a:lnTo>
                    <a:lnTo>
                      <a:pt x="452" y="6"/>
                    </a:lnTo>
                    <a:lnTo>
                      <a:pt x="454" y="6"/>
                    </a:lnTo>
                    <a:lnTo>
                      <a:pt x="455" y="6"/>
                    </a:lnTo>
                    <a:lnTo>
                      <a:pt x="457" y="6"/>
                    </a:lnTo>
                    <a:lnTo>
                      <a:pt x="460" y="6"/>
                    </a:lnTo>
                    <a:lnTo>
                      <a:pt x="462" y="6"/>
                    </a:lnTo>
                    <a:lnTo>
                      <a:pt x="465" y="8"/>
                    </a:lnTo>
                    <a:lnTo>
                      <a:pt x="466" y="8"/>
                    </a:lnTo>
                    <a:lnTo>
                      <a:pt x="466" y="8"/>
                    </a:lnTo>
                    <a:lnTo>
                      <a:pt x="469" y="8"/>
                    </a:lnTo>
                    <a:lnTo>
                      <a:pt x="471" y="8"/>
                    </a:lnTo>
                    <a:lnTo>
                      <a:pt x="474" y="9"/>
                    </a:lnTo>
                    <a:lnTo>
                      <a:pt x="475" y="9"/>
                    </a:lnTo>
                    <a:lnTo>
                      <a:pt x="477" y="9"/>
                    </a:lnTo>
                    <a:lnTo>
                      <a:pt x="478" y="9"/>
                    </a:lnTo>
                    <a:lnTo>
                      <a:pt x="481" y="9"/>
                    </a:lnTo>
                    <a:lnTo>
                      <a:pt x="483" y="9"/>
                    </a:lnTo>
                    <a:lnTo>
                      <a:pt x="485" y="11"/>
                    </a:lnTo>
                    <a:lnTo>
                      <a:pt x="486" y="11"/>
                    </a:lnTo>
                    <a:lnTo>
                      <a:pt x="488" y="11"/>
                    </a:lnTo>
                    <a:lnTo>
                      <a:pt x="488" y="11"/>
                    </a:lnTo>
                    <a:lnTo>
                      <a:pt x="489" y="11"/>
                    </a:lnTo>
                    <a:lnTo>
                      <a:pt x="491" y="11"/>
                    </a:lnTo>
                    <a:lnTo>
                      <a:pt x="492" y="12"/>
                    </a:lnTo>
                    <a:lnTo>
                      <a:pt x="494" y="12"/>
                    </a:lnTo>
                    <a:lnTo>
                      <a:pt x="495" y="12"/>
                    </a:lnTo>
                    <a:lnTo>
                      <a:pt x="497" y="12"/>
                    </a:lnTo>
                    <a:lnTo>
                      <a:pt x="498" y="14"/>
                    </a:lnTo>
                    <a:lnTo>
                      <a:pt x="500" y="14"/>
                    </a:lnTo>
                    <a:lnTo>
                      <a:pt x="501" y="14"/>
                    </a:lnTo>
                    <a:lnTo>
                      <a:pt x="503" y="14"/>
                    </a:lnTo>
                    <a:lnTo>
                      <a:pt x="504" y="15"/>
                    </a:lnTo>
                    <a:lnTo>
                      <a:pt x="506" y="15"/>
                    </a:lnTo>
                    <a:lnTo>
                      <a:pt x="507" y="15"/>
                    </a:lnTo>
                    <a:lnTo>
                      <a:pt x="509" y="17"/>
                    </a:lnTo>
                    <a:lnTo>
                      <a:pt x="512" y="17"/>
                    </a:lnTo>
                    <a:lnTo>
                      <a:pt x="514" y="18"/>
                    </a:lnTo>
                    <a:lnTo>
                      <a:pt x="517" y="18"/>
                    </a:lnTo>
                    <a:lnTo>
                      <a:pt x="518" y="20"/>
                    </a:lnTo>
                    <a:lnTo>
                      <a:pt x="521" y="20"/>
                    </a:lnTo>
                    <a:lnTo>
                      <a:pt x="524" y="21"/>
                    </a:lnTo>
                    <a:lnTo>
                      <a:pt x="524" y="21"/>
                    </a:lnTo>
                    <a:lnTo>
                      <a:pt x="527" y="21"/>
                    </a:lnTo>
                    <a:lnTo>
                      <a:pt x="529" y="23"/>
                    </a:lnTo>
                    <a:lnTo>
                      <a:pt x="532" y="23"/>
                    </a:lnTo>
                    <a:lnTo>
                      <a:pt x="533" y="24"/>
                    </a:lnTo>
                    <a:lnTo>
                      <a:pt x="536" y="24"/>
                    </a:lnTo>
                    <a:lnTo>
                      <a:pt x="538" y="26"/>
                    </a:lnTo>
                    <a:lnTo>
                      <a:pt x="540" y="26"/>
                    </a:lnTo>
                    <a:lnTo>
                      <a:pt x="543" y="26"/>
                    </a:lnTo>
                    <a:lnTo>
                      <a:pt x="544" y="27"/>
                    </a:lnTo>
                    <a:lnTo>
                      <a:pt x="546" y="27"/>
                    </a:lnTo>
                    <a:lnTo>
                      <a:pt x="547" y="27"/>
                    </a:lnTo>
                    <a:lnTo>
                      <a:pt x="549" y="29"/>
                    </a:lnTo>
                    <a:lnTo>
                      <a:pt x="550" y="29"/>
                    </a:lnTo>
                    <a:lnTo>
                      <a:pt x="552" y="29"/>
                    </a:lnTo>
                    <a:lnTo>
                      <a:pt x="552" y="30"/>
                    </a:lnTo>
                    <a:lnTo>
                      <a:pt x="553" y="30"/>
                    </a:lnTo>
                    <a:lnTo>
                      <a:pt x="555" y="32"/>
                    </a:lnTo>
                    <a:lnTo>
                      <a:pt x="556" y="32"/>
                    </a:lnTo>
                    <a:lnTo>
                      <a:pt x="558" y="32"/>
                    </a:lnTo>
                    <a:lnTo>
                      <a:pt x="559" y="34"/>
                    </a:lnTo>
                    <a:lnTo>
                      <a:pt x="561" y="34"/>
                    </a:lnTo>
                    <a:lnTo>
                      <a:pt x="562" y="35"/>
                    </a:lnTo>
                    <a:lnTo>
                      <a:pt x="564" y="35"/>
                    </a:lnTo>
                    <a:lnTo>
                      <a:pt x="566" y="35"/>
                    </a:lnTo>
                    <a:lnTo>
                      <a:pt x="567" y="37"/>
                    </a:lnTo>
                    <a:lnTo>
                      <a:pt x="569" y="38"/>
                    </a:lnTo>
                    <a:lnTo>
                      <a:pt x="570" y="38"/>
                    </a:lnTo>
                    <a:lnTo>
                      <a:pt x="572" y="40"/>
                    </a:lnTo>
                    <a:lnTo>
                      <a:pt x="575" y="40"/>
                    </a:lnTo>
                    <a:lnTo>
                      <a:pt x="576" y="41"/>
                    </a:lnTo>
                    <a:lnTo>
                      <a:pt x="579" y="43"/>
                    </a:lnTo>
                    <a:lnTo>
                      <a:pt x="581" y="44"/>
                    </a:lnTo>
                    <a:lnTo>
                      <a:pt x="581" y="44"/>
                    </a:lnTo>
                    <a:lnTo>
                      <a:pt x="584" y="44"/>
                    </a:lnTo>
                    <a:lnTo>
                      <a:pt x="585" y="46"/>
                    </a:lnTo>
                    <a:lnTo>
                      <a:pt x="588" y="47"/>
                    </a:lnTo>
                    <a:lnTo>
                      <a:pt x="590" y="49"/>
                    </a:lnTo>
                    <a:lnTo>
                      <a:pt x="592" y="49"/>
                    </a:lnTo>
                    <a:lnTo>
                      <a:pt x="593" y="50"/>
                    </a:lnTo>
                    <a:lnTo>
                      <a:pt x="595" y="50"/>
                    </a:lnTo>
                    <a:lnTo>
                      <a:pt x="598" y="52"/>
                    </a:lnTo>
                    <a:lnTo>
                      <a:pt x="598" y="52"/>
                    </a:lnTo>
                    <a:lnTo>
                      <a:pt x="599" y="53"/>
                    </a:lnTo>
                    <a:lnTo>
                      <a:pt x="601" y="53"/>
                    </a:lnTo>
                    <a:lnTo>
                      <a:pt x="602" y="55"/>
                    </a:lnTo>
                    <a:lnTo>
                      <a:pt x="604" y="55"/>
                    </a:lnTo>
                    <a:lnTo>
                      <a:pt x="605" y="56"/>
                    </a:lnTo>
                    <a:lnTo>
                      <a:pt x="607" y="56"/>
                    </a:lnTo>
                    <a:lnTo>
                      <a:pt x="607" y="56"/>
                    </a:lnTo>
                    <a:lnTo>
                      <a:pt x="608" y="58"/>
                    </a:lnTo>
                    <a:lnTo>
                      <a:pt x="610" y="58"/>
                    </a:lnTo>
                    <a:lnTo>
                      <a:pt x="611" y="60"/>
                    </a:lnTo>
                    <a:lnTo>
                      <a:pt x="613" y="60"/>
                    </a:lnTo>
                    <a:lnTo>
                      <a:pt x="613" y="61"/>
                    </a:lnTo>
                    <a:lnTo>
                      <a:pt x="614" y="61"/>
                    </a:lnTo>
                    <a:lnTo>
                      <a:pt x="616" y="61"/>
                    </a:lnTo>
                    <a:lnTo>
                      <a:pt x="618" y="63"/>
                    </a:lnTo>
                    <a:lnTo>
                      <a:pt x="619" y="63"/>
                    </a:lnTo>
                    <a:lnTo>
                      <a:pt x="621" y="64"/>
                    </a:lnTo>
                    <a:lnTo>
                      <a:pt x="622" y="66"/>
                    </a:lnTo>
                    <a:lnTo>
                      <a:pt x="624" y="66"/>
                    </a:lnTo>
                    <a:lnTo>
                      <a:pt x="625" y="67"/>
                    </a:lnTo>
                    <a:lnTo>
                      <a:pt x="628" y="69"/>
                    </a:lnTo>
                    <a:lnTo>
                      <a:pt x="630" y="69"/>
                    </a:lnTo>
                    <a:lnTo>
                      <a:pt x="631" y="70"/>
                    </a:lnTo>
                    <a:lnTo>
                      <a:pt x="631" y="70"/>
                    </a:lnTo>
                    <a:lnTo>
                      <a:pt x="634" y="72"/>
                    </a:lnTo>
                    <a:lnTo>
                      <a:pt x="636" y="73"/>
                    </a:lnTo>
                    <a:lnTo>
                      <a:pt x="637" y="73"/>
                    </a:lnTo>
                    <a:lnTo>
                      <a:pt x="639" y="75"/>
                    </a:lnTo>
                    <a:lnTo>
                      <a:pt x="642" y="76"/>
                    </a:lnTo>
                    <a:lnTo>
                      <a:pt x="643" y="76"/>
                    </a:lnTo>
                    <a:lnTo>
                      <a:pt x="645" y="78"/>
                    </a:lnTo>
                    <a:lnTo>
                      <a:pt x="647" y="78"/>
                    </a:lnTo>
                    <a:lnTo>
                      <a:pt x="647" y="79"/>
                    </a:lnTo>
                    <a:lnTo>
                      <a:pt x="648" y="79"/>
                    </a:lnTo>
                    <a:lnTo>
                      <a:pt x="650" y="81"/>
                    </a:lnTo>
                    <a:lnTo>
                      <a:pt x="651" y="81"/>
                    </a:lnTo>
                    <a:lnTo>
                      <a:pt x="651" y="82"/>
                    </a:lnTo>
                    <a:lnTo>
                      <a:pt x="653" y="82"/>
                    </a:lnTo>
                    <a:lnTo>
                      <a:pt x="654" y="82"/>
                    </a:lnTo>
                    <a:lnTo>
                      <a:pt x="656" y="84"/>
                    </a:lnTo>
                    <a:lnTo>
                      <a:pt x="656" y="84"/>
                    </a:lnTo>
                    <a:lnTo>
                      <a:pt x="657" y="86"/>
                    </a:lnTo>
                    <a:lnTo>
                      <a:pt x="657" y="86"/>
                    </a:lnTo>
                    <a:lnTo>
                      <a:pt x="659" y="86"/>
                    </a:lnTo>
                    <a:lnTo>
                      <a:pt x="660" y="87"/>
                    </a:lnTo>
                    <a:lnTo>
                      <a:pt x="662" y="87"/>
                    </a:lnTo>
                    <a:lnTo>
                      <a:pt x="662" y="89"/>
                    </a:lnTo>
                    <a:lnTo>
                      <a:pt x="663" y="89"/>
                    </a:lnTo>
                    <a:lnTo>
                      <a:pt x="665" y="90"/>
                    </a:lnTo>
                    <a:lnTo>
                      <a:pt x="666" y="90"/>
                    </a:lnTo>
                    <a:lnTo>
                      <a:pt x="666" y="92"/>
                    </a:lnTo>
                    <a:lnTo>
                      <a:pt x="668" y="92"/>
                    </a:lnTo>
                    <a:lnTo>
                      <a:pt x="669" y="93"/>
                    </a:lnTo>
                    <a:lnTo>
                      <a:pt x="671" y="95"/>
                    </a:lnTo>
                    <a:lnTo>
                      <a:pt x="673" y="95"/>
                    </a:lnTo>
                    <a:lnTo>
                      <a:pt x="674" y="96"/>
                    </a:lnTo>
                    <a:lnTo>
                      <a:pt x="674" y="96"/>
                    </a:lnTo>
                    <a:lnTo>
                      <a:pt x="677" y="98"/>
                    </a:lnTo>
                    <a:lnTo>
                      <a:pt x="679" y="98"/>
                    </a:lnTo>
                    <a:lnTo>
                      <a:pt x="680" y="99"/>
                    </a:lnTo>
                    <a:lnTo>
                      <a:pt x="682" y="101"/>
                    </a:lnTo>
                    <a:lnTo>
                      <a:pt x="682" y="101"/>
                    </a:lnTo>
                    <a:lnTo>
                      <a:pt x="683" y="102"/>
                    </a:lnTo>
                    <a:lnTo>
                      <a:pt x="685" y="102"/>
                    </a:lnTo>
                    <a:lnTo>
                      <a:pt x="686" y="104"/>
                    </a:lnTo>
                    <a:lnTo>
                      <a:pt x="686" y="104"/>
                    </a:lnTo>
                    <a:lnTo>
                      <a:pt x="688" y="105"/>
                    </a:lnTo>
                    <a:lnTo>
                      <a:pt x="689" y="105"/>
                    </a:lnTo>
                    <a:lnTo>
                      <a:pt x="689" y="105"/>
                    </a:lnTo>
                    <a:lnTo>
                      <a:pt x="691" y="107"/>
                    </a:lnTo>
                    <a:lnTo>
                      <a:pt x="691" y="107"/>
                    </a:lnTo>
                    <a:lnTo>
                      <a:pt x="692" y="108"/>
                    </a:lnTo>
                    <a:lnTo>
                      <a:pt x="692" y="108"/>
                    </a:lnTo>
                    <a:lnTo>
                      <a:pt x="694" y="108"/>
                    </a:lnTo>
                    <a:lnTo>
                      <a:pt x="694" y="110"/>
                    </a:lnTo>
                    <a:lnTo>
                      <a:pt x="695" y="110"/>
                    </a:lnTo>
                    <a:lnTo>
                      <a:pt x="695" y="110"/>
                    </a:lnTo>
                    <a:lnTo>
                      <a:pt x="697" y="112"/>
                    </a:lnTo>
                    <a:lnTo>
                      <a:pt x="697" y="112"/>
                    </a:lnTo>
                    <a:lnTo>
                      <a:pt x="699" y="112"/>
                    </a:lnTo>
                    <a:lnTo>
                      <a:pt x="699" y="113"/>
                    </a:lnTo>
                    <a:lnTo>
                      <a:pt x="700" y="113"/>
                    </a:lnTo>
                    <a:lnTo>
                      <a:pt x="702" y="115"/>
                    </a:lnTo>
                    <a:lnTo>
                      <a:pt x="702" y="115"/>
                    </a:lnTo>
                    <a:lnTo>
                      <a:pt x="703" y="116"/>
                    </a:lnTo>
                    <a:lnTo>
                      <a:pt x="703" y="116"/>
                    </a:lnTo>
                    <a:lnTo>
                      <a:pt x="705" y="118"/>
                    </a:lnTo>
                    <a:lnTo>
                      <a:pt x="706" y="118"/>
                    </a:lnTo>
                    <a:lnTo>
                      <a:pt x="708" y="119"/>
                    </a:lnTo>
                    <a:lnTo>
                      <a:pt x="708" y="119"/>
                    </a:lnTo>
                    <a:lnTo>
                      <a:pt x="708" y="121"/>
                    </a:lnTo>
                    <a:lnTo>
                      <a:pt x="709" y="121"/>
                    </a:lnTo>
                    <a:lnTo>
                      <a:pt x="711" y="122"/>
                    </a:lnTo>
                    <a:lnTo>
                      <a:pt x="712" y="122"/>
                    </a:lnTo>
                    <a:lnTo>
                      <a:pt x="712" y="124"/>
                    </a:lnTo>
                    <a:lnTo>
                      <a:pt x="714" y="124"/>
                    </a:lnTo>
                    <a:lnTo>
                      <a:pt x="714" y="125"/>
                    </a:lnTo>
                    <a:lnTo>
                      <a:pt x="715" y="125"/>
                    </a:lnTo>
                    <a:lnTo>
                      <a:pt x="715" y="125"/>
                    </a:lnTo>
                    <a:lnTo>
                      <a:pt x="717" y="127"/>
                    </a:lnTo>
                    <a:lnTo>
                      <a:pt x="717" y="127"/>
                    </a:lnTo>
                    <a:lnTo>
                      <a:pt x="718" y="128"/>
                    </a:lnTo>
                    <a:lnTo>
                      <a:pt x="718" y="128"/>
                    </a:lnTo>
                    <a:lnTo>
                      <a:pt x="720" y="128"/>
                    </a:lnTo>
                    <a:lnTo>
                      <a:pt x="720" y="130"/>
                    </a:lnTo>
                    <a:lnTo>
                      <a:pt x="721" y="130"/>
                    </a:lnTo>
                    <a:lnTo>
                      <a:pt x="721" y="130"/>
                    </a:lnTo>
                    <a:lnTo>
                      <a:pt x="723" y="131"/>
                    </a:lnTo>
                    <a:lnTo>
                      <a:pt x="723" y="131"/>
                    </a:lnTo>
                    <a:lnTo>
                      <a:pt x="723" y="131"/>
                    </a:lnTo>
                    <a:lnTo>
                      <a:pt x="725" y="133"/>
                    </a:lnTo>
                    <a:lnTo>
                      <a:pt x="725" y="133"/>
                    </a:lnTo>
                    <a:lnTo>
                      <a:pt x="726" y="133"/>
                    </a:lnTo>
                    <a:lnTo>
                      <a:pt x="728" y="134"/>
                    </a:lnTo>
                    <a:lnTo>
                      <a:pt x="728" y="134"/>
                    </a:lnTo>
                    <a:lnTo>
                      <a:pt x="729" y="136"/>
                    </a:lnTo>
                    <a:lnTo>
                      <a:pt x="729" y="136"/>
                    </a:lnTo>
                    <a:lnTo>
                      <a:pt x="731" y="138"/>
                    </a:lnTo>
                    <a:lnTo>
                      <a:pt x="732" y="138"/>
                    </a:lnTo>
                    <a:lnTo>
                      <a:pt x="734" y="139"/>
                    </a:lnTo>
                    <a:lnTo>
                      <a:pt x="735" y="139"/>
                    </a:lnTo>
                    <a:lnTo>
                      <a:pt x="735" y="141"/>
                    </a:lnTo>
                    <a:lnTo>
                      <a:pt x="735" y="141"/>
                    </a:lnTo>
                    <a:lnTo>
                      <a:pt x="737" y="141"/>
                    </a:lnTo>
                    <a:lnTo>
                      <a:pt x="738" y="142"/>
                    </a:lnTo>
                    <a:lnTo>
                      <a:pt x="740" y="144"/>
                    </a:lnTo>
                    <a:lnTo>
                      <a:pt x="741" y="144"/>
                    </a:lnTo>
                    <a:lnTo>
                      <a:pt x="743" y="145"/>
                    </a:lnTo>
                    <a:lnTo>
                      <a:pt x="743" y="145"/>
                    </a:lnTo>
                    <a:lnTo>
                      <a:pt x="744" y="147"/>
                    </a:lnTo>
                    <a:lnTo>
                      <a:pt x="744" y="147"/>
                    </a:lnTo>
                    <a:lnTo>
                      <a:pt x="746" y="147"/>
                    </a:lnTo>
                    <a:lnTo>
                      <a:pt x="747" y="148"/>
                    </a:lnTo>
                    <a:lnTo>
                      <a:pt x="747" y="148"/>
                    </a:lnTo>
                    <a:lnTo>
                      <a:pt x="749" y="150"/>
                    </a:lnTo>
                    <a:lnTo>
                      <a:pt x="749" y="150"/>
                    </a:lnTo>
                    <a:lnTo>
                      <a:pt x="751" y="150"/>
                    </a:lnTo>
                    <a:lnTo>
                      <a:pt x="751" y="151"/>
                    </a:lnTo>
                    <a:lnTo>
                      <a:pt x="752" y="151"/>
                    </a:lnTo>
                    <a:lnTo>
                      <a:pt x="752" y="153"/>
                    </a:lnTo>
                    <a:lnTo>
                      <a:pt x="754" y="153"/>
                    </a:lnTo>
                    <a:lnTo>
                      <a:pt x="754" y="154"/>
                    </a:lnTo>
                    <a:lnTo>
                      <a:pt x="755" y="154"/>
                    </a:lnTo>
                    <a:lnTo>
                      <a:pt x="755" y="156"/>
                    </a:lnTo>
                    <a:lnTo>
                      <a:pt x="757" y="156"/>
                    </a:lnTo>
                    <a:lnTo>
                      <a:pt x="757" y="157"/>
                    </a:lnTo>
                    <a:lnTo>
                      <a:pt x="758" y="157"/>
                    </a:lnTo>
                    <a:lnTo>
                      <a:pt x="758" y="159"/>
                    </a:lnTo>
                    <a:lnTo>
                      <a:pt x="760" y="160"/>
                    </a:lnTo>
                    <a:lnTo>
                      <a:pt x="761" y="160"/>
                    </a:lnTo>
                    <a:lnTo>
                      <a:pt x="763" y="162"/>
                    </a:lnTo>
                    <a:lnTo>
                      <a:pt x="763" y="164"/>
                    </a:lnTo>
                    <a:lnTo>
                      <a:pt x="764" y="165"/>
                    </a:lnTo>
                    <a:lnTo>
                      <a:pt x="766" y="167"/>
                    </a:lnTo>
                    <a:lnTo>
                      <a:pt x="767" y="168"/>
                    </a:lnTo>
                    <a:lnTo>
                      <a:pt x="767" y="168"/>
                    </a:lnTo>
                    <a:lnTo>
                      <a:pt x="769" y="170"/>
                    </a:lnTo>
                    <a:lnTo>
                      <a:pt x="770" y="171"/>
                    </a:lnTo>
                    <a:lnTo>
                      <a:pt x="772" y="173"/>
                    </a:lnTo>
                    <a:lnTo>
                      <a:pt x="773" y="174"/>
                    </a:lnTo>
                    <a:lnTo>
                      <a:pt x="773" y="174"/>
                    </a:lnTo>
                    <a:lnTo>
                      <a:pt x="775" y="176"/>
                    </a:lnTo>
                    <a:lnTo>
                      <a:pt x="776" y="177"/>
                    </a:lnTo>
                    <a:lnTo>
                      <a:pt x="776" y="179"/>
                    </a:lnTo>
                    <a:lnTo>
                      <a:pt x="778" y="179"/>
                    </a:lnTo>
                    <a:lnTo>
                      <a:pt x="780" y="180"/>
                    </a:lnTo>
                    <a:lnTo>
                      <a:pt x="780" y="180"/>
                    </a:lnTo>
                    <a:lnTo>
                      <a:pt x="781" y="182"/>
                    </a:lnTo>
                    <a:lnTo>
                      <a:pt x="781" y="183"/>
                    </a:lnTo>
                    <a:lnTo>
                      <a:pt x="783" y="183"/>
                    </a:lnTo>
                    <a:lnTo>
                      <a:pt x="783" y="185"/>
                    </a:lnTo>
                    <a:lnTo>
                      <a:pt x="784" y="186"/>
                    </a:lnTo>
                    <a:lnTo>
                      <a:pt x="784" y="186"/>
                    </a:lnTo>
                    <a:lnTo>
                      <a:pt x="786" y="188"/>
                    </a:lnTo>
                    <a:lnTo>
                      <a:pt x="787" y="188"/>
                    </a:lnTo>
                    <a:lnTo>
                      <a:pt x="787" y="189"/>
                    </a:lnTo>
                    <a:lnTo>
                      <a:pt x="789" y="191"/>
                    </a:lnTo>
                    <a:lnTo>
                      <a:pt x="789" y="193"/>
                    </a:lnTo>
                    <a:lnTo>
                      <a:pt x="790" y="193"/>
                    </a:lnTo>
                    <a:lnTo>
                      <a:pt x="792" y="194"/>
                    </a:lnTo>
                    <a:lnTo>
                      <a:pt x="792" y="196"/>
                    </a:lnTo>
                    <a:lnTo>
                      <a:pt x="793" y="197"/>
                    </a:lnTo>
                    <a:lnTo>
                      <a:pt x="795" y="199"/>
                    </a:lnTo>
                    <a:lnTo>
                      <a:pt x="796" y="200"/>
                    </a:lnTo>
                    <a:lnTo>
                      <a:pt x="798" y="202"/>
                    </a:lnTo>
                    <a:lnTo>
                      <a:pt x="799" y="203"/>
                    </a:lnTo>
                    <a:lnTo>
                      <a:pt x="801" y="206"/>
                    </a:lnTo>
                    <a:lnTo>
                      <a:pt x="802" y="208"/>
                    </a:lnTo>
                    <a:lnTo>
                      <a:pt x="802" y="208"/>
                    </a:lnTo>
                    <a:lnTo>
                      <a:pt x="804" y="209"/>
                    </a:lnTo>
                    <a:lnTo>
                      <a:pt x="806" y="212"/>
                    </a:lnTo>
                    <a:lnTo>
                      <a:pt x="807" y="214"/>
                    </a:lnTo>
                    <a:lnTo>
                      <a:pt x="809" y="215"/>
                    </a:lnTo>
                    <a:lnTo>
                      <a:pt x="810" y="217"/>
                    </a:lnTo>
                    <a:lnTo>
                      <a:pt x="812" y="219"/>
                    </a:lnTo>
                    <a:lnTo>
                      <a:pt x="813" y="220"/>
                    </a:lnTo>
                    <a:lnTo>
                      <a:pt x="815" y="222"/>
                    </a:lnTo>
                    <a:lnTo>
                      <a:pt x="815" y="223"/>
                    </a:lnTo>
                    <a:lnTo>
                      <a:pt x="816" y="225"/>
                    </a:lnTo>
                    <a:lnTo>
                      <a:pt x="818" y="226"/>
                    </a:lnTo>
                    <a:lnTo>
                      <a:pt x="818" y="226"/>
                    </a:lnTo>
                    <a:lnTo>
                      <a:pt x="819" y="228"/>
                    </a:lnTo>
                    <a:lnTo>
                      <a:pt x="819" y="229"/>
                    </a:lnTo>
                    <a:lnTo>
                      <a:pt x="821" y="231"/>
                    </a:lnTo>
                    <a:lnTo>
                      <a:pt x="822" y="231"/>
                    </a:lnTo>
                    <a:lnTo>
                      <a:pt x="822" y="232"/>
                    </a:lnTo>
                    <a:lnTo>
                      <a:pt x="824" y="234"/>
                    </a:lnTo>
                    <a:lnTo>
                      <a:pt x="824" y="235"/>
                    </a:lnTo>
                    <a:lnTo>
                      <a:pt x="825" y="237"/>
                    </a:lnTo>
                    <a:lnTo>
                      <a:pt x="827" y="237"/>
                    </a:lnTo>
                    <a:lnTo>
                      <a:pt x="827" y="238"/>
                    </a:lnTo>
                    <a:lnTo>
                      <a:pt x="828" y="240"/>
                    </a:lnTo>
                    <a:lnTo>
                      <a:pt x="830" y="241"/>
                    </a:lnTo>
                    <a:lnTo>
                      <a:pt x="830" y="243"/>
                    </a:lnTo>
                    <a:lnTo>
                      <a:pt x="832" y="245"/>
                    </a:lnTo>
                    <a:lnTo>
                      <a:pt x="833" y="248"/>
                    </a:lnTo>
                    <a:lnTo>
                      <a:pt x="835" y="249"/>
                    </a:lnTo>
                    <a:lnTo>
                      <a:pt x="836" y="251"/>
                    </a:lnTo>
                    <a:lnTo>
                      <a:pt x="838" y="254"/>
                    </a:lnTo>
                    <a:lnTo>
                      <a:pt x="839" y="255"/>
                    </a:lnTo>
                    <a:lnTo>
                      <a:pt x="841" y="258"/>
                    </a:lnTo>
                    <a:lnTo>
                      <a:pt x="841" y="258"/>
                    </a:lnTo>
                    <a:lnTo>
                      <a:pt x="842" y="260"/>
                    </a:lnTo>
                    <a:lnTo>
                      <a:pt x="844" y="263"/>
                    </a:lnTo>
                    <a:lnTo>
                      <a:pt x="845" y="264"/>
                    </a:lnTo>
                    <a:lnTo>
                      <a:pt x="847" y="266"/>
                    </a:lnTo>
                    <a:lnTo>
                      <a:pt x="848" y="269"/>
                    </a:lnTo>
                    <a:lnTo>
                      <a:pt x="850" y="271"/>
                    </a:lnTo>
                    <a:lnTo>
                      <a:pt x="851" y="272"/>
                    </a:lnTo>
                    <a:lnTo>
                      <a:pt x="853" y="274"/>
                    </a:lnTo>
                    <a:lnTo>
                      <a:pt x="853" y="275"/>
                    </a:lnTo>
                    <a:lnTo>
                      <a:pt x="854" y="277"/>
                    </a:lnTo>
                    <a:lnTo>
                      <a:pt x="856" y="278"/>
                    </a:lnTo>
                    <a:lnTo>
                      <a:pt x="856" y="280"/>
                    </a:lnTo>
                    <a:lnTo>
                      <a:pt x="858" y="281"/>
                    </a:lnTo>
                    <a:lnTo>
                      <a:pt x="859" y="281"/>
                    </a:lnTo>
                    <a:lnTo>
                      <a:pt x="859" y="283"/>
                    </a:lnTo>
                    <a:lnTo>
                      <a:pt x="861" y="284"/>
                    </a:lnTo>
                    <a:lnTo>
                      <a:pt x="861" y="286"/>
                    </a:lnTo>
                    <a:lnTo>
                      <a:pt x="862" y="287"/>
                    </a:lnTo>
                    <a:lnTo>
                      <a:pt x="864" y="289"/>
                    </a:lnTo>
                    <a:lnTo>
                      <a:pt x="864" y="290"/>
                    </a:lnTo>
                    <a:lnTo>
                      <a:pt x="865" y="290"/>
                    </a:lnTo>
                    <a:lnTo>
                      <a:pt x="867" y="292"/>
                    </a:lnTo>
                    <a:lnTo>
                      <a:pt x="867" y="293"/>
                    </a:lnTo>
                    <a:lnTo>
                      <a:pt x="868" y="295"/>
                    </a:lnTo>
                    <a:lnTo>
                      <a:pt x="870" y="298"/>
                    </a:lnTo>
                    <a:lnTo>
                      <a:pt x="871" y="300"/>
                    </a:lnTo>
                    <a:lnTo>
                      <a:pt x="873" y="301"/>
                    </a:lnTo>
                    <a:lnTo>
                      <a:pt x="874" y="303"/>
                    </a:lnTo>
                    <a:lnTo>
                      <a:pt x="876" y="306"/>
                    </a:lnTo>
                    <a:lnTo>
                      <a:pt x="877" y="307"/>
                    </a:lnTo>
                    <a:lnTo>
                      <a:pt x="879" y="310"/>
                    </a:lnTo>
                    <a:lnTo>
                      <a:pt x="880" y="312"/>
                    </a:lnTo>
                    <a:lnTo>
                      <a:pt x="880" y="312"/>
                    </a:lnTo>
                    <a:lnTo>
                      <a:pt x="882" y="315"/>
                    </a:lnTo>
                    <a:lnTo>
                      <a:pt x="884" y="316"/>
                    </a:lnTo>
                    <a:lnTo>
                      <a:pt x="885" y="319"/>
                    </a:lnTo>
                    <a:lnTo>
                      <a:pt x="887" y="321"/>
                    </a:lnTo>
                    <a:lnTo>
                      <a:pt x="888" y="324"/>
                    </a:lnTo>
                    <a:lnTo>
                      <a:pt x="890" y="326"/>
                    </a:lnTo>
                    <a:lnTo>
                      <a:pt x="891" y="327"/>
                    </a:lnTo>
                    <a:lnTo>
                      <a:pt x="893" y="329"/>
                    </a:lnTo>
                    <a:lnTo>
                      <a:pt x="893" y="330"/>
                    </a:lnTo>
                    <a:lnTo>
                      <a:pt x="894" y="332"/>
                    </a:lnTo>
                    <a:lnTo>
                      <a:pt x="896" y="333"/>
                    </a:lnTo>
                    <a:lnTo>
                      <a:pt x="896" y="335"/>
                    </a:lnTo>
                    <a:lnTo>
                      <a:pt x="897" y="336"/>
                    </a:lnTo>
                    <a:lnTo>
                      <a:pt x="897" y="336"/>
                    </a:lnTo>
                    <a:lnTo>
                      <a:pt x="899" y="338"/>
                    </a:lnTo>
                    <a:lnTo>
                      <a:pt x="899" y="339"/>
                    </a:lnTo>
                    <a:lnTo>
                      <a:pt x="900" y="341"/>
                    </a:lnTo>
                    <a:lnTo>
                      <a:pt x="900" y="342"/>
                    </a:lnTo>
                    <a:lnTo>
                      <a:pt x="902" y="342"/>
                    </a:lnTo>
                    <a:lnTo>
                      <a:pt x="902" y="344"/>
                    </a:lnTo>
                    <a:lnTo>
                      <a:pt x="903" y="345"/>
                    </a:lnTo>
                    <a:lnTo>
                      <a:pt x="903" y="347"/>
                    </a:lnTo>
                    <a:lnTo>
                      <a:pt x="905" y="348"/>
                    </a:lnTo>
                    <a:lnTo>
                      <a:pt x="905" y="348"/>
                    </a:lnTo>
                    <a:lnTo>
                      <a:pt x="906" y="350"/>
                    </a:lnTo>
                    <a:lnTo>
                      <a:pt x="908" y="352"/>
                    </a:lnTo>
                    <a:lnTo>
                      <a:pt x="908" y="353"/>
                    </a:lnTo>
                    <a:lnTo>
                      <a:pt x="909" y="355"/>
                    </a:lnTo>
                    <a:lnTo>
                      <a:pt x="909" y="358"/>
                    </a:lnTo>
                    <a:lnTo>
                      <a:pt x="911" y="359"/>
                    </a:lnTo>
                    <a:lnTo>
                      <a:pt x="913" y="361"/>
                    </a:lnTo>
                    <a:lnTo>
                      <a:pt x="914" y="362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Freeform 71"/>
              <p:cNvSpPr>
                <a:spLocks/>
              </p:cNvSpPr>
              <p:nvPr/>
            </p:nvSpPr>
            <p:spPr bwMode="auto">
              <a:xfrm>
                <a:off x="3408" y="2770"/>
                <a:ext cx="457" cy="181"/>
              </a:xfrm>
              <a:custGeom>
                <a:avLst/>
                <a:gdLst>
                  <a:gd name="T0" fmla="*/ 179 w 914"/>
                  <a:gd name="T1" fmla="*/ 363 h 363"/>
                  <a:gd name="T2" fmla="*/ 306 w 914"/>
                  <a:gd name="T3" fmla="*/ 363 h 363"/>
                  <a:gd name="T4" fmla="*/ 371 w 914"/>
                  <a:gd name="T5" fmla="*/ 363 h 363"/>
                  <a:gd name="T6" fmla="*/ 399 w 914"/>
                  <a:gd name="T7" fmla="*/ 361 h 363"/>
                  <a:gd name="T8" fmla="*/ 414 w 914"/>
                  <a:gd name="T9" fmla="*/ 361 h 363"/>
                  <a:gd name="T10" fmla="*/ 428 w 914"/>
                  <a:gd name="T11" fmla="*/ 360 h 363"/>
                  <a:gd name="T12" fmla="*/ 439 w 914"/>
                  <a:gd name="T13" fmla="*/ 360 h 363"/>
                  <a:gd name="T14" fmla="*/ 448 w 914"/>
                  <a:gd name="T15" fmla="*/ 358 h 363"/>
                  <a:gd name="T16" fmla="*/ 460 w 914"/>
                  <a:gd name="T17" fmla="*/ 357 h 363"/>
                  <a:gd name="T18" fmla="*/ 474 w 914"/>
                  <a:gd name="T19" fmla="*/ 353 h 363"/>
                  <a:gd name="T20" fmla="*/ 486 w 914"/>
                  <a:gd name="T21" fmla="*/ 352 h 363"/>
                  <a:gd name="T22" fmla="*/ 495 w 914"/>
                  <a:gd name="T23" fmla="*/ 350 h 363"/>
                  <a:gd name="T24" fmla="*/ 506 w 914"/>
                  <a:gd name="T25" fmla="*/ 347 h 363"/>
                  <a:gd name="T26" fmla="*/ 521 w 914"/>
                  <a:gd name="T27" fmla="*/ 343 h 363"/>
                  <a:gd name="T28" fmla="*/ 536 w 914"/>
                  <a:gd name="T29" fmla="*/ 338 h 363"/>
                  <a:gd name="T30" fmla="*/ 549 w 914"/>
                  <a:gd name="T31" fmla="*/ 334 h 363"/>
                  <a:gd name="T32" fmla="*/ 558 w 914"/>
                  <a:gd name="T33" fmla="*/ 331 h 363"/>
                  <a:gd name="T34" fmla="*/ 569 w 914"/>
                  <a:gd name="T35" fmla="*/ 324 h 363"/>
                  <a:gd name="T36" fmla="*/ 581 w 914"/>
                  <a:gd name="T37" fmla="*/ 318 h 363"/>
                  <a:gd name="T38" fmla="*/ 595 w 914"/>
                  <a:gd name="T39" fmla="*/ 312 h 363"/>
                  <a:gd name="T40" fmla="*/ 605 w 914"/>
                  <a:gd name="T41" fmla="*/ 306 h 363"/>
                  <a:gd name="T42" fmla="*/ 613 w 914"/>
                  <a:gd name="T43" fmla="*/ 303 h 363"/>
                  <a:gd name="T44" fmla="*/ 624 w 914"/>
                  <a:gd name="T45" fmla="*/ 297 h 363"/>
                  <a:gd name="T46" fmla="*/ 636 w 914"/>
                  <a:gd name="T47" fmla="*/ 289 h 363"/>
                  <a:gd name="T48" fmla="*/ 647 w 914"/>
                  <a:gd name="T49" fmla="*/ 283 h 363"/>
                  <a:gd name="T50" fmla="*/ 656 w 914"/>
                  <a:gd name="T51" fmla="*/ 279 h 363"/>
                  <a:gd name="T52" fmla="*/ 662 w 914"/>
                  <a:gd name="T53" fmla="*/ 274 h 363"/>
                  <a:gd name="T54" fmla="*/ 671 w 914"/>
                  <a:gd name="T55" fmla="*/ 268 h 363"/>
                  <a:gd name="T56" fmla="*/ 682 w 914"/>
                  <a:gd name="T57" fmla="*/ 262 h 363"/>
                  <a:gd name="T58" fmla="*/ 689 w 914"/>
                  <a:gd name="T59" fmla="*/ 257 h 363"/>
                  <a:gd name="T60" fmla="*/ 694 w 914"/>
                  <a:gd name="T61" fmla="*/ 253 h 363"/>
                  <a:gd name="T62" fmla="*/ 700 w 914"/>
                  <a:gd name="T63" fmla="*/ 250 h 363"/>
                  <a:gd name="T64" fmla="*/ 708 w 914"/>
                  <a:gd name="T65" fmla="*/ 243 h 363"/>
                  <a:gd name="T66" fmla="*/ 714 w 914"/>
                  <a:gd name="T67" fmla="*/ 239 h 363"/>
                  <a:gd name="T68" fmla="*/ 718 w 914"/>
                  <a:gd name="T69" fmla="*/ 234 h 363"/>
                  <a:gd name="T70" fmla="*/ 723 w 914"/>
                  <a:gd name="T71" fmla="*/ 231 h 363"/>
                  <a:gd name="T72" fmla="*/ 729 w 914"/>
                  <a:gd name="T73" fmla="*/ 227 h 363"/>
                  <a:gd name="T74" fmla="*/ 737 w 914"/>
                  <a:gd name="T75" fmla="*/ 222 h 363"/>
                  <a:gd name="T76" fmla="*/ 744 w 914"/>
                  <a:gd name="T77" fmla="*/ 216 h 363"/>
                  <a:gd name="T78" fmla="*/ 751 w 914"/>
                  <a:gd name="T79" fmla="*/ 211 h 363"/>
                  <a:gd name="T80" fmla="*/ 757 w 914"/>
                  <a:gd name="T81" fmla="*/ 207 h 363"/>
                  <a:gd name="T82" fmla="*/ 763 w 914"/>
                  <a:gd name="T83" fmla="*/ 199 h 363"/>
                  <a:gd name="T84" fmla="*/ 772 w 914"/>
                  <a:gd name="T85" fmla="*/ 190 h 363"/>
                  <a:gd name="T86" fmla="*/ 780 w 914"/>
                  <a:gd name="T87" fmla="*/ 182 h 363"/>
                  <a:gd name="T88" fmla="*/ 784 w 914"/>
                  <a:gd name="T89" fmla="*/ 176 h 363"/>
                  <a:gd name="T90" fmla="*/ 792 w 914"/>
                  <a:gd name="T91" fmla="*/ 168 h 363"/>
                  <a:gd name="T92" fmla="*/ 801 w 914"/>
                  <a:gd name="T93" fmla="*/ 156 h 363"/>
                  <a:gd name="T94" fmla="*/ 810 w 914"/>
                  <a:gd name="T95" fmla="*/ 146 h 363"/>
                  <a:gd name="T96" fmla="*/ 818 w 914"/>
                  <a:gd name="T97" fmla="*/ 136 h 363"/>
                  <a:gd name="T98" fmla="*/ 824 w 914"/>
                  <a:gd name="T99" fmla="*/ 127 h 363"/>
                  <a:gd name="T100" fmla="*/ 832 w 914"/>
                  <a:gd name="T101" fmla="*/ 118 h 363"/>
                  <a:gd name="T102" fmla="*/ 841 w 914"/>
                  <a:gd name="T103" fmla="*/ 104 h 363"/>
                  <a:gd name="T104" fmla="*/ 851 w 914"/>
                  <a:gd name="T105" fmla="*/ 91 h 363"/>
                  <a:gd name="T106" fmla="*/ 859 w 914"/>
                  <a:gd name="T107" fmla="*/ 80 h 363"/>
                  <a:gd name="T108" fmla="*/ 865 w 914"/>
                  <a:gd name="T109" fmla="*/ 71 h 363"/>
                  <a:gd name="T110" fmla="*/ 874 w 914"/>
                  <a:gd name="T111" fmla="*/ 60 h 363"/>
                  <a:gd name="T112" fmla="*/ 884 w 914"/>
                  <a:gd name="T113" fmla="*/ 46 h 363"/>
                  <a:gd name="T114" fmla="*/ 893 w 914"/>
                  <a:gd name="T115" fmla="*/ 32 h 363"/>
                  <a:gd name="T116" fmla="*/ 899 w 914"/>
                  <a:gd name="T117" fmla="*/ 23 h 363"/>
                  <a:gd name="T118" fmla="*/ 905 w 914"/>
                  <a:gd name="T119" fmla="*/ 14 h 363"/>
                  <a:gd name="T120" fmla="*/ 911 w 914"/>
                  <a:gd name="T121" fmla="*/ 3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14" h="363">
                    <a:moveTo>
                      <a:pt x="0" y="363"/>
                    </a:moveTo>
                    <a:lnTo>
                      <a:pt x="35" y="363"/>
                    </a:lnTo>
                    <a:lnTo>
                      <a:pt x="67" y="363"/>
                    </a:lnTo>
                    <a:lnTo>
                      <a:pt x="98" y="363"/>
                    </a:lnTo>
                    <a:lnTo>
                      <a:pt x="127" y="363"/>
                    </a:lnTo>
                    <a:lnTo>
                      <a:pt x="154" y="363"/>
                    </a:lnTo>
                    <a:lnTo>
                      <a:pt x="179" y="363"/>
                    </a:lnTo>
                    <a:lnTo>
                      <a:pt x="202" y="363"/>
                    </a:lnTo>
                    <a:lnTo>
                      <a:pt x="223" y="363"/>
                    </a:lnTo>
                    <a:lnTo>
                      <a:pt x="243" y="363"/>
                    </a:lnTo>
                    <a:lnTo>
                      <a:pt x="260" y="363"/>
                    </a:lnTo>
                    <a:lnTo>
                      <a:pt x="277" y="363"/>
                    </a:lnTo>
                    <a:lnTo>
                      <a:pt x="292" y="363"/>
                    </a:lnTo>
                    <a:lnTo>
                      <a:pt x="306" y="363"/>
                    </a:lnTo>
                    <a:lnTo>
                      <a:pt x="318" y="363"/>
                    </a:lnTo>
                    <a:lnTo>
                      <a:pt x="330" y="363"/>
                    </a:lnTo>
                    <a:lnTo>
                      <a:pt x="339" y="363"/>
                    </a:lnTo>
                    <a:lnTo>
                      <a:pt x="348" y="363"/>
                    </a:lnTo>
                    <a:lnTo>
                      <a:pt x="358" y="363"/>
                    </a:lnTo>
                    <a:lnTo>
                      <a:pt x="364" y="363"/>
                    </a:lnTo>
                    <a:lnTo>
                      <a:pt x="371" y="363"/>
                    </a:lnTo>
                    <a:lnTo>
                      <a:pt x="376" y="363"/>
                    </a:lnTo>
                    <a:lnTo>
                      <a:pt x="382" y="363"/>
                    </a:lnTo>
                    <a:lnTo>
                      <a:pt x="387" y="363"/>
                    </a:lnTo>
                    <a:lnTo>
                      <a:pt x="390" y="363"/>
                    </a:lnTo>
                    <a:lnTo>
                      <a:pt x="393" y="361"/>
                    </a:lnTo>
                    <a:lnTo>
                      <a:pt x="396" y="361"/>
                    </a:lnTo>
                    <a:lnTo>
                      <a:pt x="399" y="361"/>
                    </a:lnTo>
                    <a:lnTo>
                      <a:pt x="402" y="361"/>
                    </a:lnTo>
                    <a:lnTo>
                      <a:pt x="405" y="361"/>
                    </a:lnTo>
                    <a:lnTo>
                      <a:pt x="407" y="361"/>
                    </a:lnTo>
                    <a:lnTo>
                      <a:pt x="410" y="361"/>
                    </a:lnTo>
                    <a:lnTo>
                      <a:pt x="411" y="361"/>
                    </a:lnTo>
                    <a:lnTo>
                      <a:pt x="411" y="361"/>
                    </a:lnTo>
                    <a:lnTo>
                      <a:pt x="414" y="361"/>
                    </a:lnTo>
                    <a:lnTo>
                      <a:pt x="417" y="361"/>
                    </a:lnTo>
                    <a:lnTo>
                      <a:pt x="419" y="361"/>
                    </a:lnTo>
                    <a:lnTo>
                      <a:pt x="422" y="360"/>
                    </a:lnTo>
                    <a:lnTo>
                      <a:pt x="423" y="360"/>
                    </a:lnTo>
                    <a:lnTo>
                      <a:pt x="425" y="360"/>
                    </a:lnTo>
                    <a:lnTo>
                      <a:pt x="426" y="360"/>
                    </a:lnTo>
                    <a:lnTo>
                      <a:pt x="428" y="360"/>
                    </a:lnTo>
                    <a:lnTo>
                      <a:pt x="429" y="360"/>
                    </a:lnTo>
                    <a:lnTo>
                      <a:pt x="431" y="360"/>
                    </a:lnTo>
                    <a:lnTo>
                      <a:pt x="433" y="360"/>
                    </a:lnTo>
                    <a:lnTo>
                      <a:pt x="434" y="360"/>
                    </a:lnTo>
                    <a:lnTo>
                      <a:pt x="436" y="360"/>
                    </a:lnTo>
                    <a:lnTo>
                      <a:pt x="437" y="360"/>
                    </a:lnTo>
                    <a:lnTo>
                      <a:pt x="439" y="360"/>
                    </a:lnTo>
                    <a:lnTo>
                      <a:pt x="440" y="358"/>
                    </a:lnTo>
                    <a:lnTo>
                      <a:pt x="440" y="358"/>
                    </a:lnTo>
                    <a:lnTo>
                      <a:pt x="442" y="358"/>
                    </a:lnTo>
                    <a:lnTo>
                      <a:pt x="443" y="358"/>
                    </a:lnTo>
                    <a:lnTo>
                      <a:pt x="445" y="358"/>
                    </a:lnTo>
                    <a:lnTo>
                      <a:pt x="446" y="358"/>
                    </a:lnTo>
                    <a:lnTo>
                      <a:pt x="448" y="358"/>
                    </a:lnTo>
                    <a:lnTo>
                      <a:pt x="449" y="358"/>
                    </a:lnTo>
                    <a:lnTo>
                      <a:pt x="451" y="358"/>
                    </a:lnTo>
                    <a:lnTo>
                      <a:pt x="452" y="357"/>
                    </a:lnTo>
                    <a:lnTo>
                      <a:pt x="454" y="357"/>
                    </a:lnTo>
                    <a:lnTo>
                      <a:pt x="455" y="357"/>
                    </a:lnTo>
                    <a:lnTo>
                      <a:pt x="457" y="357"/>
                    </a:lnTo>
                    <a:lnTo>
                      <a:pt x="460" y="357"/>
                    </a:lnTo>
                    <a:lnTo>
                      <a:pt x="462" y="355"/>
                    </a:lnTo>
                    <a:lnTo>
                      <a:pt x="465" y="355"/>
                    </a:lnTo>
                    <a:lnTo>
                      <a:pt x="466" y="355"/>
                    </a:lnTo>
                    <a:lnTo>
                      <a:pt x="466" y="355"/>
                    </a:lnTo>
                    <a:lnTo>
                      <a:pt x="469" y="355"/>
                    </a:lnTo>
                    <a:lnTo>
                      <a:pt x="471" y="355"/>
                    </a:lnTo>
                    <a:lnTo>
                      <a:pt x="474" y="353"/>
                    </a:lnTo>
                    <a:lnTo>
                      <a:pt x="475" y="353"/>
                    </a:lnTo>
                    <a:lnTo>
                      <a:pt x="477" y="353"/>
                    </a:lnTo>
                    <a:lnTo>
                      <a:pt x="478" y="353"/>
                    </a:lnTo>
                    <a:lnTo>
                      <a:pt x="481" y="353"/>
                    </a:lnTo>
                    <a:lnTo>
                      <a:pt x="483" y="353"/>
                    </a:lnTo>
                    <a:lnTo>
                      <a:pt x="485" y="352"/>
                    </a:lnTo>
                    <a:lnTo>
                      <a:pt x="486" y="352"/>
                    </a:lnTo>
                    <a:lnTo>
                      <a:pt x="488" y="352"/>
                    </a:lnTo>
                    <a:lnTo>
                      <a:pt x="488" y="352"/>
                    </a:lnTo>
                    <a:lnTo>
                      <a:pt x="489" y="352"/>
                    </a:lnTo>
                    <a:lnTo>
                      <a:pt x="491" y="352"/>
                    </a:lnTo>
                    <a:lnTo>
                      <a:pt x="492" y="350"/>
                    </a:lnTo>
                    <a:lnTo>
                      <a:pt x="494" y="350"/>
                    </a:lnTo>
                    <a:lnTo>
                      <a:pt x="495" y="350"/>
                    </a:lnTo>
                    <a:lnTo>
                      <a:pt x="497" y="350"/>
                    </a:lnTo>
                    <a:lnTo>
                      <a:pt x="498" y="349"/>
                    </a:lnTo>
                    <a:lnTo>
                      <a:pt x="500" y="349"/>
                    </a:lnTo>
                    <a:lnTo>
                      <a:pt x="501" y="349"/>
                    </a:lnTo>
                    <a:lnTo>
                      <a:pt x="503" y="349"/>
                    </a:lnTo>
                    <a:lnTo>
                      <a:pt x="504" y="347"/>
                    </a:lnTo>
                    <a:lnTo>
                      <a:pt x="506" y="347"/>
                    </a:lnTo>
                    <a:lnTo>
                      <a:pt x="507" y="347"/>
                    </a:lnTo>
                    <a:lnTo>
                      <a:pt x="509" y="346"/>
                    </a:lnTo>
                    <a:lnTo>
                      <a:pt x="512" y="346"/>
                    </a:lnTo>
                    <a:lnTo>
                      <a:pt x="514" y="344"/>
                    </a:lnTo>
                    <a:lnTo>
                      <a:pt x="517" y="344"/>
                    </a:lnTo>
                    <a:lnTo>
                      <a:pt x="518" y="344"/>
                    </a:lnTo>
                    <a:lnTo>
                      <a:pt x="521" y="343"/>
                    </a:lnTo>
                    <a:lnTo>
                      <a:pt x="524" y="341"/>
                    </a:lnTo>
                    <a:lnTo>
                      <a:pt x="524" y="341"/>
                    </a:lnTo>
                    <a:lnTo>
                      <a:pt x="527" y="341"/>
                    </a:lnTo>
                    <a:lnTo>
                      <a:pt x="529" y="340"/>
                    </a:lnTo>
                    <a:lnTo>
                      <a:pt x="532" y="340"/>
                    </a:lnTo>
                    <a:lnTo>
                      <a:pt x="533" y="338"/>
                    </a:lnTo>
                    <a:lnTo>
                      <a:pt x="536" y="338"/>
                    </a:lnTo>
                    <a:lnTo>
                      <a:pt x="538" y="337"/>
                    </a:lnTo>
                    <a:lnTo>
                      <a:pt x="540" y="337"/>
                    </a:lnTo>
                    <a:lnTo>
                      <a:pt x="543" y="337"/>
                    </a:lnTo>
                    <a:lnTo>
                      <a:pt x="544" y="335"/>
                    </a:lnTo>
                    <a:lnTo>
                      <a:pt x="546" y="335"/>
                    </a:lnTo>
                    <a:lnTo>
                      <a:pt x="547" y="334"/>
                    </a:lnTo>
                    <a:lnTo>
                      <a:pt x="549" y="334"/>
                    </a:lnTo>
                    <a:lnTo>
                      <a:pt x="550" y="334"/>
                    </a:lnTo>
                    <a:lnTo>
                      <a:pt x="552" y="332"/>
                    </a:lnTo>
                    <a:lnTo>
                      <a:pt x="552" y="332"/>
                    </a:lnTo>
                    <a:lnTo>
                      <a:pt x="553" y="332"/>
                    </a:lnTo>
                    <a:lnTo>
                      <a:pt x="555" y="331"/>
                    </a:lnTo>
                    <a:lnTo>
                      <a:pt x="556" y="331"/>
                    </a:lnTo>
                    <a:lnTo>
                      <a:pt x="558" y="331"/>
                    </a:lnTo>
                    <a:lnTo>
                      <a:pt x="559" y="329"/>
                    </a:lnTo>
                    <a:lnTo>
                      <a:pt x="561" y="329"/>
                    </a:lnTo>
                    <a:lnTo>
                      <a:pt x="562" y="327"/>
                    </a:lnTo>
                    <a:lnTo>
                      <a:pt x="564" y="327"/>
                    </a:lnTo>
                    <a:lnTo>
                      <a:pt x="566" y="327"/>
                    </a:lnTo>
                    <a:lnTo>
                      <a:pt x="567" y="326"/>
                    </a:lnTo>
                    <a:lnTo>
                      <a:pt x="569" y="324"/>
                    </a:lnTo>
                    <a:lnTo>
                      <a:pt x="570" y="324"/>
                    </a:lnTo>
                    <a:lnTo>
                      <a:pt x="572" y="323"/>
                    </a:lnTo>
                    <a:lnTo>
                      <a:pt x="575" y="323"/>
                    </a:lnTo>
                    <a:lnTo>
                      <a:pt x="576" y="321"/>
                    </a:lnTo>
                    <a:lnTo>
                      <a:pt x="579" y="320"/>
                    </a:lnTo>
                    <a:lnTo>
                      <a:pt x="581" y="318"/>
                    </a:lnTo>
                    <a:lnTo>
                      <a:pt x="581" y="318"/>
                    </a:lnTo>
                    <a:lnTo>
                      <a:pt x="584" y="318"/>
                    </a:lnTo>
                    <a:lnTo>
                      <a:pt x="585" y="317"/>
                    </a:lnTo>
                    <a:lnTo>
                      <a:pt x="588" y="315"/>
                    </a:lnTo>
                    <a:lnTo>
                      <a:pt x="590" y="315"/>
                    </a:lnTo>
                    <a:lnTo>
                      <a:pt x="592" y="314"/>
                    </a:lnTo>
                    <a:lnTo>
                      <a:pt x="593" y="312"/>
                    </a:lnTo>
                    <a:lnTo>
                      <a:pt x="595" y="312"/>
                    </a:lnTo>
                    <a:lnTo>
                      <a:pt x="598" y="311"/>
                    </a:lnTo>
                    <a:lnTo>
                      <a:pt x="598" y="311"/>
                    </a:lnTo>
                    <a:lnTo>
                      <a:pt x="599" y="309"/>
                    </a:lnTo>
                    <a:lnTo>
                      <a:pt x="601" y="309"/>
                    </a:lnTo>
                    <a:lnTo>
                      <a:pt x="602" y="308"/>
                    </a:lnTo>
                    <a:lnTo>
                      <a:pt x="604" y="308"/>
                    </a:lnTo>
                    <a:lnTo>
                      <a:pt x="605" y="306"/>
                    </a:lnTo>
                    <a:lnTo>
                      <a:pt x="607" y="306"/>
                    </a:lnTo>
                    <a:lnTo>
                      <a:pt x="607" y="306"/>
                    </a:lnTo>
                    <a:lnTo>
                      <a:pt x="608" y="305"/>
                    </a:lnTo>
                    <a:lnTo>
                      <a:pt x="610" y="305"/>
                    </a:lnTo>
                    <a:lnTo>
                      <a:pt x="611" y="303"/>
                    </a:lnTo>
                    <a:lnTo>
                      <a:pt x="613" y="303"/>
                    </a:lnTo>
                    <a:lnTo>
                      <a:pt x="613" y="303"/>
                    </a:lnTo>
                    <a:lnTo>
                      <a:pt x="614" y="302"/>
                    </a:lnTo>
                    <a:lnTo>
                      <a:pt x="616" y="302"/>
                    </a:lnTo>
                    <a:lnTo>
                      <a:pt x="618" y="300"/>
                    </a:lnTo>
                    <a:lnTo>
                      <a:pt x="619" y="300"/>
                    </a:lnTo>
                    <a:lnTo>
                      <a:pt x="621" y="298"/>
                    </a:lnTo>
                    <a:lnTo>
                      <a:pt x="622" y="297"/>
                    </a:lnTo>
                    <a:lnTo>
                      <a:pt x="624" y="297"/>
                    </a:lnTo>
                    <a:lnTo>
                      <a:pt x="625" y="295"/>
                    </a:lnTo>
                    <a:lnTo>
                      <a:pt x="628" y="294"/>
                    </a:lnTo>
                    <a:lnTo>
                      <a:pt x="630" y="294"/>
                    </a:lnTo>
                    <a:lnTo>
                      <a:pt x="631" y="292"/>
                    </a:lnTo>
                    <a:lnTo>
                      <a:pt x="631" y="292"/>
                    </a:lnTo>
                    <a:lnTo>
                      <a:pt x="634" y="291"/>
                    </a:lnTo>
                    <a:lnTo>
                      <a:pt x="636" y="289"/>
                    </a:lnTo>
                    <a:lnTo>
                      <a:pt x="637" y="289"/>
                    </a:lnTo>
                    <a:lnTo>
                      <a:pt x="639" y="288"/>
                    </a:lnTo>
                    <a:lnTo>
                      <a:pt x="642" y="286"/>
                    </a:lnTo>
                    <a:lnTo>
                      <a:pt x="643" y="286"/>
                    </a:lnTo>
                    <a:lnTo>
                      <a:pt x="645" y="285"/>
                    </a:lnTo>
                    <a:lnTo>
                      <a:pt x="647" y="285"/>
                    </a:lnTo>
                    <a:lnTo>
                      <a:pt x="647" y="283"/>
                    </a:lnTo>
                    <a:lnTo>
                      <a:pt x="648" y="283"/>
                    </a:lnTo>
                    <a:lnTo>
                      <a:pt x="650" y="282"/>
                    </a:lnTo>
                    <a:lnTo>
                      <a:pt x="651" y="282"/>
                    </a:lnTo>
                    <a:lnTo>
                      <a:pt x="651" y="280"/>
                    </a:lnTo>
                    <a:lnTo>
                      <a:pt x="653" y="280"/>
                    </a:lnTo>
                    <a:lnTo>
                      <a:pt x="654" y="280"/>
                    </a:lnTo>
                    <a:lnTo>
                      <a:pt x="656" y="279"/>
                    </a:lnTo>
                    <a:lnTo>
                      <a:pt x="656" y="279"/>
                    </a:lnTo>
                    <a:lnTo>
                      <a:pt x="657" y="277"/>
                    </a:lnTo>
                    <a:lnTo>
                      <a:pt x="657" y="277"/>
                    </a:lnTo>
                    <a:lnTo>
                      <a:pt x="659" y="277"/>
                    </a:lnTo>
                    <a:lnTo>
                      <a:pt x="660" y="276"/>
                    </a:lnTo>
                    <a:lnTo>
                      <a:pt x="662" y="276"/>
                    </a:lnTo>
                    <a:lnTo>
                      <a:pt x="662" y="274"/>
                    </a:lnTo>
                    <a:lnTo>
                      <a:pt x="663" y="274"/>
                    </a:lnTo>
                    <a:lnTo>
                      <a:pt x="665" y="272"/>
                    </a:lnTo>
                    <a:lnTo>
                      <a:pt x="666" y="272"/>
                    </a:lnTo>
                    <a:lnTo>
                      <a:pt x="666" y="271"/>
                    </a:lnTo>
                    <a:lnTo>
                      <a:pt x="668" y="271"/>
                    </a:lnTo>
                    <a:lnTo>
                      <a:pt x="669" y="269"/>
                    </a:lnTo>
                    <a:lnTo>
                      <a:pt x="671" y="268"/>
                    </a:lnTo>
                    <a:lnTo>
                      <a:pt x="673" y="268"/>
                    </a:lnTo>
                    <a:lnTo>
                      <a:pt x="674" y="266"/>
                    </a:lnTo>
                    <a:lnTo>
                      <a:pt x="674" y="266"/>
                    </a:lnTo>
                    <a:lnTo>
                      <a:pt x="677" y="265"/>
                    </a:lnTo>
                    <a:lnTo>
                      <a:pt x="679" y="265"/>
                    </a:lnTo>
                    <a:lnTo>
                      <a:pt x="680" y="263"/>
                    </a:lnTo>
                    <a:lnTo>
                      <a:pt x="682" y="262"/>
                    </a:lnTo>
                    <a:lnTo>
                      <a:pt x="682" y="262"/>
                    </a:lnTo>
                    <a:lnTo>
                      <a:pt x="683" y="260"/>
                    </a:lnTo>
                    <a:lnTo>
                      <a:pt x="685" y="260"/>
                    </a:lnTo>
                    <a:lnTo>
                      <a:pt x="686" y="259"/>
                    </a:lnTo>
                    <a:lnTo>
                      <a:pt x="686" y="259"/>
                    </a:lnTo>
                    <a:lnTo>
                      <a:pt x="688" y="257"/>
                    </a:lnTo>
                    <a:lnTo>
                      <a:pt x="689" y="257"/>
                    </a:lnTo>
                    <a:lnTo>
                      <a:pt x="689" y="256"/>
                    </a:lnTo>
                    <a:lnTo>
                      <a:pt x="691" y="256"/>
                    </a:lnTo>
                    <a:lnTo>
                      <a:pt x="691" y="256"/>
                    </a:lnTo>
                    <a:lnTo>
                      <a:pt x="692" y="254"/>
                    </a:lnTo>
                    <a:lnTo>
                      <a:pt x="692" y="254"/>
                    </a:lnTo>
                    <a:lnTo>
                      <a:pt x="694" y="254"/>
                    </a:lnTo>
                    <a:lnTo>
                      <a:pt x="694" y="253"/>
                    </a:lnTo>
                    <a:lnTo>
                      <a:pt x="695" y="253"/>
                    </a:lnTo>
                    <a:lnTo>
                      <a:pt x="695" y="253"/>
                    </a:lnTo>
                    <a:lnTo>
                      <a:pt x="697" y="251"/>
                    </a:lnTo>
                    <a:lnTo>
                      <a:pt x="697" y="251"/>
                    </a:lnTo>
                    <a:lnTo>
                      <a:pt x="699" y="250"/>
                    </a:lnTo>
                    <a:lnTo>
                      <a:pt x="699" y="250"/>
                    </a:lnTo>
                    <a:lnTo>
                      <a:pt x="700" y="250"/>
                    </a:lnTo>
                    <a:lnTo>
                      <a:pt x="702" y="248"/>
                    </a:lnTo>
                    <a:lnTo>
                      <a:pt x="702" y="248"/>
                    </a:lnTo>
                    <a:lnTo>
                      <a:pt x="703" y="246"/>
                    </a:lnTo>
                    <a:lnTo>
                      <a:pt x="703" y="246"/>
                    </a:lnTo>
                    <a:lnTo>
                      <a:pt x="705" y="245"/>
                    </a:lnTo>
                    <a:lnTo>
                      <a:pt x="706" y="245"/>
                    </a:lnTo>
                    <a:lnTo>
                      <a:pt x="708" y="243"/>
                    </a:lnTo>
                    <a:lnTo>
                      <a:pt x="708" y="243"/>
                    </a:lnTo>
                    <a:lnTo>
                      <a:pt x="708" y="242"/>
                    </a:lnTo>
                    <a:lnTo>
                      <a:pt x="709" y="242"/>
                    </a:lnTo>
                    <a:lnTo>
                      <a:pt x="711" y="240"/>
                    </a:lnTo>
                    <a:lnTo>
                      <a:pt x="712" y="240"/>
                    </a:lnTo>
                    <a:lnTo>
                      <a:pt x="712" y="239"/>
                    </a:lnTo>
                    <a:lnTo>
                      <a:pt x="714" y="239"/>
                    </a:lnTo>
                    <a:lnTo>
                      <a:pt x="714" y="237"/>
                    </a:lnTo>
                    <a:lnTo>
                      <a:pt x="715" y="237"/>
                    </a:lnTo>
                    <a:lnTo>
                      <a:pt x="715" y="236"/>
                    </a:lnTo>
                    <a:lnTo>
                      <a:pt x="717" y="236"/>
                    </a:lnTo>
                    <a:lnTo>
                      <a:pt x="717" y="236"/>
                    </a:lnTo>
                    <a:lnTo>
                      <a:pt x="718" y="234"/>
                    </a:lnTo>
                    <a:lnTo>
                      <a:pt x="718" y="234"/>
                    </a:lnTo>
                    <a:lnTo>
                      <a:pt x="720" y="234"/>
                    </a:lnTo>
                    <a:lnTo>
                      <a:pt x="720" y="233"/>
                    </a:lnTo>
                    <a:lnTo>
                      <a:pt x="721" y="233"/>
                    </a:lnTo>
                    <a:lnTo>
                      <a:pt x="721" y="233"/>
                    </a:lnTo>
                    <a:lnTo>
                      <a:pt x="723" y="231"/>
                    </a:lnTo>
                    <a:lnTo>
                      <a:pt x="723" y="231"/>
                    </a:lnTo>
                    <a:lnTo>
                      <a:pt x="723" y="231"/>
                    </a:lnTo>
                    <a:lnTo>
                      <a:pt x="725" y="230"/>
                    </a:lnTo>
                    <a:lnTo>
                      <a:pt x="725" y="230"/>
                    </a:lnTo>
                    <a:lnTo>
                      <a:pt x="726" y="230"/>
                    </a:lnTo>
                    <a:lnTo>
                      <a:pt x="728" y="228"/>
                    </a:lnTo>
                    <a:lnTo>
                      <a:pt x="728" y="228"/>
                    </a:lnTo>
                    <a:lnTo>
                      <a:pt x="729" y="227"/>
                    </a:lnTo>
                    <a:lnTo>
                      <a:pt x="729" y="227"/>
                    </a:lnTo>
                    <a:lnTo>
                      <a:pt x="731" y="225"/>
                    </a:lnTo>
                    <a:lnTo>
                      <a:pt x="732" y="225"/>
                    </a:lnTo>
                    <a:lnTo>
                      <a:pt x="734" y="224"/>
                    </a:lnTo>
                    <a:lnTo>
                      <a:pt x="735" y="224"/>
                    </a:lnTo>
                    <a:lnTo>
                      <a:pt x="735" y="222"/>
                    </a:lnTo>
                    <a:lnTo>
                      <a:pt x="735" y="222"/>
                    </a:lnTo>
                    <a:lnTo>
                      <a:pt x="737" y="222"/>
                    </a:lnTo>
                    <a:lnTo>
                      <a:pt x="738" y="220"/>
                    </a:lnTo>
                    <a:lnTo>
                      <a:pt x="740" y="219"/>
                    </a:lnTo>
                    <a:lnTo>
                      <a:pt x="741" y="219"/>
                    </a:lnTo>
                    <a:lnTo>
                      <a:pt x="743" y="217"/>
                    </a:lnTo>
                    <a:lnTo>
                      <a:pt x="743" y="217"/>
                    </a:lnTo>
                    <a:lnTo>
                      <a:pt x="744" y="217"/>
                    </a:lnTo>
                    <a:lnTo>
                      <a:pt x="744" y="216"/>
                    </a:lnTo>
                    <a:lnTo>
                      <a:pt x="746" y="216"/>
                    </a:lnTo>
                    <a:lnTo>
                      <a:pt x="747" y="214"/>
                    </a:lnTo>
                    <a:lnTo>
                      <a:pt x="747" y="214"/>
                    </a:lnTo>
                    <a:lnTo>
                      <a:pt x="749" y="213"/>
                    </a:lnTo>
                    <a:lnTo>
                      <a:pt x="749" y="213"/>
                    </a:lnTo>
                    <a:lnTo>
                      <a:pt x="751" y="213"/>
                    </a:lnTo>
                    <a:lnTo>
                      <a:pt x="751" y="211"/>
                    </a:lnTo>
                    <a:lnTo>
                      <a:pt x="752" y="211"/>
                    </a:lnTo>
                    <a:lnTo>
                      <a:pt x="752" y="210"/>
                    </a:lnTo>
                    <a:lnTo>
                      <a:pt x="754" y="210"/>
                    </a:lnTo>
                    <a:lnTo>
                      <a:pt x="754" y="210"/>
                    </a:lnTo>
                    <a:lnTo>
                      <a:pt x="755" y="208"/>
                    </a:lnTo>
                    <a:lnTo>
                      <a:pt x="755" y="207"/>
                    </a:lnTo>
                    <a:lnTo>
                      <a:pt x="757" y="207"/>
                    </a:lnTo>
                    <a:lnTo>
                      <a:pt x="757" y="205"/>
                    </a:lnTo>
                    <a:lnTo>
                      <a:pt x="758" y="205"/>
                    </a:lnTo>
                    <a:lnTo>
                      <a:pt x="758" y="204"/>
                    </a:lnTo>
                    <a:lnTo>
                      <a:pt x="760" y="202"/>
                    </a:lnTo>
                    <a:lnTo>
                      <a:pt x="761" y="202"/>
                    </a:lnTo>
                    <a:lnTo>
                      <a:pt x="763" y="201"/>
                    </a:lnTo>
                    <a:lnTo>
                      <a:pt x="763" y="199"/>
                    </a:lnTo>
                    <a:lnTo>
                      <a:pt x="764" y="198"/>
                    </a:lnTo>
                    <a:lnTo>
                      <a:pt x="766" y="196"/>
                    </a:lnTo>
                    <a:lnTo>
                      <a:pt x="767" y="194"/>
                    </a:lnTo>
                    <a:lnTo>
                      <a:pt x="767" y="194"/>
                    </a:lnTo>
                    <a:lnTo>
                      <a:pt x="769" y="193"/>
                    </a:lnTo>
                    <a:lnTo>
                      <a:pt x="770" y="191"/>
                    </a:lnTo>
                    <a:lnTo>
                      <a:pt x="772" y="190"/>
                    </a:lnTo>
                    <a:lnTo>
                      <a:pt x="773" y="188"/>
                    </a:lnTo>
                    <a:lnTo>
                      <a:pt x="773" y="188"/>
                    </a:lnTo>
                    <a:lnTo>
                      <a:pt x="775" y="187"/>
                    </a:lnTo>
                    <a:lnTo>
                      <a:pt x="776" y="185"/>
                    </a:lnTo>
                    <a:lnTo>
                      <a:pt x="776" y="184"/>
                    </a:lnTo>
                    <a:lnTo>
                      <a:pt x="778" y="184"/>
                    </a:lnTo>
                    <a:lnTo>
                      <a:pt x="780" y="182"/>
                    </a:lnTo>
                    <a:lnTo>
                      <a:pt x="780" y="181"/>
                    </a:lnTo>
                    <a:lnTo>
                      <a:pt x="781" y="181"/>
                    </a:lnTo>
                    <a:lnTo>
                      <a:pt x="781" y="179"/>
                    </a:lnTo>
                    <a:lnTo>
                      <a:pt x="783" y="179"/>
                    </a:lnTo>
                    <a:lnTo>
                      <a:pt x="783" y="178"/>
                    </a:lnTo>
                    <a:lnTo>
                      <a:pt x="784" y="176"/>
                    </a:lnTo>
                    <a:lnTo>
                      <a:pt x="784" y="176"/>
                    </a:lnTo>
                    <a:lnTo>
                      <a:pt x="786" y="175"/>
                    </a:lnTo>
                    <a:lnTo>
                      <a:pt x="787" y="173"/>
                    </a:lnTo>
                    <a:lnTo>
                      <a:pt x="787" y="173"/>
                    </a:lnTo>
                    <a:lnTo>
                      <a:pt x="789" y="172"/>
                    </a:lnTo>
                    <a:lnTo>
                      <a:pt x="789" y="170"/>
                    </a:lnTo>
                    <a:lnTo>
                      <a:pt x="790" y="170"/>
                    </a:lnTo>
                    <a:lnTo>
                      <a:pt x="792" y="168"/>
                    </a:lnTo>
                    <a:lnTo>
                      <a:pt x="792" y="167"/>
                    </a:lnTo>
                    <a:lnTo>
                      <a:pt x="793" y="165"/>
                    </a:lnTo>
                    <a:lnTo>
                      <a:pt x="795" y="164"/>
                    </a:lnTo>
                    <a:lnTo>
                      <a:pt x="796" y="162"/>
                    </a:lnTo>
                    <a:lnTo>
                      <a:pt x="798" y="161"/>
                    </a:lnTo>
                    <a:lnTo>
                      <a:pt x="799" y="158"/>
                    </a:lnTo>
                    <a:lnTo>
                      <a:pt x="801" y="156"/>
                    </a:lnTo>
                    <a:lnTo>
                      <a:pt x="802" y="155"/>
                    </a:lnTo>
                    <a:lnTo>
                      <a:pt x="802" y="155"/>
                    </a:lnTo>
                    <a:lnTo>
                      <a:pt x="804" y="152"/>
                    </a:lnTo>
                    <a:lnTo>
                      <a:pt x="806" y="150"/>
                    </a:lnTo>
                    <a:lnTo>
                      <a:pt x="807" y="149"/>
                    </a:lnTo>
                    <a:lnTo>
                      <a:pt x="809" y="147"/>
                    </a:lnTo>
                    <a:lnTo>
                      <a:pt x="810" y="146"/>
                    </a:lnTo>
                    <a:lnTo>
                      <a:pt x="812" y="144"/>
                    </a:lnTo>
                    <a:lnTo>
                      <a:pt x="813" y="143"/>
                    </a:lnTo>
                    <a:lnTo>
                      <a:pt x="815" y="141"/>
                    </a:lnTo>
                    <a:lnTo>
                      <a:pt x="815" y="139"/>
                    </a:lnTo>
                    <a:lnTo>
                      <a:pt x="816" y="138"/>
                    </a:lnTo>
                    <a:lnTo>
                      <a:pt x="818" y="136"/>
                    </a:lnTo>
                    <a:lnTo>
                      <a:pt x="818" y="136"/>
                    </a:lnTo>
                    <a:lnTo>
                      <a:pt x="819" y="135"/>
                    </a:lnTo>
                    <a:lnTo>
                      <a:pt x="819" y="133"/>
                    </a:lnTo>
                    <a:lnTo>
                      <a:pt x="821" y="132"/>
                    </a:lnTo>
                    <a:lnTo>
                      <a:pt x="822" y="132"/>
                    </a:lnTo>
                    <a:lnTo>
                      <a:pt x="822" y="130"/>
                    </a:lnTo>
                    <a:lnTo>
                      <a:pt x="824" y="129"/>
                    </a:lnTo>
                    <a:lnTo>
                      <a:pt x="824" y="127"/>
                    </a:lnTo>
                    <a:lnTo>
                      <a:pt x="825" y="126"/>
                    </a:lnTo>
                    <a:lnTo>
                      <a:pt x="827" y="126"/>
                    </a:lnTo>
                    <a:lnTo>
                      <a:pt x="827" y="124"/>
                    </a:lnTo>
                    <a:lnTo>
                      <a:pt x="828" y="123"/>
                    </a:lnTo>
                    <a:lnTo>
                      <a:pt x="830" y="121"/>
                    </a:lnTo>
                    <a:lnTo>
                      <a:pt x="830" y="120"/>
                    </a:lnTo>
                    <a:lnTo>
                      <a:pt x="832" y="118"/>
                    </a:lnTo>
                    <a:lnTo>
                      <a:pt x="833" y="115"/>
                    </a:lnTo>
                    <a:lnTo>
                      <a:pt x="835" y="113"/>
                    </a:lnTo>
                    <a:lnTo>
                      <a:pt x="836" y="112"/>
                    </a:lnTo>
                    <a:lnTo>
                      <a:pt x="838" y="110"/>
                    </a:lnTo>
                    <a:lnTo>
                      <a:pt x="839" y="107"/>
                    </a:lnTo>
                    <a:lnTo>
                      <a:pt x="841" y="104"/>
                    </a:lnTo>
                    <a:lnTo>
                      <a:pt x="841" y="104"/>
                    </a:lnTo>
                    <a:lnTo>
                      <a:pt x="842" y="103"/>
                    </a:lnTo>
                    <a:lnTo>
                      <a:pt x="844" y="100"/>
                    </a:lnTo>
                    <a:lnTo>
                      <a:pt x="845" y="98"/>
                    </a:lnTo>
                    <a:lnTo>
                      <a:pt x="847" y="97"/>
                    </a:lnTo>
                    <a:lnTo>
                      <a:pt x="848" y="94"/>
                    </a:lnTo>
                    <a:lnTo>
                      <a:pt x="850" y="92"/>
                    </a:lnTo>
                    <a:lnTo>
                      <a:pt x="851" y="91"/>
                    </a:lnTo>
                    <a:lnTo>
                      <a:pt x="853" y="89"/>
                    </a:lnTo>
                    <a:lnTo>
                      <a:pt x="853" y="87"/>
                    </a:lnTo>
                    <a:lnTo>
                      <a:pt x="854" y="86"/>
                    </a:lnTo>
                    <a:lnTo>
                      <a:pt x="856" y="84"/>
                    </a:lnTo>
                    <a:lnTo>
                      <a:pt x="856" y="83"/>
                    </a:lnTo>
                    <a:lnTo>
                      <a:pt x="858" y="81"/>
                    </a:lnTo>
                    <a:lnTo>
                      <a:pt x="859" y="80"/>
                    </a:lnTo>
                    <a:lnTo>
                      <a:pt x="859" y="80"/>
                    </a:lnTo>
                    <a:lnTo>
                      <a:pt x="861" y="78"/>
                    </a:lnTo>
                    <a:lnTo>
                      <a:pt x="861" y="77"/>
                    </a:lnTo>
                    <a:lnTo>
                      <a:pt x="862" y="75"/>
                    </a:lnTo>
                    <a:lnTo>
                      <a:pt x="864" y="74"/>
                    </a:lnTo>
                    <a:lnTo>
                      <a:pt x="864" y="72"/>
                    </a:lnTo>
                    <a:lnTo>
                      <a:pt x="865" y="71"/>
                    </a:lnTo>
                    <a:lnTo>
                      <a:pt x="867" y="71"/>
                    </a:lnTo>
                    <a:lnTo>
                      <a:pt x="867" y="69"/>
                    </a:lnTo>
                    <a:lnTo>
                      <a:pt x="868" y="68"/>
                    </a:lnTo>
                    <a:lnTo>
                      <a:pt x="870" y="65"/>
                    </a:lnTo>
                    <a:lnTo>
                      <a:pt x="871" y="63"/>
                    </a:lnTo>
                    <a:lnTo>
                      <a:pt x="873" y="61"/>
                    </a:lnTo>
                    <a:lnTo>
                      <a:pt x="874" y="60"/>
                    </a:lnTo>
                    <a:lnTo>
                      <a:pt x="876" y="57"/>
                    </a:lnTo>
                    <a:lnTo>
                      <a:pt x="877" y="55"/>
                    </a:lnTo>
                    <a:lnTo>
                      <a:pt x="879" y="52"/>
                    </a:lnTo>
                    <a:lnTo>
                      <a:pt x="880" y="51"/>
                    </a:lnTo>
                    <a:lnTo>
                      <a:pt x="880" y="51"/>
                    </a:lnTo>
                    <a:lnTo>
                      <a:pt x="882" y="48"/>
                    </a:lnTo>
                    <a:lnTo>
                      <a:pt x="884" y="46"/>
                    </a:lnTo>
                    <a:lnTo>
                      <a:pt x="885" y="43"/>
                    </a:lnTo>
                    <a:lnTo>
                      <a:pt x="887" y="42"/>
                    </a:lnTo>
                    <a:lnTo>
                      <a:pt x="888" y="40"/>
                    </a:lnTo>
                    <a:lnTo>
                      <a:pt x="890" y="37"/>
                    </a:lnTo>
                    <a:lnTo>
                      <a:pt x="891" y="35"/>
                    </a:lnTo>
                    <a:lnTo>
                      <a:pt x="893" y="34"/>
                    </a:lnTo>
                    <a:lnTo>
                      <a:pt x="893" y="32"/>
                    </a:lnTo>
                    <a:lnTo>
                      <a:pt x="894" y="31"/>
                    </a:lnTo>
                    <a:lnTo>
                      <a:pt x="896" y="29"/>
                    </a:lnTo>
                    <a:lnTo>
                      <a:pt x="896" y="28"/>
                    </a:lnTo>
                    <a:lnTo>
                      <a:pt x="897" y="26"/>
                    </a:lnTo>
                    <a:lnTo>
                      <a:pt x="897" y="26"/>
                    </a:lnTo>
                    <a:lnTo>
                      <a:pt x="899" y="25"/>
                    </a:lnTo>
                    <a:lnTo>
                      <a:pt x="899" y="23"/>
                    </a:lnTo>
                    <a:lnTo>
                      <a:pt x="900" y="22"/>
                    </a:lnTo>
                    <a:lnTo>
                      <a:pt x="900" y="20"/>
                    </a:lnTo>
                    <a:lnTo>
                      <a:pt x="902" y="20"/>
                    </a:lnTo>
                    <a:lnTo>
                      <a:pt x="902" y="19"/>
                    </a:lnTo>
                    <a:lnTo>
                      <a:pt x="903" y="17"/>
                    </a:lnTo>
                    <a:lnTo>
                      <a:pt x="903" y="16"/>
                    </a:lnTo>
                    <a:lnTo>
                      <a:pt x="905" y="14"/>
                    </a:lnTo>
                    <a:lnTo>
                      <a:pt x="905" y="14"/>
                    </a:lnTo>
                    <a:lnTo>
                      <a:pt x="906" y="13"/>
                    </a:lnTo>
                    <a:lnTo>
                      <a:pt x="908" y="11"/>
                    </a:lnTo>
                    <a:lnTo>
                      <a:pt x="908" y="9"/>
                    </a:lnTo>
                    <a:lnTo>
                      <a:pt x="909" y="8"/>
                    </a:lnTo>
                    <a:lnTo>
                      <a:pt x="909" y="5"/>
                    </a:lnTo>
                    <a:lnTo>
                      <a:pt x="911" y="3"/>
                    </a:lnTo>
                    <a:lnTo>
                      <a:pt x="913" y="2"/>
                    </a:lnTo>
                    <a:lnTo>
                      <a:pt x="914" y="0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72"/>
              <p:cNvSpPr>
                <a:spLocks/>
              </p:cNvSpPr>
              <p:nvPr/>
            </p:nvSpPr>
            <p:spPr bwMode="auto">
              <a:xfrm>
                <a:off x="3403" y="2587"/>
                <a:ext cx="55" cy="183"/>
              </a:xfrm>
              <a:custGeom>
                <a:avLst/>
                <a:gdLst>
                  <a:gd name="T0" fmla="*/ 6 w 108"/>
                  <a:gd name="T1" fmla="*/ 11 h 365"/>
                  <a:gd name="T2" fmla="*/ 12 w 108"/>
                  <a:gd name="T3" fmla="*/ 23 h 365"/>
                  <a:gd name="T4" fmla="*/ 18 w 108"/>
                  <a:gd name="T5" fmla="*/ 32 h 365"/>
                  <a:gd name="T6" fmla="*/ 21 w 108"/>
                  <a:gd name="T7" fmla="*/ 40 h 365"/>
                  <a:gd name="T8" fmla="*/ 24 w 108"/>
                  <a:gd name="T9" fmla="*/ 46 h 365"/>
                  <a:gd name="T10" fmla="*/ 27 w 108"/>
                  <a:gd name="T11" fmla="*/ 52 h 365"/>
                  <a:gd name="T12" fmla="*/ 30 w 108"/>
                  <a:gd name="T13" fmla="*/ 58 h 365"/>
                  <a:gd name="T14" fmla="*/ 33 w 108"/>
                  <a:gd name="T15" fmla="*/ 64 h 365"/>
                  <a:gd name="T16" fmla="*/ 36 w 108"/>
                  <a:gd name="T17" fmla="*/ 70 h 365"/>
                  <a:gd name="T18" fmla="*/ 38 w 108"/>
                  <a:gd name="T19" fmla="*/ 78 h 365"/>
                  <a:gd name="T20" fmla="*/ 41 w 108"/>
                  <a:gd name="T21" fmla="*/ 82 h 365"/>
                  <a:gd name="T22" fmla="*/ 43 w 108"/>
                  <a:gd name="T23" fmla="*/ 87 h 365"/>
                  <a:gd name="T24" fmla="*/ 44 w 108"/>
                  <a:gd name="T25" fmla="*/ 93 h 365"/>
                  <a:gd name="T26" fmla="*/ 47 w 108"/>
                  <a:gd name="T27" fmla="*/ 98 h 365"/>
                  <a:gd name="T28" fmla="*/ 49 w 108"/>
                  <a:gd name="T29" fmla="*/ 104 h 365"/>
                  <a:gd name="T30" fmla="*/ 52 w 108"/>
                  <a:gd name="T31" fmla="*/ 113 h 365"/>
                  <a:gd name="T32" fmla="*/ 55 w 108"/>
                  <a:gd name="T33" fmla="*/ 119 h 365"/>
                  <a:gd name="T34" fmla="*/ 58 w 108"/>
                  <a:gd name="T35" fmla="*/ 128 h 365"/>
                  <a:gd name="T36" fmla="*/ 61 w 108"/>
                  <a:gd name="T37" fmla="*/ 136 h 365"/>
                  <a:gd name="T38" fmla="*/ 62 w 108"/>
                  <a:gd name="T39" fmla="*/ 141 h 365"/>
                  <a:gd name="T40" fmla="*/ 65 w 108"/>
                  <a:gd name="T41" fmla="*/ 147 h 365"/>
                  <a:gd name="T42" fmla="*/ 67 w 108"/>
                  <a:gd name="T43" fmla="*/ 151 h 365"/>
                  <a:gd name="T44" fmla="*/ 69 w 108"/>
                  <a:gd name="T45" fmla="*/ 157 h 365"/>
                  <a:gd name="T46" fmla="*/ 72 w 108"/>
                  <a:gd name="T47" fmla="*/ 165 h 365"/>
                  <a:gd name="T48" fmla="*/ 73 w 108"/>
                  <a:gd name="T49" fmla="*/ 173 h 365"/>
                  <a:gd name="T50" fmla="*/ 76 w 108"/>
                  <a:gd name="T51" fmla="*/ 182 h 365"/>
                  <a:gd name="T52" fmla="*/ 78 w 108"/>
                  <a:gd name="T53" fmla="*/ 189 h 365"/>
                  <a:gd name="T54" fmla="*/ 81 w 108"/>
                  <a:gd name="T55" fmla="*/ 196 h 365"/>
                  <a:gd name="T56" fmla="*/ 82 w 108"/>
                  <a:gd name="T57" fmla="*/ 200 h 365"/>
                  <a:gd name="T58" fmla="*/ 84 w 108"/>
                  <a:gd name="T59" fmla="*/ 206 h 365"/>
                  <a:gd name="T60" fmla="*/ 85 w 108"/>
                  <a:gd name="T61" fmla="*/ 211 h 365"/>
                  <a:gd name="T62" fmla="*/ 87 w 108"/>
                  <a:gd name="T63" fmla="*/ 219 h 365"/>
                  <a:gd name="T64" fmla="*/ 90 w 108"/>
                  <a:gd name="T65" fmla="*/ 228 h 365"/>
                  <a:gd name="T66" fmla="*/ 93 w 108"/>
                  <a:gd name="T67" fmla="*/ 235 h 365"/>
                  <a:gd name="T68" fmla="*/ 94 w 108"/>
                  <a:gd name="T69" fmla="*/ 243 h 365"/>
                  <a:gd name="T70" fmla="*/ 96 w 108"/>
                  <a:gd name="T71" fmla="*/ 249 h 365"/>
                  <a:gd name="T72" fmla="*/ 98 w 108"/>
                  <a:gd name="T73" fmla="*/ 254 h 365"/>
                  <a:gd name="T74" fmla="*/ 99 w 108"/>
                  <a:gd name="T75" fmla="*/ 258 h 365"/>
                  <a:gd name="T76" fmla="*/ 99 w 108"/>
                  <a:gd name="T77" fmla="*/ 264 h 365"/>
                  <a:gd name="T78" fmla="*/ 101 w 108"/>
                  <a:gd name="T79" fmla="*/ 271 h 365"/>
                  <a:gd name="T80" fmla="*/ 101 w 108"/>
                  <a:gd name="T81" fmla="*/ 278 h 365"/>
                  <a:gd name="T82" fmla="*/ 101 w 108"/>
                  <a:gd name="T83" fmla="*/ 284 h 365"/>
                  <a:gd name="T84" fmla="*/ 102 w 108"/>
                  <a:gd name="T85" fmla="*/ 290 h 365"/>
                  <a:gd name="T86" fmla="*/ 102 w 108"/>
                  <a:gd name="T87" fmla="*/ 297 h 365"/>
                  <a:gd name="T88" fmla="*/ 102 w 108"/>
                  <a:gd name="T89" fmla="*/ 301 h 365"/>
                  <a:gd name="T90" fmla="*/ 104 w 108"/>
                  <a:gd name="T91" fmla="*/ 304 h 365"/>
                  <a:gd name="T92" fmla="*/ 104 w 108"/>
                  <a:gd name="T93" fmla="*/ 307 h 365"/>
                  <a:gd name="T94" fmla="*/ 104 w 108"/>
                  <a:gd name="T95" fmla="*/ 312 h 365"/>
                  <a:gd name="T96" fmla="*/ 105 w 108"/>
                  <a:gd name="T97" fmla="*/ 315 h 365"/>
                  <a:gd name="T98" fmla="*/ 105 w 108"/>
                  <a:gd name="T99" fmla="*/ 319 h 365"/>
                  <a:gd name="T100" fmla="*/ 107 w 108"/>
                  <a:gd name="T101" fmla="*/ 324 h 365"/>
                  <a:gd name="T102" fmla="*/ 107 w 108"/>
                  <a:gd name="T103" fmla="*/ 327 h 365"/>
                  <a:gd name="T104" fmla="*/ 108 w 108"/>
                  <a:gd name="T105" fmla="*/ 332 h 365"/>
                  <a:gd name="T106" fmla="*/ 108 w 108"/>
                  <a:gd name="T107" fmla="*/ 336 h 365"/>
                  <a:gd name="T108" fmla="*/ 108 w 108"/>
                  <a:gd name="T109" fmla="*/ 341 h 365"/>
                  <a:gd name="T110" fmla="*/ 107 w 108"/>
                  <a:gd name="T111" fmla="*/ 347 h 365"/>
                  <a:gd name="T112" fmla="*/ 107 w 108"/>
                  <a:gd name="T113" fmla="*/ 356 h 365"/>
                  <a:gd name="T114" fmla="*/ 0 w 108"/>
                  <a:gd name="T115" fmla="*/ 0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8" h="365">
                    <a:moveTo>
                      <a:pt x="0" y="0"/>
                    </a:moveTo>
                    <a:lnTo>
                      <a:pt x="1" y="3"/>
                    </a:lnTo>
                    <a:lnTo>
                      <a:pt x="4" y="8"/>
                    </a:lnTo>
                    <a:lnTo>
                      <a:pt x="6" y="11"/>
                    </a:lnTo>
                    <a:lnTo>
                      <a:pt x="7" y="14"/>
                    </a:lnTo>
                    <a:lnTo>
                      <a:pt x="9" y="17"/>
                    </a:lnTo>
                    <a:lnTo>
                      <a:pt x="10" y="20"/>
                    </a:lnTo>
                    <a:lnTo>
                      <a:pt x="12" y="23"/>
                    </a:lnTo>
                    <a:lnTo>
                      <a:pt x="13" y="26"/>
                    </a:lnTo>
                    <a:lnTo>
                      <a:pt x="15" y="27"/>
                    </a:lnTo>
                    <a:lnTo>
                      <a:pt x="17" y="30"/>
                    </a:lnTo>
                    <a:lnTo>
                      <a:pt x="18" y="32"/>
                    </a:lnTo>
                    <a:lnTo>
                      <a:pt x="18" y="34"/>
                    </a:lnTo>
                    <a:lnTo>
                      <a:pt x="20" y="37"/>
                    </a:lnTo>
                    <a:lnTo>
                      <a:pt x="21" y="38"/>
                    </a:lnTo>
                    <a:lnTo>
                      <a:pt x="21" y="40"/>
                    </a:lnTo>
                    <a:lnTo>
                      <a:pt x="23" y="41"/>
                    </a:lnTo>
                    <a:lnTo>
                      <a:pt x="23" y="43"/>
                    </a:lnTo>
                    <a:lnTo>
                      <a:pt x="24" y="44"/>
                    </a:lnTo>
                    <a:lnTo>
                      <a:pt x="24" y="46"/>
                    </a:lnTo>
                    <a:lnTo>
                      <a:pt x="26" y="47"/>
                    </a:lnTo>
                    <a:lnTo>
                      <a:pt x="26" y="49"/>
                    </a:lnTo>
                    <a:lnTo>
                      <a:pt x="27" y="50"/>
                    </a:lnTo>
                    <a:lnTo>
                      <a:pt x="27" y="52"/>
                    </a:lnTo>
                    <a:lnTo>
                      <a:pt x="29" y="53"/>
                    </a:lnTo>
                    <a:lnTo>
                      <a:pt x="29" y="53"/>
                    </a:lnTo>
                    <a:lnTo>
                      <a:pt x="29" y="55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2" y="61"/>
                    </a:lnTo>
                    <a:lnTo>
                      <a:pt x="32" y="63"/>
                    </a:lnTo>
                    <a:lnTo>
                      <a:pt x="33" y="64"/>
                    </a:lnTo>
                    <a:lnTo>
                      <a:pt x="33" y="67"/>
                    </a:lnTo>
                    <a:lnTo>
                      <a:pt x="33" y="67"/>
                    </a:lnTo>
                    <a:lnTo>
                      <a:pt x="35" y="69"/>
                    </a:lnTo>
                    <a:lnTo>
                      <a:pt x="36" y="70"/>
                    </a:lnTo>
                    <a:lnTo>
                      <a:pt x="36" y="72"/>
                    </a:lnTo>
                    <a:lnTo>
                      <a:pt x="38" y="75"/>
                    </a:lnTo>
                    <a:lnTo>
                      <a:pt x="38" y="76"/>
                    </a:lnTo>
                    <a:lnTo>
                      <a:pt x="38" y="78"/>
                    </a:lnTo>
                    <a:lnTo>
                      <a:pt x="39" y="79"/>
                    </a:lnTo>
                    <a:lnTo>
                      <a:pt x="39" y="81"/>
                    </a:lnTo>
                    <a:lnTo>
                      <a:pt x="41" y="81"/>
                    </a:lnTo>
                    <a:lnTo>
                      <a:pt x="41" y="82"/>
                    </a:lnTo>
                    <a:lnTo>
                      <a:pt x="41" y="84"/>
                    </a:lnTo>
                    <a:lnTo>
                      <a:pt x="43" y="86"/>
                    </a:lnTo>
                    <a:lnTo>
                      <a:pt x="43" y="87"/>
                    </a:lnTo>
                    <a:lnTo>
                      <a:pt x="43" y="87"/>
                    </a:lnTo>
                    <a:lnTo>
                      <a:pt x="43" y="89"/>
                    </a:lnTo>
                    <a:lnTo>
                      <a:pt x="44" y="90"/>
                    </a:lnTo>
                    <a:lnTo>
                      <a:pt x="44" y="92"/>
                    </a:lnTo>
                    <a:lnTo>
                      <a:pt x="44" y="93"/>
                    </a:lnTo>
                    <a:lnTo>
                      <a:pt x="46" y="93"/>
                    </a:lnTo>
                    <a:lnTo>
                      <a:pt x="46" y="95"/>
                    </a:lnTo>
                    <a:lnTo>
                      <a:pt x="46" y="96"/>
                    </a:lnTo>
                    <a:lnTo>
                      <a:pt x="47" y="98"/>
                    </a:lnTo>
                    <a:lnTo>
                      <a:pt x="47" y="99"/>
                    </a:lnTo>
                    <a:lnTo>
                      <a:pt x="47" y="101"/>
                    </a:lnTo>
                    <a:lnTo>
                      <a:pt x="49" y="102"/>
                    </a:lnTo>
                    <a:lnTo>
                      <a:pt x="49" y="104"/>
                    </a:lnTo>
                    <a:lnTo>
                      <a:pt x="50" y="107"/>
                    </a:lnTo>
                    <a:lnTo>
                      <a:pt x="50" y="108"/>
                    </a:lnTo>
                    <a:lnTo>
                      <a:pt x="52" y="110"/>
                    </a:lnTo>
                    <a:lnTo>
                      <a:pt x="52" y="113"/>
                    </a:lnTo>
                    <a:lnTo>
                      <a:pt x="53" y="115"/>
                    </a:lnTo>
                    <a:lnTo>
                      <a:pt x="53" y="118"/>
                    </a:lnTo>
                    <a:lnTo>
                      <a:pt x="53" y="118"/>
                    </a:lnTo>
                    <a:lnTo>
                      <a:pt x="55" y="119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8" y="127"/>
                    </a:lnTo>
                    <a:lnTo>
                      <a:pt x="58" y="128"/>
                    </a:lnTo>
                    <a:lnTo>
                      <a:pt x="59" y="130"/>
                    </a:lnTo>
                    <a:lnTo>
                      <a:pt x="59" y="131"/>
                    </a:lnTo>
                    <a:lnTo>
                      <a:pt x="61" y="134"/>
                    </a:lnTo>
                    <a:lnTo>
                      <a:pt x="61" y="136"/>
                    </a:lnTo>
                    <a:lnTo>
                      <a:pt x="61" y="138"/>
                    </a:lnTo>
                    <a:lnTo>
                      <a:pt x="62" y="138"/>
                    </a:lnTo>
                    <a:lnTo>
                      <a:pt x="62" y="139"/>
                    </a:lnTo>
                    <a:lnTo>
                      <a:pt x="62" y="141"/>
                    </a:lnTo>
                    <a:lnTo>
                      <a:pt x="64" y="142"/>
                    </a:lnTo>
                    <a:lnTo>
                      <a:pt x="64" y="144"/>
                    </a:lnTo>
                    <a:lnTo>
                      <a:pt x="64" y="145"/>
                    </a:lnTo>
                    <a:lnTo>
                      <a:pt x="65" y="147"/>
                    </a:lnTo>
                    <a:lnTo>
                      <a:pt x="65" y="148"/>
                    </a:lnTo>
                    <a:lnTo>
                      <a:pt x="65" y="148"/>
                    </a:lnTo>
                    <a:lnTo>
                      <a:pt x="65" y="150"/>
                    </a:lnTo>
                    <a:lnTo>
                      <a:pt x="67" y="151"/>
                    </a:lnTo>
                    <a:lnTo>
                      <a:pt x="67" y="153"/>
                    </a:lnTo>
                    <a:lnTo>
                      <a:pt x="67" y="154"/>
                    </a:lnTo>
                    <a:lnTo>
                      <a:pt x="69" y="156"/>
                    </a:lnTo>
                    <a:lnTo>
                      <a:pt x="69" y="157"/>
                    </a:lnTo>
                    <a:lnTo>
                      <a:pt x="69" y="159"/>
                    </a:lnTo>
                    <a:lnTo>
                      <a:pt x="70" y="162"/>
                    </a:lnTo>
                    <a:lnTo>
                      <a:pt x="70" y="164"/>
                    </a:lnTo>
                    <a:lnTo>
                      <a:pt x="72" y="165"/>
                    </a:lnTo>
                    <a:lnTo>
                      <a:pt x="72" y="168"/>
                    </a:lnTo>
                    <a:lnTo>
                      <a:pt x="73" y="170"/>
                    </a:lnTo>
                    <a:lnTo>
                      <a:pt x="73" y="173"/>
                    </a:lnTo>
                    <a:lnTo>
                      <a:pt x="73" y="173"/>
                    </a:lnTo>
                    <a:lnTo>
                      <a:pt x="75" y="176"/>
                    </a:lnTo>
                    <a:lnTo>
                      <a:pt x="75" y="177"/>
                    </a:lnTo>
                    <a:lnTo>
                      <a:pt x="76" y="180"/>
                    </a:lnTo>
                    <a:lnTo>
                      <a:pt x="76" y="182"/>
                    </a:lnTo>
                    <a:lnTo>
                      <a:pt x="76" y="183"/>
                    </a:lnTo>
                    <a:lnTo>
                      <a:pt x="78" y="186"/>
                    </a:lnTo>
                    <a:lnTo>
                      <a:pt x="78" y="188"/>
                    </a:lnTo>
                    <a:lnTo>
                      <a:pt x="78" y="189"/>
                    </a:lnTo>
                    <a:lnTo>
                      <a:pt x="79" y="191"/>
                    </a:lnTo>
                    <a:lnTo>
                      <a:pt x="79" y="193"/>
                    </a:lnTo>
                    <a:lnTo>
                      <a:pt x="79" y="194"/>
                    </a:lnTo>
                    <a:lnTo>
                      <a:pt x="81" y="196"/>
                    </a:lnTo>
                    <a:lnTo>
                      <a:pt x="81" y="196"/>
                    </a:lnTo>
                    <a:lnTo>
                      <a:pt x="81" y="197"/>
                    </a:lnTo>
                    <a:lnTo>
                      <a:pt x="81" y="199"/>
                    </a:lnTo>
                    <a:lnTo>
                      <a:pt x="82" y="200"/>
                    </a:lnTo>
                    <a:lnTo>
                      <a:pt x="82" y="202"/>
                    </a:lnTo>
                    <a:lnTo>
                      <a:pt x="82" y="203"/>
                    </a:lnTo>
                    <a:lnTo>
                      <a:pt x="82" y="205"/>
                    </a:lnTo>
                    <a:lnTo>
                      <a:pt x="84" y="206"/>
                    </a:lnTo>
                    <a:lnTo>
                      <a:pt x="84" y="206"/>
                    </a:lnTo>
                    <a:lnTo>
                      <a:pt x="84" y="208"/>
                    </a:lnTo>
                    <a:lnTo>
                      <a:pt x="85" y="209"/>
                    </a:lnTo>
                    <a:lnTo>
                      <a:pt x="85" y="211"/>
                    </a:lnTo>
                    <a:lnTo>
                      <a:pt x="85" y="214"/>
                    </a:lnTo>
                    <a:lnTo>
                      <a:pt x="87" y="215"/>
                    </a:lnTo>
                    <a:lnTo>
                      <a:pt x="87" y="217"/>
                    </a:lnTo>
                    <a:lnTo>
                      <a:pt x="87" y="219"/>
                    </a:lnTo>
                    <a:lnTo>
                      <a:pt x="88" y="222"/>
                    </a:lnTo>
                    <a:lnTo>
                      <a:pt x="88" y="223"/>
                    </a:lnTo>
                    <a:lnTo>
                      <a:pt x="90" y="226"/>
                    </a:lnTo>
                    <a:lnTo>
                      <a:pt x="90" y="228"/>
                    </a:lnTo>
                    <a:lnTo>
                      <a:pt x="90" y="228"/>
                    </a:lnTo>
                    <a:lnTo>
                      <a:pt x="91" y="231"/>
                    </a:lnTo>
                    <a:lnTo>
                      <a:pt x="91" y="232"/>
                    </a:lnTo>
                    <a:lnTo>
                      <a:pt x="93" y="235"/>
                    </a:lnTo>
                    <a:lnTo>
                      <a:pt x="93" y="237"/>
                    </a:lnTo>
                    <a:lnTo>
                      <a:pt x="94" y="240"/>
                    </a:lnTo>
                    <a:lnTo>
                      <a:pt x="94" y="241"/>
                    </a:lnTo>
                    <a:lnTo>
                      <a:pt x="94" y="243"/>
                    </a:lnTo>
                    <a:lnTo>
                      <a:pt x="96" y="245"/>
                    </a:lnTo>
                    <a:lnTo>
                      <a:pt x="96" y="246"/>
                    </a:lnTo>
                    <a:lnTo>
                      <a:pt x="96" y="248"/>
                    </a:lnTo>
                    <a:lnTo>
                      <a:pt x="96" y="249"/>
                    </a:lnTo>
                    <a:lnTo>
                      <a:pt x="98" y="251"/>
                    </a:lnTo>
                    <a:lnTo>
                      <a:pt x="98" y="252"/>
                    </a:lnTo>
                    <a:lnTo>
                      <a:pt x="98" y="254"/>
                    </a:lnTo>
                    <a:lnTo>
                      <a:pt x="98" y="254"/>
                    </a:lnTo>
                    <a:lnTo>
                      <a:pt x="98" y="255"/>
                    </a:lnTo>
                    <a:lnTo>
                      <a:pt x="98" y="257"/>
                    </a:lnTo>
                    <a:lnTo>
                      <a:pt x="99" y="258"/>
                    </a:lnTo>
                    <a:lnTo>
                      <a:pt x="99" y="258"/>
                    </a:lnTo>
                    <a:lnTo>
                      <a:pt x="99" y="260"/>
                    </a:lnTo>
                    <a:lnTo>
                      <a:pt x="99" y="261"/>
                    </a:lnTo>
                    <a:lnTo>
                      <a:pt x="99" y="263"/>
                    </a:lnTo>
                    <a:lnTo>
                      <a:pt x="99" y="264"/>
                    </a:lnTo>
                    <a:lnTo>
                      <a:pt x="99" y="266"/>
                    </a:lnTo>
                    <a:lnTo>
                      <a:pt x="99" y="267"/>
                    </a:lnTo>
                    <a:lnTo>
                      <a:pt x="99" y="269"/>
                    </a:lnTo>
                    <a:lnTo>
                      <a:pt x="101" y="271"/>
                    </a:lnTo>
                    <a:lnTo>
                      <a:pt x="101" y="272"/>
                    </a:lnTo>
                    <a:lnTo>
                      <a:pt x="101" y="274"/>
                    </a:lnTo>
                    <a:lnTo>
                      <a:pt x="101" y="275"/>
                    </a:lnTo>
                    <a:lnTo>
                      <a:pt x="101" y="278"/>
                    </a:lnTo>
                    <a:lnTo>
                      <a:pt x="101" y="280"/>
                    </a:lnTo>
                    <a:lnTo>
                      <a:pt x="101" y="280"/>
                    </a:lnTo>
                    <a:lnTo>
                      <a:pt x="101" y="281"/>
                    </a:lnTo>
                    <a:lnTo>
                      <a:pt x="101" y="284"/>
                    </a:lnTo>
                    <a:lnTo>
                      <a:pt x="101" y="286"/>
                    </a:lnTo>
                    <a:lnTo>
                      <a:pt x="102" y="287"/>
                    </a:lnTo>
                    <a:lnTo>
                      <a:pt x="102" y="289"/>
                    </a:lnTo>
                    <a:lnTo>
                      <a:pt x="102" y="290"/>
                    </a:lnTo>
                    <a:lnTo>
                      <a:pt x="102" y="292"/>
                    </a:lnTo>
                    <a:lnTo>
                      <a:pt x="102" y="293"/>
                    </a:lnTo>
                    <a:lnTo>
                      <a:pt x="102" y="295"/>
                    </a:lnTo>
                    <a:lnTo>
                      <a:pt x="102" y="297"/>
                    </a:lnTo>
                    <a:lnTo>
                      <a:pt x="102" y="298"/>
                    </a:lnTo>
                    <a:lnTo>
                      <a:pt x="102" y="298"/>
                    </a:lnTo>
                    <a:lnTo>
                      <a:pt x="102" y="300"/>
                    </a:lnTo>
                    <a:lnTo>
                      <a:pt x="102" y="301"/>
                    </a:lnTo>
                    <a:lnTo>
                      <a:pt x="102" y="301"/>
                    </a:lnTo>
                    <a:lnTo>
                      <a:pt x="104" y="303"/>
                    </a:lnTo>
                    <a:lnTo>
                      <a:pt x="104" y="303"/>
                    </a:lnTo>
                    <a:lnTo>
                      <a:pt x="104" y="304"/>
                    </a:lnTo>
                    <a:lnTo>
                      <a:pt x="104" y="306"/>
                    </a:lnTo>
                    <a:lnTo>
                      <a:pt x="104" y="306"/>
                    </a:lnTo>
                    <a:lnTo>
                      <a:pt x="104" y="307"/>
                    </a:lnTo>
                    <a:lnTo>
                      <a:pt x="104" y="307"/>
                    </a:lnTo>
                    <a:lnTo>
                      <a:pt x="104" y="309"/>
                    </a:lnTo>
                    <a:lnTo>
                      <a:pt x="104" y="309"/>
                    </a:lnTo>
                    <a:lnTo>
                      <a:pt x="104" y="310"/>
                    </a:lnTo>
                    <a:lnTo>
                      <a:pt x="104" y="312"/>
                    </a:lnTo>
                    <a:lnTo>
                      <a:pt x="105" y="312"/>
                    </a:lnTo>
                    <a:lnTo>
                      <a:pt x="105" y="313"/>
                    </a:lnTo>
                    <a:lnTo>
                      <a:pt x="105" y="315"/>
                    </a:lnTo>
                    <a:lnTo>
                      <a:pt x="105" y="315"/>
                    </a:lnTo>
                    <a:lnTo>
                      <a:pt x="105" y="316"/>
                    </a:lnTo>
                    <a:lnTo>
                      <a:pt x="105" y="318"/>
                    </a:lnTo>
                    <a:lnTo>
                      <a:pt x="105" y="318"/>
                    </a:lnTo>
                    <a:lnTo>
                      <a:pt x="105" y="319"/>
                    </a:lnTo>
                    <a:lnTo>
                      <a:pt x="107" y="321"/>
                    </a:lnTo>
                    <a:lnTo>
                      <a:pt x="107" y="321"/>
                    </a:lnTo>
                    <a:lnTo>
                      <a:pt x="107" y="323"/>
                    </a:lnTo>
                    <a:lnTo>
                      <a:pt x="107" y="324"/>
                    </a:lnTo>
                    <a:lnTo>
                      <a:pt x="107" y="326"/>
                    </a:lnTo>
                    <a:lnTo>
                      <a:pt x="107" y="326"/>
                    </a:lnTo>
                    <a:lnTo>
                      <a:pt x="107" y="327"/>
                    </a:lnTo>
                    <a:lnTo>
                      <a:pt x="107" y="327"/>
                    </a:lnTo>
                    <a:lnTo>
                      <a:pt x="107" y="329"/>
                    </a:lnTo>
                    <a:lnTo>
                      <a:pt x="108" y="330"/>
                    </a:lnTo>
                    <a:lnTo>
                      <a:pt x="108" y="330"/>
                    </a:lnTo>
                    <a:lnTo>
                      <a:pt x="108" y="332"/>
                    </a:lnTo>
                    <a:lnTo>
                      <a:pt x="108" y="333"/>
                    </a:lnTo>
                    <a:lnTo>
                      <a:pt x="108" y="333"/>
                    </a:lnTo>
                    <a:lnTo>
                      <a:pt x="108" y="335"/>
                    </a:lnTo>
                    <a:lnTo>
                      <a:pt x="108" y="336"/>
                    </a:lnTo>
                    <a:lnTo>
                      <a:pt x="108" y="336"/>
                    </a:lnTo>
                    <a:lnTo>
                      <a:pt x="108" y="338"/>
                    </a:lnTo>
                    <a:lnTo>
                      <a:pt x="108" y="339"/>
                    </a:lnTo>
                    <a:lnTo>
                      <a:pt x="108" y="341"/>
                    </a:lnTo>
                    <a:lnTo>
                      <a:pt x="108" y="342"/>
                    </a:lnTo>
                    <a:lnTo>
                      <a:pt x="108" y="344"/>
                    </a:lnTo>
                    <a:lnTo>
                      <a:pt x="108" y="345"/>
                    </a:lnTo>
                    <a:lnTo>
                      <a:pt x="107" y="347"/>
                    </a:lnTo>
                    <a:lnTo>
                      <a:pt x="107" y="350"/>
                    </a:lnTo>
                    <a:lnTo>
                      <a:pt x="107" y="352"/>
                    </a:lnTo>
                    <a:lnTo>
                      <a:pt x="107" y="355"/>
                    </a:lnTo>
                    <a:lnTo>
                      <a:pt x="107" y="356"/>
                    </a:lnTo>
                    <a:lnTo>
                      <a:pt x="107" y="359"/>
                    </a:lnTo>
                    <a:lnTo>
                      <a:pt x="107" y="362"/>
                    </a:lnTo>
                    <a:lnTo>
                      <a:pt x="107" y="3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73"/>
              <p:cNvSpPr>
                <a:spLocks/>
              </p:cNvSpPr>
              <p:nvPr/>
            </p:nvSpPr>
            <p:spPr bwMode="auto">
              <a:xfrm>
                <a:off x="3403" y="2587"/>
                <a:ext cx="55" cy="183"/>
              </a:xfrm>
              <a:custGeom>
                <a:avLst/>
                <a:gdLst>
                  <a:gd name="T0" fmla="*/ 6 w 108"/>
                  <a:gd name="T1" fmla="*/ 11 h 365"/>
                  <a:gd name="T2" fmla="*/ 12 w 108"/>
                  <a:gd name="T3" fmla="*/ 23 h 365"/>
                  <a:gd name="T4" fmla="*/ 18 w 108"/>
                  <a:gd name="T5" fmla="*/ 32 h 365"/>
                  <a:gd name="T6" fmla="*/ 21 w 108"/>
                  <a:gd name="T7" fmla="*/ 40 h 365"/>
                  <a:gd name="T8" fmla="*/ 24 w 108"/>
                  <a:gd name="T9" fmla="*/ 46 h 365"/>
                  <a:gd name="T10" fmla="*/ 27 w 108"/>
                  <a:gd name="T11" fmla="*/ 52 h 365"/>
                  <a:gd name="T12" fmla="*/ 30 w 108"/>
                  <a:gd name="T13" fmla="*/ 58 h 365"/>
                  <a:gd name="T14" fmla="*/ 33 w 108"/>
                  <a:gd name="T15" fmla="*/ 64 h 365"/>
                  <a:gd name="T16" fmla="*/ 36 w 108"/>
                  <a:gd name="T17" fmla="*/ 70 h 365"/>
                  <a:gd name="T18" fmla="*/ 38 w 108"/>
                  <a:gd name="T19" fmla="*/ 78 h 365"/>
                  <a:gd name="T20" fmla="*/ 41 w 108"/>
                  <a:gd name="T21" fmla="*/ 82 h 365"/>
                  <a:gd name="T22" fmla="*/ 43 w 108"/>
                  <a:gd name="T23" fmla="*/ 87 h 365"/>
                  <a:gd name="T24" fmla="*/ 44 w 108"/>
                  <a:gd name="T25" fmla="*/ 93 h 365"/>
                  <a:gd name="T26" fmla="*/ 47 w 108"/>
                  <a:gd name="T27" fmla="*/ 98 h 365"/>
                  <a:gd name="T28" fmla="*/ 49 w 108"/>
                  <a:gd name="T29" fmla="*/ 104 h 365"/>
                  <a:gd name="T30" fmla="*/ 52 w 108"/>
                  <a:gd name="T31" fmla="*/ 113 h 365"/>
                  <a:gd name="T32" fmla="*/ 55 w 108"/>
                  <a:gd name="T33" fmla="*/ 119 h 365"/>
                  <a:gd name="T34" fmla="*/ 58 w 108"/>
                  <a:gd name="T35" fmla="*/ 128 h 365"/>
                  <a:gd name="T36" fmla="*/ 61 w 108"/>
                  <a:gd name="T37" fmla="*/ 136 h 365"/>
                  <a:gd name="T38" fmla="*/ 62 w 108"/>
                  <a:gd name="T39" fmla="*/ 141 h 365"/>
                  <a:gd name="T40" fmla="*/ 65 w 108"/>
                  <a:gd name="T41" fmla="*/ 147 h 365"/>
                  <a:gd name="T42" fmla="*/ 67 w 108"/>
                  <a:gd name="T43" fmla="*/ 151 h 365"/>
                  <a:gd name="T44" fmla="*/ 69 w 108"/>
                  <a:gd name="T45" fmla="*/ 157 h 365"/>
                  <a:gd name="T46" fmla="*/ 72 w 108"/>
                  <a:gd name="T47" fmla="*/ 165 h 365"/>
                  <a:gd name="T48" fmla="*/ 73 w 108"/>
                  <a:gd name="T49" fmla="*/ 173 h 365"/>
                  <a:gd name="T50" fmla="*/ 76 w 108"/>
                  <a:gd name="T51" fmla="*/ 182 h 365"/>
                  <a:gd name="T52" fmla="*/ 78 w 108"/>
                  <a:gd name="T53" fmla="*/ 189 h 365"/>
                  <a:gd name="T54" fmla="*/ 81 w 108"/>
                  <a:gd name="T55" fmla="*/ 196 h 365"/>
                  <a:gd name="T56" fmla="*/ 82 w 108"/>
                  <a:gd name="T57" fmla="*/ 200 h 365"/>
                  <a:gd name="T58" fmla="*/ 84 w 108"/>
                  <a:gd name="T59" fmla="*/ 206 h 365"/>
                  <a:gd name="T60" fmla="*/ 85 w 108"/>
                  <a:gd name="T61" fmla="*/ 211 h 365"/>
                  <a:gd name="T62" fmla="*/ 87 w 108"/>
                  <a:gd name="T63" fmla="*/ 219 h 365"/>
                  <a:gd name="T64" fmla="*/ 90 w 108"/>
                  <a:gd name="T65" fmla="*/ 228 h 365"/>
                  <a:gd name="T66" fmla="*/ 93 w 108"/>
                  <a:gd name="T67" fmla="*/ 235 h 365"/>
                  <a:gd name="T68" fmla="*/ 94 w 108"/>
                  <a:gd name="T69" fmla="*/ 243 h 365"/>
                  <a:gd name="T70" fmla="*/ 96 w 108"/>
                  <a:gd name="T71" fmla="*/ 249 h 365"/>
                  <a:gd name="T72" fmla="*/ 98 w 108"/>
                  <a:gd name="T73" fmla="*/ 254 h 365"/>
                  <a:gd name="T74" fmla="*/ 99 w 108"/>
                  <a:gd name="T75" fmla="*/ 258 h 365"/>
                  <a:gd name="T76" fmla="*/ 99 w 108"/>
                  <a:gd name="T77" fmla="*/ 264 h 365"/>
                  <a:gd name="T78" fmla="*/ 101 w 108"/>
                  <a:gd name="T79" fmla="*/ 271 h 365"/>
                  <a:gd name="T80" fmla="*/ 101 w 108"/>
                  <a:gd name="T81" fmla="*/ 278 h 365"/>
                  <a:gd name="T82" fmla="*/ 101 w 108"/>
                  <a:gd name="T83" fmla="*/ 284 h 365"/>
                  <a:gd name="T84" fmla="*/ 102 w 108"/>
                  <a:gd name="T85" fmla="*/ 290 h 365"/>
                  <a:gd name="T86" fmla="*/ 102 w 108"/>
                  <a:gd name="T87" fmla="*/ 297 h 365"/>
                  <a:gd name="T88" fmla="*/ 102 w 108"/>
                  <a:gd name="T89" fmla="*/ 301 h 365"/>
                  <a:gd name="T90" fmla="*/ 104 w 108"/>
                  <a:gd name="T91" fmla="*/ 304 h 365"/>
                  <a:gd name="T92" fmla="*/ 104 w 108"/>
                  <a:gd name="T93" fmla="*/ 307 h 365"/>
                  <a:gd name="T94" fmla="*/ 104 w 108"/>
                  <a:gd name="T95" fmla="*/ 312 h 365"/>
                  <a:gd name="T96" fmla="*/ 105 w 108"/>
                  <a:gd name="T97" fmla="*/ 315 h 365"/>
                  <a:gd name="T98" fmla="*/ 105 w 108"/>
                  <a:gd name="T99" fmla="*/ 319 h 365"/>
                  <a:gd name="T100" fmla="*/ 107 w 108"/>
                  <a:gd name="T101" fmla="*/ 324 h 365"/>
                  <a:gd name="T102" fmla="*/ 107 w 108"/>
                  <a:gd name="T103" fmla="*/ 327 h 365"/>
                  <a:gd name="T104" fmla="*/ 108 w 108"/>
                  <a:gd name="T105" fmla="*/ 332 h 365"/>
                  <a:gd name="T106" fmla="*/ 108 w 108"/>
                  <a:gd name="T107" fmla="*/ 336 h 365"/>
                  <a:gd name="T108" fmla="*/ 108 w 108"/>
                  <a:gd name="T109" fmla="*/ 341 h 365"/>
                  <a:gd name="T110" fmla="*/ 107 w 108"/>
                  <a:gd name="T111" fmla="*/ 347 h 365"/>
                  <a:gd name="T112" fmla="*/ 107 w 108"/>
                  <a:gd name="T113" fmla="*/ 356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8" h="365">
                    <a:moveTo>
                      <a:pt x="0" y="0"/>
                    </a:moveTo>
                    <a:lnTo>
                      <a:pt x="1" y="3"/>
                    </a:lnTo>
                    <a:lnTo>
                      <a:pt x="4" y="8"/>
                    </a:lnTo>
                    <a:lnTo>
                      <a:pt x="6" y="11"/>
                    </a:lnTo>
                    <a:lnTo>
                      <a:pt x="7" y="14"/>
                    </a:lnTo>
                    <a:lnTo>
                      <a:pt x="9" y="17"/>
                    </a:lnTo>
                    <a:lnTo>
                      <a:pt x="10" y="20"/>
                    </a:lnTo>
                    <a:lnTo>
                      <a:pt x="12" y="23"/>
                    </a:lnTo>
                    <a:lnTo>
                      <a:pt x="13" y="26"/>
                    </a:lnTo>
                    <a:lnTo>
                      <a:pt x="15" y="27"/>
                    </a:lnTo>
                    <a:lnTo>
                      <a:pt x="17" y="30"/>
                    </a:lnTo>
                    <a:lnTo>
                      <a:pt x="18" y="32"/>
                    </a:lnTo>
                    <a:lnTo>
                      <a:pt x="18" y="34"/>
                    </a:lnTo>
                    <a:lnTo>
                      <a:pt x="20" y="37"/>
                    </a:lnTo>
                    <a:lnTo>
                      <a:pt x="21" y="38"/>
                    </a:lnTo>
                    <a:lnTo>
                      <a:pt x="21" y="40"/>
                    </a:lnTo>
                    <a:lnTo>
                      <a:pt x="23" y="41"/>
                    </a:lnTo>
                    <a:lnTo>
                      <a:pt x="23" y="43"/>
                    </a:lnTo>
                    <a:lnTo>
                      <a:pt x="24" y="44"/>
                    </a:lnTo>
                    <a:lnTo>
                      <a:pt x="24" y="46"/>
                    </a:lnTo>
                    <a:lnTo>
                      <a:pt x="26" y="47"/>
                    </a:lnTo>
                    <a:lnTo>
                      <a:pt x="26" y="49"/>
                    </a:lnTo>
                    <a:lnTo>
                      <a:pt x="27" y="50"/>
                    </a:lnTo>
                    <a:lnTo>
                      <a:pt x="27" y="52"/>
                    </a:lnTo>
                    <a:lnTo>
                      <a:pt x="29" y="53"/>
                    </a:lnTo>
                    <a:lnTo>
                      <a:pt x="29" y="53"/>
                    </a:lnTo>
                    <a:lnTo>
                      <a:pt x="29" y="55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2" y="61"/>
                    </a:lnTo>
                    <a:lnTo>
                      <a:pt x="32" y="63"/>
                    </a:lnTo>
                    <a:lnTo>
                      <a:pt x="33" y="64"/>
                    </a:lnTo>
                    <a:lnTo>
                      <a:pt x="33" y="67"/>
                    </a:lnTo>
                    <a:lnTo>
                      <a:pt x="33" y="67"/>
                    </a:lnTo>
                    <a:lnTo>
                      <a:pt x="35" y="69"/>
                    </a:lnTo>
                    <a:lnTo>
                      <a:pt x="36" y="70"/>
                    </a:lnTo>
                    <a:lnTo>
                      <a:pt x="36" y="72"/>
                    </a:lnTo>
                    <a:lnTo>
                      <a:pt x="38" y="75"/>
                    </a:lnTo>
                    <a:lnTo>
                      <a:pt x="38" y="76"/>
                    </a:lnTo>
                    <a:lnTo>
                      <a:pt x="38" y="78"/>
                    </a:lnTo>
                    <a:lnTo>
                      <a:pt x="39" y="79"/>
                    </a:lnTo>
                    <a:lnTo>
                      <a:pt x="39" y="81"/>
                    </a:lnTo>
                    <a:lnTo>
                      <a:pt x="41" y="81"/>
                    </a:lnTo>
                    <a:lnTo>
                      <a:pt x="41" y="82"/>
                    </a:lnTo>
                    <a:lnTo>
                      <a:pt x="41" y="84"/>
                    </a:lnTo>
                    <a:lnTo>
                      <a:pt x="43" y="86"/>
                    </a:lnTo>
                    <a:lnTo>
                      <a:pt x="43" y="87"/>
                    </a:lnTo>
                    <a:lnTo>
                      <a:pt x="43" y="87"/>
                    </a:lnTo>
                    <a:lnTo>
                      <a:pt x="43" y="89"/>
                    </a:lnTo>
                    <a:lnTo>
                      <a:pt x="44" y="90"/>
                    </a:lnTo>
                    <a:lnTo>
                      <a:pt x="44" y="92"/>
                    </a:lnTo>
                    <a:lnTo>
                      <a:pt x="44" y="93"/>
                    </a:lnTo>
                    <a:lnTo>
                      <a:pt x="46" y="93"/>
                    </a:lnTo>
                    <a:lnTo>
                      <a:pt x="46" y="95"/>
                    </a:lnTo>
                    <a:lnTo>
                      <a:pt x="46" y="96"/>
                    </a:lnTo>
                    <a:lnTo>
                      <a:pt x="47" y="98"/>
                    </a:lnTo>
                    <a:lnTo>
                      <a:pt x="47" y="99"/>
                    </a:lnTo>
                    <a:lnTo>
                      <a:pt x="47" y="101"/>
                    </a:lnTo>
                    <a:lnTo>
                      <a:pt x="49" y="102"/>
                    </a:lnTo>
                    <a:lnTo>
                      <a:pt x="49" y="104"/>
                    </a:lnTo>
                    <a:lnTo>
                      <a:pt x="50" y="107"/>
                    </a:lnTo>
                    <a:lnTo>
                      <a:pt x="50" y="108"/>
                    </a:lnTo>
                    <a:lnTo>
                      <a:pt x="52" y="110"/>
                    </a:lnTo>
                    <a:lnTo>
                      <a:pt x="52" y="113"/>
                    </a:lnTo>
                    <a:lnTo>
                      <a:pt x="53" y="115"/>
                    </a:lnTo>
                    <a:lnTo>
                      <a:pt x="53" y="118"/>
                    </a:lnTo>
                    <a:lnTo>
                      <a:pt x="53" y="118"/>
                    </a:lnTo>
                    <a:lnTo>
                      <a:pt x="55" y="119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8" y="127"/>
                    </a:lnTo>
                    <a:lnTo>
                      <a:pt x="58" y="128"/>
                    </a:lnTo>
                    <a:lnTo>
                      <a:pt x="59" y="130"/>
                    </a:lnTo>
                    <a:lnTo>
                      <a:pt x="59" y="131"/>
                    </a:lnTo>
                    <a:lnTo>
                      <a:pt x="61" y="134"/>
                    </a:lnTo>
                    <a:lnTo>
                      <a:pt x="61" y="136"/>
                    </a:lnTo>
                    <a:lnTo>
                      <a:pt x="61" y="138"/>
                    </a:lnTo>
                    <a:lnTo>
                      <a:pt x="62" y="138"/>
                    </a:lnTo>
                    <a:lnTo>
                      <a:pt x="62" y="139"/>
                    </a:lnTo>
                    <a:lnTo>
                      <a:pt x="62" y="141"/>
                    </a:lnTo>
                    <a:lnTo>
                      <a:pt x="64" y="142"/>
                    </a:lnTo>
                    <a:lnTo>
                      <a:pt x="64" y="144"/>
                    </a:lnTo>
                    <a:lnTo>
                      <a:pt x="64" y="145"/>
                    </a:lnTo>
                    <a:lnTo>
                      <a:pt x="65" y="147"/>
                    </a:lnTo>
                    <a:lnTo>
                      <a:pt x="65" y="148"/>
                    </a:lnTo>
                    <a:lnTo>
                      <a:pt x="65" y="148"/>
                    </a:lnTo>
                    <a:lnTo>
                      <a:pt x="65" y="150"/>
                    </a:lnTo>
                    <a:lnTo>
                      <a:pt x="67" y="151"/>
                    </a:lnTo>
                    <a:lnTo>
                      <a:pt x="67" y="153"/>
                    </a:lnTo>
                    <a:lnTo>
                      <a:pt x="67" y="154"/>
                    </a:lnTo>
                    <a:lnTo>
                      <a:pt x="69" y="156"/>
                    </a:lnTo>
                    <a:lnTo>
                      <a:pt x="69" y="157"/>
                    </a:lnTo>
                    <a:lnTo>
                      <a:pt x="69" y="159"/>
                    </a:lnTo>
                    <a:lnTo>
                      <a:pt x="70" y="162"/>
                    </a:lnTo>
                    <a:lnTo>
                      <a:pt x="70" y="164"/>
                    </a:lnTo>
                    <a:lnTo>
                      <a:pt x="72" y="165"/>
                    </a:lnTo>
                    <a:lnTo>
                      <a:pt x="72" y="168"/>
                    </a:lnTo>
                    <a:lnTo>
                      <a:pt x="73" y="170"/>
                    </a:lnTo>
                    <a:lnTo>
                      <a:pt x="73" y="173"/>
                    </a:lnTo>
                    <a:lnTo>
                      <a:pt x="73" y="173"/>
                    </a:lnTo>
                    <a:lnTo>
                      <a:pt x="75" y="176"/>
                    </a:lnTo>
                    <a:lnTo>
                      <a:pt x="75" y="177"/>
                    </a:lnTo>
                    <a:lnTo>
                      <a:pt x="76" y="180"/>
                    </a:lnTo>
                    <a:lnTo>
                      <a:pt x="76" y="182"/>
                    </a:lnTo>
                    <a:lnTo>
                      <a:pt x="76" y="183"/>
                    </a:lnTo>
                    <a:lnTo>
                      <a:pt x="78" y="186"/>
                    </a:lnTo>
                    <a:lnTo>
                      <a:pt x="78" y="188"/>
                    </a:lnTo>
                    <a:lnTo>
                      <a:pt x="78" y="189"/>
                    </a:lnTo>
                    <a:lnTo>
                      <a:pt x="79" y="191"/>
                    </a:lnTo>
                    <a:lnTo>
                      <a:pt x="79" y="193"/>
                    </a:lnTo>
                    <a:lnTo>
                      <a:pt x="79" y="194"/>
                    </a:lnTo>
                    <a:lnTo>
                      <a:pt x="81" y="196"/>
                    </a:lnTo>
                    <a:lnTo>
                      <a:pt x="81" y="196"/>
                    </a:lnTo>
                    <a:lnTo>
                      <a:pt x="81" y="197"/>
                    </a:lnTo>
                    <a:lnTo>
                      <a:pt x="81" y="199"/>
                    </a:lnTo>
                    <a:lnTo>
                      <a:pt x="82" y="200"/>
                    </a:lnTo>
                    <a:lnTo>
                      <a:pt x="82" y="202"/>
                    </a:lnTo>
                    <a:lnTo>
                      <a:pt x="82" y="203"/>
                    </a:lnTo>
                    <a:lnTo>
                      <a:pt x="82" y="205"/>
                    </a:lnTo>
                    <a:lnTo>
                      <a:pt x="84" y="206"/>
                    </a:lnTo>
                    <a:lnTo>
                      <a:pt x="84" y="206"/>
                    </a:lnTo>
                    <a:lnTo>
                      <a:pt x="84" y="208"/>
                    </a:lnTo>
                    <a:lnTo>
                      <a:pt x="85" y="209"/>
                    </a:lnTo>
                    <a:lnTo>
                      <a:pt x="85" y="211"/>
                    </a:lnTo>
                    <a:lnTo>
                      <a:pt x="85" y="214"/>
                    </a:lnTo>
                    <a:lnTo>
                      <a:pt x="87" y="215"/>
                    </a:lnTo>
                    <a:lnTo>
                      <a:pt x="87" y="217"/>
                    </a:lnTo>
                    <a:lnTo>
                      <a:pt x="87" y="219"/>
                    </a:lnTo>
                    <a:lnTo>
                      <a:pt x="88" y="222"/>
                    </a:lnTo>
                    <a:lnTo>
                      <a:pt x="88" y="223"/>
                    </a:lnTo>
                    <a:lnTo>
                      <a:pt x="90" y="226"/>
                    </a:lnTo>
                    <a:lnTo>
                      <a:pt x="90" y="228"/>
                    </a:lnTo>
                    <a:lnTo>
                      <a:pt x="90" y="228"/>
                    </a:lnTo>
                    <a:lnTo>
                      <a:pt x="91" y="231"/>
                    </a:lnTo>
                    <a:lnTo>
                      <a:pt x="91" y="232"/>
                    </a:lnTo>
                    <a:lnTo>
                      <a:pt x="93" y="235"/>
                    </a:lnTo>
                    <a:lnTo>
                      <a:pt x="93" y="237"/>
                    </a:lnTo>
                    <a:lnTo>
                      <a:pt x="94" y="240"/>
                    </a:lnTo>
                    <a:lnTo>
                      <a:pt x="94" y="241"/>
                    </a:lnTo>
                    <a:lnTo>
                      <a:pt x="94" y="243"/>
                    </a:lnTo>
                    <a:lnTo>
                      <a:pt x="96" y="245"/>
                    </a:lnTo>
                    <a:lnTo>
                      <a:pt x="96" y="246"/>
                    </a:lnTo>
                    <a:lnTo>
                      <a:pt x="96" y="248"/>
                    </a:lnTo>
                    <a:lnTo>
                      <a:pt x="96" y="249"/>
                    </a:lnTo>
                    <a:lnTo>
                      <a:pt x="98" y="251"/>
                    </a:lnTo>
                    <a:lnTo>
                      <a:pt x="98" y="252"/>
                    </a:lnTo>
                    <a:lnTo>
                      <a:pt x="98" y="254"/>
                    </a:lnTo>
                    <a:lnTo>
                      <a:pt x="98" y="254"/>
                    </a:lnTo>
                    <a:lnTo>
                      <a:pt x="98" y="255"/>
                    </a:lnTo>
                    <a:lnTo>
                      <a:pt x="98" y="257"/>
                    </a:lnTo>
                    <a:lnTo>
                      <a:pt x="99" y="258"/>
                    </a:lnTo>
                    <a:lnTo>
                      <a:pt x="99" y="258"/>
                    </a:lnTo>
                    <a:lnTo>
                      <a:pt x="99" y="260"/>
                    </a:lnTo>
                    <a:lnTo>
                      <a:pt x="99" y="261"/>
                    </a:lnTo>
                    <a:lnTo>
                      <a:pt x="99" y="263"/>
                    </a:lnTo>
                    <a:lnTo>
                      <a:pt x="99" y="264"/>
                    </a:lnTo>
                    <a:lnTo>
                      <a:pt x="99" y="266"/>
                    </a:lnTo>
                    <a:lnTo>
                      <a:pt x="99" y="267"/>
                    </a:lnTo>
                    <a:lnTo>
                      <a:pt x="99" y="269"/>
                    </a:lnTo>
                    <a:lnTo>
                      <a:pt x="101" y="271"/>
                    </a:lnTo>
                    <a:lnTo>
                      <a:pt x="101" y="272"/>
                    </a:lnTo>
                    <a:lnTo>
                      <a:pt x="101" y="274"/>
                    </a:lnTo>
                    <a:lnTo>
                      <a:pt x="101" y="275"/>
                    </a:lnTo>
                    <a:lnTo>
                      <a:pt x="101" y="278"/>
                    </a:lnTo>
                    <a:lnTo>
                      <a:pt x="101" y="280"/>
                    </a:lnTo>
                    <a:lnTo>
                      <a:pt x="101" y="280"/>
                    </a:lnTo>
                    <a:lnTo>
                      <a:pt x="101" y="281"/>
                    </a:lnTo>
                    <a:lnTo>
                      <a:pt x="101" y="284"/>
                    </a:lnTo>
                    <a:lnTo>
                      <a:pt x="101" y="286"/>
                    </a:lnTo>
                    <a:lnTo>
                      <a:pt x="102" y="287"/>
                    </a:lnTo>
                    <a:lnTo>
                      <a:pt x="102" y="289"/>
                    </a:lnTo>
                    <a:lnTo>
                      <a:pt x="102" y="290"/>
                    </a:lnTo>
                    <a:lnTo>
                      <a:pt x="102" y="292"/>
                    </a:lnTo>
                    <a:lnTo>
                      <a:pt x="102" y="293"/>
                    </a:lnTo>
                    <a:lnTo>
                      <a:pt x="102" y="295"/>
                    </a:lnTo>
                    <a:lnTo>
                      <a:pt x="102" y="297"/>
                    </a:lnTo>
                    <a:lnTo>
                      <a:pt x="102" y="298"/>
                    </a:lnTo>
                    <a:lnTo>
                      <a:pt x="102" y="298"/>
                    </a:lnTo>
                    <a:lnTo>
                      <a:pt x="102" y="300"/>
                    </a:lnTo>
                    <a:lnTo>
                      <a:pt x="102" y="301"/>
                    </a:lnTo>
                    <a:lnTo>
                      <a:pt x="102" y="301"/>
                    </a:lnTo>
                    <a:lnTo>
                      <a:pt x="104" y="303"/>
                    </a:lnTo>
                    <a:lnTo>
                      <a:pt x="104" y="303"/>
                    </a:lnTo>
                    <a:lnTo>
                      <a:pt x="104" y="304"/>
                    </a:lnTo>
                    <a:lnTo>
                      <a:pt x="104" y="306"/>
                    </a:lnTo>
                    <a:lnTo>
                      <a:pt x="104" y="306"/>
                    </a:lnTo>
                    <a:lnTo>
                      <a:pt x="104" y="307"/>
                    </a:lnTo>
                    <a:lnTo>
                      <a:pt x="104" y="307"/>
                    </a:lnTo>
                    <a:lnTo>
                      <a:pt x="104" y="309"/>
                    </a:lnTo>
                    <a:lnTo>
                      <a:pt x="104" y="309"/>
                    </a:lnTo>
                    <a:lnTo>
                      <a:pt x="104" y="310"/>
                    </a:lnTo>
                    <a:lnTo>
                      <a:pt x="104" y="312"/>
                    </a:lnTo>
                    <a:lnTo>
                      <a:pt x="105" y="312"/>
                    </a:lnTo>
                    <a:lnTo>
                      <a:pt x="105" y="313"/>
                    </a:lnTo>
                    <a:lnTo>
                      <a:pt x="105" y="315"/>
                    </a:lnTo>
                    <a:lnTo>
                      <a:pt x="105" y="315"/>
                    </a:lnTo>
                    <a:lnTo>
                      <a:pt x="105" y="316"/>
                    </a:lnTo>
                    <a:lnTo>
                      <a:pt x="105" y="318"/>
                    </a:lnTo>
                    <a:lnTo>
                      <a:pt x="105" y="318"/>
                    </a:lnTo>
                    <a:lnTo>
                      <a:pt x="105" y="319"/>
                    </a:lnTo>
                    <a:lnTo>
                      <a:pt x="107" y="321"/>
                    </a:lnTo>
                    <a:lnTo>
                      <a:pt x="107" y="321"/>
                    </a:lnTo>
                    <a:lnTo>
                      <a:pt x="107" y="323"/>
                    </a:lnTo>
                    <a:lnTo>
                      <a:pt x="107" y="324"/>
                    </a:lnTo>
                    <a:lnTo>
                      <a:pt x="107" y="326"/>
                    </a:lnTo>
                    <a:lnTo>
                      <a:pt x="107" y="326"/>
                    </a:lnTo>
                    <a:lnTo>
                      <a:pt x="107" y="327"/>
                    </a:lnTo>
                    <a:lnTo>
                      <a:pt x="107" y="327"/>
                    </a:lnTo>
                    <a:lnTo>
                      <a:pt x="107" y="329"/>
                    </a:lnTo>
                    <a:lnTo>
                      <a:pt x="108" y="330"/>
                    </a:lnTo>
                    <a:lnTo>
                      <a:pt x="108" y="330"/>
                    </a:lnTo>
                    <a:lnTo>
                      <a:pt x="108" y="332"/>
                    </a:lnTo>
                    <a:lnTo>
                      <a:pt x="108" y="333"/>
                    </a:lnTo>
                    <a:lnTo>
                      <a:pt x="108" y="333"/>
                    </a:lnTo>
                    <a:lnTo>
                      <a:pt x="108" y="335"/>
                    </a:lnTo>
                    <a:lnTo>
                      <a:pt x="108" y="336"/>
                    </a:lnTo>
                    <a:lnTo>
                      <a:pt x="108" y="336"/>
                    </a:lnTo>
                    <a:lnTo>
                      <a:pt x="108" y="338"/>
                    </a:lnTo>
                    <a:lnTo>
                      <a:pt x="108" y="339"/>
                    </a:lnTo>
                    <a:lnTo>
                      <a:pt x="108" y="341"/>
                    </a:lnTo>
                    <a:lnTo>
                      <a:pt x="108" y="342"/>
                    </a:lnTo>
                    <a:lnTo>
                      <a:pt x="108" y="344"/>
                    </a:lnTo>
                    <a:lnTo>
                      <a:pt x="108" y="345"/>
                    </a:lnTo>
                    <a:lnTo>
                      <a:pt x="107" y="347"/>
                    </a:lnTo>
                    <a:lnTo>
                      <a:pt x="107" y="350"/>
                    </a:lnTo>
                    <a:lnTo>
                      <a:pt x="107" y="352"/>
                    </a:lnTo>
                    <a:lnTo>
                      <a:pt x="107" y="355"/>
                    </a:lnTo>
                    <a:lnTo>
                      <a:pt x="107" y="356"/>
                    </a:lnTo>
                    <a:lnTo>
                      <a:pt x="107" y="359"/>
                    </a:lnTo>
                    <a:lnTo>
                      <a:pt x="107" y="362"/>
                    </a:lnTo>
                    <a:lnTo>
                      <a:pt x="107" y="365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74"/>
              <p:cNvSpPr>
                <a:spLocks/>
              </p:cNvSpPr>
              <p:nvPr/>
            </p:nvSpPr>
            <p:spPr bwMode="auto">
              <a:xfrm>
                <a:off x="3403" y="2768"/>
                <a:ext cx="55" cy="183"/>
              </a:xfrm>
              <a:custGeom>
                <a:avLst/>
                <a:gdLst>
                  <a:gd name="T0" fmla="*/ 6 w 108"/>
                  <a:gd name="T1" fmla="*/ 355 h 366"/>
                  <a:gd name="T2" fmla="*/ 12 w 108"/>
                  <a:gd name="T3" fmla="*/ 343 h 366"/>
                  <a:gd name="T4" fmla="*/ 18 w 108"/>
                  <a:gd name="T5" fmla="*/ 334 h 366"/>
                  <a:gd name="T6" fmla="*/ 21 w 108"/>
                  <a:gd name="T7" fmla="*/ 326 h 366"/>
                  <a:gd name="T8" fmla="*/ 24 w 108"/>
                  <a:gd name="T9" fmla="*/ 320 h 366"/>
                  <a:gd name="T10" fmla="*/ 27 w 108"/>
                  <a:gd name="T11" fmla="*/ 315 h 366"/>
                  <a:gd name="T12" fmla="*/ 30 w 108"/>
                  <a:gd name="T13" fmla="*/ 309 h 366"/>
                  <a:gd name="T14" fmla="*/ 33 w 108"/>
                  <a:gd name="T15" fmla="*/ 301 h 366"/>
                  <a:gd name="T16" fmla="*/ 36 w 108"/>
                  <a:gd name="T17" fmla="*/ 295 h 366"/>
                  <a:gd name="T18" fmla="*/ 38 w 108"/>
                  <a:gd name="T19" fmla="*/ 288 h 366"/>
                  <a:gd name="T20" fmla="*/ 41 w 108"/>
                  <a:gd name="T21" fmla="*/ 283 h 366"/>
                  <a:gd name="T22" fmla="*/ 43 w 108"/>
                  <a:gd name="T23" fmla="*/ 279 h 366"/>
                  <a:gd name="T24" fmla="*/ 44 w 108"/>
                  <a:gd name="T25" fmla="*/ 272 h 366"/>
                  <a:gd name="T26" fmla="*/ 47 w 108"/>
                  <a:gd name="T27" fmla="*/ 268 h 366"/>
                  <a:gd name="T28" fmla="*/ 49 w 108"/>
                  <a:gd name="T29" fmla="*/ 262 h 366"/>
                  <a:gd name="T30" fmla="*/ 52 w 108"/>
                  <a:gd name="T31" fmla="*/ 253 h 366"/>
                  <a:gd name="T32" fmla="*/ 55 w 108"/>
                  <a:gd name="T33" fmla="*/ 246 h 366"/>
                  <a:gd name="T34" fmla="*/ 58 w 108"/>
                  <a:gd name="T35" fmla="*/ 237 h 366"/>
                  <a:gd name="T36" fmla="*/ 61 w 108"/>
                  <a:gd name="T37" fmla="*/ 230 h 366"/>
                  <a:gd name="T38" fmla="*/ 62 w 108"/>
                  <a:gd name="T39" fmla="*/ 225 h 366"/>
                  <a:gd name="T40" fmla="*/ 65 w 108"/>
                  <a:gd name="T41" fmla="*/ 219 h 366"/>
                  <a:gd name="T42" fmla="*/ 67 w 108"/>
                  <a:gd name="T43" fmla="*/ 214 h 366"/>
                  <a:gd name="T44" fmla="*/ 69 w 108"/>
                  <a:gd name="T45" fmla="*/ 208 h 366"/>
                  <a:gd name="T46" fmla="*/ 72 w 108"/>
                  <a:gd name="T47" fmla="*/ 201 h 366"/>
                  <a:gd name="T48" fmla="*/ 73 w 108"/>
                  <a:gd name="T49" fmla="*/ 193 h 366"/>
                  <a:gd name="T50" fmla="*/ 76 w 108"/>
                  <a:gd name="T51" fmla="*/ 184 h 366"/>
                  <a:gd name="T52" fmla="*/ 78 w 108"/>
                  <a:gd name="T53" fmla="*/ 176 h 366"/>
                  <a:gd name="T54" fmla="*/ 81 w 108"/>
                  <a:gd name="T55" fmla="*/ 170 h 366"/>
                  <a:gd name="T56" fmla="*/ 82 w 108"/>
                  <a:gd name="T57" fmla="*/ 165 h 366"/>
                  <a:gd name="T58" fmla="*/ 84 w 108"/>
                  <a:gd name="T59" fmla="*/ 159 h 366"/>
                  <a:gd name="T60" fmla="*/ 85 w 108"/>
                  <a:gd name="T61" fmla="*/ 155 h 366"/>
                  <a:gd name="T62" fmla="*/ 87 w 108"/>
                  <a:gd name="T63" fmla="*/ 147 h 366"/>
                  <a:gd name="T64" fmla="*/ 90 w 108"/>
                  <a:gd name="T65" fmla="*/ 138 h 366"/>
                  <a:gd name="T66" fmla="*/ 93 w 108"/>
                  <a:gd name="T67" fmla="*/ 130 h 366"/>
                  <a:gd name="T68" fmla="*/ 94 w 108"/>
                  <a:gd name="T69" fmla="*/ 123 h 366"/>
                  <a:gd name="T70" fmla="*/ 96 w 108"/>
                  <a:gd name="T71" fmla="*/ 116 h 366"/>
                  <a:gd name="T72" fmla="*/ 98 w 108"/>
                  <a:gd name="T73" fmla="*/ 112 h 366"/>
                  <a:gd name="T74" fmla="*/ 99 w 108"/>
                  <a:gd name="T75" fmla="*/ 107 h 366"/>
                  <a:gd name="T76" fmla="*/ 99 w 108"/>
                  <a:gd name="T77" fmla="*/ 101 h 366"/>
                  <a:gd name="T78" fmla="*/ 101 w 108"/>
                  <a:gd name="T79" fmla="*/ 95 h 366"/>
                  <a:gd name="T80" fmla="*/ 101 w 108"/>
                  <a:gd name="T81" fmla="*/ 87 h 366"/>
                  <a:gd name="T82" fmla="*/ 101 w 108"/>
                  <a:gd name="T83" fmla="*/ 81 h 366"/>
                  <a:gd name="T84" fmla="*/ 102 w 108"/>
                  <a:gd name="T85" fmla="*/ 75 h 366"/>
                  <a:gd name="T86" fmla="*/ 102 w 108"/>
                  <a:gd name="T87" fmla="*/ 69 h 366"/>
                  <a:gd name="T88" fmla="*/ 102 w 108"/>
                  <a:gd name="T89" fmla="*/ 64 h 366"/>
                  <a:gd name="T90" fmla="*/ 104 w 108"/>
                  <a:gd name="T91" fmla="*/ 61 h 366"/>
                  <a:gd name="T92" fmla="*/ 104 w 108"/>
                  <a:gd name="T93" fmla="*/ 58 h 366"/>
                  <a:gd name="T94" fmla="*/ 104 w 108"/>
                  <a:gd name="T95" fmla="*/ 54 h 366"/>
                  <a:gd name="T96" fmla="*/ 105 w 108"/>
                  <a:gd name="T97" fmla="*/ 51 h 366"/>
                  <a:gd name="T98" fmla="*/ 105 w 108"/>
                  <a:gd name="T99" fmla="*/ 46 h 366"/>
                  <a:gd name="T100" fmla="*/ 107 w 108"/>
                  <a:gd name="T101" fmla="*/ 42 h 366"/>
                  <a:gd name="T102" fmla="*/ 107 w 108"/>
                  <a:gd name="T103" fmla="*/ 38 h 366"/>
                  <a:gd name="T104" fmla="*/ 108 w 108"/>
                  <a:gd name="T105" fmla="*/ 34 h 366"/>
                  <a:gd name="T106" fmla="*/ 108 w 108"/>
                  <a:gd name="T107" fmla="*/ 29 h 366"/>
                  <a:gd name="T108" fmla="*/ 108 w 108"/>
                  <a:gd name="T109" fmla="*/ 25 h 366"/>
                  <a:gd name="T110" fmla="*/ 107 w 108"/>
                  <a:gd name="T111" fmla="*/ 19 h 366"/>
                  <a:gd name="T112" fmla="*/ 107 w 108"/>
                  <a:gd name="T113" fmla="*/ 9 h 366"/>
                  <a:gd name="T114" fmla="*/ 0 w 108"/>
                  <a:gd name="T115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8" h="366">
                    <a:moveTo>
                      <a:pt x="0" y="366"/>
                    </a:moveTo>
                    <a:lnTo>
                      <a:pt x="1" y="361"/>
                    </a:lnTo>
                    <a:lnTo>
                      <a:pt x="4" y="358"/>
                    </a:lnTo>
                    <a:lnTo>
                      <a:pt x="6" y="355"/>
                    </a:lnTo>
                    <a:lnTo>
                      <a:pt x="7" y="352"/>
                    </a:lnTo>
                    <a:lnTo>
                      <a:pt x="9" y="349"/>
                    </a:lnTo>
                    <a:lnTo>
                      <a:pt x="10" y="346"/>
                    </a:lnTo>
                    <a:lnTo>
                      <a:pt x="12" y="343"/>
                    </a:lnTo>
                    <a:lnTo>
                      <a:pt x="13" y="340"/>
                    </a:lnTo>
                    <a:lnTo>
                      <a:pt x="15" y="338"/>
                    </a:lnTo>
                    <a:lnTo>
                      <a:pt x="17" y="335"/>
                    </a:lnTo>
                    <a:lnTo>
                      <a:pt x="18" y="334"/>
                    </a:lnTo>
                    <a:lnTo>
                      <a:pt x="18" y="332"/>
                    </a:lnTo>
                    <a:lnTo>
                      <a:pt x="20" y="329"/>
                    </a:lnTo>
                    <a:lnTo>
                      <a:pt x="21" y="327"/>
                    </a:lnTo>
                    <a:lnTo>
                      <a:pt x="21" y="326"/>
                    </a:lnTo>
                    <a:lnTo>
                      <a:pt x="23" y="324"/>
                    </a:lnTo>
                    <a:lnTo>
                      <a:pt x="23" y="323"/>
                    </a:lnTo>
                    <a:lnTo>
                      <a:pt x="24" y="321"/>
                    </a:lnTo>
                    <a:lnTo>
                      <a:pt x="24" y="320"/>
                    </a:lnTo>
                    <a:lnTo>
                      <a:pt x="26" y="318"/>
                    </a:lnTo>
                    <a:lnTo>
                      <a:pt x="26" y="317"/>
                    </a:lnTo>
                    <a:lnTo>
                      <a:pt x="27" y="315"/>
                    </a:lnTo>
                    <a:lnTo>
                      <a:pt x="27" y="315"/>
                    </a:lnTo>
                    <a:lnTo>
                      <a:pt x="29" y="314"/>
                    </a:lnTo>
                    <a:lnTo>
                      <a:pt x="29" y="312"/>
                    </a:lnTo>
                    <a:lnTo>
                      <a:pt x="29" y="311"/>
                    </a:lnTo>
                    <a:lnTo>
                      <a:pt x="30" y="309"/>
                    </a:lnTo>
                    <a:lnTo>
                      <a:pt x="30" y="306"/>
                    </a:lnTo>
                    <a:lnTo>
                      <a:pt x="32" y="305"/>
                    </a:lnTo>
                    <a:lnTo>
                      <a:pt x="32" y="303"/>
                    </a:lnTo>
                    <a:lnTo>
                      <a:pt x="33" y="301"/>
                    </a:lnTo>
                    <a:lnTo>
                      <a:pt x="33" y="298"/>
                    </a:lnTo>
                    <a:lnTo>
                      <a:pt x="33" y="298"/>
                    </a:lnTo>
                    <a:lnTo>
                      <a:pt x="35" y="297"/>
                    </a:lnTo>
                    <a:lnTo>
                      <a:pt x="36" y="295"/>
                    </a:lnTo>
                    <a:lnTo>
                      <a:pt x="36" y="294"/>
                    </a:lnTo>
                    <a:lnTo>
                      <a:pt x="38" y="291"/>
                    </a:lnTo>
                    <a:lnTo>
                      <a:pt x="38" y="289"/>
                    </a:lnTo>
                    <a:lnTo>
                      <a:pt x="38" y="288"/>
                    </a:lnTo>
                    <a:lnTo>
                      <a:pt x="39" y="286"/>
                    </a:lnTo>
                    <a:lnTo>
                      <a:pt x="39" y="285"/>
                    </a:lnTo>
                    <a:lnTo>
                      <a:pt x="41" y="285"/>
                    </a:lnTo>
                    <a:lnTo>
                      <a:pt x="41" y="283"/>
                    </a:lnTo>
                    <a:lnTo>
                      <a:pt x="41" y="282"/>
                    </a:lnTo>
                    <a:lnTo>
                      <a:pt x="43" y="280"/>
                    </a:lnTo>
                    <a:lnTo>
                      <a:pt x="43" y="279"/>
                    </a:lnTo>
                    <a:lnTo>
                      <a:pt x="43" y="279"/>
                    </a:lnTo>
                    <a:lnTo>
                      <a:pt x="43" y="277"/>
                    </a:lnTo>
                    <a:lnTo>
                      <a:pt x="44" y="275"/>
                    </a:lnTo>
                    <a:lnTo>
                      <a:pt x="44" y="274"/>
                    </a:lnTo>
                    <a:lnTo>
                      <a:pt x="44" y="272"/>
                    </a:lnTo>
                    <a:lnTo>
                      <a:pt x="46" y="272"/>
                    </a:lnTo>
                    <a:lnTo>
                      <a:pt x="46" y="271"/>
                    </a:lnTo>
                    <a:lnTo>
                      <a:pt x="46" y="269"/>
                    </a:lnTo>
                    <a:lnTo>
                      <a:pt x="47" y="268"/>
                    </a:lnTo>
                    <a:lnTo>
                      <a:pt x="47" y="266"/>
                    </a:lnTo>
                    <a:lnTo>
                      <a:pt x="47" y="265"/>
                    </a:lnTo>
                    <a:lnTo>
                      <a:pt x="49" y="263"/>
                    </a:lnTo>
                    <a:lnTo>
                      <a:pt x="49" y="262"/>
                    </a:lnTo>
                    <a:lnTo>
                      <a:pt x="50" y="260"/>
                    </a:lnTo>
                    <a:lnTo>
                      <a:pt x="50" y="257"/>
                    </a:lnTo>
                    <a:lnTo>
                      <a:pt x="52" y="256"/>
                    </a:lnTo>
                    <a:lnTo>
                      <a:pt x="52" y="253"/>
                    </a:lnTo>
                    <a:lnTo>
                      <a:pt x="53" y="251"/>
                    </a:lnTo>
                    <a:lnTo>
                      <a:pt x="53" y="248"/>
                    </a:lnTo>
                    <a:lnTo>
                      <a:pt x="53" y="248"/>
                    </a:lnTo>
                    <a:lnTo>
                      <a:pt x="55" y="246"/>
                    </a:lnTo>
                    <a:lnTo>
                      <a:pt x="56" y="243"/>
                    </a:lnTo>
                    <a:lnTo>
                      <a:pt x="56" y="242"/>
                    </a:lnTo>
                    <a:lnTo>
                      <a:pt x="58" y="239"/>
                    </a:lnTo>
                    <a:lnTo>
                      <a:pt x="58" y="237"/>
                    </a:lnTo>
                    <a:lnTo>
                      <a:pt x="59" y="236"/>
                    </a:lnTo>
                    <a:lnTo>
                      <a:pt x="59" y="234"/>
                    </a:lnTo>
                    <a:lnTo>
                      <a:pt x="61" y="231"/>
                    </a:lnTo>
                    <a:lnTo>
                      <a:pt x="61" y="230"/>
                    </a:lnTo>
                    <a:lnTo>
                      <a:pt x="61" y="228"/>
                    </a:lnTo>
                    <a:lnTo>
                      <a:pt x="62" y="227"/>
                    </a:lnTo>
                    <a:lnTo>
                      <a:pt x="62" y="227"/>
                    </a:lnTo>
                    <a:lnTo>
                      <a:pt x="62" y="225"/>
                    </a:lnTo>
                    <a:lnTo>
                      <a:pt x="64" y="223"/>
                    </a:lnTo>
                    <a:lnTo>
                      <a:pt x="64" y="222"/>
                    </a:lnTo>
                    <a:lnTo>
                      <a:pt x="64" y="220"/>
                    </a:lnTo>
                    <a:lnTo>
                      <a:pt x="65" y="219"/>
                    </a:lnTo>
                    <a:lnTo>
                      <a:pt x="65" y="217"/>
                    </a:lnTo>
                    <a:lnTo>
                      <a:pt x="65" y="216"/>
                    </a:lnTo>
                    <a:lnTo>
                      <a:pt x="65" y="216"/>
                    </a:lnTo>
                    <a:lnTo>
                      <a:pt x="67" y="214"/>
                    </a:lnTo>
                    <a:lnTo>
                      <a:pt x="67" y="213"/>
                    </a:lnTo>
                    <a:lnTo>
                      <a:pt x="67" y="211"/>
                    </a:lnTo>
                    <a:lnTo>
                      <a:pt x="69" y="210"/>
                    </a:lnTo>
                    <a:lnTo>
                      <a:pt x="69" y="208"/>
                    </a:lnTo>
                    <a:lnTo>
                      <a:pt x="69" y="207"/>
                    </a:lnTo>
                    <a:lnTo>
                      <a:pt x="70" y="204"/>
                    </a:lnTo>
                    <a:lnTo>
                      <a:pt x="70" y="202"/>
                    </a:lnTo>
                    <a:lnTo>
                      <a:pt x="72" y="201"/>
                    </a:lnTo>
                    <a:lnTo>
                      <a:pt x="72" y="197"/>
                    </a:lnTo>
                    <a:lnTo>
                      <a:pt x="73" y="196"/>
                    </a:lnTo>
                    <a:lnTo>
                      <a:pt x="73" y="193"/>
                    </a:lnTo>
                    <a:lnTo>
                      <a:pt x="73" y="193"/>
                    </a:lnTo>
                    <a:lnTo>
                      <a:pt x="75" y="190"/>
                    </a:lnTo>
                    <a:lnTo>
                      <a:pt x="75" y="188"/>
                    </a:lnTo>
                    <a:lnTo>
                      <a:pt x="76" y="185"/>
                    </a:lnTo>
                    <a:lnTo>
                      <a:pt x="76" y="184"/>
                    </a:lnTo>
                    <a:lnTo>
                      <a:pt x="76" y="182"/>
                    </a:lnTo>
                    <a:lnTo>
                      <a:pt x="78" y="179"/>
                    </a:lnTo>
                    <a:lnTo>
                      <a:pt x="78" y="178"/>
                    </a:lnTo>
                    <a:lnTo>
                      <a:pt x="78" y="176"/>
                    </a:lnTo>
                    <a:lnTo>
                      <a:pt x="79" y="175"/>
                    </a:lnTo>
                    <a:lnTo>
                      <a:pt x="79" y="173"/>
                    </a:lnTo>
                    <a:lnTo>
                      <a:pt x="79" y="171"/>
                    </a:lnTo>
                    <a:lnTo>
                      <a:pt x="81" y="170"/>
                    </a:lnTo>
                    <a:lnTo>
                      <a:pt x="81" y="168"/>
                    </a:lnTo>
                    <a:lnTo>
                      <a:pt x="81" y="168"/>
                    </a:lnTo>
                    <a:lnTo>
                      <a:pt x="81" y="167"/>
                    </a:lnTo>
                    <a:lnTo>
                      <a:pt x="82" y="165"/>
                    </a:lnTo>
                    <a:lnTo>
                      <a:pt x="82" y="164"/>
                    </a:lnTo>
                    <a:lnTo>
                      <a:pt x="82" y="162"/>
                    </a:lnTo>
                    <a:lnTo>
                      <a:pt x="82" y="161"/>
                    </a:lnTo>
                    <a:lnTo>
                      <a:pt x="84" y="159"/>
                    </a:lnTo>
                    <a:lnTo>
                      <a:pt x="84" y="158"/>
                    </a:lnTo>
                    <a:lnTo>
                      <a:pt x="84" y="158"/>
                    </a:lnTo>
                    <a:lnTo>
                      <a:pt x="85" y="156"/>
                    </a:lnTo>
                    <a:lnTo>
                      <a:pt x="85" y="155"/>
                    </a:lnTo>
                    <a:lnTo>
                      <a:pt x="85" y="152"/>
                    </a:lnTo>
                    <a:lnTo>
                      <a:pt x="87" y="150"/>
                    </a:lnTo>
                    <a:lnTo>
                      <a:pt x="87" y="149"/>
                    </a:lnTo>
                    <a:lnTo>
                      <a:pt x="87" y="147"/>
                    </a:lnTo>
                    <a:lnTo>
                      <a:pt x="88" y="144"/>
                    </a:lnTo>
                    <a:lnTo>
                      <a:pt x="88" y="142"/>
                    </a:lnTo>
                    <a:lnTo>
                      <a:pt x="90" y="139"/>
                    </a:lnTo>
                    <a:lnTo>
                      <a:pt x="90" y="138"/>
                    </a:lnTo>
                    <a:lnTo>
                      <a:pt x="90" y="138"/>
                    </a:lnTo>
                    <a:lnTo>
                      <a:pt x="91" y="135"/>
                    </a:lnTo>
                    <a:lnTo>
                      <a:pt x="91" y="133"/>
                    </a:lnTo>
                    <a:lnTo>
                      <a:pt x="93" y="130"/>
                    </a:lnTo>
                    <a:lnTo>
                      <a:pt x="93" y="129"/>
                    </a:lnTo>
                    <a:lnTo>
                      <a:pt x="94" y="127"/>
                    </a:lnTo>
                    <a:lnTo>
                      <a:pt x="94" y="124"/>
                    </a:lnTo>
                    <a:lnTo>
                      <a:pt x="94" y="123"/>
                    </a:lnTo>
                    <a:lnTo>
                      <a:pt x="96" y="121"/>
                    </a:lnTo>
                    <a:lnTo>
                      <a:pt x="96" y="120"/>
                    </a:lnTo>
                    <a:lnTo>
                      <a:pt x="96" y="118"/>
                    </a:lnTo>
                    <a:lnTo>
                      <a:pt x="96" y="116"/>
                    </a:lnTo>
                    <a:lnTo>
                      <a:pt x="98" y="115"/>
                    </a:lnTo>
                    <a:lnTo>
                      <a:pt x="98" y="113"/>
                    </a:lnTo>
                    <a:lnTo>
                      <a:pt x="98" y="113"/>
                    </a:lnTo>
                    <a:lnTo>
                      <a:pt x="98" y="112"/>
                    </a:lnTo>
                    <a:lnTo>
                      <a:pt x="98" y="110"/>
                    </a:lnTo>
                    <a:lnTo>
                      <a:pt x="98" y="109"/>
                    </a:lnTo>
                    <a:lnTo>
                      <a:pt x="99" y="107"/>
                    </a:lnTo>
                    <a:lnTo>
                      <a:pt x="99" y="107"/>
                    </a:lnTo>
                    <a:lnTo>
                      <a:pt x="99" y="106"/>
                    </a:lnTo>
                    <a:lnTo>
                      <a:pt x="99" y="104"/>
                    </a:lnTo>
                    <a:lnTo>
                      <a:pt x="99" y="103"/>
                    </a:lnTo>
                    <a:lnTo>
                      <a:pt x="99" y="101"/>
                    </a:lnTo>
                    <a:lnTo>
                      <a:pt x="99" y="100"/>
                    </a:lnTo>
                    <a:lnTo>
                      <a:pt x="99" y="98"/>
                    </a:lnTo>
                    <a:lnTo>
                      <a:pt x="99" y="97"/>
                    </a:lnTo>
                    <a:lnTo>
                      <a:pt x="101" y="95"/>
                    </a:lnTo>
                    <a:lnTo>
                      <a:pt x="101" y="94"/>
                    </a:lnTo>
                    <a:lnTo>
                      <a:pt x="101" y="92"/>
                    </a:lnTo>
                    <a:lnTo>
                      <a:pt x="101" y="90"/>
                    </a:lnTo>
                    <a:lnTo>
                      <a:pt x="101" y="87"/>
                    </a:lnTo>
                    <a:lnTo>
                      <a:pt x="101" y="86"/>
                    </a:lnTo>
                    <a:lnTo>
                      <a:pt x="101" y="86"/>
                    </a:lnTo>
                    <a:lnTo>
                      <a:pt x="101" y="84"/>
                    </a:lnTo>
                    <a:lnTo>
                      <a:pt x="101" y="81"/>
                    </a:lnTo>
                    <a:lnTo>
                      <a:pt x="101" y="80"/>
                    </a:lnTo>
                    <a:lnTo>
                      <a:pt x="102" y="78"/>
                    </a:lnTo>
                    <a:lnTo>
                      <a:pt x="102" y="77"/>
                    </a:lnTo>
                    <a:lnTo>
                      <a:pt x="102" y="75"/>
                    </a:lnTo>
                    <a:lnTo>
                      <a:pt x="102" y="74"/>
                    </a:lnTo>
                    <a:lnTo>
                      <a:pt x="102" y="72"/>
                    </a:lnTo>
                    <a:lnTo>
                      <a:pt x="102" y="71"/>
                    </a:lnTo>
                    <a:lnTo>
                      <a:pt x="102" y="69"/>
                    </a:lnTo>
                    <a:lnTo>
                      <a:pt x="102" y="68"/>
                    </a:lnTo>
                    <a:lnTo>
                      <a:pt x="102" y="68"/>
                    </a:lnTo>
                    <a:lnTo>
                      <a:pt x="102" y="66"/>
                    </a:lnTo>
                    <a:lnTo>
                      <a:pt x="102" y="64"/>
                    </a:lnTo>
                    <a:lnTo>
                      <a:pt x="102" y="64"/>
                    </a:lnTo>
                    <a:lnTo>
                      <a:pt x="104" y="63"/>
                    </a:lnTo>
                    <a:lnTo>
                      <a:pt x="104" y="63"/>
                    </a:lnTo>
                    <a:lnTo>
                      <a:pt x="104" y="61"/>
                    </a:lnTo>
                    <a:lnTo>
                      <a:pt x="104" y="61"/>
                    </a:lnTo>
                    <a:lnTo>
                      <a:pt x="104" y="60"/>
                    </a:lnTo>
                    <a:lnTo>
                      <a:pt x="104" y="58"/>
                    </a:lnTo>
                    <a:lnTo>
                      <a:pt x="104" y="58"/>
                    </a:lnTo>
                    <a:lnTo>
                      <a:pt x="104" y="57"/>
                    </a:lnTo>
                    <a:lnTo>
                      <a:pt x="104" y="57"/>
                    </a:lnTo>
                    <a:lnTo>
                      <a:pt x="104" y="55"/>
                    </a:lnTo>
                    <a:lnTo>
                      <a:pt x="104" y="54"/>
                    </a:lnTo>
                    <a:lnTo>
                      <a:pt x="105" y="54"/>
                    </a:lnTo>
                    <a:lnTo>
                      <a:pt x="105" y="52"/>
                    </a:lnTo>
                    <a:lnTo>
                      <a:pt x="105" y="51"/>
                    </a:lnTo>
                    <a:lnTo>
                      <a:pt x="105" y="51"/>
                    </a:lnTo>
                    <a:lnTo>
                      <a:pt x="105" y="49"/>
                    </a:lnTo>
                    <a:lnTo>
                      <a:pt x="105" y="48"/>
                    </a:lnTo>
                    <a:lnTo>
                      <a:pt x="105" y="48"/>
                    </a:lnTo>
                    <a:lnTo>
                      <a:pt x="105" y="46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43"/>
                    </a:lnTo>
                    <a:lnTo>
                      <a:pt x="107" y="42"/>
                    </a:lnTo>
                    <a:lnTo>
                      <a:pt x="107" y="42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7" y="38"/>
                    </a:lnTo>
                    <a:lnTo>
                      <a:pt x="107" y="37"/>
                    </a:lnTo>
                    <a:lnTo>
                      <a:pt x="108" y="35"/>
                    </a:lnTo>
                    <a:lnTo>
                      <a:pt x="108" y="35"/>
                    </a:lnTo>
                    <a:lnTo>
                      <a:pt x="108" y="34"/>
                    </a:lnTo>
                    <a:lnTo>
                      <a:pt x="108" y="34"/>
                    </a:lnTo>
                    <a:lnTo>
                      <a:pt x="108" y="32"/>
                    </a:lnTo>
                    <a:lnTo>
                      <a:pt x="108" y="31"/>
                    </a:lnTo>
                    <a:lnTo>
                      <a:pt x="108" y="29"/>
                    </a:lnTo>
                    <a:lnTo>
                      <a:pt x="108" y="29"/>
                    </a:lnTo>
                    <a:lnTo>
                      <a:pt x="108" y="28"/>
                    </a:lnTo>
                    <a:lnTo>
                      <a:pt x="108" y="26"/>
                    </a:lnTo>
                    <a:lnTo>
                      <a:pt x="108" y="25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8" y="20"/>
                    </a:lnTo>
                    <a:lnTo>
                      <a:pt x="107" y="19"/>
                    </a:lnTo>
                    <a:lnTo>
                      <a:pt x="107" y="16"/>
                    </a:lnTo>
                    <a:lnTo>
                      <a:pt x="107" y="14"/>
                    </a:lnTo>
                    <a:lnTo>
                      <a:pt x="107" y="11"/>
                    </a:lnTo>
                    <a:lnTo>
                      <a:pt x="107" y="9"/>
                    </a:lnTo>
                    <a:lnTo>
                      <a:pt x="107" y="6"/>
                    </a:lnTo>
                    <a:lnTo>
                      <a:pt x="107" y="3"/>
                    </a:lnTo>
                    <a:lnTo>
                      <a:pt x="107" y="0"/>
                    </a:lnTo>
                    <a:lnTo>
                      <a:pt x="0" y="366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75"/>
              <p:cNvSpPr>
                <a:spLocks/>
              </p:cNvSpPr>
              <p:nvPr/>
            </p:nvSpPr>
            <p:spPr bwMode="auto">
              <a:xfrm>
                <a:off x="3403" y="2768"/>
                <a:ext cx="55" cy="183"/>
              </a:xfrm>
              <a:custGeom>
                <a:avLst/>
                <a:gdLst>
                  <a:gd name="T0" fmla="*/ 6 w 108"/>
                  <a:gd name="T1" fmla="*/ 355 h 366"/>
                  <a:gd name="T2" fmla="*/ 12 w 108"/>
                  <a:gd name="T3" fmla="*/ 343 h 366"/>
                  <a:gd name="T4" fmla="*/ 18 w 108"/>
                  <a:gd name="T5" fmla="*/ 334 h 366"/>
                  <a:gd name="T6" fmla="*/ 21 w 108"/>
                  <a:gd name="T7" fmla="*/ 326 h 366"/>
                  <a:gd name="T8" fmla="*/ 24 w 108"/>
                  <a:gd name="T9" fmla="*/ 320 h 366"/>
                  <a:gd name="T10" fmla="*/ 27 w 108"/>
                  <a:gd name="T11" fmla="*/ 315 h 366"/>
                  <a:gd name="T12" fmla="*/ 30 w 108"/>
                  <a:gd name="T13" fmla="*/ 309 h 366"/>
                  <a:gd name="T14" fmla="*/ 33 w 108"/>
                  <a:gd name="T15" fmla="*/ 301 h 366"/>
                  <a:gd name="T16" fmla="*/ 36 w 108"/>
                  <a:gd name="T17" fmla="*/ 295 h 366"/>
                  <a:gd name="T18" fmla="*/ 38 w 108"/>
                  <a:gd name="T19" fmla="*/ 288 h 366"/>
                  <a:gd name="T20" fmla="*/ 41 w 108"/>
                  <a:gd name="T21" fmla="*/ 283 h 366"/>
                  <a:gd name="T22" fmla="*/ 43 w 108"/>
                  <a:gd name="T23" fmla="*/ 279 h 366"/>
                  <a:gd name="T24" fmla="*/ 44 w 108"/>
                  <a:gd name="T25" fmla="*/ 272 h 366"/>
                  <a:gd name="T26" fmla="*/ 47 w 108"/>
                  <a:gd name="T27" fmla="*/ 268 h 366"/>
                  <a:gd name="T28" fmla="*/ 49 w 108"/>
                  <a:gd name="T29" fmla="*/ 262 h 366"/>
                  <a:gd name="T30" fmla="*/ 52 w 108"/>
                  <a:gd name="T31" fmla="*/ 253 h 366"/>
                  <a:gd name="T32" fmla="*/ 55 w 108"/>
                  <a:gd name="T33" fmla="*/ 246 h 366"/>
                  <a:gd name="T34" fmla="*/ 58 w 108"/>
                  <a:gd name="T35" fmla="*/ 237 h 366"/>
                  <a:gd name="T36" fmla="*/ 61 w 108"/>
                  <a:gd name="T37" fmla="*/ 230 h 366"/>
                  <a:gd name="T38" fmla="*/ 62 w 108"/>
                  <a:gd name="T39" fmla="*/ 225 h 366"/>
                  <a:gd name="T40" fmla="*/ 65 w 108"/>
                  <a:gd name="T41" fmla="*/ 219 h 366"/>
                  <a:gd name="T42" fmla="*/ 67 w 108"/>
                  <a:gd name="T43" fmla="*/ 214 h 366"/>
                  <a:gd name="T44" fmla="*/ 69 w 108"/>
                  <a:gd name="T45" fmla="*/ 208 h 366"/>
                  <a:gd name="T46" fmla="*/ 72 w 108"/>
                  <a:gd name="T47" fmla="*/ 201 h 366"/>
                  <a:gd name="T48" fmla="*/ 73 w 108"/>
                  <a:gd name="T49" fmla="*/ 193 h 366"/>
                  <a:gd name="T50" fmla="*/ 76 w 108"/>
                  <a:gd name="T51" fmla="*/ 184 h 366"/>
                  <a:gd name="T52" fmla="*/ 78 w 108"/>
                  <a:gd name="T53" fmla="*/ 176 h 366"/>
                  <a:gd name="T54" fmla="*/ 81 w 108"/>
                  <a:gd name="T55" fmla="*/ 170 h 366"/>
                  <a:gd name="T56" fmla="*/ 82 w 108"/>
                  <a:gd name="T57" fmla="*/ 165 h 366"/>
                  <a:gd name="T58" fmla="*/ 84 w 108"/>
                  <a:gd name="T59" fmla="*/ 159 h 366"/>
                  <a:gd name="T60" fmla="*/ 85 w 108"/>
                  <a:gd name="T61" fmla="*/ 155 h 366"/>
                  <a:gd name="T62" fmla="*/ 87 w 108"/>
                  <a:gd name="T63" fmla="*/ 147 h 366"/>
                  <a:gd name="T64" fmla="*/ 90 w 108"/>
                  <a:gd name="T65" fmla="*/ 138 h 366"/>
                  <a:gd name="T66" fmla="*/ 93 w 108"/>
                  <a:gd name="T67" fmla="*/ 130 h 366"/>
                  <a:gd name="T68" fmla="*/ 94 w 108"/>
                  <a:gd name="T69" fmla="*/ 123 h 366"/>
                  <a:gd name="T70" fmla="*/ 96 w 108"/>
                  <a:gd name="T71" fmla="*/ 116 h 366"/>
                  <a:gd name="T72" fmla="*/ 98 w 108"/>
                  <a:gd name="T73" fmla="*/ 112 h 366"/>
                  <a:gd name="T74" fmla="*/ 99 w 108"/>
                  <a:gd name="T75" fmla="*/ 107 h 366"/>
                  <a:gd name="T76" fmla="*/ 99 w 108"/>
                  <a:gd name="T77" fmla="*/ 101 h 366"/>
                  <a:gd name="T78" fmla="*/ 101 w 108"/>
                  <a:gd name="T79" fmla="*/ 95 h 366"/>
                  <a:gd name="T80" fmla="*/ 101 w 108"/>
                  <a:gd name="T81" fmla="*/ 87 h 366"/>
                  <a:gd name="T82" fmla="*/ 101 w 108"/>
                  <a:gd name="T83" fmla="*/ 81 h 366"/>
                  <a:gd name="T84" fmla="*/ 102 w 108"/>
                  <a:gd name="T85" fmla="*/ 75 h 366"/>
                  <a:gd name="T86" fmla="*/ 102 w 108"/>
                  <a:gd name="T87" fmla="*/ 69 h 366"/>
                  <a:gd name="T88" fmla="*/ 102 w 108"/>
                  <a:gd name="T89" fmla="*/ 64 h 366"/>
                  <a:gd name="T90" fmla="*/ 104 w 108"/>
                  <a:gd name="T91" fmla="*/ 61 h 366"/>
                  <a:gd name="T92" fmla="*/ 104 w 108"/>
                  <a:gd name="T93" fmla="*/ 58 h 366"/>
                  <a:gd name="T94" fmla="*/ 104 w 108"/>
                  <a:gd name="T95" fmla="*/ 54 h 366"/>
                  <a:gd name="T96" fmla="*/ 105 w 108"/>
                  <a:gd name="T97" fmla="*/ 51 h 366"/>
                  <a:gd name="T98" fmla="*/ 105 w 108"/>
                  <a:gd name="T99" fmla="*/ 46 h 366"/>
                  <a:gd name="T100" fmla="*/ 107 w 108"/>
                  <a:gd name="T101" fmla="*/ 42 h 366"/>
                  <a:gd name="T102" fmla="*/ 107 w 108"/>
                  <a:gd name="T103" fmla="*/ 38 h 366"/>
                  <a:gd name="T104" fmla="*/ 108 w 108"/>
                  <a:gd name="T105" fmla="*/ 34 h 366"/>
                  <a:gd name="T106" fmla="*/ 108 w 108"/>
                  <a:gd name="T107" fmla="*/ 29 h 366"/>
                  <a:gd name="T108" fmla="*/ 108 w 108"/>
                  <a:gd name="T109" fmla="*/ 25 h 366"/>
                  <a:gd name="T110" fmla="*/ 107 w 108"/>
                  <a:gd name="T111" fmla="*/ 19 h 366"/>
                  <a:gd name="T112" fmla="*/ 107 w 108"/>
                  <a:gd name="T113" fmla="*/ 9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8" h="366">
                    <a:moveTo>
                      <a:pt x="0" y="366"/>
                    </a:moveTo>
                    <a:lnTo>
                      <a:pt x="1" y="361"/>
                    </a:lnTo>
                    <a:lnTo>
                      <a:pt x="4" y="358"/>
                    </a:lnTo>
                    <a:lnTo>
                      <a:pt x="6" y="355"/>
                    </a:lnTo>
                    <a:lnTo>
                      <a:pt x="7" y="352"/>
                    </a:lnTo>
                    <a:lnTo>
                      <a:pt x="9" y="349"/>
                    </a:lnTo>
                    <a:lnTo>
                      <a:pt x="10" y="346"/>
                    </a:lnTo>
                    <a:lnTo>
                      <a:pt x="12" y="343"/>
                    </a:lnTo>
                    <a:lnTo>
                      <a:pt x="13" y="340"/>
                    </a:lnTo>
                    <a:lnTo>
                      <a:pt x="15" y="338"/>
                    </a:lnTo>
                    <a:lnTo>
                      <a:pt x="17" y="335"/>
                    </a:lnTo>
                    <a:lnTo>
                      <a:pt x="18" y="334"/>
                    </a:lnTo>
                    <a:lnTo>
                      <a:pt x="18" y="332"/>
                    </a:lnTo>
                    <a:lnTo>
                      <a:pt x="20" y="329"/>
                    </a:lnTo>
                    <a:lnTo>
                      <a:pt x="21" y="327"/>
                    </a:lnTo>
                    <a:lnTo>
                      <a:pt x="21" y="326"/>
                    </a:lnTo>
                    <a:lnTo>
                      <a:pt x="23" y="324"/>
                    </a:lnTo>
                    <a:lnTo>
                      <a:pt x="23" y="323"/>
                    </a:lnTo>
                    <a:lnTo>
                      <a:pt x="24" y="321"/>
                    </a:lnTo>
                    <a:lnTo>
                      <a:pt x="24" y="320"/>
                    </a:lnTo>
                    <a:lnTo>
                      <a:pt x="26" y="318"/>
                    </a:lnTo>
                    <a:lnTo>
                      <a:pt x="26" y="317"/>
                    </a:lnTo>
                    <a:lnTo>
                      <a:pt x="27" y="315"/>
                    </a:lnTo>
                    <a:lnTo>
                      <a:pt x="27" y="315"/>
                    </a:lnTo>
                    <a:lnTo>
                      <a:pt x="29" y="314"/>
                    </a:lnTo>
                    <a:lnTo>
                      <a:pt x="29" y="312"/>
                    </a:lnTo>
                    <a:lnTo>
                      <a:pt x="29" y="311"/>
                    </a:lnTo>
                    <a:lnTo>
                      <a:pt x="30" y="309"/>
                    </a:lnTo>
                    <a:lnTo>
                      <a:pt x="30" y="306"/>
                    </a:lnTo>
                    <a:lnTo>
                      <a:pt x="32" y="305"/>
                    </a:lnTo>
                    <a:lnTo>
                      <a:pt x="32" y="303"/>
                    </a:lnTo>
                    <a:lnTo>
                      <a:pt x="33" y="301"/>
                    </a:lnTo>
                    <a:lnTo>
                      <a:pt x="33" y="298"/>
                    </a:lnTo>
                    <a:lnTo>
                      <a:pt x="33" y="298"/>
                    </a:lnTo>
                    <a:lnTo>
                      <a:pt x="35" y="297"/>
                    </a:lnTo>
                    <a:lnTo>
                      <a:pt x="36" y="295"/>
                    </a:lnTo>
                    <a:lnTo>
                      <a:pt x="36" y="294"/>
                    </a:lnTo>
                    <a:lnTo>
                      <a:pt x="38" y="291"/>
                    </a:lnTo>
                    <a:lnTo>
                      <a:pt x="38" y="289"/>
                    </a:lnTo>
                    <a:lnTo>
                      <a:pt x="38" y="288"/>
                    </a:lnTo>
                    <a:lnTo>
                      <a:pt x="39" y="286"/>
                    </a:lnTo>
                    <a:lnTo>
                      <a:pt x="39" y="285"/>
                    </a:lnTo>
                    <a:lnTo>
                      <a:pt x="41" y="285"/>
                    </a:lnTo>
                    <a:lnTo>
                      <a:pt x="41" y="283"/>
                    </a:lnTo>
                    <a:lnTo>
                      <a:pt x="41" y="282"/>
                    </a:lnTo>
                    <a:lnTo>
                      <a:pt x="43" y="280"/>
                    </a:lnTo>
                    <a:lnTo>
                      <a:pt x="43" y="279"/>
                    </a:lnTo>
                    <a:lnTo>
                      <a:pt x="43" y="279"/>
                    </a:lnTo>
                    <a:lnTo>
                      <a:pt x="43" y="277"/>
                    </a:lnTo>
                    <a:lnTo>
                      <a:pt x="44" y="275"/>
                    </a:lnTo>
                    <a:lnTo>
                      <a:pt x="44" y="274"/>
                    </a:lnTo>
                    <a:lnTo>
                      <a:pt x="44" y="272"/>
                    </a:lnTo>
                    <a:lnTo>
                      <a:pt x="46" y="272"/>
                    </a:lnTo>
                    <a:lnTo>
                      <a:pt x="46" y="271"/>
                    </a:lnTo>
                    <a:lnTo>
                      <a:pt x="46" y="269"/>
                    </a:lnTo>
                    <a:lnTo>
                      <a:pt x="47" y="268"/>
                    </a:lnTo>
                    <a:lnTo>
                      <a:pt x="47" y="266"/>
                    </a:lnTo>
                    <a:lnTo>
                      <a:pt x="47" y="265"/>
                    </a:lnTo>
                    <a:lnTo>
                      <a:pt x="49" y="263"/>
                    </a:lnTo>
                    <a:lnTo>
                      <a:pt x="49" y="262"/>
                    </a:lnTo>
                    <a:lnTo>
                      <a:pt x="50" y="260"/>
                    </a:lnTo>
                    <a:lnTo>
                      <a:pt x="50" y="257"/>
                    </a:lnTo>
                    <a:lnTo>
                      <a:pt x="52" y="256"/>
                    </a:lnTo>
                    <a:lnTo>
                      <a:pt x="52" y="253"/>
                    </a:lnTo>
                    <a:lnTo>
                      <a:pt x="53" y="251"/>
                    </a:lnTo>
                    <a:lnTo>
                      <a:pt x="53" y="248"/>
                    </a:lnTo>
                    <a:lnTo>
                      <a:pt x="53" y="248"/>
                    </a:lnTo>
                    <a:lnTo>
                      <a:pt x="55" y="246"/>
                    </a:lnTo>
                    <a:lnTo>
                      <a:pt x="56" y="243"/>
                    </a:lnTo>
                    <a:lnTo>
                      <a:pt x="56" y="242"/>
                    </a:lnTo>
                    <a:lnTo>
                      <a:pt x="58" y="239"/>
                    </a:lnTo>
                    <a:lnTo>
                      <a:pt x="58" y="237"/>
                    </a:lnTo>
                    <a:lnTo>
                      <a:pt x="59" y="236"/>
                    </a:lnTo>
                    <a:lnTo>
                      <a:pt x="59" y="234"/>
                    </a:lnTo>
                    <a:lnTo>
                      <a:pt x="61" y="231"/>
                    </a:lnTo>
                    <a:lnTo>
                      <a:pt x="61" y="230"/>
                    </a:lnTo>
                    <a:lnTo>
                      <a:pt x="61" y="228"/>
                    </a:lnTo>
                    <a:lnTo>
                      <a:pt x="62" y="227"/>
                    </a:lnTo>
                    <a:lnTo>
                      <a:pt x="62" y="227"/>
                    </a:lnTo>
                    <a:lnTo>
                      <a:pt x="62" y="225"/>
                    </a:lnTo>
                    <a:lnTo>
                      <a:pt x="64" y="223"/>
                    </a:lnTo>
                    <a:lnTo>
                      <a:pt x="64" y="222"/>
                    </a:lnTo>
                    <a:lnTo>
                      <a:pt x="64" y="220"/>
                    </a:lnTo>
                    <a:lnTo>
                      <a:pt x="65" y="219"/>
                    </a:lnTo>
                    <a:lnTo>
                      <a:pt x="65" y="217"/>
                    </a:lnTo>
                    <a:lnTo>
                      <a:pt x="65" y="216"/>
                    </a:lnTo>
                    <a:lnTo>
                      <a:pt x="65" y="216"/>
                    </a:lnTo>
                    <a:lnTo>
                      <a:pt x="67" y="214"/>
                    </a:lnTo>
                    <a:lnTo>
                      <a:pt x="67" y="213"/>
                    </a:lnTo>
                    <a:lnTo>
                      <a:pt x="67" y="211"/>
                    </a:lnTo>
                    <a:lnTo>
                      <a:pt x="69" y="210"/>
                    </a:lnTo>
                    <a:lnTo>
                      <a:pt x="69" y="208"/>
                    </a:lnTo>
                    <a:lnTo>
                      <a:pt x="69" y="207"/>
                    </a:lnTo>
                    <a:lnTo>
                      <a:pt x="70" y="204"/>
                    </a:lnTo>
                    <a:lnTo>
                      <a:pt x="70" y="202"/>
                    </a:lnTo>
                    <a:lnTo>
                      <a:pt x="72" y="201"/>
                    </a:lnTo>
                    <a:lnTo>
                      <a:pt x="72" y="197"/>
                    </a:lnTo>
                    <a:lnTo>
                      <a:pt x="73" y="196"/>
                    </a:lnTo>
                    <a:lnTo>
                      <a:pt x="73" y="193"/>
                    </a:lnTo>
                    <a:lnTo>
                      <a:pt x="73" y="193"/>
                    </a:lnTo>
                    <a:lnTo>
                      <a:pt x="75" y="190"/>
                    </a:lnTo>
                    <a:lnTo>
                      <a:pt x="75" y="188"/>
                    </a:lnTo>
                    <a:lnTo>
                      <a:pt x="76" y="185"/>
                    </a:lnTo>
                    <a:lnTo>
                      <a:pt x="76" y="184"/>
                    </a:lnTo>
                    <a:lnTo>
                      <a:pt x="76" y="182"/>
                    </a:lnTo>
                    <a:lnTo>
                      <a:pt x="78" y="179"/>
                    </a:lnTo>
                    <a:lnTo>
                      <a:pt x="78" y="178"/>
                    </a:lnTo>
                    <a:lnTo>
                      <a:pt x="78" y="176"/>
                    </a:lnTo>
                    <a:lnTo>
                      <a:pt x="79" y="175"/>
                    </a:lnTo>
                    <a:lnTo>
                      <a:pt x="79" y="173"/>
                    </a:lnTo>
                    <a:lnTo>
                      <a:pt x="79" y="171"/>
                    </a:lnTo>
                    <a:lnTo>
                      <a:pt x="81" y="170"/>
                    </a:lnTo>
                    <a:lnTo>
                      <a:pt x="81" y="168"/>
                    </a:lnTo>
                    <a:lnTo>
                      <a:pt x="81" y="168"/>
                    </a:lnTo>
                    <a:lnTo>
                      <a:pt x="81" y="167"/>
                    </a:lnTo>
                    <a:lnTo>
                      <a:pt x="82" y="165"/>
                    </a:lnTo>
                    <a:lnTo>
                      <a:pt x="82" y="164"/>
                    </a:lnTo>
                    <a:lnTo>
                      <a:pt x="82" y="162"/>
                    </a:lnTo>
                    <a:lnTo>
                      <a:pt x="82" y="161"/>
                    </a:lnTo>
                    <a:lnTo>
                      <a:pt x="84" y="159"/>
                    </a:lnTo>
                    <a:lnTo>
                      <a:pt x="84" y="158"/>
                    </a:lnTo>
                    <a:lnTo>
                      <a:pt x="84" y="158"/>
                    </a:lnTo>
                    <a:lnTo>
                      <a:pt x="85" y="156"/>
                    </a:lnTo>
                    <a:lnTo>
                      <a:pt x="85" y="155"/>
                    </a:lnTo>
                    <a:lnTo>
                      <a:pt x="85" y="152"/>
                    </a:lnTo>
                    <a:lnTo>
                      <a:pt x="87" y="150"/>
                    </a:lnTo>
                    <a:lnTo>
                      <a:pt x="87" y="149"/>
                    </a:lnTo>
                    <a:lnTo>
                      <a:pt x="87" y="147"/>
                    </a:lnTo>
                    <a:lnTo>
                      <a:pt x="88" y="144"/>
                    </a:lnTo>
                    <a:lnTo>
                      <a:pt x="88" y="142"/>
                    </a:lnTo>
                    <a:lnTo>
                      <a:pt x="90" y="139"/>
                    </a:lnTo>
                    <a:lnTo>
                      <a:pt x="90" y="138"/>
                    </a:lnTo>
                    <a:lnTo>
                      <a:pt x="90" y="138"/>
                    </a:lnTo>
                    <a:lnTo>
                      <a:pt x="91" y="135"/>
                    </a:lnTo>
                    <a:lnTo>
                      <a:pt x="91" y="133"/>
                    </a:lnTo>
                    <a:lnTo>
                      <a:pt x="93" y="130"/>
                    </a:lnTo>
                    <a:lnTo>
                      <a:pt x="93" y="129"/>
                    </a:lnTo>
                    <a:lnTo>
                      <a:pt x="94" y="127"/>
                    </a:lnTo>
                    <a:lnTo>
                      <a:pt x="94" y="124"/>
                    </a:lnTo>
                    <a:lnTo>
                      <a:pt x="94" y="123"/>
                    </a:lnTo>
                    <a:lnTo>
                      <a:pt x="96" y="121"/>
                    </a:lnTo>
                    <a:lnTo>
                      <a:pt x="96" y="120"/>
                    </a:lnTo>
                    <a:lnTo>
                      <a:pt x="96" y="118"/>
                    </a:lnTo>
                    <a:lnTo>
                      <a:pt x="96" y="116"/>
                    </a:lnTo>
                    <a:lnTo>
                      <a:pt x="98" y="115"/>
                    </a:lnTo>
                    <a:lnTo>
                      <a:pt x="98" y="113"/>
                    </a:lnTo>
                    <a:lnTo>
                      <a:pt x="98" y="113"/>
                    </a:lnTo>
                    <a:lnTo>
                      <a:pt x="98" y="112"/>
                    </a:lnTo>
                    <a:lnTo>
                      <a:pt x="98" y="110"/>
                    </a:lnTo>
                    <a:lnTo>
                      <a:pt x="98" y="109"/>
                    </a:lnTo>
                    <a:lnTo>
                      <a:pt x="99" y="107"/>
                    </a:lnTo>
                    <a:lnTo>
                      <a:pt x="99" y="107"/>
                    </a:lnTo>
                    <a:lnTo>
                      <a:pt x="99" y="106"/>
                    </a:lnTo>
                    <a:lnTo>
                      <a:pt x="99" y="104"/>
                    </a:lnTo>
                    <a:lnTo>
                      <a:pt x="99" y="103"/>
                    </a:lnTo>
                    <a:lnTo>
                      <a:pt x="99" y="101"/>
                    </a:lnTo>
                    <a:lnTo>
                      <a:pt x="99" y="100"/>
                    </a:lnTo>
                    <a:lnTo>
                      <a:pt x="99" y="98"/>
                    </a:lnTo>
                    <a:lnTo>
                      <a:pt x="99" y="97"/>
                    </a:lnTo>
                    <a:lnTo>
                      <a:pt x="101" y="95"/>
                    </a:lnTo>
                    <a:lnTo>
                      <a:pt x="101" y="94"/>
                    </a:lnTo>
                    <a:lnTo>
                      <a:pt x="101" y="92"/>
                    </a:lnTo>
                    <a:lnTo>
                      <a:pt x="101" y="90"/>
                    </a:lnTo>
                    <a:lnTo>
                      <a:pt x="101" y="87"/>
                    </a:lnTo>
                    <a:lnTo>
                      <a:pt x="101" y="86"/>
                    </a:lnTo>
                    <a:lnTo>
                      <a:pt x="101" y="86"/>
                    </a:lnTo>
                    <a:lnTo>
                      <a:pt x="101" y="84"/>
                    </a:lnTo>
                    <a:lnTo>
                      <a:pt x="101" y="81"/>
                    </a:lnTo>
                    <a:lnTo>
                      <a:pt x="101" y="80"/>
                    </a:lnTo>
                    <a:lnTo>
                      <a:pt x="102" y="78"/>
                    </a:lnTo>
                    <a:lnTo>
                      <a:pt x="102" y="77"/>
                    </a:lnTo>
                    <a:lnTo>
                      <a:pt x="102" y="75"/>
                    </a:lnTo>
                    <a:lnTo>
                      <a:pt x="102" y="74"/>
                    </a:lnTo>
                    <a:lnTo>
                      <a:pt x="102" y="72"/>
                    </a:lnTo>
                    <a:lnTo>
                      <a:pt x="102" y="71"/>
                    </a:lnTo>
                    <a:lnTo>
                      <a:pt x="102" y="69"/>
                    </a:lnTo>
                    <a:lnTo>
                      <a:pt x="102" y="68"/>
                    </a:lnTo>
                    <a:lnTo>
                      <a:pt x="102" y="68"/>
                    </a:lnTo>
                    <a:lnTo>
                      <a:pt x="102" y="66"/>
                    </a:lnTo>
                    <a:lnTo>
                      <a:pt x="102" y="64"/>
                    </a:lnTo>
                    <a:lnTo>
                      <a:pt x="102" y="64"/>
                    </a:lnTo>
                    <a:lnTo>
                      <a:pt x="104" y="63"/>
                    </a:lnTo>
                    <a:lnTo>
                      <a:pt x="104" y="63"/>
                    </a:lnTo>
                    <a:lnTo>
                      <a:pt x="104" y="61"/>
                    </a:lnTo>
                    <a:lnTo>
                      <a:pt x="104" y="61"/>
                    </a:lnTo>
                    <a:lnTo>
                      <a:pt x="104" y="60"/>
                    </a:lnTo>
                    <a:lnTo>
                      <a:pt x="104" y="58"/>
                    </a:lnTo>
                    <a:lnTo>
                      <a:pt x="104" y="58"/>
                    </a:lnTo>
                    <a:lnTo>
                      <a:pt x="104" y="57"/>
                    </a:lnTo>
                    <a:lnTo>
                      <a:pt x="104" y="57"/>
                    </a:lnTo>
                    <a:lnTo>
                      <a:pt x="104" y="55"/>
                    </a:lnTo>
                    <a:lnTo>
                      <a:pt x="104" y="54"/>
                    </a:lnTo>
                    <a:lnTo>
                      <a:pt x="105" y="54"/>
                    </a:lnTo>
                    <a:lnTo>
                      <a:pt x="105" y="52"/>
                    </a:lnTo>
                    <a:lnTo>
                      <a:pt x="105" y="51"/>
                    </a:lnTo>
                    <a:lnTo>
                      <a:pt x="105" y="51"/>
                    </a:lnTo>
                    <a:lnTo>
                      <a:pt x="105" y="49"/>
                    </a:lnTo>
                    <a:lnTo>
                      <a:pt x="105" y="48"/>
                    </a:lnTo>
                    <a:lnTo>
                      <a:pt x="105" y="48"/>
                    </a:lnTo>
                    <a:lnTo>
                      <a:pt x="105" y="46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43"/>
                    </a:lnTo>
                    <a:lnTo>
                      <a:pt x="107" y="42"/>
                    </a:lnTo>
                    <a:lnTo>
                      <a:pt x="107" y="42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7" y="38"/>
                    </a:lnTo>
                    <a:lnTo>
                      <a:pt x="107" y="37"/>
                    </a:lnTo>
                    <a:lnTo>
                      <a:pt x="108" y="35"/>
                    </a:lnTo>
                    <a:lnTo>
                      <a:pt x="108" y="35"/>
                    </a:lnTo>
                    <a:lnTo>
                      <a:pt x="108" y="34"/>
                    </a:lnTo>
                    <a:lnTo>
                      <a:pt x="108" y="34"/>
                    </a:lnTo>
                    <a:lnTo>
                      <a:pt x="108" y="32"/>
                    </a:lnTo>
                    <a:lnTo>
                      <a:pt x="108" y="31"/>
                    </a:lnTo>
                    <a:lnTo>
                      <a:pt x="108" y="29"/>
                    </a:lnTo>
                    <a:lnTo>
                      <a:pt x="108" y="29"/>
                    </a:lnTo>
                    <a:lnTo>
                      <a:pt x="108" y="28"/>
                    </a:lnTo>
                    <a:lnTo>
                      <a:pt x="108" y="26"/>
                    </a:lnTo>
                    <a:lnTo>
                      <a:pt x="108" y="25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8" y="20"/>
                    </a:lnTo>
                    <a:lnTo>
                      <a:pt x="107" y="19"/>
                    </a:lnTo>
                    <a:lnTo>
                      <a:pt x="107" y="16"/>
                    </a:lnTo>
                    <a:lnTo>
                      <a:pt x="107" y="14"/>
                    </a:lnTo>
                    <a:lnTo>
                      <a:pt x="107" y="11"/>
                    </a:lnTo>
                    <a:lnTo>
                      <a:pt x="107" y="9"/>
                    </a:lnTo>
                    <a:lnTo>
                      <a:pt x="107" y="6"/>
                    </a:lnTo>
                    <a:lnTo>
                      <a:pt x="107" y="3"/>
                    </a:lnTo>
                    <a:lnTo>
                      <a:pt x="107" y="0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5" name="Group 76"/>
            <p:cNvGrpSpPr>
              <a:grpSpLocks/>
            </p:cNvGrpSpPr>
            <p:nvPr/>
          </p:nvGrpSpPr>
          <p:grpSpPr bwMode="auto">
            <a:xfrm>
              <a:off x="4050" y="2995"/>
              <a:ext cx="403" cy="316"/>
              <a:chOff x="3403" y="2587"/>
              <a:chExt cx="462" cy="364"/>
            </a:xfrm>
          </p:grpSpPr>
          <p:sp>
            <p:nvSpPr>
              <p:cNvPr id="156" name="Freeform 77"/>
              <p:cNvSpPr>
                <a:spLocks/>
              </p:cNvSpPr>
              <p:nvPr/>
            </p:nvSpPr>
            <p:spPr bwMode="auto">
              <a:xfrm>
                <a:off x="3408" y="2587"/>
                <a:ext cx="457" cy="181"/>
              </a:xfrm>
              <a:custGeom>
                <a:avLst/>
                <a:gdLst>
                  <a:gd name="T0" fmla="*/ 179 w 914"/>
                  <a:gd name="T1" fmla="*/ 0 h 362"/>
                  <a:gd name="T2" fmla="*/ 306 w 914"/>
                  <a:gd name="T3" fmla="*/ 0 h 362"/>
                  <a:gd name="T4" fmla="*/ 371 w 914"/>
                  <a:gd name="T5" fmla="*/ 0 h 362"/>
                  <a:gd name="T6" fmla="*/ 399 w 914"/>
                  <a:gd name="T7" fmla="*/ 1 h 362"/>
                  <a:gd name="T8" fmla="*/ 414 w 914"/>
                  <a:gd name="T9" fmla="*/ 1 h 362"/>
                  <a:gd name="T10" fmla="*/ 428 w 914"/>
                  <a:gd name="T11" fmla="*/ 3 h 362"/>
                  <a:gd name="T12" fmla="*/ 439 w 914"/>
                  <a:gd name="T13" fmla="*/ 3 h 362"/>
                  <a:gd name="T14" fmla="*/ 448 w 914"/>
                  <a:gd name="T15" fmla="*/ 5 h 362"/>
                  <a:gd name="T16" fmla="*/ 460 w 914"/>
                  <a:gd name="T17" fmla="*/ 6 h 362"/>
                  <a:gd name="T18" fmla="*/ 474 w 914"/>
                  <a:gd name="T19" fmla="*/ 9 h 362"/>
                  <a:gd name="T20" fmla="*/ 486 w 914"/>
                  <a:gd name="T21" fmla="*/ 11 h 362"/>
                  <a:gd name="T22" fmla="*/ 495 w 914"/>
                  <a:gd name="T23" fmla="*/ 12 h 362"/>
                  <a:gd name="T24" fmla="*/ 506 w 914"/>
                  <a:gd name="T25" fmla="*/ 15 h 362"/>
                  <a:gd name="T26" fmla="*/ 521 w 914"/>
                  <a:gd name="T27" fmla="*/ 20 h 362"/>
                  <a:gd name="T28" fmla="*/ 536 w 914"/>
                  <a:gd name="T29" fmla="*/ 24 h 362"/>
                  <a:gd name="T30" fmla="*/ 549 w 914"/>
                  <a:gd name="T31" fmla="*/ 29 h 362"/>
                  <a:gd name="T32" fmla="*/ 558 w 914"/>
                  <a:gd name="T33" fmla="*/ 32 h 362"/>
                  <a:gd name="T34" fmla="*/ 569 w 914"/>
                  <a:gd name="T35" fmla="*/ 38 h 362"/>
                  <a:gd name="T36" fmla="*/ 581 w 914"/>
                  <a:gd name="T37" fmla="*/ 44 h 362"/>
                  <a:gd name="T38" fmla="*/ 595 w 914"/>
                  <a:gd name="T39" fmla="*/ 50 h 362"/>
                  <a:gd name="T40" fmla="*/ 605 w 914"/>
                  <a:gd name="T41" fmla="*/ 56 h 362"/>
                  <a:gd name="T42" fmla="*/ 613 w 914"/>
                  <a:gd name="T43" fmla="*/ 61 h 362"/>
                  <a:gd name="T44" fmla="*/ 624 w 914"/>
                  <a:gd name="T45" fmla="*/ 66 h 362"/>
                  <a:gd name="T46" fmla="*/ 636 w 914"/>
                  <a:gd name="T47" fmla="*/ 73 h 362"/>
                  <a:gd name="T48" fmla="*/ 647 w 914"/>
                  <a:gd name="T49" fmla="*/ 79 h 362"/>
                  <a:gd name="T50" fmla="*/ 656 w 914"/>
                  <a:gd name="T51" fmla="*/ 84 h 362"/>
                  <a:gd name="T52" fmla="*/ 662 w 914"/>
                  <a:gd name="T53" fmla="*/ 89 h 362"/>
                  <a:gd name="T54" fmla="*/ 671 w 914"/>
                  <a:gd name="T55" fmla="*/ 95 h 362"/>
                  <a:gd name="T56" fmla="*/ 682 w 914"/>
                  <a:gd name="T57" fmla="*/ 101 h 362"/>
                  <a:gd name="T58" fmla="*/ 689 w 914"/>
                  <a:gd name="T59" fmla="*/ 105 h 362"/>
                  <a:gd name="T60" fmla="*/ 694 w 914"/>
                  <a:gd name="T61" fmla="*/ 110 h 362"/>
                  <a:gd name="T62" fmla="*/ 700 w 914"/>
                  <a:gd name="T63" fmla="*/ 113 h 362"/>
                  <a:gd name="T64" fmla="*/ 708 w 914"/>
                  <a:gd name="T65" fmla="*/ 119 h 362"/>
                  <a:gd name="T66" fmla="*/ 714 w 914"/>
                  <a:gd name="T67" fmla="*/ 124 h 362"/>
                  <a:gd name="T68" fmla="*/ 718 w 914"/>
                  <a:gd name="T69" fmla="*/ 128 h 362"/>
                  <a:gd name="T70" fmla="*/ 723 w 914"/>
                  <a:gd name="T71" fmla="*/ 131 h 362"/>
                  <a:gd name="T72" fmla="*/ 729 w 914"/>
                  <a:gd name="T73" fmla="*/ 136 h 362"/>
                  <a:gd name="T74" fmla="*/ 737 w 914"/>
                  <a:gd name="T75" fmla="*/ 141 h 362"/>
                  <a:gd name="T76" fmla="*/ 744 w 914"/>
                  <a:gd name="T77" fmla="*/ 147 h 362"/>
                  <a:gd name="T78" fmla="*/ 751 w 914"/>
                  <a:gd name="T79" fmla="*/ 151 h 362"/>
                  <a:gd name="T80" fmla="*/ 757 w 914"/>
                  <a:gd name="T81" fmla="*/ 156 h 362"/>
                  <a:gd name="T82" fmla="*/ 763 w 914"/>
                  <a:gd name="T83" fmla="*/ 164 h 362"/>
                  <a:gd name="T84" fmla="*/ 772 w 914"/>
                  <a:gd name="T85" fmla="*/ 173 h 362"/>
                  <a:gd name="T86" fmla="*/ 780 w 914"/>
                  <a:gd name="T87" fmla="*/ 180 h 362"/>
                  <a:gd name="T88" fmla="*/ 784 w 914"/>
                  <a:gd name="T89" fmla="*/ 186 h 362"/>
                  <a:gd name="T90" fmla="*/ 792 w 914"/>
                  <a:gd name="T91" fmla="*/ 194 h 362"/>
                  <a:gd name="T92" fmla="*/ 801 w 914"/>
                  <a:gd name="T93" fmla="*/ 206 h 362"/>
                  <a:gd name="T94" fmla="*/ 810 w 914"/>
                  <a:gd name="T95" fmla="*/ 217 h 362"/>
                  <a:gd name="T96" fmla="*/ 818 w 914"/>
                  <a:gd name="T97" fmla="*/ 226 h 362"/>
                  <a:gd name="T98" fmla="*/ 824 w 914"/>
                  <a:gd name="T99" fmla="*/ 235 h 362"/>
                  <a:gd name="T100" fmla="*/ 832 w 914"/>
                  <a:gd name="T101" fmla="*/ 245 h 362"/>
                  <a:gd name="T102" fmla="*/ 841 w 914"/>
                  <a:gd name="T103" fmla="*/ 258 h 362"/>
                  <a:gd name="T104" fmla="*/ 851 w 914"/>
                  <a:gd name="T105" fmla="*/ 272 h 362"/>
                  <a:gd name="T106" fmla="*/ 859 w 914"/>
                  <a:gd name="T107" fmla="*/ 281 h 362"/>
                  <a:gd name="T108" fmla="*/ 865 w 914"/>
                  <a:gd name="T109" fmla="*/ 290 h 362"/>
                  <a:gd name="T110" fmla="*/ 874 w 914"/>
                  <a:gd name="T111" fmla="*/ 303 h 362"/>
                  <a:gd name="T112" fmla="*/ 884 w 914"/>
                  <a:gd name="T113" fmla="*/ 316 h 362"/>
                  <a:gd name="T114" fmla="*/ 893 w 914"/>
                  <a:gd name="T115" fmla="*/ 330 h 362"/>
                  <a:gd name="T116" fmla="*/ 899 w 914"/>
                  <a:gd name="T117" fmla="*/ 339 h 362"/>
                  <a:gd name="T118" fmla="*/ 905 w 914"/>
                  <a:gd name="T119" fmla="*/ 348 h 362"/>
                  <a:gd name="T120" fmla="*/ 911 w 914"/>
                  <a:gd name="T121" fmla="*/ 359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14" h="362">
                    <a:moveTo>
                      <a:pt x="0" y="0"/>
                    </a:moveTo>
                    <a:lnTo>
                      <a:pt x="35" y="0"/>
                    </a:lnTo>
                    <a:lnTo>
                      <a:pt x="67" y="0"/>
                    </a:lnTo>
                    <a:lnTo>
                      <a:pt x="98" y="0"/>
                    </a:lnTo>
                    <a:lnTo>
                      <a:pt x="127" y="0"/>
                    </a:lnTo>
                    <a:lnTo>
                      <a:pt x="154" y="0"/>
                    </a:lnTo>
                    <a:lnTo>
                      <a:pt x="179" y="0"/>
                    </a:lnTo>
                    <a:lnTo>
                      <a:pt x="202" y="0"/>
                    </a:lnTo>
                    <a:lnTo>
                      <a:pt x="223" y="0"/>
                    </a:lnTo>
                    <a:lnTo>
                      <a:pt x="243" y="0"/>
                    </a:lnTo>
                    <a:lnTo>
                      <a:pt x="260" y="0"/>
                    </a:lnTo>
                    <a:lnTo>
                      <a:pt x="277" y="0"/>
                    </a:lnTo>
                    <a:lnTo>
                      <a:pt x="292" y="0"/>
                    </a:lnTo>
                    <a:lnTo>
                      <a:pt x="306" y="0"/>
                    </a:lnTo>
                    <a:lnTo>
                      <a:pt x="318" y="0"/>
                    </a:lnTo>
                    <a:lnTo>
                      <a:pt x="330" y="0"/>
                    </a:lnTo>
                    <a:lnTo>
                      <a:pt x="339" y="0"/>
                    </a:lnTo>
                    <a:lnTo>
                      <a:pt x="348" y="0"/>
                    </a:lnTo>
                    <a:lnTo>
                      <a:pt x="358" y="0"/>
                    </a:lnTo>
                    <a:lnTo>
                      <a:pt x="364" y="0"/>
                    </a:lnTo>
                    <a:lnTo>
                      <a:pt x="371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7" y="0"/>
                    </a:lnTo>
                    <a:lnTo>
                      <a:pt x="390" y="0"/>
                    </a:lnTo>
                    <a:lnTo>
                      <a:pt x="393" y="0"/>
                    </a:lnTo>
                    <a:lnTo>
                      <a:pt x="396" y="0"/>
                    </a:lnTo>
                    <a:lnTo>
                      <a:pt x="399" y="1"/>
                    </a:lnTo>
                    <a:lnTo>
                      <a:pt x="402" y="1"/>
                    </a:lnTo>
                    <a:lnTo>
                      <a:pt x="405" y="1"/>
                    </a:lnTo>
                    <a:lnTo>
                      <a:pt x="407" y="1"/>
                    </a:lnTo>
                    <a:lnTo>
                      <a:pt x="410" y="1"/>
                    </a:lnTo>
                    <a:lnTo>
                      <a:pt x="411" y="1"/>
                    </a:lnTo>
                    <a:lnTo>
                      <a:pt x="411" y="1"/>
                    </a:lnTo>
                    <a:lnTo>
                      <a:pt x="414" y="1"/>
                    </a:lnTo>
                    <a:lnTo>
                      <a:pt x="417" y="1"/>
                    </a:lnTo>
                    <a:lnTo>
                      <a:pt x="419" y="1"/>
                    </a:lnTo>
                    <a:lnTo>
                      <a:pt x="422" y="3"/>
                    </a:lnTo>
                    <a:lnTo>
                      <a:pt x="423" y="3"/>
                    </a:lnTo>
                    <a:lnTo>
                      <a:pt x="425" y="3"/>
                    </a:lnTo>
                    <a:lnTo>
                      <a:pt x="426" y="3"/>
                    </a:lnTo>
                    <a:lnTo>
                      <a:pt x="428" y="3"/>
                    </a:lnTo>
                    <a:lnTo>
                      <a:pt x="429" y="3"/>
                    </a:lnTo>
                    <a:lnTo>
                      <a:pt x="431" y="3"/>
                    </a:lnTo>
                    <a:lnTo>
                      <a:pt x="433" y="3"/>
                    </a:lnTo>
                    <a:lnTo>
                      <a:pt x="434" y="3"/>
                    </a:lnTo>
                    <a:lnTo>
                      <a:pt x="436" y="3"/>
                    </a:lnTo>
                    <a:lnTo>
                      <a:pt x="437" y="3"/>
                    </a:lnTo>
                    <a:lnTo>
                      <a:pt x="439" y="3"/>
                    </a:lnTo>
                    <a:lnTo>
                      <a:pt x="440" y="5"/>
                    </a:lnTo>
                    <a:lnTo>
                      <a:pt x="440" y="5"/>
                    </a:lnTo>
                    <a:lnTo>
                      <a:pt x="442" y="5"/>
                    </a:lnTo>
                    <a:lnTo>
                      <a:pt x="443" y="5"/>
                    </a:lnTo>
                    <a:lnTo>
                      <a:pt x="445" y="5"/>
                    </a:lnTo>
                    <a:lnTo>
                      <a:pt x="446" y="5"/>
                    </a:lnTo>
                    <a:lnTo>
                      <a:pt x="448" y="5"/>
                    </a:lnTo>
                    <a:lnTo>
                      <a:pt x="449" y="5"/>
                    </a:lnTo>
                    <a:lnTo>
                      <a:pt x="451" y="5"/>
                    </a:lnTo>
                    <a:lnTo>
                      <a:pt x="452" y="6"/>
                    </a:lnTo>
                    <a:lnTo>
                      <a:pt x="454" y="6"/>
                    </a:lnTo>
                    <a:lnTo>
                      <a:pt x="455" y="6"/>
                    </a:lnTo>
                    <a:lnTo>
                      <a:pt x="457" y="6"/>
                    </a:lnTo>
                    <a:lnTo>
                      <a:pt x="460" y="6"/>
                    </a:lnTo>
                    <a:lnTo>
                      <a:pt x="462" y="6"/>
                    </a:lnTo>
                    <a:lnTo>
                      <a:pt x="465" y="8"/>
                    </a:lnTo>
                    <a:lnTo>
                      <a:pt x="466" y="8"/>
                    </a:lnTo>
                    <a:lnTo>
                      <a:pt x="466" y="8"/>
                    </a:lnTo>
                    <a:lnTo>
                      <a:pt x="469" y="8"/>
                    </a:lnTo>
                    <a:lnTo>
                      <a:pt x="471" y="8"/>
                    </a:lnTo>
                    <a:lnTo>
                      <a:pt x="474" y="9"/>
                    </a:lnTo>
                    <a:lnTo>
                      <a:pt x="475" y="9"/>
                    </a:lnTo>
                    <a:lnTo>
                      <a:pt x="477" y="9"/>
                    </a:lnTo>
                    <a:lnTo>
                      <a:pt x="478" y="9"/>
                    </a:lnTo>
                    <a:lnTo>
                      <a:pt x="481" y="9"/>
                    </a:lnTo>
                    <a:lnTo>
                      <a:pt x="483" y="9"/>
                    </a:lnTo>
                    <a:lnTo>
                      <a:pt x="485" y="11"/>
                    </a:lnTo>
                    <a:lnTo>
                      <a:pt x="486" y="11"/>
                    </a:lnTo>
                    <a:lnTo>
                      <a:pt x="488" y="11"/>
                    </a:lnTo>
                    <a:lnTo>
                      <a:pt x="488" y="11"/>
                    </a:lnTo>
                    <a:lnTo>
                      <a:pt x="489" y="11"/>
                    </a:lnTo>
                    <a:lnTo>
                      <a:pt x="491" y="11"/>
                    </a:lnTo>
                    <a:lnTo>
                      <a:pt x="492" y="12"/>
                    </a:lnTo>
                    <a:lnTo>
                      <a:pt x="494" y="12"/>
                    </a:lnTo>
                    <a:lnTo>
                      <a:pt x="495" y="12"/>
                    </a:lnTo>
                    <a:lnTo>
                      <a:pt x="497" y="12"/>
                    </a:lnTo>
                    <a:lnTo>
                      <a:pt x="498" y="14"/>
                    </a:lnTo>
                    <a:lnTo>
                      <a:pt x="500" y="14"/>
                    </a:lnTo>
                    <a:lnTo>
                      <a:pt x="501" y="14"/>
                    </a:lnTo>
                    <a:lnTo>
                      <a:pt x="503" y="14"/>
                    </a:lnTo>
                    <a:lnTo>
                      <a:pt x="504" y="15"/>
                    </a:lnTo>
                    <a:lnTo>
                      <a:pt x="506" y="15"/>
                    </a:lnTo>
                    <a:lnTo>
                      <a:pt x="507" y="15"/>
                    </a:lnTo>
                    <a:lnTo>
                      <a:pt x="509" y="17"/>
                    </a:lnTo>
                    <a:lnTo>
                      <a:pt x="512" y="17"/>
                    </a:lnTo>
                    <a:lnTo>
                      <a:pt x="514" y="18"/>
                    </a:lnTo>
                    <a:lnTo>
                      <a:pt x="517" y="18"/>
                    </a:lnTo>
                    <a:lnTo>
                      <a:pt x="518" y="20"/>
                    </a:lnTo>
                    <a:lnTo>
                      <a:pt x="521" y="20"/>
                    </a:lnTo>
                    <a:lnTo>
                      <a:pt x="524" y="21"/>
                    </a:lnTo>
                    <a:lnTo>
                      <a:pt x="524" y="21"/>
                    </a:lnTo>
                    <a:lnTo>
                      <a:pt x="527" y="21"/>
                    </a:lnTo>
                    <a:lnTo>
                      <a:pt x="529" y="23"/>
                    </a:lnTo>
                    <a:lnTo>
                      <a:pt x="532" y="23"/>
                    </a:lnTo>
                    <a:lnTo>
                      <a:pt x="533" y="24"/>
                    </a:lnTo>
                    <a:lnTo>
                      <a:pt x="536" y="24"/>
                    </a:lnTo>
                    <a:lnTo>
                      <a:pt x="538" y="26"/>
                    </a:lnTo>
                    <a:lnTo>
                      <a:pt x="540" y="26"/>
                    </a:lnTo>
                    <a:lnTo>
                      <a:pt x="543" y="26"/>
                    </a:lnTo>
                    <a:lnTo>
                      <a:pt x="544" y="27"/>
                    </a:lnTo>
                    <a:lnTo>
                      <a:pt x="546" y="27"/>
                    </a:lnTo>
                    <a:lnTo>
                      <a:pt x="547" y="27"/>
                    </a:lnTo>
                    <a:lnTo>
                      <a:pt x="549" y="29"/>
                    </a:lnTo>
                    <a:lnTo>
                      <a:pt x="550" y="29"/>
                    </a:lnTo>
                    <a:lnTo>
                      <a:pt x="552" y="29"/>
                    </a:lnTo>
                    <a:lnTo>
                      <a:pt x="552" y="30"/>
                    </a:lnTo>
                    <a:lnTo>
                      <a:pt x="553" y="30"/>
                    </a:lnTo>
                    <a:lnTo>
                      <a:pt x="555" y="32"/>
                    </a:lnTo>
                    <a:lnTo>
                      <a:pt x="556" y="32"/>
                    </a:lnTo>
                    <a:lnTo>
                      <a:pt x="558" y="32"/>
                    </a:lnTo>
                    <a:lnTo>
                      <a:pt x="559" y="34"/>
                    </a:lnTo>
                    <a:lnTo>
                      <a:pt x="561" y="34"/>
                    </a:lnTo>
                    <a:lnTo>
                      <a:pt x="562" y="35"/>
                    </a:lnTo>
                    <a:lnTo>
                      <a:pt x="564" y="35"/>
                    </a:lnTo>
                    <a:lnTo>
                      <a:pt x="566" y="35"/>
                    </a:lnTo>
                    <a:lnTo>
                      <a:pt x="567" y="37"/>
                    </a:lnTo>
                    <a:lnTo>
                      <a:pt x="569" y="38"/>
                    </a:lnTo>
                    <a:lnTo>
                      <a:pt x="570" y="38"/>
                    </a:lnTo>
                    <a:lnTo>
                      <a:pt x="572" y="40"/>
                    </a:lnTo>
                    <a:lnTo>
                      <a:pt x="575" y="40"/>
                    </a:lnTo>
                    <a:lnTo>
                      <a:pt x="576" y="41"/>
                    </a:lnTo>
                    <a:lnTo>
                      <a:pt x="579" y="43"/>
                    </a:lnTo>
                    <a:lnTo>
                      <a:pt x="581" y="44"/>
                    </a:lnTo>
                    <a:lnTo>
                      <a:pt x="581" y="44"/>
                    </a:lnTo>
                    <a:lnTo>
                      <a:pt x="584" y="44"/>
                    </a:lnTo>
                    <a:lnTo>
                      <a:pt x="585" y="46"/>
                    </a:lnTo>
                    <a:lnTo>
                      <a:pt x="588" y="47"/>
                    </a:lnTo>
                    <a:lnTo>
                      <a:pt x="590" y="49"/>
                    </a:lnTo>
                    <a:lnTo>
                      <a:pt x="592" y="49"/>
                    </a:lnTo>
                    <a:lnTo>
                      <a:pt x="593" y="50"/>
                    </a:lnTo>
                    <a:lnTo>
                      <a:pt x="595" y="50"/>
                    </a:lnTo>
                    <a:lnTo>
                      <a:pt x="598" y="52"/>
                    </a:lnTo>
                    <a:lnTo>
                      <a:pt x="598" y="52"/>
                    </a:lnTo>
                    <a:lnTo>
                      <a:pt x="599" y="53"/>
                    </a:lnTo>
                    <a:lnTo>
                      <a:pt x="601" y="53"/>
                    </a:lnTo>
                    <a:lnTo>
                      <a:pt x="602" y="55"/>
                    </a:lnTo>
                    <a:lnTo>
                      <a:pt x="604" y="55"/>
                    </a:lnTo>
                    <a:lnTo>
                      <a:pt x="605" y="56"/>
                    </a:lnTo>
                    <a:lnTo>
                      <a:pt x="607" y="56"/>
                    </a:lnTo>
                    <a:lnTo>
                      <a:pt x="607" y="56"/>
                    </a:lnTo>
                    <a:lnTo>
                      <a:pt x="608" y="58"/>
                    </a:lnTo>
                    <a:lnTo>
                      <a:pt x="610" y="58"/>
                    </a:lnTo>
                    <a:lnTo>
                      <a:pt x="611" y="60"/>
                    </a:lnTo>
                    <a:lnTo>
                      <a:pt x="613" y="60"/>
                    </a:lnTo>
                    <a:lnTo>
                      <a:pt x="613" y="61"/>
                    </a:lnTo>
                    <a:lnTo>
                      <a:pt x="614" y="61"/>
                    </a:lnTo>
                    <a:lnTo>
                      <a:pt x="616" y="61"/>
                    </a:lnTo>
                    <a:lnTo>
                      <a:pt x="618" y="63"/>
                    </a:lnTo>
                    <a:lnTo>
                      <a:pt x="619" y="63"/>
                    </a:lnTo>
                    <a:lnTo>
                      <a:pt x="621" y="64"/>
                    </a:lnTo>
                    <a:lnTo>
                      <a:pt x="622" y="66"/>
                    </a:lnTo>
                    <a:lnTo>
                      <a:pt x="624" y="66"/>
                    </a:lnTo>
                    <a:lnTo>
                      <a:pt x="625" y="67"/>
                    </a:lnTo>
                    <a:lnTo>
                      <a:pt x="628" y="69"/>
                    </a:lnTo>
                    <a:lnTo>
                      <a:pt x="630" y="69"/>
                    </a:lnTo>
                    <a:lnTo>
                      <a:pt x="631" y="70"/>
                    </a:lnTo>
                    <a:lnTo>
                      <a:pt x="631" y="70"/>
                    </a:lnTo>
                    <a:lnTo>
                      <a:pt x="634" y="72"/>
                    </a:lnTo>
                    <a:lnTo>
                      <a:pt x="636" y="73"/>
                    </a:lnTo>
                    <a:lnTo>
                      <a:pt x="637" y="73"/>
                    </a:lnTo>
                    <a:lnTo>
                      <a:pt x="639" y="75"/>
                    </a:lnTo>
                    <a:lnTo>
                      <a:pt x="642" y="76"/>
                    </a:lnTo>
                    <a:lnTo>
                      <a:pt x="643" y="76"/>
                    </a:lnTo>
                    <a:lnTo>
                      <a:pt x="645" y="78"/>
                    </a:lnTo>
                    <a:lnTo>
                      <a:pt x="647" y="78"/>
                    </a:lnTo>
                    <a:lnTo>
                      <a:pt x="647" y="79"/>
                    </a:lnTo>
                    <a:lnTo>
                      <a:pt x="648" y="79"/>
                    </a:lnTo>
                    <a:lnTo>
                      <a:pt x="650" y="81"/>
                    </a:lnTo>
                    <a:lnTo>
                      <a:pt x="651" y="81"/>
                    </a:lnTo>
                    <a:lnTo>
                      <a:pt x="651" y="82"/>
                    </a:lnTo>
                    <a:lnTo>
                      <a:pt x="653" y="82"/>
                    </a:lnTo>
                    <a:lnTo>
                      <a:pt x="654" y="82"/>
                    </a:lnTo>
                    <a:lnTo>
                      <a:pt x="656" y="84"/>
                    </a:lnTo>
                    <a:lnTo>
                      <a:pt x="656" y="84"/>
                    </a:lnTo>
                    <a:lnTo>
                      <a:pt x="657" y="86"/>
                    </a:lnTo>
                    <a:lnTo>
                      <a:pt x="657" y="86"/>
                    </a:lnTo>
                    <a:lnTo>
                      <a:pt x="659" y="86"/>
                    </a:lnTo>
                    <a:lnTo>
                      <a:pt x="660" y="87"/>
                    </a:lnTo>
                    <a:lnTo>
                      <a:pt x="662" y="87"/>
                    </a:lnTo>
                    <a:lnTo>
                      <a:pt x="662" y="89"/>
                    </a:lnTo>
                    <a:lnTo>
                      <a:pt x="663" y="89"/>
                    </a:lnTo>
                    <a:lnTo>
                      <a:pt x="665" y="90"/>
                    </a:lnTo>
                    <a:lnTo>
                      <a:pt x="666" y="90"/>
                    </a:lnTo>
                    <a:lnTo>
                      <a:pt x="666" y="92"/>
                    </a:lnTo>
                    <a:lnTo>
                      <a:pt x="668" y="92"/>
                    </a:lnTo>
                    <a:lnTo>
                      <a:pt x="669" y="93"/>
                    </a:lnTo>
                    <a:lnTo>
                      <a:pt x="671" y="95"/>
                    </a:lnTo>
                    <a:lnTo>
                      <a:pt x="673" y="95"/>
                    </a:lnTo>
                    <a:lnTo>
                      <a:pt x="674" y="96"/>
                    </a:lnTo>
                    <a:lnTo>
                      <a:pt x="674" y="96"/>
                    </a:lnTo>
                    <a:lnTo>
                      <a:pt x="677" y="98"/>
                    </a:lnTo>
                    <a:lnTo>
                      <a:pt x="679" y="98"/>
                    </a:lnTo>
                    <a:lnTo>
                      <a:pt x="680" y="99"/>
                    </a:lnTo>
                    <a:lnTo>
                      <a:pt x="682" y="101"/>
                    </a:lnTo>
                    <a:lnTo>
                      <a:pt x="682" y="101"/>
                    </a:lnTo>
                    <a:lnTo>
                      <a:pt x="683" y="102"/>
                    </a:lnTo>
                    <a:lnTo>
                      <a:pt x="685" y="102"/>
                    </a:lnTo>
                    <a:lnTo>
                      <a:pt x="686" y="104"/>
                    </a:lnTo>
                    <a:lnTo>
                      <a:pt x="686" y="104"/>
                    </a:lnTo>
                    <a:lnTo>
                      <a:pt x="688" y="105"/>
                    </a:lnTo>
                    <a:lnTo>
                      <a:pt x="689" y="105"/>
                    </a:lnTo>
                    <a:lnTo>
                      <a:pt x="689" y="105"/>
                    </a:lnTo>
                    <a:lnTo>
                      <a:pt x="691" y="107"/>
                    </a:lnTo>
                    <a:lnTo>
                      <a:pt x="691" y="107"/>
                    </a:lnTo>
                    <a:lnTo>
                      <a:pt x="692" y="108"/>
                    </a:lnTo>
                    <a:lnTo>
                      <a:pt x="692" y="108"/>
                    </a:lnTo>
                    <a:lnTo>
                      <a:pt x="694" y="108"/>
                    </a:lnTo>
                    <a:lnTo>
                      <a:pt x="694" y="110"/>
                    </a:lnTo>
                    <a:lnTo>
                      <a:pt x="695" y="110"/>
                    </a:lnTo>
                    <a:lnTo>
                      <a:pt x="695" y="110"/>
                    </a:lnTo>
                    <a:lnTo>
                      <a:pt x="697" y="112"/>
                    </a:lnTo>
                    <a:lnTo>
                      <a:pt x="697" y="112"/>
                    </a:lnTo>
                    <a:lnTo>
                      <a:pt x="699" y="112"/>
                    </a:lnTo>
                    <a:lnTo>
                      <a:pt x="699" y="113"/>
                    </a:lnTo>
                    <a:lnTo>
                      <a:pt x="700" y="113"/>
                    </a:lnTo>
                    <a:lnTo>
                      <a:pt x="702" y="115"/>
                    </a:lnTo>
                    <a:lnTo>
                      <a:pt x="702" y="115"/>
                    </a:lnTo>
                    <a:lnTo>
                      <a:pt x="703" y="116"/>
                    </a:lnTo>
                    <a:lnTo>
                      <a:pt x="703" y="116"/>
                    </a:lnTo>
                    <a:lnTo>
                      <a:pt x="705" y="118"/>
                    </a:lnTo>
                    <a:lnTo>
                      <a:pt x="706" y="118"/>
                    </a:lnTo>
                    <a:lnTo>
                      <a:pt x="708" y="119"/>
                    </a:lnTo>
                    <a:lnTo>
                      <a:pt x="708" y="119"/>
                    </a:lnTo>
                    <a:lnTo>
                      <a:pt x="708" y="121"/>
                    </a:lnTo>
                    <a:lnTo>
                      <a:pt x="709" y="121"/>
                    </a:lnTo>
                    <a:lnTo>
                      <a:pt x="711" y="122"/>
                    </a:lnTo>
                    <a:lnTo>
                      <a:pt x="712" y="122"/>
                    </a:lnTo>
                    <a:lnTo>
                      <a:pt x="712" y="124"/>
                    </a:lnTo>
                    <a:lnTo>
                      <a:pt x="714" y="124"/>
                    </a:lnTo>
                    <a:lnTo>
                      <a:pt x="714" y="125"/>
                    </a:lnTo>
                    <a:lnTo>
                      <a:pt x="715" y="125"/>
                    </a:lnTo>
                    <a:lnTo>
                      <a:pt x="715" y="125"/>
                    </a:lnTo>
                    <a:lnTo>
                      <a:pt x="717" y="127"/>
                    </a:lnTo>
                    <a:lnTo>
                      <a:pt x="717" y="127"/>
                    </a:lnTo>
                    <a:lnTo>
                      <a:pt x="718" y="128"/>
                    </a:lnTo>
                    <a:lnTo>
                      <a:pt x="718" y="128"/>
                    </a:lnTo>
                    <a:lnTo>
                      <a:pt x="720" y="128"/>
                    </a:lnTo>
                    <a:lnTo>
                      <a:pt x="720" y="130"/>
                    </a:lnTo>
                    <a:lnTo>
                      <a:pt x="721" y="130"/>
                    </a:lnTo>
                    <a:lnTo>
                      <a:pt x="721" y="130"/>
                    </a:lnTo>
                    <a:lnTo>
                      <a:pt x="723" y="131"/>
                    </a:lnTo>
                    <a:lnTo>
                      <a:pt x="723" y="131"/>
                    </a:lnTo>
                    <a:lnTo>
                      <a:pt x="723" y="131"/>
                    </a:lnTo>
                    <a:lnTo>
                      <a:pt x="725" y="133"/>
                    </a:lnTo>
                    <a:lnTo>
                      <a:pt x="725" y="133"/>
                    </a:lnTo>
                    <a:lnTo>
                      <a:pt x="726" y="133"/>
                    </a:lnTo>
                    <a:lnTo>
                      <a:pt x="728" y="134"/>
                    </a:lnTo>
                    <a:lnTo>
                      <a:pt x="728" y="134"/>
                    </a:lnTo>
                    <a:lnTo>
                      <a:pt x="729" y="136"/>
                    </a:lnTo>
                    <a:lnTo>
                      <a:pt x="729" y="136"/>
                    </a:lnTo>
                    <a:lnTo>
                      <a:pt x="731" y="138"/>
                    </a:lnTo>
                    <a:lnTo>
                      <a:pt x="732" y="138"/>
                    </a:lnTo>
                    <a:lnTo>
                      <a:pt x="734" y="139"/>
                    </a:lnTo>
                    <a:lnTo>
                      <a:pt x="735" y="139"/>
                    </a:lnTo>
                    <a:lnTo>
                      <a:pt x="735" y="141"/>
                    </a:lnTo>
                    <a:lnTo>
                      <a:pt x="735" y="141"/>
                    </a:lnTo>
                    <a:lnTo>
                      <a:pt x="737" y="141"/>
                    </a:lnTo>
                    <a:lnTo>
                      <a:pt x="738" y="142"/>
                    </a:lnTo>
                    <a:lnTo>
                      <a:pt x="740" y="144"/>
                    </a:lnTo>
                    <a:lnTo>
                      <a:pt x="741" y="144"/>
                    </a:lnTo>
                    <a:lnTo>
                      <a:pt x="743" y="145"/>
                    </a:lnTo>
                    <a:lnTo>
                      <a:pt x="743" y="145"/>
                    </a:lnTo>
                    <a:lnTo>
                      <a:pt x="744" y="147"/>
                    </a:lnTo>
                    <a:lnTo>
                      <a:pt x="744" y="147"/>
                    </a:lnTo>
                    <a:lnTo>
                      <a:pt x="746" y="147"/>
                    </a:lnTo>
                    <a:lnTo>
                      <a:pt x="747" y="148"/>
                    </a:lnTo>
                    <a:lnTo>
                      <a:pt x="747" y="148"/>
                    </a:lnTo>
                    <a:lnTo>
                      <a:pt x="749" y="150"/>
                    </a:lnTo>
                    <a:lnTo>
                      <a:pt x="749" y="150"/>
                    </a:lnTo>
                    <a:lnTo>
                      <a:pt x="751" y="150"/>
                    </a:lnTo>
                    <a:lnTo>
                      <a:pt x="751" y="151"/>
                    </a:lnTo>
                    <a:lnTo>
                      <a:pt x="752" y="151"/>
                    </a:lnTo>
                    <a:lnTo>
                      <a:pt x="752" y="153"/>
                    </a:lnTo>
                    <a:lnTo>
                      <a:pt x="754" y="153"/>
                    </a:lnTo>
                    <a:lnTo>
                      <a:pt x="754" y="154"/>
                    </a:lnTo>
                    <a:lnTo>
                      <a:pt x="755" y="154"/>
                    </a:lnTo>
                    <a:lnTo>
                      <a:pt x="755" y="156"/>
                    </a:lnTo>
                    <a:lnTo>
                      <a:pt x="757" y="156"/>
                    </a:lnTo>
                    <a:lnTo>
                      <a:pt x="757" y="157"/>
                    </a:lnTo>
                    <a:lnTo>
                      <a:pt x="758" y="157"/>
                    </a:lnTo>
                    <a:lnTo>
                      <a:pt x="758" y="159"/>
                    </a:lnTo>
                    <a:lnTo>
                      <a:pt x="760" y="160"/>
                    </a:lnTo>
                    <a:lnTo>
                      <a:pt x="761" y="160"/>
                    </a:lnTo>
                    <a:lnTo>
                      <a:pt x="763" y="162"/>
                    </a:lnTo>
                    <a:lnTo>
                      <a:pt x="763" y="164"/>
                    </a:lnTo>
                    <a:lnTo>
                      <a:pt x="764" y="165"/>
                    </a:lnTo>
                    <a:lnTo>
                      <a:pt x="766" y="167"/>
                    </a:lnTo>
                    <a:lnTo>
                      <a:pt x="767" y="168"/>
                    </a:lnTo>
                    <a:lnTo>
                      <a:pt x="767" y="168"/>
                    </a:lnTo>
                    <a:lnTo>
                      <a:pt x="769" y="170"/>
                    </a:lnTo>
                    <a:lnTo>
                      <a:pt x="770" y="171"/>
                    </a:lnTo>
                    <a:lnTo>
                      <a:pt x="772" y="173"/>
                    </a:lnTo>
                    <a:lnTo>
                      <a:pt x="773" y="174"/>
                    </a:lnTo>
                    <a:lnTo>
                      <a:pt x="773" y="174"/>
                    </a:lnTo>
                    <a:lnTo>
                      <a:pt x="775" y="176"/>
                    </a:lnTo>
                    <a:lnTo>
                      <a:pt x="776" y="177"/>
                    </a:lnTo>
                    <a:lnTo>
                      <a:pt x="776" y="179"/>
                    </a:lnTo>
                    <a:lnTo>
                      <a:pt x="778" y="179"/>
                    </a:lnTo>
                    <a:lnTo>
                      <a:pt x="780" y="180"/>
                    </a:lnTo>
                    <a:lnTo>
                      <a:pt x="780" y="180"/>
                    </a:lnTo>
                    <a:lnTo>
                      <a:pt x="781" y="182"/>
                    </a:lnTo>
                    <a:lnTo>
                      <a:pt x="781" y="183"/>
                    </a:lnTo>
                    <a:lnTo>
                      <a:pt x="783" y="183"/>
                    </a:lnTo>
                    <a:lnTo>
                      <a:pt x="783" y="185"/>
                    </a:lnTo>
                    <a:lnTo>
                      <a:pt x="784" y="186"/>
                    </a:lnTo>
                    <a:lnTo>
                      <a:pt x="784" y="186"/>
                    </a:lnTo>
                    <a:lnTo>
                      <a:pt x="786" y="188"/>
                    </a:lnTo>
                    <a:lnTo>
                      <a:pt x="787" y="188"/>
                    </a:lnTo>
                    <a:lnTo>
                      <a:pt x="787" y="189"/>
                    </a:lnTo>
                    <a:lnTo>
                      <a:pt x="789" y="191"/>
                    </a:lnTo>
                    <a:lnTo>
                      <a:pt x="789" y="193"/>
                    </a:lnTo>
                    <a:lnTo>
                      <a:pt x="790" y="193"/>
                    </a:lnTo>
                    <a:lnTo>
                      <a:pt x="792" y="194"/>
                    </a:lnTo>
                    <a:lnTo>
                      <a:pt x="792" y="196"/>
                    </a:lnTo>
                    <a:lnTo>
                      <a:pt x="793" y="197"/>
                    </a:lnTo>
                    <a:lnTo>
                      <a:pt x="795" y="199"/>
                    </a:lnTo>
                    <a:lnTo>
                      <a:pt x="796" y="200"/>
                    </a:lnTo>
                    <a:lnTo>
                      <a:pt x="798" y="202"/>
                    </a:lnTo>
                    <a:lnTo>
                      <a:pt x="799" y="203"/>
                    </a:lnTo>
                    <a:lnTo>
                      <a:pt x="801" y="206"/>
                    </a:lnTo>
                    <a:lnTo>
                      <a:pt x="802" y="208"/>
                    </a:lnTo>
                    <a:lnTo>
                      <a:pt x="802" y="208"/>
                    </a:lnTo>
                    <a:lnTo>
                      <a:pt x="804" y="209"/>
                    </a:lnTo>
                    <a:lnTo>
                      <a:pt x="806" y="212"/>
                    </a:lnTo>
                    <a:lnTo>
                      <a:pt x="807" y="214"/>
                    </a:lnTo>
                    <a:lnTo>
                      <a:pt x="809" y="215"/>
                    </a:lnTo>
                    <a:lnTo>
                      <a:pt x="810" y="217"/>
                    </a:lnTo>
                    <a:lnTo>
                      <a:pt x="812" y="219"/>
                    </a:lnTo>
                    <a:lnTo>
                      <a:pt x="813" y="220"/>
                    </a:lnTo>
                    <a:lnTo>
                      <a:pt x="815" y="222"/>
                    </a:lnTo>
                    <a:lnTo>
                      <a:pt x="815" y="223"/>
                    </a:lnTo>
                    <a:lnTo>
                      <a:pt x="816" y="225"/>
                    </a:lnTo>
                    <a:lnTo>
                      <a:pt x="818" y="226"/>
                    </a:lnTo>
                    <a:lnTo>
                      <a:pt x="818" y="226"/>
                    </a:lnTo>
                    <a:lnTo>
                      <a:pt x="819" y="228"/>
                    </a:lnTo>
                    <a:lnTo>
                      <a:pt x="819" y="229"/>
                    </a:lnTo>
                    <a:lnTo>
                      <a:pt x="821" y="231"/>
                    </a:lnTo>
                    <a:lnTo>
                      <a:pt x="822" y="231"/>
                    </a:lnTo>
                    <a:lnTo>
                      <a:pt x="822" y="232"/>
                    </a:lnTo>
                    <a:lnTo>
                      <a:pt x="824" y="234"/>
                    </a:lnTo>
                    <a:lnTo>
                      <a:pt x="824" y="235"/>
                    </a:lnTo>
                    <a:lnTo>
                      <a:pt x="825" y="237"/>
                    </a:lnTo>
                    <a:lnTo>
                      <a:pt x="827" y="237"/>
                    </a:lnTo>
                    <a:lnTo>
                      <a:pt x="827" y="238"/>
                    </a:lnTo>
                    <a:lnTo>
                      <a:pt x="828" y="240"/>
                    </a:lnTo>
                    <a:lnTo>
                      <a:pt x="830" y="241"/>
                    </a:lnTo>
                    <a:lnTo>
                      <a:pt x="830" y="243"/>
                    </a:lnTo>
                    <a:lnTo>
                      <a:pt x="832" y="245"/>
                    </a:lnTo>
                    <a:lnTo>
                      <a:pt x="833" y="248"/>
                    </a:lnTo>
                    <a:lnTo>
                      <a:pt x="835" y="249"/>
                    </a:lnTo>
                    <a:lnTo>
                      <a:pt x="836" y="251"/>
                    </a:lnTo>
                    <a:lnTo>
                      <a:pt x="838" y="254"/>
                    </a:lnTo>
                    <a:lnTo>
                      <a:pt x="839" y="255"/>
                    </a:lnTo>
                    <a:lnTo>
                      <a:pt x="841" y="258"/>
                    </a:lnTo>
                    <a:lnTo>
                      <a:pt x="841" y="258"/>
                    </a:lnTo>
                    <a:lnTo>
                      <a:pt x="842" y="260"/>
                    </a:lnTo>
                    <a:lnTo>
                      <a:pt x="844" y="263"/>
                    </a:lnTo>
                    <a:lnTo>
                      <a:pt x="845" y="264"/>
                    </a:lnTo>
                    <a:lnTo>
                      <a:pt x="847" y="266"/>
                    </a:lnTo>
                    <a:lnTo>
                      <a:pt x="848" y="269"/>
                    </a:lnTo>
                    <a:lnTo>
                      <a:pt x="850" y="271"/>
                    </a:lnTo>
                    <a:lnTo>
                      <a:pt x="851" y="272"/>
                    </a:lnTo>
                    <a:lnTo>
                      <a:pt x="853" y="274"/>
                    </a:lnTo>
                    <a:lnTo>
                      <a:pt x="853" y="275"/>
                    </a:lnTo>
                    <a:lnTo>
                      <a:pt x="854" y="277"/>
                    </a:lnTo>
                    <a:lnTo>
                      <a:pt x="856" y="278"/>
                    </a:lnTo>
                    <a:lnTo>
                      <a:pt x="856" y="280"/>
                    </a:lnTo>
                    <a:lnTo>
                      <a:pt x="858" y="281"/>
                    </a:lnTo>
                    <a:lnTo>
                      <a:pt x="859" y="281"/>
                    </a:lnTo>
                    <a:lnTo>
                      <a:pt x="859" y="283"/>
                    </a:lnTo>
                    <a:lnTo>
                      <a:pt x="861" y="284"/>
                    </a:lnTo>
                    <a:lnTo>
                      <a:pt x="861" y="286"/>
                    </a:lnTo>
                    <a:lnTo>
                      <a:pt x="862" y="287"/>
                    </a:lnTo>
                    <a:lnTo>
                      <a:pt x="864" y="289"/>
                    </a:lnTo>
                    <a:lnTo>
                      <a:pt x="864" y="290"/>
                    </a:lnTo>
                    <a:lnTo>
                      <a:pt x="865" y="290"/>
                    </a:lnTo>
                    <a:lnTo>
                      <a:pt x="867" y="292"/>
                    </a:lnTo>
                    <a:lnTo>
                      <a:pt x="867" y="293"/>
                    </a:lnTo>
                    <a:lnTo>
                      <a:pt x="868" y="295"/>
                    </a:lnTo>
                    <a:lnTo>
                      <a:pt x="870" y="298"/>
                    </a:lnTo>
                    <a:lnTo>
                      <a:pt x="871" y="300"/>
                    </a:lnTo>
                    <a:lnTo>
                      <a:pt x="873" y="301"/>
                    </a:lnTo>
                    <a:lnTo>
                      <a:pt x="874" y="303"/>
                    </a:lnTo>
                    <a:lnTo>
                      <a:pt x="876" y="306"/>
                    </a:lnTo>
                    <a:lnTo>
                      <a:pt x="877" y="307"/>
                    </a:lnTo>
                    <a:lnTo>
                      <a:pt x="879" y="310"/>
                    </a:lnTo>
                    <a:lnTo>
                      <a:pt x="880" y="312"/>
                    </a:lnTo>
                    <a:lnTo>
                      <a:pt x="880" y="312"/>
                    </a:lnTo>
                    <a:lnTo>
                      <a:pt x="882" y="315"/>
                    </a:lnTo>
                    <a:lnTo>
                      <a:pt x="884" y="316"/>
                    </a:lnTo>
                    <a:lnTo>
                      <a:pt x="885" y="319"/>
                    </a:lnTo>
                    <a:lnTo>
                      <a:pt x="887" y="321"/>
                    </a:lnTo>
                    <a:lnTo>
                      <a:pt x="888" y="324"/>
                    </a:lnTo>
                    <a:lnTo>
                      <a:pt x="890" y="326"/>
                    </a:lnTo>
                    <a:lnTo>
                      <a:pt x="891" y="327"/>
                    </a:lnTo>
                    <a:lnTo>
                      <a:pt x="893" y="329"/>
                    </a:lnTo>
                    <a:lnTo>
                      <a:pt x="893" y="330"/>
                    </a:lnTo>
                    <a:lnTo>
                      <a:pt x="894" y="332"/>
                    </a:lnTo>
                    <a:lnTo>
                      <a:pt x="896" y="333"/>
                    </a:lnTo>
                    <a:lnTo>
                      <a:pt x="896" y="335"/>
                    </a:lnTo>
                    <a:lnTo>
                      <a:pt x="897" y="336"/>
                    </a:lnTo>
                    <a:lnTo>
                      <a:pt x="897" y="336"/>
                    </a:lnTo>
                    <a:lnTo>
                      <a:pt x="899" y="338"/>
                    </a:lnTo>
                    <a:lnTo>
                      <a:pt x="899" y="339"/>
                    </a:lnTo>
                    <a:lnTo>
                      <a:pt x="900" y="341"/>
                    </a:lnTo>
                    <a:lnTo>
                      <a:pt x="900" y="342"/>
                    </a:lnTo>
                    <a:lnTo>
                      <a:pt x="902" y="342"/>
                    </a:lnTo>
                    <a:lnTo>
                      <a:pt x="902" y="344"/>
                    </a:lnTo>
                    <a:lnTo>
                      <a:pt x="903" y="345"/>
                    </a:lnTo>
                    <a:lnTo>
                      <a:pt x="903" y="347"/>
                    </a:lnTo>
                    <a:lnTo>
                      <a:pt x="905" y="348"/>
                    </a:lnTo>
                    <a:lnTo>
                      <a:pt x="905" y="348"/>
                    </a:lnTo>
                    <a:lnTo>
                      <a:pt x="906" y="350"/>
                    </a:lnTo>
                    <a:lnTo>
                      <a:pt x="908" y="352"/>
                    </a:lnTo>
                    <a:lnTo>
                      <a:pt x="908" y="353"/>
                    </a:lnTo>
                    <a:lnTo>
                      <a:pt x="909" y="355"/>
                    </a:lnTo>
                    <a:lnTo>
                      <a:pt x="909" y="358"/>
                    </a:lnTo>
                    <a:lnTo>
                      <a:pt x="911" y="359"/>
                    </a:lnTo>
                    <a:lnTo>
                      <a:pt x="913" y="361"/>
                    </a:lnTo>
                    <a:lnTo>
                      <a:pt x="914" y="362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Freeform 78"/>
              <p:cNvSpPr>
                <a:spLocks/>
              </p:cNvSpPr>
              <p:nvPr/>
            </p:nvSpPr>
            <p:spPr bwMode="auto">
              <a:xfrm>
                <a:off x="3408" y="2770"/>
                <a:ext cx="457" cy="181"/>
              </a:xfrm>
              <a:custGeom>
                <a:avLst/>
                <a:gdLst>
                  <a:gd name="T0" fmla="*/ 179 w 914"/>
                  <a:gd name="T1" fmla="*/ 363 h 363"/>
                  <a:gd name="T2" fmla="*/ 306 w 914"/>
                  <a:gd name="T3" fmla="*/ 363 h 363"/>
                  <a:gd name="T4" fmla="*/ 371 w 914"/>
                  <a:gd name="T5" fmla="*/ 363 h 363"/>
                  <a:gd name="T6" fmla="*/ 399 w 914"/>
                  <a:gd name="T7" fmla="*/ 361 h 363"/>
                  <a:gd name="T8" fmla="*/ 414 w 914"/>
                  <a:gd name="T9" fmla="*/ 361 h 363"/>
                  <a:gd name="T10" fmla="*/ 428 w 914"/>
                  <a:gd name="T11" fmla="*/ 360 h 363"/>
                  <a:gd name="T12" fmla="*/ 439 w 914"/>
                  <a:gd name="T13" fmla="*/ 360 h 363"/>
                  <a:gd name="T14" fmla="*/ 448 w 914"/>
                  <a:gd name="T15" fmla="*/ 358 h 363"/>
                  <a:gd name="T16" fmla="*/ 460 w 914"/>
                  <a:gd name="T17" fmla="*/ 357 h 363"/>
                  <a:gd name="T18" fmla="*/ 474 w 914"/>
                  <a:gd name="T19" fmla="*/ 353 h 363"/>
                  <a:gd name="T20" fmla="*/ 486 w 914"/>
                  <a:gd name="T21" fmla="*/ 352 h 363"/>
                  <a:gd name="T22" fmla="*/ 495 w 914"/>
                  <a:gd name="T23" fmla="*/ 350 h 363"/>
                  <a:gd name="T24" fmla="*/ 506 w 914"/>
                  <a:gd name="T25" fmla="*/ 347 h 363"/>
                  <a:gd name="T26" fmla="*/ 521 w 914"/>
                  <a:gd name="T27" fmla="*/ 343 h 363"/>
                  <a:gd name="T28" fmla="*/ 536 w 914"/>
                  <a:gd name="T29" fmla="*/ 338 h 363"/>
                  <a:gd name="T30" fmla="*/ 549 w 914"/>
                  <a:gd name="T31" fmla="*/ 334 h 363"/>
                  <a:gd name="T32" fmla="*/ 558 w 914"/>
                  <a:gd name="T33" fmla="*/ 331 h 363"/>
                  <a:gd name="T34" fmla="*/ 569 w 914"/>
                  <a:gd name="T35" fmla="*/ 324 h 363"/>
                  <a:gd name="T36" fmla="*/ 581 w 914"/>
                  <a:gd name="T37" fmla="*/ 318 h 363"/>
                  <a:gd name="T38" fmla="*/ 595 w 914"/>
                  <a:gd name="T39" fmla="*/ 312 h 363"/>
                  <a:gd name="T40" fmla="*/ 605 w 914"/>
                  <a:gd name="T41" fmla="*/ 306 h 363"/>
                  <a:gd name="T42" fmla="*/ 613 w 914"/>
                  <a:gd name="T43" fmla="*/ 303 h 363"/>
                  <a:gd name="T44" fmla="*/ 624 w 914"/>
                  <a:gd name="T45" fmla="*/ 297 h 363"/>
                  <a:gd name="T46" fmla="*/ 636 w 914"/>
                  <a:gd name="T47" fmla="*/ 289 h 363"/>
                  <a:gd name="T48" fmla="*/ 647 w 914"/>
                  <a:gd name="T49" fmla="*/ 283 h 363"/>
                  <a:gd name="T50" fmla="*/ 656 w 914"/>
                  <a:gd name="T51" fmla="*/ 279 h 363"/>
                  <a:gd name="T52" fmla="*/ 662 w 914"/>
                  <a:gd name="T53" fmla="*/ 274 h 363"/>
                  <a:gd name="T54" fmla="*/ 671 w 914"/>
                  <a:gd name="T55" fmla="*/ 268 h 363"/>
                  <a:gd name="T56" fmla="*/ 682 w 914"/>
                  <a:gd name="T57" fmla="*/ 262 h 363"/>
                  <a:gd name="T58" fmla="*/ 689 w 914"/>
                  <a:gd name="T59" fmla="*/ 257 h 363"/>
                  <a:gd name="T60" fmla="*/ 694 w 914"/>
                  <a:gd name="T61" fmla="*/ 253 h 363"/>
                  <a:gd name="T62" fmla="*/ 700 w 914"/>
                  <a:gd name="T63" fmla="*/ 250 h 363"/>
                  <a:gd name="T64" fmla="*/ 708 w 914"/>
                  <a:gd name="T65" fmla="*/ 243 h 363"/>
                  <a:gd name="T66" fmla="*/ 714 w 914"/>
                  <a:gd name="T67" fmla="*/ 239 h 363"/>
                  <a:gd name="T68" fmla="*/ 718 w 914"/>
                  <a:gd name="T69" fmla="*/ 234 h 363"/>
                  <a:gd name="T70" fmla="*/ 723 w 914"/>
                  <a:gd name="T71" fmla="*/ 231 h 363"/>
                  <a:gd name="T72" fmla="*/ 729 w 914"/>
                  <a:gd name="T73" fmla="*/ 227 h 363"/>
                  <a:gd name="T74" fmla="*/ 737 w 914"/>
                  <a:gd name="T75" fmla="*/ 222 h 363"/>
                  <a:gd name="T76" fmla="*/ 744 w 914"/>
                  <a:gd name="T77" fmla="*/ 216 h 363"/>
                  <a:gd name="T78" fmla="*/ 751 w 914"/>
                  <a:gd name="T79" fmla="*/ 211 h 363"/>
                  <a:gd name="T80" fmla="*/ 757 w 914"/>
                  <a:gd name="T81" fmla="*/ 207 h 363"/>
                  <a:gd name="T82" fmla="*/ 763 w 914"/>
                  <a:gd name="T83" fmla="*/ 199 h 363"/>
                  <a:gd name="T84" fmla="*/ 772 w 914"/>
                  <a:gd name="T85" fmla="*/ 190 h 363"/>
                  <a:gd name="T86" fmla="*/ 780 w 914"/>
                  <a:gd name="T87" fmla="*/ 182 h 363"/>
                  <a:gd name="T88" fmla="*/ 784 w 914"/>
                  <a:gd name="T89" fmla="*/ 176 h 363"/>
                  <a:gd name="T90" fmla="*/ 792 w 914"/>
                  <a:gd name="T91" fmla="*/ 168 h 363"/>
                  <a:gd name="T92" fmla="*/ 801 w 914"/>
                  <a:gd name="T93" fmla="*/ 156 h 363"/>
                  <a:gd name="T94" fmla="*/ 810 w 914"/>
                  <a:gd name="T95" fmla="*/ 146 h 363"/>
                  <a:gd name="T96" fmla="*/ 818 w 914"/>
                  <a:gd name="T97" fmla="*/ 136 h 363"/>
                  <a:gd name="T98" fmla="*/ 824 w 914"/>
                  <a:gd name="T99" fmla="*/ 127 h 363"/>
                  <a:gd name="T100" fmla="*/ 832 w 914"/>
                  <a:gd name="T101" fmla="*/ 118 h 363"/>
                  <a:gd name="T102" fmla="*/ 841 w 914"/>
                  <a:gd name="T103" fmla="*/ 104 h 363"/>
                  <a:gd name="T104" fmla="*/ 851 w 914"/>
                  <a:gd name="T105" fmla="*/ 91 h 363"/>
                  <a:gd name="T106" fmla="*/ 859 w 914"/>
                  <a:gd name="T107" fmla="*/ 80 h 363"/>
                  <a:gd name="T108" fmla="*/ 865 w 914"/>
                  <a:gd name="T109" fmla="*/ 71 h 363"/>
                  <a:gd name="T110" fmla="*/ 874 w 914"/>
                  <a:gd name="T111" fmla="*/ 60 h 363"/>
                  <a:gd name="T112" fmla="*/ 884 w 914"/>
                  <a:gd name="T113" fmla="*/ 46 h 363"/>
                  <a:gd name="T114" fmla="*/ 893 w 914"/>
                  <a:gd name="T115" fmla="*/ 32 h 363"/>
                  <a:gd name="T116" fmla="*/ 899 w 914"/>
                  <a:gd name="T117" fmla="*/ 23 h 363"/>
                  <a:gd name="T118" fmla="*/ 905 w 914"/>
                  <a:gd name="T119" fmla="*/ 14 h 363"/>
                  <a:gd name="T120" fmla="*/ 911 w 914"/>
                  <a:gd name="T121" fmla="*/ 3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14" h="363">
                    <a:moveTo>
                      <a:pt x="0" y="363"/>
                    </a:moveTo>
                    <a:lnTo>
                      <a:pt x="35" y="363"/>
                    </a:lnTo>
                    <a:lnTo>
                      <a:pt x="67" y="363"/>
                    </a:lnTo>
                    <a:lnTo>
                      <a:pt x="98" y="363"/>
                    </a:lnTo>
                    <a:lnTo>
                      <a:pt x="127" y="363"/>
                    </a:lnTo>
                    <a:lnTo>
                      <a:pt x="154" y="363"/>
                    </a:lnTo>
                    <a:lnTo>
                      <a:pt x="179" y="363"/>
                    </a:lnTo>
                    <a:lnTo>
                      <a:pt x="202" y="363"/>
                    </a:lnTo>
                    <a:lnTo>
                      <a:pt x="223" y="363"/>
                    </a:lnTo>
                    <a:lnTo>
                      <a:pt x="243" y="363"/>
                    </a:lnTo>
                    <a:lnTo>
                      <a:pt x="260" y="363"/>
                    </a:lnTo>
                    <a:lnTo>
                      <a:pt x="277" y="363"/>
                    </a:lnTo>
                    <a:lnTo>
                      <a:pt x="292" y="363"/>
                    </a:lnTo>
                    <a:lnTo>
                      <a:pt x="306" y="363"/>
                    </a:lnTo>
                    <a:lnTo>
                      <a:pt x="318" y="363"/>
                    </a:lnTo>
                    <a:lnTo>
                      <a:pt x="330" y="363"/>
                    </a:lnTo>
                    <a:lnTo>
                      <a:pt x="339" y="363"/>
                    </a:lnTo>
                    <a:lnTo>
                      <a:pt x="348" y="363"/>
                    </a:lnTo>
                    <a:lnTo>
                      <a:pt x="358" y="363"/>
                    </a:lnTo>
                    <a:lnTo>
                      <a:pt x="364" y="363"/>
                    </a:lnTo>
                    <a:lnTo>
                      <a:pt x="371" y="363"/>
                    </a:lnTo>
                    <a:lnTo>
                      <a:pt x="376" y="363"/>
                    </a:lnTo>
                    <a:lnTo>
                      <a:pt x="382" y="363"/>
                    </a:lnTo>
                    <a:lnTo>
                      <a:pt x="387" y="363"/>
                    </a:lnTo>
                    <a:lnTo>
                      <a:pt x="390" y="363"/>
                    </a:lnTo>
                    <a:lnTo>
                      <a:pt x="393" y="361"/>
                    </a:lnTo>
                    <a:lnTo>
                      <a:pt x="396" y="361"/>
                    </a:lnTo>
                    <a:lnTo>
                      <a:pt x="399" y="361"/>
                    </a:lnTo>
                    <a:lnTo>
                      <a:pt x="402" y="361"/>
                    </a:lnTo>
                    <a:lnTo>
                      <a:pt x="405" y="361"/>
                    </a:lnTo>
                    <a:lnTo>
                      <a:pt x="407" y="361"/>
                    </a:lnTo>
                    <a:lnTo>
                      <a:pt x="410" y="361"/>
                    </a:lnTo>
                    <a:lnTo>
                      <a:pt x="411" y="361"/>
                    </a:lnTo>
                    <a:lnTo>
                      <a:pt x="411" y="361"/>
                    </a:lnTo>
                    <a:lnTo>
                      <a:pt x="414" y="361"/>
                    </a:lnTo>
                    <a:lnTo>
                      <a:pt x="417" y="361"/>
                    </a:lnTo>
                    <a:lnTo>
                      <a:pt x="419" y="361"/>
                    </a:lnTo>
                    <a:lnTo>
                      <a:pt x="422" y="360"/>
                    </a:lnTo>
                    <a:lnTo>
                      <a:pt x="423" y="360"/>
                    </a:lnTo>
                    <a:lnTo>
                      <a:pt x="425" y="360"/>
                    </a:lnTo>
                    <a:lnTo>
                      <a:pt x="426" y="360"/>
                    </a:lnTo>
                    <a:lnTo>
                      <a:pt x="428" y="360"/>
                    </a:lnTo>
                    <a:lnTo>
                      <a:pt x="429" y="360"/>
                    </a:lnTo>
                    <a:lnTo>
                      <a:pt x="431" y="360"/>
                    </a:lnTo>
                    <a:lnTo>
                      <a:pt x="433" y="360"/>
                    </a:lnTo>
                    <a:lnTo>
                      <a:pt x="434" y="360"/>
                    </a:lnTo>
                    <a:lnTo>
                      <a:pt x="436" y="360"/>
                    </a:lnTo>
                    <a:lnTo>
                      <a:pt x="437" y="360"/>
                    </a:lnTo>
                    <a:lnTo>
                      <a:pt x="439" y="360"/>
                    </a:lnTo>
                    <a:lnTo>
                      <a:pt x="440" y="358"/>
                    </a:lnTo>
                    <a:lnTo>
                      <a:pt x="440" y="358"/>
                    </a:lnTo>
                    <a:lnTo>
                      <a:pt x="442" y="358"/>
                    </a:lnTo>
                    <a:lnTo>
                      <a:pt x="443" y="358"/>
                    </a:lnTo>
                    <a:lnTo>
                      <a:pt x="445" y="358"/>
                    </a:lnTo>
                    <a:lnTo>
                      <a:pt x="446" y="358"/>
                    </a:lnTo>
                    <a:lnTo>
                      <a:pt x="448" y="358"/>
                    </a:lnTo>
                    <a:lnTo>
                      <a:pt x="449" y="358"/>
                    </a:lnTo>
                    <a:lnTo>
                      <a:pt x="451" y="358"/>
                    </a:lnTo>
                    <a:lnTo>
                      <a:pt x="452" y="357"/>
                    </a:lnTo>
                    <a:lnTo>
                      <a:pt x="454" y="357"/>
                    </a:lnTo>
                    <a:lnTo>
                      <a:pt x="455" y="357"/>
                    </a:lnTo>
                    <a:lnTo>
                      <a:pt x="457" y="357"/>
                    </a:lnTo>
                    <a:lnTo>
                      <a:pt x="460" y="357"/>
                    </a:lnTo>
                    <a:lnTo>
                      <a:pt x="462" y="355"/>
                    </a:lnTo>
                    <a:lnTo>
                      <a:pt x="465" y="355"/>
                    </a:lnTo>
                    <a:lnTo>
                      <a:pt x="466" y="355"/>
                    </a:lnTo>
                    <a:lnTo>
                      <a:pt x="466" y="355"/>
                    </a:lnTo>
                    <a:lnTo>
                      <a:pt x="469" y="355"/>
                    </a:lnTo>
                    <a:lnTo>
                      <a:pt x="471" y="355"/>
                    </a:lnTo>
                    <a:lnTo>
                      <a:pt x="474" y="353"/>
                    </a:lnTo>
                    <a:lnTo>
                      <a:pt x="475" y="353"/>
                    </a:lnTo>
                    <a:lnTo>
                      <a:pt x="477" y="353"/>
                    </a:lnTo>
                    <a:lnTo>
                      <a:pt x="478" y="353"/>
                    </a:lnTo>
                    <a:lnTo>
                      <a:pt x="481" y="353"/>
                    </a:lnTo>
                    <a:lnTo>
                      <a:pt x="483" y="353"/>
                    </a:lnTo>
                    <a:lnTo>
                      <a:pt x="485" y="352"/>
                    </a:lnTo>
                    <a:lnTo>
                      <a:pt x="486" y="352"/>
                    </a:lnTo>
                    <a:lnTo>
                      <a:pt x="488" y="352"/>
                    </a:lnTo>
                    <a:lnTo>
                      <a:pt x="488" y="352"/>
                    </a:lnTo>
                    <a:lnTo>
                      <a:pt x="489" y="352"/>
                    </a:lnTo>
                    <a:lnTo>
                      <a:pt x="491" y="352"/>
                    </a:lnTo>
                    <a:lnTo>
                      <a:pt x="492" y="350"/>
                    </a:lnTo>
                    <a:lnTo>
                      <a:pt x="494" y="350"/>
                    </a:lnTo>
                    <a:lnTo>
                      <a:pt x="495" y="350"/>
                    </a:lnTo>
                    <a:lnTo>
                      <a:pt x="497" y="350"/>
                    </a:lnTo>
                    <a:lnTo>
                      <a:pt x="498" y="349"/>
                    </a:lnTo>
                    <a:lnTo>
                      <a:pt x="500" y="349"/>
                    </a:lnTo>
                    <a:lnTo>
                      <a:pt x="501" y="349"/>
                    </a:lnTo>
                    <a:lnTo>
                      <a:pt x="503" y="349"/>
                    </a:lnTo>
                    <a:lnTo>
                      <a:pt x="504" y="347"/>
                    </a:lnTo>
                    <a:lnTo>
                      <a:pt x="506" y="347"/>
                    </a:lnTo>
                    <a:lnTo>
                      <a:pt x="507" y="347"/>
                    </a:lnTo>
                    <a:lnTo>
                      <a:pt x="509" y="346"/>
                    </a:lnTo>
                    <a:lnTo>
                      <a:pt x="512" y="346"/>
                    </a:lnTo>
                    <a:lnTo>
                      <a:pt x="514" y="344"/>
                    </a:lnTo>
                    <a:lnTo>
                      <a:pt x="517" y="344"/>
                    </a:lnTo>
                    <a:lnTo>
                      <a:pt x="518" y="344"/>
                    </a:lnTo>
                    <a:lnTo>
                      <a:pt x="521" y="343"/>
                    </a:lnTo>
                    <a:lnTo>
                      <a:pt x="524" y="341"/>
                    </a:lnTo>
                    <a:lnTo>
                      <a:pt x="524" y="341"/>
                    </a:lnTo>
                    <a:lnTo>
                      <a:pt x="527" y="341"/>
                    </a:lnTo>
                    <a:lnTo>
                      <a:pt x="529" y="340"/>
                    </a:lnTo>
                    <a:lnTo>
                      <a:pt x="532" y="340"/>
                    </a:lnTo>
                    <a:lnTo>
                      <a:pt x="533" y="338"/>
                    </a:lnTo>
                    <a:lnTo>
                      <a:pt x="536" y="338"/>
                    </a:lnTo>
                    <a:lnTo>
                      <a:pt x="538" y="337"/>
                    </a:lnTo>
                    <a:lnTo>
                      <a:pt x="540" y="337"/>
                    </a:lnTo>
                    <a:lnTo>
                      <a:pt x="543" y="337"/>
                    </a:lnTo>
                    <a:lnTo>
                      <a:pt x="544" y="335"/>
                    </a:lnTo>
                    <a:lnTo>
                      <a:pt x="546" y="335"/>
                    </a:lnTo>
                    <a:lnTo>
                      <a:pt x="547" y="334"/>
                    </a:lnTo>
                    <a:lnTo>
                      <a:pt x="549" y="334"/>
                    </a:lnTo>
                    <a:lnTo>
                      <a:pt x="550" y="334"/>
                    </a:lnTo>
                    <a:lnTo>
                      <a:pt x="552" y="332"/>
                    </a:lnTo>
                    <a:lnTo>
                      <a:pt x="552" y="332"/>
                    </a:lnTo>
                    <a:lnTo>
                      <a:pt x="553" y="332"/>
                    </a:lnTo>
                    <a:lnTo>
                      <a:pt x="555" y="331"/>
                    </a:lnTo>
                    <a:lnTo>
                      <a:pt x="556" y="331"/>
                    </a:lnTo>
                    <a:lnTo>
                      <a:pt x="558" y="331"/>
                    </a:lnTo>
                    <a:lnTo>
                      <a:pt x="559" y="329"/>
                    </a:lnTo>
                    <a:lnTo>
                      <a:pt x="561" y="329"/>
                    </a:lnTo>
                    <a:lnTo>
                      <a:pt x="562" y="327"/>
                    </a:lnTo>
                    <a:lnTo>
                      <a:pt x="564" y="327"/>
                    </a:lnTo>
                    <a:lnTo>
                      <a:pt x="566" y="327"/>
                    </a:lnTo>
                    <a:lnTo>
                      <a:pt x="567" y="326"/>
                    </a:lnTo>
                    <a:lnTo>
                      <a:pt x="569" y="324"/>
                    </a:lnTo>
                    <a:lnTo>
                      <a:pt x="570" y="324"/>
                    </a:lnTo>
                    <a:lnTo>
                      <a:pt x="572" y="323"/>
                    </a:lnTo>
                    <a:lnTo>
                      <a:pt x="575" y="323"/>
                    </a:lnTo>
                    <a:lnTo>
                      <a:pt x="576" y="321"/>
                    </a:lnTo>
                    <a:lnTo>
                      <a:pt x="579" y="320"/>
                    </a:lnTo>
                    <a:lnTo>
                      <a:pt x="581" y="318"/>
                    </a:lnTo>
                    <a:lnTo>
                      <a:pt x="581" y="318"/>
                    </a:lnTo>
                    <a:lnTo>
                      <a:pt x="584" y="318"/>
                    </a:lnTo>
                    <a:lnTo>
                      <a:pt x="585" y="317"/>
                    </a:lnTo>
                    <a:lnTo>
                      <a:pt x="588" y="315"/>
                    </a:lnTo>
                    <a:lnTo>
                      <a:pt x="590" y="315"/>
                    </a:lnTo>
                    <a:lnTo>
                      <a:pt x="592" y="314"/>
                    </a:lnTo>
                    <a:lnTo>
                      <a:pt x="593" y="312"/>
                    </a:lnTo>
                    <a:lnTo>
                      <a:pt x="595" y="312"/>
                    </a:lnTo>
                    <a:lnTo>
                      <a:pt x="598" y="311"/>
                    </a:lnTo>
                    <a:lnTo>
                      <a:pt x="598" y="311"/>
                    </a:lnTo>
                    <a:lnTo>
                      <a:pt x="599" y="309"/>
                    </a:lnTo>
                    <a:lnTo>
                      <a:pt x="601" y="309"/>
                    </a:lnTo>
                    <a:lnTo>
                      <a:pt x="602" y="308"/>
                    </a:lnTo>
                    <a:lnTo>
                      <a:pt x="604" y="308"/>
                    </a:lnTo>
                    <a:lnTo>
                      <a:pt x="605" y="306"/>
                    </a:lnTo>
                    <a:lnTo>
                      <a:pt x="607" y="306"/>
                    </a:lnTo>
                    <a:lnTo>
                      <a:pt x="607" y="306"/>
                    </a:lnTo>
                    <a:lnTo>
                      <a:pt x="608" y="305"/>
                    </a:lnTo>
                    <a:lnTo>
                      <a:pt x="610" y="305"/>
                    </a:lnTo>
                    <a:lnTo>
                      <a:pt x="611" y="303"/>
                    </a:lnTo>
                    <a:lnTo>
                      <a:pt x="613" y="303"/>
                    </a:lnTo>
                    <a:lnTo>
                      <a:pt x="613" y="303"/>
                    </a:lnTo>
                    <a:lnTo>
                      <a:pt x="614" y="302"/>
                    </a:lnTo>
                    <a:lnTo>
                      <a:pt x="616" y="302"/>
                    </a:lnTo>
                    <a:lnTo>
                      <a:pt x="618" y="300"/>
                    </a:lnTo>
                    <a:lnTo>
                      <a:pt x="619" y="300"/>
                    </a:lnTo>
                    <a:lnTo>
                      <a:pt x="621" y="298"/>
                    </a:lnTo>
                    <a:lnTo>
                      <a:pt x="622" y="297"/>
                    </a:lnTo>
                    <a:lnTo>
                      <a:pt x="624" y="297"/>
                    </a:lnTo>
                    <a:lnTo>
                      <a:pt x="625" y="295"/>
                    </a:lnTo>
                    <a:lnTo>
                      <a:pt x="628" y="294"/>
                    </a:lnTo>
                    <a:lnTo>
                      <a:pt x="630" y="294"/>
                    </a:lnTo>
                    <a:lnTo>
                      <a:pt x="631" y="292"/>
                    </a:lnTo>
                    <a:lnTo>
                      <a:pt x="631" y="292"/>
                    </a:lnTo>
                    <a:lnTo>
                      <a:pt x="634" y="291"/>
                    </a:lnTo>
                    <a:lnTo>
                      <a:pt x="636" y="289"/>
                    </a:lnTo>
                    <a:lnTo>
                      <a:pt x="637" y="289"/>
                    </a:lnTo>
                    <a:lnTo>
                      <a:pt x="639" y="288"/>
                    </a:lnTo>
                    <a:lnTo>
                      <a:pt x="642" y="286"/>
                    </a:lnTo>
                    <a:lnTo>
                      <a:pt x="643" y="286"/>
                    </a:lnTo>
                    <a:lnTo>
                      <a:pt x="645" y="285"/>
                    </a:lnTo>
                    <a:lnTo>
                      <a:pt x="647" y="285"/>
                    </a:lnTo>
                    <a:lnTo>
                      <a:pt x="647" y="283"/>
                    </a:lnTo>
                    <a:lnTo>
                      <a:pt x="648" y="283"/>
                    </a:lnTo>
                    <a:lnTo>
                      <a:pt x="650" y="282"/>
                    </a:lnTo>
                    <a:lnTo>
                      <a:pt x="651" y="282"/>
                    </a:lnTo>
                    <a:lnTo>
                      <a:pt x="651" y="280"/>
                    </a:lnTo>
                    <a:lnTo>
                      <a:pt x="653" y="280"/>
                    </a:lnTo>
                    <a:lnTo>
                      <a:pt x="654" y="280"/>
                    </a:lnTo>
                    <a:lnTo>
                      <a:pt x="656" y="279"/>
                    </a:lnTo>
                    <a:lnTo>
                      <a:pt x="656" y="279"/>
                    </a:lnTo>
                    <a:lnTo>
                      <a:pt x="657" y="277"/>
                    </a:lnTo>
                    <a:lnTo>
                      <a:pt x="657" y="277"/>
                    </a:lnTo>
                    <a:lnTo>
                      <a:pt x="659" y="277"/>
                    </a:lnTo>
                    <a:lnTo>
                      <a:pt x="660" y="276"/>
                    </a:lnTo>
                    <a:lnTo>
                      <a:pt x="662" y="276"/>
                    </a:lnTo>
                    <a:lnTo>
                      <a:pt x="662" y="274"/>
                    </a:lnTo>
                    <a:lnTo>
                      <a:pt x="663" y="274"/>
                    </a:lnTo>
                    <a:lnTo>
                      <a:pt x="665" y="272"/>
                    </a:lnTo>
                    <a:lnTo>
                      <a:pt x="666" y="272"/>
                    </a:lnTo>
                    <a:lnTo>
                      <a:pt x="666" y="271"/>
                    </a:lnTo>
                    <a:lnTo>
                      <a:pt x="668" y="271"/>
                    </a:lnTo>
                    <a:lnTo>
                      <a:pt x="669" y="269"/>
                    </a:lnTo>
                    <a:lnTo>
                      <a:pt x="671" y="268"/>
                    </a:lnTo>
                    <a:lnTo>
                      <a:pt x="673" y="268"/>
                    </a:lnTo>
                    <a:lnTo>
                      <a:pt x="674" y="266"/>
                    </a:lnTo>
                    <a:lnTo>
                      <a:pt x="674" y="266"/>
                    </a:lnTo>
                    <a:lnTo>
                      <a:pt x="677" y="265"/>
                    </a:lnTo>
                    <a:lnTo>
                      <a:pt x="679" y="265"/>
                    </a:lnTo>
                    <a:lnTo>
                      <a:pt x="680" y="263"/>
                    </a:lnTo>
                    <a:lnTo>
                      <a:pt x="682" y="262"/>
                    </a:lnTo>
                    <a:lnTo>
                      <a:pt x="682" y="262"/>
                    </a:lnTo>
                    <a:lnTo>
                      <a:pt x="683" y="260"/>
                    </a:lnTo>
                    <a:lnTo>
                      <a:pt x="685" y="260"/>
                    </a:lnTo>
                    <a:lnTo>
                      <a:pt x="686" y="259"/>
                    </a:lnTo>
                    <a:lnTo>
                      <a:pt x="686" y="259"/>
                    </a:lnTo>
                    <a:lnTo>
                      <a:pt x="688" y="257"/>
                    </a:lnTo>
                    <a:lnTo>
                      <a:pt x="689" y="257"/>
                    </a:lnTo>
                    <a:lnTo>
                      <a:pt x="689" y="256"/>
                    </a:lnTo>
                    <a:lnTo>
                      <a:pt x="691" y="256"/>
                    </a:lnTo>
                    <a:lnTo>
                      <a:pt x="691" y="256"/>
                    </a:lnTo>
                    <a:lnTo>
                      <a:pt x="692" y="254"/>
                    </a:lnTo>
                    <a:lnTo>
                      <a:pt x="692" y="254"/>
                    </a:lnTo>
                    <a:lnTo>
                      <a:pt x="694" y="254"/>
                    </a:lnTo>
                    <a:lnTo>
                      <a:pt x="694" y="253"/>
                    </a:lnTo>
                    <a:lnTo>
                      <a:pt x="695" y="253"/>
                    </a:lnTo>
                    <a:lnTo>
                      <a:pt x="695" y="253"/>
                    </a:lnTo>
                    <a:lnTo>
                      <a:pt x="697" y="251"/>
                    </a:lnTo>
                    <a:lnTo>
                      <a:pt x="697" y="251"/>
                    </a:lnTo>
                    <a:lnTo>
                      <a:pt x="699" y="250"/>
                    </a:lnTo>
                    <a:lnTo>
                      <a:pt x="699" y="250"/>
                    </a:lnTo>
                    <a:lnTo>
                      <a:pt x="700" y="250"/>
                    </a:lnTo>
                    <a:lnTo>
                      <a:pt x="702" y="248"/>
                    </a:lnTo>
                    <a:lnTo>
                      <a:pt x="702" y="248"/>
                    </a:lnTo>
                    <a:lnTo>
                      <a:pt x="703" y="246"/>
                    </a:lnTo>
                    <a:lnTo>
                      <a:pt x="703" y="246"/>
                    </a:lnTo>
                    <a:lnTo>
                      <a:pt x="705" y="245"/>
                    </a:lnTo>
                    <a:lnTo>
                      <a:pt x="706" y="245"/>
                    </a:lnTo>
                    <a:lnTo>
                      <a:pt x="708" y="243"/>
                    </a:lnTo>
                    <a:lnTo>
                      <a:pt x="708" y="243"/>
                    </a:lnTo>
                    <a:lnTo>
                      <a:pt x="708" y="242"/>
                    </a:lnTo>
                    <a:lnTo>
                      <a:pt x="709" y="242"/>
                    </a:lnTo>
                    <a:lnTo>
                      <a:pt x="711" y="240"/>
                    </a:lnTo>
                    <a:lnTo>
                      <a:pt x="712" y="240"/>
                    </a:lnTo>
                    <a:lnTo>
                      <a:pt x="712" y="239"/>
                    </a:lnTo>
                    <a:lnTo>
                      <a:pt x="714" y="239"/>
                    </a:lnTo>
                    <a:lnTo>
                      <a:pt x="714" y="237"/>
                    </a:lnTo>
                    <a:lnTo>
                      <a:pt x="715" y="237"/>
                    </a:lnTo>
                    <a:lnTo>
                      <a:pt x="715" y="236"/>
                    </a:lnTo>
                    <a:lnTo>
                      <a:pt x="717" y="236"/>
                    </a:lnTo>
                    <a:lnTo>
                      <a:pt x="717" y="236"/>
                    </a:lnTo>
                    <a:lnTo>
                      <a:pt x="718" y="234"/>
                    </a:lnTo>
                    <a:lnTo>
                      <a:pt x="718" y="234"/>
                    </a:lnTo>
                    <a:lnTo>
                      <a:pt x="720" y="234"/>
                    </a:lnTo>
                    <a:lnTo>
                      <a:pt x="720" y="233"/>
                    </a:lnTo>
                    <a:lnTo>
                      <a:pt x="721" y="233"/>
                    </a:lnTo>
                    <a:lnTo>
                      <a:pt x="721" y="233"/>
                    </a:lnTo>
                    <a:lnTo>
                      <a:pt x="723" y="231"/>
                    </a:lnTo>
                    <a:lnTo>
                      <a:pt x="723" y="231"/>
                    </a:lnTo>
                    <a:lnTo>
                      <a:pt x="723" y="231"/>
                    </a:lnTo>
                    <a:lnTo>
                      <a:pt x="725" y="230"/>
                    </a:lnTo>
                    <a:lnTo>
                      <a:pt x="725" y="230"/>
                    </a:lnTo>
                    <a:lnTo>
                      <a:pt x="726" y="230"/>
                    </a:lnTo>
                    <a:lnTo>
                      <a:pt x="728" y="228"/>
                    </a:lnTo>
                    <a:lnTo>
                      <a:pt x="728" y="228"/>
                    </a:lnTo>
                    <a:lnTo>
                      <a:pt x="729" y="227"/>
                    </a:lnTo>
                    <a:lnTo>
                      <a:pt x="729" y="227"/>
                    </a:lnTo>
                    <a:lnTo>
                      <a:pt x="731" y="225"/>
                    </a:lnTo>
                    <a:lnTo>
                      <a:pt x="732" y="225"/>
                    </a:lnTo>
                    <a:lnTo>
                      <a:pt x="734" y="224"/>
                    </a:lnTo>
                    <a:lnTo>
                      <a:pt x="735" y="224"/>
                    </a:lnTo>
                    <a:lnTo>
                      <a:pt x="735" y="222"/>
                    </a:lnTo>
                    <a:lnTo>
                      <a:pt x="735" y="222"/>
                    </a:lnTo>
                    <a:lnTo>
                      <a:pt x="737" y="222"/>
                    </a:lnTo>
                    <a:lnTo>
                      <a:pt x="738" y="220"/>
                    </a:lnTo>
                    <a:lnTo>
                      <a:pt x="740" y="219"/>
                    </a:lnTo>
                    <a:lnTo>
                      <a:pt x="741" y="219"/>
                    </a:lnTo>
                    <a:lnTo>
                      <a:pt x="743" y="217"/>
                    </a:lnTo>
                    <a:lnTo>
                      <a:pt x="743" y="217"/>
                    </a:lnTo>
                    <a:lnTo>
                      <a:pt x="744" y="217"/>
                    </a:lnTo>
                    <a:lnTo>
                      <a:pt x="744" y="216"/>
                    </a:lnTo>
                    <a:lnTo>
                      <a:pt x="746" y="216"/>
                    </a:lnTo>
                    <a:lnTo>
                      <a:pt x="747" y="214"/>
                    </a:lnTo>
                    <a:lnTo>
                      <a:pt x="747" y="214"/>
                    </a:lnTo>
                    <a:lnTo>
                      <a:pt x="749" y="213"/>
                    </a:lnTo>
                    <a:lnTo>
                      <a:pt x="749" y="213"/>
                    </a:lnTo>
                    <a:lnTo>
                      <a:pt x="751" y="213"/>
                    </a:lnTo>
                    <a:lnTo>
                      <a:pt x="751" y="211"/>
                    </a:lnTo>
                    <a:lnTo>
                      <a:pt x="752" y="211"/>
                    </a:lnTo>
                    <a:lnTo>
                      <a:pt x="752" y="210"/>
                    </a:lnTo>
                    <a:lnTo>
                      <a:pt x="754" y="210"/>
                    </a:lnTo>
                    <a:lnTo>
                      <a:pt x="754" y="210"/>
                    </a:lnTo>
                    <a:lnTo>
                      <a:pt x="755" y="208"/>
                    </a:lnTo>
                    <a:lnTo>
                      <a:pt x="755" y="207"/>
                    </a:lnTo>
                    <a:lnTo>
                      <a:pt x="757" y="207"/>
                    </a:lnTo>
                    <a:lnTo>
                      <a:pt x="757" y="205"/>
                    </a:lnTo>
                    <a:lnTo>
                      <a:pt x="758" y="205"/>
                    </a:lnTo>
                    <a:lnTo>
                      <a:pt x="758" y="204"/>
                    </a:lnTo>
                    <a:lnTo>
                      <a:pt x="760" y="202"/>
                    </a:lnTo>
                    <a:lnTo>
                      <a:pt x="761" y="202"/>
                    </a:lnTo>
                    <a:lnTo>
                      <a:pt x="763" y="201"/>
                    </a:lnTo>
                    <a:lnTo>
                      <a:pt x="763" y="199"/>
                    </a:lnTo>
                    <a:lnTo>
                      <a:pt x="764" y="198"/>
                    </a:lnTo>
                    <a:lnTo>
                      <a:pt x="766" y="196"/>
                    </a:lnTo>
                    <a:lnTo>
                      <a:pt x="767" y="194"/>
                    </a:lnTo>
                    <a:lnTo>
                      <a:pt x="767" y="194"/>
                    </a:lnTo>
                    <a:lnTo>
                      <a:pt x="769" y="193"/>
                    </a:lnTo>
                    <a:lnTo>
                      <a:pt x="770" y="191"/>
                    </a:lnTo>
                    <a:lnTo>
                      <a:pt x="772" y="190"/>
                    </a:lnTo>
                    <a:lnTo>
                      <a:pt x="773" y="188"/>
                    </a:lnTo>
                    <a:lnTo>
                      <a:pt x="773" y="188"/>
                    </a:lnTo>
                    <a:lnTo>
                      <a:pt x="775" y="187"/>
                    </a:lnTo>
                    <a:lnTo>
                      <a:pt x="776" y="185"/>
                    </a:lnTo>
                    <a:lnTo>
                      <a:pt x="776" y="184"/>
                    </a:lnTo>
                    <a:lnTo>
                      <a:pt x="778" y="184"/>
                    </a:lnTo>
                    <a:lnTo>
                      <a:pt x="780" y="182"/>
                    </a:lnTo>
                    <a:lnTo>
                      <a:pt x="780" y="181"/>
                    </a:lnTo>
                    <a:lnTo>
                      <a:pt x="781" y="181"/>
                    </a:lnTo>
                    <a:lnTo>
                      <a:pt x="781" y="179"/>
                    </a:lnTo>
                    <a:lnTo>
                      <a:pt x="783" y="179"/>
                    </a:lnTo>
                    <a:lnTo>
                      <a:pt x="783" y="178"/>
                    </a:lnTo>
                    <a:lnTo>
                      <a:pt x="784" y="176"/>
                    </a:lnTo>
                    <a:lnTo>
                      <a:pt x="784" y="176"/>
                    </a:lnTo>
                    <a:lnTo>
                      <a:pt x="786" y="175"/>
                    </a:lnTo>
                    <a:lnTo>
                      <a:pt x="787" y="173"/>
                    </a:lnTo>
                    <a:lnTo>
                      <a:pt x="787" y="173"/>
                    </a:lnTo>
                    <a:lnTo>
                      <a:pt x="789" y="172"/>
                    </a:lnTo>
                    <a:lnTo>
                      <a:pt x="789" y="170"/>
                    </a:lnTo>
                    <a:lnTo>
                      <a:pt x="790" y="170"/>
                    </a:lnTo>
                    <a:lnTo>
                      <a:pt x="792" y="168"/>
                    </a:lnTo>
                    <a:lnTo>
                      <a:pt x="792" y="167"/>
                    </a:lnTo>
                    <a:lnTo>
                      <a:pt x="793" y="165"/>
                    </a:lnTo>
                    <a:lnTo>
                      <a:pt x="795" y="164"/>
                    </a:lnTo>
                    <a:lnTo>
                      <a:pt x="796" y="162"/>
                    </a:lnTo>
                    <a:lnTo>
                      <a:pt x="798" y="161"/>
                    </a:lnTo>
                    <a:lnTo>
                      <a:pt x="799" y="158"/>
                    </a:lnTo>
                    <a:lnTo>
                      <a:pt x="801" y="156"/>
                    </a:lnTo>
                    <a:lnTo>
                      <a:pt x="802" y="155"/>
                    </a:lnTo>
                    <a:lnTo>
                      <a:pt x="802" y="155"/>
                    </a:lnTo>
                    <a:lnTo>
                      <a:pt x="804" y="152"/>
                    </a:lnTo>
                    <a:lnTo>
                      <a:pt x="806" y="150"/>
                    </a:lnTo>
                    <a:lnTo>
                      <a:pt x="807" y="149"/>
                    </a:lnTo>
                    <a:lnTo>
                      <a:pt x="809" y="147"/>
                    </a:lnTo>
                    <a:lnTo>
                      <a:pt x="810" y="146"/>
                    </a:lnTo>
                    <a:lnTo>
                      <a:pt x="812" y="144"/>
                    </a:lnTo>
                    <a:lnTo>
                      <a:pt x="813" y="143"/>
                    </a:lnTo>
                    <a:lnTo>
                      <a:pt x="815" y="141"/>
                    </a:lnTo>
                    <a:lnTo>
                      <a:pt x="815" y="139"/>
                    </a:lnTo>
                    <a:lnTo>
                      <a:pt x="816" y="138"/>
                    </a:lnTo>
                    <a:lnTo>
                      <a:pt x="818" y="136"/>
                    </a:lnTo>
                    <a:lnTo>
                      <a:pt x="818" y="136"/>
                    </a:lnTo>
                    <a:lnTo>
                      <a:pt x="819" y="135"/>
                    </a:lnTo>
                    <a:lnTo>
                      <a:pt x="819" y="133"/>
                    </a:lnTo>
                    <a:lnTo>
                      <a:pt x="821" y="132"/>
                    </a:lnTo>
                    <a:lnTo>
                      <a:pt x="822" y="132"/>
                    </a:lnTo>
                    <a:lnTo>
                      <a:pt x="822" y="130"/>
                    </a:lnTo>
                    <a:lnTo>
                      <a:pt x="824" y="129"/>
                    </a:lnTo>
                    <a:lnTo>
                      <a:pt x="824" y="127"/>
                    </a:lnTo>
                    <a:lnTo>
                      <a:pt x="825" y="126"/>
                    </a:lnTo>
                    <a:lnTo>
                      <a:pt x="827" y="126"/>
                    </a:lnTo>
                    <a:lnTo>
                      <a:pt x="827" y="124"/>
                    </a:lnTo>
                    <a:lnTo>
                      <a:pt x="828" y="123"/>
                    </a:lnTo>
                    <a:lnTo>
                      <a:pt x="830" y="121"/>
                    </a:lnTo>
                    <a:lnTo>
                      <a:pt x="830" y="120"/>
                    </a:lnTo>
                    <a:lnTo>
                      <a:pt x="832" y="118"/>
                    </a:lnTo>
                    <a:lnTo>
                      <a:pt x="833" y="115"/>
                    </a:lnTo>
                    <a:lnTo>
                      <a:pt x="835" y="113"/>
                    </a:lnTo>
                    <a:lnTo>
                      <a:pt x="836" y="112"/>
                    </a:lnTo>
                    <a:lnTo>
                      <a:pt x="838" y="110"/>
                    </a:lnTo>
                    <a:lnTo>
                      <a:pt x="839" y="107"/>
                    </a:lnTo>
                    <a:lnTo>
                      <a:pt x="841" y="104"/>
                    </a:lnTo>
                    <a:lnTo>
                      <a:pt x="841" y="104"/>
                    </a:lnTo>
                    <a:lnTo>
                      <a:pt x="842" y="103"/>
                    </a:lnTo>
                    <a:lnTo>
                      <a:pt x="844" y="100"/>
                    </a:lnTo>
                    <a:lnTo>
                      <a:pt x="845" y="98"/>
                    </a:lnTo>
                    <a:lnTo>
                      <a:pt x="847" y="97"/>
                    </a:lnTo>
                    <a:lnTo>
                      <a:pt x="848" y="94"/>
                    </a:lnTo>
                    <a:lnTo>
                      <a:pt x="850" y="92"/>
                    </a:lnTo>
                    <a:lnTo>
                      <a:pt x="851" y="91"/>
                    </a:lnTo>
                    <a:lnTo>
                      <a:pt x="853" y="89"/>
                    </a:lnTo>
                    <a:lnTo>
                      <a:pt x="853" y="87"/>
                    </a:lnTo>
                    <a:lnTo>
                      <a:pt x="854" y="86"/>
                    </a:lnTo>
                    <a:lnTo>
                      <a:pt x="856" y="84"/>
                    </a:lnTo>
                    <a:lnTo>
                      <a:pt x="856" y="83"/>
                    </a:lnTo>
                    <a:lnTo>
                      <a:pt x="858" y="81"/>
                    </a:lnTo>
                    <a:lnTo>
                      <a:pt x="859" y="80"/>
                    </a:lnTo>
                    <a:lnTo>
                      <a:pt x="859" y="80"/>
                    </a:lnTo>
                    <a:lnTo>
                      <a:pt x="861" y="78"/>
                    </a:lnTo>
                    <a:lnTo>
                      <a:pt x="861" y="77"/>
                    </a:lnTo>
                    <a:lnTo>
                      <a:pt x="862" y="75"/>
                    </a:lnTo>
                    <a:lnTo>
                      <a:pt x="864" y="74"/>
                    </a:lnTo>
                    <a:lnTo>
                      <a:pt x="864" y="72"/>
                    </a:lnTo>
                    <a:lnTo>
                      <a:pt x="865" y="71"/>
                    </a:lnTo>
                    <a:lnTo>
                      <a:pt x="867" y="71"/>
                    </a:lnTo>
                    <a:lnTo>
                      <a:pt x="867" y="69"/>
                    </a:lnTo>
                    <a:lnTo>
                      <a:pt x="868" y="68"/>
                    </a:lnTo>
                    <a:lnTo>
                      <a:pt x="870" y="65"/>
                    </a:lnTo>
                    <a:lnTo>
                      <a:pt x="871" y="63"/>
                    </a:lnTo>
                    <a:lnTo>
                      <a:pt x="873" y="61"/>
                    </a:lnTo>
                    <a:lnTo>
                      <a:pt x="874" y="60"/>
                    </a:lnTo>
                    <a:lnTo>
                      <a:pt x="876" y="57"/>
                    </a:lnTo>
                    <a:lnTo>
                      <a:pt x="877" y="55"/>
                    </a:lnTo>
                    <a:lnTo>
                      <a:pt x="879" y="52"/>
                    </a:lnTo>
                    <a:lnTo>
                      <a:pt x="880" y="51"/>
                    </a:lnTo>
                    <a:lnTo>
                      <a:pt x="880" y="51"/>
                    </a:lnTo>
                    <a:lnTo>
                      <a:pt x="882" y="48"/>
                    </a:lnTo>
                    <a:lnTo>
                      <a:pt x="884" y="46"/>
                    </a:lnTo>
                    <a:lnTo>
                      <a:pt x="885" y="43"/>
                    </a:lnTo>
                    <a:lnTo>
                      <a:pt x="887" y="42"/>
                    </a:lnTo>
                    <a:lnTo>
                      <a:pt x="888" y="40"/>
                    </a:lnTo>
                    <a:lnTo>
                      <a:pt x="890" y="37"/>
                    </a:lnTo>
                    <a:lnTo>
                      <a:pt x="891" y="35"/>
                    </a:lnTo>
                    <a:lnTo>
                      <a:pt x="893" y="34"/>
                    </a:lnTo>
                    <a:lnTo>
                      <a:pt x="893" y="32"/>
                    </a:lnTo>
                    <a:lnTo>
                      <a:pt x="894" y="31"/>
                    </a:lnTo>
                    <a:lnTo>
                      <a:pt x="896" y="29"/>
                    </a:lnTo>
                    <a:lnTo>
                      <a:pt x="896" y="28"/>
                    </a:lnTo>
                    <a:lnTo>
                      <a:pt x="897" y="26"/>
                    </a:lnTo>
                    <a:lnTo>
                      <a:pt x="897" y="26"/>
                    </a:lnTo>
                    <a:lnTo>
                      <a:pt x="899" y="25"/>
                    </a:lnTo>
                    <a:lnTo>
                      <a:pt x="899" y="23"/>
                    </a:lnTo>
                    <a:lnTo>
                      <a:pt x="900" y="22"/>
                    </a:lnTo>
                    <a:lnTo>
                      <a:pt x="900" y="20"/>
                    </a:lnTo>
                    <a:lnTo>
                      <a:pt x="902" y="20"/>
                    </a:lnTo>
                    <a:lnTo>
                      <a:pt x="902" y="19"/>
                    </a:lnTo>
                    <a:lnTo>
                      <a:pt x="903" y="17"/>
                    </a:lnTo>
                    <a:lnTo>
                      <a:pt x="903" y="16"/>
                    </a:lnTo>
                    <a:lnTo>
                      <a:pt x="905" y="14"/>
                    </a:lnTo>
                    <a:lnTo>
                      <a:pt x="905" y="14"/>
                    </a:lnTo>
                    <a:lnTo>
                      <a:pt x="906" y="13"/>
                    </a:lnTo>
                    <a:lnTo>
                      <a:pt x="908" y="11"/>
                    </a:lnTo>
                    <a:lnTo>
                      <a:pt x="908" y="9"/>
                    </a:lnTo>
                    <a:lnTo>
                      <a:pt x="909" y="8"/>
                    </a:lnTo>
                    <a:lnTo>
                      <a:pt x="909" y="5"/>
                    </a:lnTo>
                    <a:lnTo>
                      <a:pt x="911" y="3"/>
                    </a:lnTo>
                    <a:lnTo>
                      <a:pt x="913" y="2"/>
                    </a:lnTo>
                    <a:lnTo>
                      <a:pt x="914" y="0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 79"/>
              <p:cNvSpPr>
                <a:spLocks/>
              </p:cNvSpPr>
              <p:nvPr/>
            </p:nvSpPr>
            <p:spPr bwMode="auto">
              <a:xfrm>
                <a:off x="3403" y="2587"/>
                <a:ext cx="55" cy="183"/>
              </a:xfrm>
              <a:custGeom>
                <a:avLst/>
                <a:gdLst>
                  <a:gd name="T0" fmla="*/ 6 w 108"/>
                  <a:gd name="T1" fmla="*/ 11 h 365"/>
                  <a:gd name="T2" fmla="*/ 12 w 108"/>
                  <a:gd name="T3" fmla="*/ 23 h 365"/>
                  <a:gd name="T4" fmla="*/ 18 w 108"/>
                  <a:gd name="T5" fmla="*/ 32 h 365"/>
                  <a:gd name="T6" fmla="*/ 21 w 108"/>
                  <a:gd name="T7" fmla="*/ 40 h 365"/>
                  <a:gd name="T8" fmla="*/ 24 w 108"/>
                  <a:gd name="T9" fmla="*/ 46 h 365"/>
                  <a:gd name="T10" fmla="*/ 27 w 108"/>
                  <a:gd name="T11" fmla="*/ 52 h 365"/>
                  <a:gd name="T12" fmla="*/ 30 w 108"/>
                  <a:gd name="T13" fmla="*/ 58 h 365"/>
                  <a:gd name="T14" fmla="*/ 33 w 108"/>
                  <a:gd name="T15" fmla="*/ 64 h 365"/>
                  <a:gd name="T16" fmla="*/ 36 w 108"/>
                  <a:gd name="T17" fmla="*/ 70 h 365"/>
                  <a:gd name="T18" fmla="*/ 38 w 108"/>
                  <a:gd name="T19" fmla="*/ 78 h 365"/>
                  <a:gd name="T20" fmla="*/ 41 w 108"/>
                  <a:gd name="T21" fmla="*/ 82 h 365"/>
                  <a:gd name="T22" fmla="*/ 43 w 108"/>
                  <a:gd name="T23" fmla="*/ 87 h 365"/>
                  <a:gd name="T24" fmla="*/ 44 w 108"/>
                  <a:gd name="T25" fmla="*/ 93 h 365"/>
                  <a:gd name="T26" fmla="*/ 47 w 108"/>
                  <a:gd name="T27" fmla="*/ 98 h 365"/>
                  <a:gd name="T28" fmla="*/ 49 w 108"/>
                  <a:gd name="T29" fmla="*/ 104 h 365"/>
                  <a:gd name="T30" fmla="*/ 52 w 108"/>
                  <a:gd name="T31" fmla="*/ 113 h 365"/>
                  <a:gd name="T32" fmla="*/ 55 w 108"/>
                  <a:gd name="T33" fmla="*/ 119 h 365"/>
                  <a:gd name="T34" fmla="*/ 58 w 108"/>
                  <a:gd name="T35" fmla="*/ 128 h 365"/>
                  <a:gd name="T36" fmla="*/ 61 w 108"/>
                  <a:gd name="T37" fmla="*/ 136 h 365"/>
                  <a:gd name="T38" fmla="*/ 62 w 108"/>
                  <a:gd name="T39" fmla="*/ 141 h 365"/>
                  <a:gd name="T40" fmla="*/ 65 w 108"/>
                  <a:gd name="T41" fmla="*/ 147 h 365"/>
                  <a:gd name="T42" fmla="*/ 67 w 108"/>
                  <a:gd name="T43" fmla="*/ 151 h 365"/>
                  <a:gd name="T44" fmla="*/ 69 w 108"/>
                  <a:gd name="T45" fmla="*/ 157 h 365"/>
                  <a:gd name="T46" fmla="*/ 72 w 108"/>
                  <a:gd name="T47" fmla="*/ 165 h 365"/>
                  <a:gd name="T48" fmla="*/ 73 w 108"/>
                  <a:gd name="T49" fmla="*/ 173 h 365"/>
                  <a:gd name="T50" fmla="*/ 76 w 108"/>
                  <a:gd name="T51" fmla="*/ 182 h 365"/>
                  <a:gd name="T52" fmla="*/ 78 w 108"/>
                  <a:gd name="T53" fmla="*/ 189 h 365"/>
                  <a:gd name="T54" fmla="*/ 81 w 108"/>
                  <a:gd name="T55" fmla="*/ 196 h 365"/>
                  <a:gd name="T56" fmla="*/ 82 w 108"/>
                  <a:gd name="T57" fmla="*/ 200 h 365"/>
                  <a:gd name="T58" fmla="*/ 84 w 108"/>
                  <a:gd name="T59" fmla="*/ 206 h 365"/>
                  <a:gd name="T60" fmla="*/ 85 w 108"/>
                  <a:gd name="T61" fmla="*/ 211 h 365"/>
                  <a:gd name="T62" fmla="*/ 87 w 108"/>
                  <a:gd name="T63" fmla="*/ 219 h 365"/>
                  <a:gd name="T64" fmla="*/ 90 w 108"/>
                  <a:gd name="T65" fmla="*/ 228 h 365"/>
                  <a:gd name="T66" fmla="*/ 93 w 108"/>
                  <a:gd name="T67" fmla="*/ 235 h 365"/>
                  <a:gd name="T68" fmla="*/ 94 w 108"/>
                  <a:gd name="T69" fmla="*/ 243 h 365"/>
                  <a:gd name="T70" fmla="*/ 96 w 108"/>
                  <a:gd name="T71" fmla="*/ 249 h 365"/>
                  <a:gd name="T72" fmla="*/ 98 w 108"/>
                  <a:gd name="T73" fmla="*/ 254 h 365"/>
                  <a:gd name="T74" fmla="*/ 99 w 108"/>
                  <a:gd name="T75" fmla="*/ 258 h 365"/>
                  <a:gd name="T76" fmla="*/ 99 w 108"/>
                  <a:gd name="T77" fmla="*/ 264 h 365"/>
                  <a:gd name="T78" fmla="*/ 101 w 108"/>
                  <a:gd name="T79" fmla="*/ 271 h 365"/>
                  <a:gd name="T80" fmla="*/ 101 w 108"/>
                  <a:gd name="T81" fmla="*/ 278 h 365"/>
                  <a:gd name="T82" fmla="*/ 101 w 108"/>
                  <a:gd name="T83" fmla="*/ 284 h 365"/>
                  <a:gd name="T84" fmla="*/ 102 w 108"/>
                  <a:gd name="T85" fmla="*/ 290 h 365"/>
                  <a:gd name="T86" fmla="*/ 102 w 108"/>
                  <a:gd name="T87" fmla="*/ 297 h 365"/>
                  <a:gd name="T88" fmla="*/ 102 w 108"/>
                  <a:gd name="T89" fmla="*/ 301 h 365"/>
                  <a:gd name="T90" fmla="*/ 104 w 108"/>
                  <a:gd name="T91" fmla="*/ 304 h 365"/>
                  <a:gd name="T92" fmla="*/ 104 w 108"/>
                  <a:gd name="T93" fmla="*/ 307 h 365"/>
                  <a:gd name="T94" fmla="*/ 104 w 108"/>
                  <a:gd name="T95" fmla="*/ 312 h 365"/>
                  <a:gd name="T96" fmla="*/ 105 w 108"/>
                  <a:gd name="T97" fmla="*/ 315 h 365"/>
                  <a:gd name="T98" fmla="*/ 105 w 108"/>
                  <a:gd name="T99" fmla="*/ 319 h 365"/>
                  <a:gd name="T100" fmla="*/ 107 w 108"/>
                  <a:gd name="T101" fmla="*/ 324 h 365"/>
                  <a:gd name="T102" fmla="*/ 107 w 108"/>
                  <a:gd name="T103" fmla="*/ 327 h 365"/>
                  <a:gd name="T104" fmla="*/ 108 w 108"/>
                  <a:gd name="T105" fmla="*/ 332 h 365"/>
                  <a:gd name="T106" fmla="*/ 108 w 108"/>
                  <a:gd name="T107" fmla="*/ 336 h 365"/>
                  <a:gd name="T108" fmla="*/ 108 w 108"/>
                  <a:gd name="T109" fmla="*/ 341 h 365"/>
                  <a:gd name="T110" fmla="*/ 107 w 108"/>
                  <a:gd name="T111" fmla="*/ 347 h 365"/>
                  <a:gd name="T112" fmla="*/ 107 w 108"/>
                  <a:gd name="T113" fmla="*/ 356 h 365"/>
                  <a:gd name="T114" fmla="*/ 0 w 108"/>
                  <a:gd name="T115" fmla="*/ 0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8" h="365">
                    <a:moveTo>
                      <a:pt x="0" y="0"/>
                    </a:moveTo>
                    <a:lnTo>
                      <a:pt x="1" y="3"/>
                    </a:lnTo>
                    <a:lnTo>
                      <a:pt x="4" y="8"/>
                    </a:lnTo>
                    <a:lnTo>
                      <a:pt x="6" y="11"/>
                    </a:lnTo>
                    <a:lnTo>
                      <a:pt x="7" y="14"/>
                    </a:lnTo>
                    <a:lnTo>
                      <a:pt x="9" y="17"/>
                    </a:lnTo>
                    <a:lnTo>
                      <a:pt x="10" y="20"/>
                    </a:lnTo>
                    <a:lnTo>
                      <a:pt x="12" y="23"/>
                    </a:lnTo>
                    <a:lnTo>
                      <a:pt x="13" y="26"/>
                    </a:lnTo>
                    <a:lnTo>
                      <a:pt x="15" y="27"/>
                    </a:lnTo>
                    <a:lnTo>
                      <a:pt x="17" y="30"/>
                    </a:lnTo>
                    <a:lnTo>
                      <a:pt x="18" y="32"/>
                    </a:lnTo>
                    <a:lnTo>
                      <a:pt x="18" y="34"/>
                    </a:lnTo>
                    <a:lnTo>
                      <a:pt x="20" y="37"/>
                    </a:lnTo>
                    <a:lnTo>
                      <a:pt x="21" y="38"/>
                    </a:lnTo>
                    <a:lnTo>
                      <a:pt x="21" y="40"/>
                    </a:lnTo>
                    <a:lnTo>
                      <a:pt x="23" y="41"/>
                    </a:lnTo>
                    <a:lnTo>
                      <a:pt x="23" y="43"/>
                    </a:lnTo>
                    <a:lnTo>
                      <a:pt x="24" y="44"/>
                    </a:lnTo>
                    <a:lnTo>
                      <a:pt x="24" y="46"/>
                    </a:lnTo>
                    <a:lnTo>
                      <a:pt x="26" y="47"/>
                    </a:lnTo>
                    <a:lnTo>
                      <a:pt x="26" y="49"/>
                    </a:lnTo>
                    <a:lnTo>
                      <a:pt x="27" y="50"/>
                    </a:lnTo>
                    <a:lnTo>
                      <a:pt x="27" y="52"/>
                    </a:lnTo>
                    <a:lnTo>
                      <a:pt x="29" y="53"/>
                    </a:lnTo>
                    <a:lnTo>
                      <a:pt x="29" y="53"/>
                    </a:lnTo>
                    <a:lnTo>
                      <a:pt x="29" y="55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2" y="61"/>
                    </a:lnTo>
                    <a:lnTo>
                      <a:pt x="32" y="63"/>
                    </a:lnTo>
                    <a:lnTo>
                      <a:pt x="33" y="64"/>
                    </a:lnTo>
                    <a:lnTo>
                      <a:pt x="33" y="67"/>
                    </a:lnTo>
                    <a:lnTo>
                      <a:pt x="33" y="67"/>
                    </a:lnTo>
                    <a:lnTo>
                      <a:pt x="35" y="69"/>
                    </a:lnTo>
                    <a:lnTo>
                      <a:pt x="36" y="70"/>
                    </a:lnTo>
                    <a:lnTo>
                      <a:pt x="36" y="72"/>
                    </a:lnTo>
                    <a:lnTo>
                      <a:pt x="38" y="75"/>
                    </a:lnTo>
                    <a:lnTo>
                      <a:pt x="38" y="76"/>
                    </a:lnTo>
                    <a:lnTo>
                      <a:pt x="38" y="78"/>
                    </a:lnTo>
                    <a:lnTo>
                      <a:pt x="39" y="79"/>
                    </a:lnTo>
                    <a:lnTo>
                      <a:pt x="39" y="81"/>
                    </a:lnTo>
                    <a:lnTo>
                      <a:pt x="41" y="81"/>
                    </a:lnTo>
                    <a:lnTo>
                      <a:pt x="41" y="82"/>
                    </a:lnTo>
                    <a:lnTo>
                      <a:pt x="41" y="84"/>
                    </a:lnTo>
                    <a:lnTo>
                      <a:pt x="43" y="86"/>
                    </a:lnTo>
                    <a:lnTo>
                      <a:pt x="43" y="87"/>
                    </a:lnTo>
                    <a:lnTo>
                      <a:pt x="43" y="87"/>
                    </a:lnTo>
                    <a:lnTo>
                      <a:pt x="43" y="89"/>
                    </a:lnTo>
                    <a:lnTo>
                      <a:pt x="44" y="90"/>
                    </a:lnTo>
                    <a:lnTo>
                      <a:pt x="44" y="92"/>
                    </a:lnTo>
                    <a:lnTo>
                      <a:pt x="44" y="93"/>
                    </a:lnTo>
                    <a:lnTo>
                      <a:pt x="46" y="93"/>
                    </a:lnTo>
                    <a:lnTo>
                      <a:pt x="46" y="95"/>
                    </a:lnTo>
                    <a:lnTo>
                      <a:pt x="46" y="96"/>
                    </a:lnTo>
                    <a:lnTo>
                      <a:pt x="47" y="98"/>
                    </a:lnTo>
                    <a:lnTo>
                      <a:pt x="47" y="99"/>
                    </a:lnTo>
                    <a:lnTo>
                      <a:pt x="47" y="101"/>
                    </a:lnTo>
                    <a:lnTo>
                      <a:pt x="49" y="102"/>
                    </a:lnTo>
                    <a:lnTo>
                      <a:pt x="49" y="104"/>
                    </a:lnTo>
                    <a:lnTo>
                      <a:pt x="50" y="107"/>
                    </a:lnTo>
                    <a:lnTo>
                      <a:pt x="50" y="108"/>
                    </a:lnTo>
                    <a:lnTo>
                      <a:pt x="52" y="110"/>
                    </a:lnTo>
                    <a:lnTo>
                      <a:pt x="52" y="113"/>
                    </a:lnTo>
                    <a:lnTo>
                      <a:pt x="53" y="115"/>
                    </a:lnTo>
                    <a:lnTo>
                      <a:pt x="53" y="118"/>
                    </a:lnTo>
                    <a:lnTo>
                      <a:pt x="53" y="118"/>
                    </a:lnTo>
                    <a:lnTo>
                      <a:pt x="55" y="119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8" y="127"/>
                    </a:lnTo>
                    <a:lnTo>
                      <a:pt x="58" y="128"/>
                    </a:lnTo>
                    <a:lnTo>
                      <a:pt x="59" y="130"/>
                    </a:lnTo>
                    <a:lnTo>
                      <a:pt x="59" y="131"/>
                    </a:lnTo>
                    <a:lnTo>
                      <a:pt x="61" y="134"/>
                    </a:lnTo>
                    <a:lnTo>
                      <a:pt x="61" y="136"/>
                    </a:lnTo>
                    <a:lnTo>
                      <a:pt x="61" y="138"/>
                    </a:lnTo>
                    <a:lnTo>
                      <a:pt x="62" y="138"/>
                    </a:lnTo>
                    <a:lnTo>
                      <a:pt x="62" y="139"/>
                    </a:lnTo>
                    <a:lnTo>
                      <a:pt x="62" y="141"/>
                    </a:lnTo>
                    <a:lnTo>
                      <a:pt x="64" y="142"/>
                    </a:lnTo>
                    <a:lnTo>
                      <a:pt x="64" y="144"/>
                    </a:lnTo>
                    <a:lnTo>
                      <a:pt x="64" y="145"/>
                    </a:lnTo>
                    <a:lnTo>
                      <a:pt x="65" y="147"/>
                    </a:lnTo>
                    <a:lnTo>
                      <a:pt x="65" y="148"/>
                    </a:lnTo>
                    <a:lnTo>
                      <a:pt x="65" y="148"/>
                    </a:lnTo>
                    <a:lnTo>
                      <a:pt x="65" y="150"/>
                    </a:lnTo>
                    <a:lnTo>
                      <a:pt x="67" y="151"/>
                    </a:lnTo>
                    <a:lnTo>
                      <a:pt x="67" y="153"/>
                    </a:lnTo>
                    <a:lnTo>
                      <a:pt x="67" y="154"/>
                    </a:lnTo>
                    <a:lnTo>
                      <a:pt x="69" y="156"/>
                    </a:lnTo>
                    <a:lnTo>
                      <a:pt x="69" y="157"/>
                    </a:lnTo>
                    <a:lnTo>
                      <a:pt x="69" y="159"/>
                    </a:lnTo>
                    <a:lnTo>
                      <a:pt x="70" y="162"/>
                    </a:lnTo>
                    <a:lnTo>
                      <a:pt x="70" y="164"/>
                    </a:lnTo>
                    <a:lnTo>
                      <a:pt x="72" y="165"/>
                    </a:lnTo>
                    <a:lnTo>
                      <a:pt x="72" y="168"/>
                    </a:lnTo>
                    <a:lnTo>
                      <a:pt x="73" y="170"/>
                    </a:lnTo>
                    <a:lnTo>
                      <a:pt x="73" y="173"/>
                    </a:lnTo>
                    <a:lnTo>
                      <a:pt x="73" y="173"/>
                    </a:lnTo>
                    <a:lnTo>
                      <a:pt x="75" y="176"/>
                    </a:lnTo>
                    <a:lnTo>
                      <a:pt x="75" y="177"/>
                    </a:lnTo>
                    <a:lnTo>
                      <a:pt x="76" y="180"/>
                    </a:lnTo>
                    <a:lnTo>
                      <a:pt x="76" y="182"/>
                    </a:lnTo>
                    <a:lnTo>
                      <a:pt x="76" y="183"/>
                    </a:lnTo>
                    <a:lnTo>
                      <a:pt x="78" y="186"/>
                    </a:lnTo>
                    <a:lnTo>
                      <a:pt x="78" y="188"/>
                    </a:lnTo>
                    <a:lnTo>
                      <a:pt x="78" y="189"/>
                    </a:lnTo>
                    <a:lnTo>
                      <a:pt x="79" y="191"/>
                    </a:lnTo>
                    <a:lnTo>
                      <a:pt x="79" y="193"/>
                    </a:lnTo>
                    <a:lnTo>
                      <a:pt x="79" y="194"/>
                    </a:lnTo>
                    <a:lnTo>
                      <a:pt x="81" y="196"/>
                    </a:lnTo>
                    <a:lnTo>
                      <a:pt x="81" y="196"/>
                    </a:lnTo>
                    <a:lnTo>
                      <a:pt x="81" y="197"/>
                    </a:lnTo>
                    <a:lnTo>
                      <a:pt x="81" y="199"/>
                    </a:lnTo>
                    <a:lnTo>
                      <a:pt x="82" y="200"/>
                    </a:lnTo>
                    <a:lnTo>
                      <a:pt x="82" y="202"/>
                    </a:lnTo>
                    <a:lnTo>
                      <a:pt x="82" y="203"/>
                    </a:lnTo>
                    <a:lnTo>
                      <a:pt x="82" y="205"/>
                    </a:lnTo>
                    <a:lnTo>
                      <a:pt x="84" y="206"/>
                    </a:lnTo>
                    <a:lnTo>
                      <a:pt x="84" y="206"/>
                    </a:lnTo>
                    <a:lnTo>
                      <a:pt x="84" y="208"/>
                    </a:lnTo>
                    <a:lnTo>
                      <a:pt x="85" y="209"/>
                    </a:lnTo>
                    <a:lnTo>
                      <a:pt x="85" y="211"/>
                    </a:lnTo>
                    <a:lnTo>
                      <a:pt x="85" y="214"/>
                    </a:lnTo>
                    <a:lnTo>
                      <a:pt x="87" y="215"/>
                    </a:lnTo>
                    <a:lnTo>
                      <a:pt x="87" y="217"/>
                    </a:lnTo>
                    <a:lnTo>
                      <a:pt x="87" y="219"/>
                    </a:lnTo>
                    <a:lnTo>
                      <a:pt x="88" y="222"/>
                    </a:lnTo>
                    <a:lnTo>
                      <a:pt x="88" y="223"/>
                    </a:lnTo>
                    <a:lnTo>
                      <a:pt x="90" y="226"/>
                    </a:lnTo>
                    <a:lnTo>
                      <a:pt x="90" y="228"/>
                    </a:lnTo>
                    <a:lnTo>
                      <a:pt x="90" y="228"/>
                    </a:lnTo>
                    <a:lnTo>
                      <a:pt x="91" y="231"/>
                    </a:lnTo>
                    <a:lnTo>
                      <a:pt x="91" y="232"/>
                    </a:lnTo>
                    <a:lnTo>
                      <a:pt x="93" y="235"/>
                    </a:lnTo>
                    <a:lnTo>
                      <a:pt x="93" y="237"/>
                    </a:lnTo>
                    <a:lnTo>
                      <a:pt x="94" y="240"/>
                    </a:lnTo>
                    <a:lnTo>
                      <a:pt x="94" y="241"/>
                    </a:lnTo>
                    <a:lnTo>
                      <a:pt x="94" y="243"/>
                    </a:lnTo>
                    <a:lnTo>
                      <a:pt x="96" y="245"/>
                    </a:lnTo>
                    <a:lnTo>
                      <a:pt x="96" y="246"/>
                    </a:lnTo>
                    <a:lnTo>
                      <a:pt x="96" y="248"/>
                    </a:lnTo>
                    <a:lnTo>
                      <a:pt x="96" y="249"/>
                    </a:lnTo>
                    <a:lnTo>
                      <a:pt x="98" y="251"/>
                    </a:lnTo>
                    <a:lnTo>
                      <a:pt x="98" y="252"/>
                    </a:lnTo>
                    <a:lnTo>
                      <a:pt x="98" y="254"/>
                    </a:lnTo>
                    <a:lnTo>
                      <a:pt x="98" y="254"/>
                    </a:lnTo>
                    <a:lnTo>
                      <a:pt x="98" y="255"/>
                    </a:lnTo>
                    <a:lnTo>
                      <a:pt x="98" y="257"/>
                    </a:lnTo>
                    <a:lnTo>
                      <a:pt x="99" y="258"/>
                    </a:lnTo>
                    <a:lnTo>
                      <a:pt x="99" y="258"/>
                    </a:lnTo>
                    <a:lnTo>
                      <a:pt x="99" y="260"/>
                    </a:lnTo>
                    <a:lnTo>
                      <a:pt x="99" y="261"/>
                    </a:lnTo>
                    <a:lnTo>
                      <a:pt x="99" y="263"/>
                    </a:lnTo>
                    <a:lnTo>
                      <a:pt x="99" y="264"/>
                    </a:lnTo>
                    <a:lnTo>
                      <a:pt x="99" y="266"/>
                    </a:lnTo>
                    <a:lnTo>
                      <a:pt x="99" y="267"/>
                    </a:lnTo>
                    <a:lnTo>
                      <a:pt x="99" y="269"/>
                    </a:lnTo>
                    <a:lnTo>
                      <a:pt x="101" y="271"/>
                    </a:lnTo>
                    <a:lnTo>
                      <a:pt x="101" y="272"/>
                    </a:lnTo>
                    <a:lnTo>
                      <a:pt x="101" y="274"/>
                    </a:lnTo>
                    <a:lnTo>
                      <a:pt x="101" y="275"/>
                    </a:lnTo>
                    <a:lnTo>
                      <a:pt x="101" y="278"/>
                    </a:lnTo>
                    <a:lnTo>
                      <a:pt x="101" y="280"/>
                    </a:lnTo>
                    <a:lnTo>
                      <a:pt x="101" y="280"/>
                    </a:lnTo>
                    <a:lnTo>
                      <a:pt x="101" y="281"/>
                    </a:lnTo>
                    <a:lnTo>
                      <a:pt x="101" y="284"/>
                    </a:lnTo>
                    <a:lnTo>
                      <a:pt x="101" y="286"/>
                    </a:lnTo>
                    <a:lnTo>
                      <a:pt x="102" y="287"/>
                    </a:lnTo>
                    <a:lnTo>
                      <a:pt x="102" y="289"/>
                    </a:lnTo>
                    <a:lnTo>
                      <a:pt x="102" y="290"/>
                    </a:lnTo>
                    <a:lnTo>
                      <a:pt x="102" y="292"/>
                    </a:lnTo>
                    <a:lnTo>
                      <a:pt x="102" y="293"/>
                    </a:lnTo>
                    <a:lnTo>
                      <a:pt x="102" y="295"/>
                    </a:lnTo>
                    <a:lnTo>
                      <a:pt x="102" y="297"/>
                    </a:lnTo>
                    <a:lnTo>
                      <a:pt x="102" y="298"/>
                    </a:lnTo>
                    <a:lnTo>
                      <a:pt x="102" y="298"/>
                    </a:lnTo>
                    <a:lnTo>
                      <a:pt x="102" y="300"/>
                    </a:lnTo>
                    <a:lnTo>
                      <a:pt x="102" y="301"/>
                    </a:lnTo>
                    <a:lnTo>
                      <a:pt x="102" y="301"/>
                    </a:lnTo>
                    <a:lnTo>
                      <a:pt x="104" y="303"/>
                    </a:lnTo>
                    <a:lnTo>
                      <a:pt x="104" y="303"/>
                    </a:lnTo>
                    <a:lnTo>
                      <a:pt x="104" y="304"/>
                    </a:lnTo>
                    <a:lnTo>
                      <a:pt x="104" y="306"/>
                    </a:lnTo>
                    <a:lnTo>
                      <a:pt x="104" y="306"/>
                    </a:lnTo>
                    <a:lnTo>
                      <a:pt x="104" y="307"/>
                    </a:lnTo>
                    <a:lnTo>
                      <a:pt x="104" y="307"/>
                    </a:lnTo>
                    <a:lnTo>
                      <a:pt x="104" y="309"/>
                    </a:lnTo>
                    <a:lnTo>
                      <a:pt x="104" y="309"/>
                    </a:lnTo>
                    <a:lnTo>
                      <a:pt x="104" y="310"/>
                    </a:lnTo>
                    <a:lnTo>
                      <a:pt x="104" y="312"/>
                    </a:lnTo>
                    <a:lnTo>
                      <a:pt x="105" y="312"/>
                    </a:lnTo>
                    <a:lnTo>
                      <a:pt x="105" y="313"/>
                    </a:lnTo>
                    <a:lnTo>
                      <a:pt x="105" y="315"/>
                    </a:lnTo>
                    <a:lnTo>
                      <a:pt x="105" y="315"/>
                    </a:lnTo>
                    <a:lnTo>
                      <a:pt x="105" y="316"/>
                    </a:lnTo>
                    <a:lnTo>
                      <a:pt x="105" y="318"/>
                    </a:lnTo>
                    <a:lnTo>
                      <a:pt x="105" y="318"/>
                    </a:lnTo>
                    <a:lnTo>
                      <a:pt x="105" y="319"/>
                    </a:lnTo>
                    <a:lnTo>
                      <a:pt x="107" y="321"/>
                    </a:lnTo>
                    <a:lnTo>
                      <a:pt x="107" y="321"/>
                    </a:lnTo>
                    <a:lnTo>
                      <a:pt x="107" y="323"/>
                    </a:lnTo>
                    <a:lnTo>
                      <a:pt x="107" y="324"/>
                    </a:lnTo>
                    <a:lnTo>
                      <a:pt x="107" y="326"/>
                    </a:lnTo>
                    <a:lnTo>
                      <a:pt x="107" y="326"/>
                    </a:lnTo>
                    <a:lnTo>
                      <a:pt x="107" y="327"/>
                    </a:lnTo>
                    <a:lnTo>
                      <a:pt x="107" y="327"/>
                    </a:lnTo>
                    <a:lnTo>
                      <a:pt x="107" y="329"/>
                    </a:lnTo>
                    <a:lnTo>
                      <a:pt x="108" y="330"/>
                    </a:lnTo>
                    <a:lnTo>
                      <a:pt x="108" y="330"/>
                    </a:lnTo>
                    <a:lnTo>
                      <a:pt x="108" y="332"/>
                    </a:lnTo>
                    <a:lnTo>
                      <a:pt x="108" y="333"/>
                    </a:lnTo>
                    <a:lnTo>
                      <a:pt x="108" y="333"/>
                    </a:lnTo>
                    <a:lnTo>
                      <a:pt x="108" y="335"/>
                    </a:lnTo>
                    <a:lnTo>
                      <a:pt x="108" y="336"/>
                    </a:lnTo>
                    <a:lnTo>
                      <a:pt x="108" y="336"/>
                    </a:lnTo>
                    <a:lnTo>
                      <a:pt x="108" y="338"/>
                    </a:lnTo>
                    <a:lnTo>
                      <a:pt x="108" y="339"/>
                    </a:lnTo>
                    <a:lnTo>
                      <a:pt x="108" y="341"/>
                    </a:lnTo>
                    <a:lnTo>
                      <a:pt x="108" y="342"/>
                    </a:lnTo>
                    <a:lnTo>
                      <a:pt x="108" y="344"/>
                    </a:lnTo>
                    <a:lnTo>
                      <a:pt x="108" y="345"/>
                    </a:lnTo>
                    <a:lnTo>
                      <a:pt x="107" y="347"/>
                    </a:lnTo>
                    <a:lnTo>
                      <a:pt x="107" y="350"/>
                    </a:lnTo>
                    <a:lnTo>
                      <a:pt x="107" y="352"/>
                    </a:lnTo>
                    <a:lnTo>
                      <a:pt x="107" y="355"/>
                    </a:lnTo>
                    <a:lnTo>
                      <a:pt x="107" y="356"/>
                    </a:lnTo>
                    <a:lnTo>
                      <a:pt x="107" y="359"/>
                    </a:lnTo>
                    <a:lnTo>
                      <a:pt x="107" y="362"/>
                    </a:lnTo>
                    <a:lnTo>
                      <a:pt x="107" y="3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80"/>
              <p:cNvSpPr>
                <a:spLocks/>
              </p:cNvSpPr>
              <p:nvPr/>
            </p:nvSpPr>
            <p:spPr bwMode="auto">
              <a:xfrm>
                <a:off x="3403" y="2587"/>
                <a:ext cx="55" cy="183"/>
              </a:xfrm>
              <a:custGeom>
                <a:avLst/>
                <a:gdLst>
                  <a:gd name="T0" fmla="*/ 6 w 108"/>
                  <a:gd name="T1" fmla="*/ 11 h 365"/>
                  <a:gd name="T2" fmla="*/ 12 w 108"/>
                  <a:gd name="T3" fmla="*/ 23 h 365"/>
                  <a:gd name="T4" fmla="*/ 18 w 108"/>
                  <a:gd name="T5" fmla="*/ 32 h 365"/>
                  <a:gd name="T6" fmla="*/ 21 w 108"/>
                  <a:gd name="T7" fmla="*/ 40 h 365"/>
                  <a:gd name="T8" fmla="*/ 24 w 108"/>
                  <a:gd name="T9" fmla="*/ 46 h 365"/>
                  <a:gd name="T10" fmla="*/ 27 w 108"/>
                  <a:gd name="T11" fmla="*/ 52 h 365"/>
                  <a:gd name="T12" fmla="*/ 30 w 108"/>
                  <a:gd name="T13" fmla="*/ 58 h 365"/>
                  <a:gd name="T14" fmla="*/ 33 w 108"/>
                  <a:gd name="T15" fmla="*/ 64 h 365"/>
                  <a:gd name="T16" fmla="*/ 36 w 108"/>
                  <a:gd name="T17" fmla="*/ 70 h 365"/>
                  <a:gd name="T18" fmla="*/ 38 w 108"/>
                  <a:gd name="T19" fmla="*/ 78 h 365"/>
                  <a:gd name="T20" fmla="*/ 41 w 108"/>
                  <a:gd name="T21" fmla="*/ 82 h 365"/>
                  <a:gd name="T22" fmla="*/ 43 w 108"/>
                  <a:gd name="T23" fmla="*/ 87 h 365"/>
                  <a:gd name="T24" fmla="*/ 44 w 108"/>
                  <a:gd name="T25" fmla="*/ 93 h 365"/>
                  <a:gd name="T26" fmla="*/ 47 w 108"/>
                  <a:gd name="T27" fmla="*/ 98 h 365"/>
                  <a:gd name="T28" fmla="*/ 49 w 108"/>
                  <a:gd name="T29" fmla="*/ 104 h 365"/>
                  <a:gd name="T30" fmla="*/ 52 w 108"/>
                  <a:gd name="T31" fmla="*/ 113 h 365"/>
                  <a:gd name="T32" fmla="*/ 55 w 108"/>
                  <a:gd name="T33" fmla="*/ 119 h 365"/>
                  <a:gd name="T34" fmla="*/ 58 w 108"/>
                  <a:gd name="T35" fmla="*/ 128 h 365"/>
                  <a:gd name="T36" fmla="*/ 61 w 108"/>
                  <a:gd name="T37" fmla="*/ 136 h 365"/>
                  <a:gd name="T38" fmla="*/ 62 w 108"/>
                  <a:gd name="T39" fmla="*/ 141 h 365"/>
                  <a:gd name="T40" fmla="*/ 65 w 108"/>
                  <a:gd name="T41" fmla="*/ 147 h 365"/>
                  <a:gd name="T42" fmla="*/ 67 w 108"/>
                  <a:gd name="T43" fmla="*/ 151 h 365"/>
                  <a:gd name="T44" fmla="*/ 69 w 108"/>
                  <a:gd name="T45" fmla="*/ 157 h 365"/>
                  <a:gd name="T46" fmla="*/ 72 w 108"/>
                  <a:gd name="T47" fmla="*/ 165 h 365"/>
                  <a:gd name="T48" fmla="*/ 73 w 108"/>
                  <a:gd name="T49" fmla="*/ 173 h 365"/>
                  <a:gd name="T50" fmla="*/ 76 w 108"/>
                  <a:gd name="T51" fmla="*/ 182 h 365"/>
                  <a:gd name="T52" fmla="*/ 78 w 108"/>
                  <a:gd name="T53" fmla="*/ 189 h 365"/>
                  <a:gd name="T54" fmla="*/ 81 w 108"/>
                  <a:gd name="T55" fmla="*/ 196 h 365"/>
                  <a:gd name="T56" fmla="*/ 82 w 108"/>
                  <a:gd name="T57" fmla="*/ 200 h 365"/>
                  <a:gd name="T58" fmla="*/ 84 w 108"/>
                  <a:gd name="T59" fmla="*/ 206 h 365"/>
                  <a:gd name="T60" fmla="*/ 85 w 108"/>
                  <a:gd name="T61" fmla="*/ 211 h 365"/>
                  <a:gd name="T62" fmla="*/ 87 w 108"/>
                  <a:gd name="T63" fmla="*/ 219 h 365"/>
                  <a:gd name="T64" fmla="*/ 90 w 108"/>
                  <a:gd name="T65" fmla="*/ 228 h 365"/>
                  <a:gd name="T66" fmla="*/ 93 w 108"/>
                  <a:gd name="T67" fmla="*/ 235 h 365"/>
                  <a:gd name="T68" fmla="*/ 94 w 108"/>
                  <a:gd name="T69" fmla="*/ 243 h 365"/>
                  <a:gd name="T70" fmla="*/ 96 w 108"/>
                  <a:gd name="T71" fmla="*/ 249 h 365"/>
                  <a:gd name="T72" fmla="*/ 98 w 108"/>
                  <a:gd name="T73" fmla="*/ 254 h 365"/>
                  <a:gd name="T74" fmla="*/ 99 w 108"/>
                  <a:gd name="T75" fmla="*/ 258 h 365"/>
                  <a:gd name="T76" fmla="*/ 99 w 108"/>
                  <a:gd name="T77" fmla="*/ 264 h 365"/>
                  <a:gd name="T78" fmla="*/ 101 w 108"/>
                  <a:gd name="T79" fmla="*/ 271 h 365"/>
                  <a:gd name="T80" fmla="*/ 101 w 108"/>
                  <a:gd name="T81" fmla="*/ 278 h 365"/>
                  <a:gd name="T82" fmla="*/ 101 w 108"/>
                  <a:gd name="T83" fmla="*/ 284 h 365"/>
                  <a:gd name="T84" fmla="*/ 102 w 108"/>
                  <a:gd name="T85" fmla="*/ 290 h 365"/>
                  <a:gd name="T86" fmla="*/ 102 w 108"/>
                  <a:gd name="T87" fmla="*/ 297 h 365"/>
                  <a:gd name="T88" fmla="*/ 102 w 108"/>
                  <a:gd name="T89" fmla="*/ 301 h 365"/>
                  <a:gd name="T90" fmla="*/ 104 w 108"/>
                  <a:gd name="T91" fmla="*/ 304 h 365"/>
                  <a:gd name="T92" fmla="*/ 104 w 108"/>
                  <a:gd name="T93" fmla="*/ 307 h 365"/>
                  <a:gd name="T94" fmla="*/ 104 w 108"/>
                  <a:gd name="T95" fmla="*/ 312 h 365"/>
                  <a:gd name="T96" fmla="*/ 105 w 108"/>
                  <a:gd name="T97" fmla="*/ 315 h 365"/>
                  <a:gd name="T98" fmla="*/ 105 w 108"/>
                  <a:gd name="T99" fmla="*/ 319 h 365"/>
                  <a:gd name="T100" fmla="*/ 107 w 108"/>
                  <a:gd name="T101" fmla="*/ 324 h 365"/>
                  <a:gd name="T102" fmla="*/ 107 w 108"/>
                  <a:gd name="T103" fmla="*/ 327 h 365"/>
                  <a:gd name="T104" fmla="*/ 108 w 108"/>
                  <a:gd name="T105" fmla="*/ 332 h 365"/>
                  <a:gd name="T106" fmla="*/ 108 w 108"/>
                  <a:gd name="T107" fmla="*/ 336 h 365"/>
                  <a:gd name="T108" fmla="*/ 108 w 108"/>
                  <a:gd name="T109" fmla="*/ 341 h 365"/>
                  <a:gd name="T110" fmla="*/ 107 w 108"/>
                  <a:gd name="T111" fmla="*/ 347 h 365"/>
                  <a:gd name="T112" fmla="*/ 107 w 108"/>
                  <a:gd name="T113" fmla="*/ 356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8" h="365">
                    <a:moveTo>
                      <a:pt x="0" y="0"/>
                    </a:moveTo>
                    <a:lnTo>
                      <a:pt x="1" y="3"/>
                    </a:lnTo>
                    <a:lnTo>
                      <a:pt x="4" y="8"/>
                    </a:lnTo>
                    <a:lnTo>
                      <a:pt x="6" y="11"/>
                    </a:lnTo>
                    <a:lnTo>
                      <a:pt x="7" y="14"/>
                    </a:lnTo>
                    <a:lnTo>
                      <a:pt x="9" y="17"/>
                    </a:lnTo>
                    <a:lnTo>
                      <a:pt x="10" y="20"/>
                    </a:lnTo>
                    <a:lnTo>
                      <a:pt x="12" y="23"/>
                    </a:lnTo>
                    <a:lnTo>
                      <a:pt x="13" y="26"/>
                    </a:lnTo>
                    <a:lnTo>
                      <a:pt x="15" y="27"/>
                    </a:lnTo>
                    <a:lnTo>
                      <a:pt x="17" y="30"/>
                    </a:lnTo>
                    <a:lnTo>
                      <a:pt x="18" y="32"/>
                    </a:lnTo>
                    <a:lnTo>
                      <a:pt x="18" y="34"/>
                    </a:lnTo>
                    <a:lnTo>
                      <a:pt x="20" y="37"/>
                    </a:lnTo>
                    <a:lnTo>
                      <a:pt x="21" y="38"/>
                    </a:lnTo>
                    <a:lnTo>
                      <a:pt x="21" y="40"/>
                    </a:lnTo>
                    <a:lnTo>
                      <a:pt x="23" y="41"/>
                    </a:lnTo>
                    <a:lnTo>
                      <a:pt x="23" y="43"/>
                    </a:lnTo>
                    <a:lnTo>
                      <a:pt x="24" y="44"/>
                    </a:lnTo>
                    <a:lnTo>
                      <a:pt x="24" y="46"/>
                    </a:lnTo>
                    <a:lnTo>
                      <a:pt x="26" y="47"/>
                    </a:lnTo>
                    <a:lnTo>
                      <a:pt x="26" y="49"/>
                    </a:lnTo>
                    <a:lnTo>
                      <a:pt x="27" y="50"/>
                    </a:lnTo>
                    <a:lnTo>
                      <a:pt x="27" y="52"/>
                    </a:lnTo>
                    <a:lnTo>
                      <a:pt x="29" y="53"/>
                    </a:lnTo>
                    <a:lnTo>
                      <a:pt x="29" y="53"/>
                    </a:lnTo>
                    <a:lnTo>
                      <a:pt x="29" y="55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2" y="61"/>
                    </a:lnTo>
                    <a:lnTo>
                      <a:pt x="32" y="63"/>
                    </a:lnTo>
                    <a:lnTo>
                      <a:pt x="33" y="64"/>
                    </a:lnTo>
                    <a:lnTo>
                      <a:pt x="33" y="67"/>
                    </a:lnTo>
                    <a:lnTo>
                      <a:pt x="33" y="67"/>
                    </a:lnTo>
                    <a:lnTo>
                      <a:pt x="35" y="69"/>
                    </a:lnTo>
                    <a:lnTo>
                      <a:pt x="36" y="70"/>
                    </a:lnTo>
                    <a:lnTo>
                      <a:pt x="36" y="72"/>
                    </a:lnTo>
                    <a:lnTo>
                      <a:pt x="38" y="75"/>
                    </a:lnTo>
                    <a:lnTo>
                      <a:pt x="38" y="76"/>
                    </a:lnTo>
                    <a:lnTo>
                      <a:pt x="38" y="78"/>
                    </a:lnTo>
                    <a:lnTo>
                      <a:pt x="39" y="79"/>
                    </a:lnTo>
                    <a:lnTo>
                      <a:pt x="39" y="81"/>
                    </a:lnTo>
                    <a:lnTo>
                      <a:pt x="41" y="81"/>
                    </a:lnTo>
                    <a:lnTo>
                      <a:pt x="41" y="82"/>
                    </a:lnTo>
                    <a:lnTo>
                      <a:pt x="41" y="84"/>
                    </a:lnTo>
                    <a:lnTo>
                      <a:pt x="43" y="86"/>
                    </a:lnTo>
                    <a:lnTo>
                      <a:pt x="43" y="87"/>
                    </a:lnTo>
                    <a:lnTo>
                      <a:pt x="43" y="87"/>
                    </a:lnTo>
                    <a:lnTo>
                      <a:pt x="43" y="89"/>
                    </a:lnTo>
                    <a:lnTo>
                      <a:pt x="44" y="90"/>
                    </a:lnTo>
                    <a:lnTo>
                      <a:pt x="44" y="92"/>
                    </a:lnTo>
                    <a:lnTo>
                      <a:pt x="44" y="93"/>
                    </a:lnTo>
                    <a:lnTo>
                      <a:pt x="46" y="93"/>
                    </a:lnTo>
                    <a:lnTo>
                      <a:pt x="46" y="95"/>
                    </a:lnTo>
                    <a:lnTo>
                      <a:pt x="46" y="96"/>
                    </a:lnTo>
                    <a:lnTo>
                      <a:pt x="47" y="98"/>
                    </a:lnTo>
                    <a:lnTo>
                      <a:pt x="47" y="99"/>
                    </a:lnTo>
                    <a:lnTo>
                      <a:pt x="47" y="101"/>
                    </a:lnTo>
                    <a:lnTo>
                      <a:pt x="49" y="102"/>
                    </a:lnTo>
                    <a:lnTo>
                      <a:pt x="49" y="104"/>
                    </a:lnTo>
                    <a:lnTo>
                      <a:pt x="50" y="107"/>
                    </a:lnTo>
                    <a:lnTo>
                      <a:pt x="50" y="108"/>
                    </a:lnTo>
                    <a:lnTo>
                      <a:pt x="52" y="110"/>
                    </a:lnTo>
                    <a:lnTo>
                      <a:pt x="52" y="113"/>
                    </a:lnTo>
                    <a:lnTo>
                      <a:pt x="53" y="115"/>
                    </a:lnTo>
                    <a:lnTo>
                      <a:pt x="53" y="118"/>
                    </a:lnTo>
                    <a:lnTo>
                      <a:pt x="53" y="118"/>
                    </a:lnTo>
                    <a:lnTo>
                      <a:pt x="55" y="119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8" y="127"/>
                    </a:lnTo>
                    <a:lnTo>
                      <a:pt x="58" y="128"/>
                    </a:lnTo>
                    <a:lnTo>
                      <a:pt x="59" y="130"/>
                    </a:lnTo>
                    <a:lnTo>
                      <a:pt x="59" y="131"/>
                    </a:lnTo>
                    <a:lnTo>
                      <a:pt x="61" y="134"/>
                    </a:lnTo>
                    <a:lnTo>
                      <a:pt x="61" y="136"/>
                    </a:lnTo>
                    <a:lnTo>
                      <a:pt x="61" y="138"/>
                    </a:lnTo>
                    <a:lnTo>
                      <a:pt x="62" y="138"/>
                    </a:lnTo>
                    <a:lnTo>
                      <a:pt x="62" y="139"/>
                    </a:lnTo>
                    <a:lnTo>
                      <a:pt x="62" y="141"/>
                    </a:lnTo>
                    <a:lnTo>
                      <a:pt x="64" y="142"/>
                    </a:lnTo>
                    <a:lnTo>
                      <a:pt x="64" y="144"/>
                    </a:lnTo>
                    <a:lnTo>
                      <a:pt x="64" y="145"/>
                    </a:lnTo>
                    <a:lnTo>
                      <a:pt x="65" y="147"/>
                    </a:lnTo>
                    <a:lnTo>
                      <a:pt x="65" y="148"/>
                    </a:lnTo>
                    <a:lnTo>
                      <a:pt x="65" y="148"/>
                    </a:lnTo>
                    <a:lnTo>
                      <a:pt x="65" y="150"/>
                    </a:lnTo>
                    <a:lnTo>
                      <a:pt x="67" y="151"/>
                    </a:lnTo>
                    <a:lnTo>
                      <a:pt x="67" y="153"/>
                    </a:lnTo>
                    <a:lnTo>
                      <a:pt x="67" y="154"/>
                    </a:lnTo>
                    <a:lnTo>
                      <a:pt x="69" y="156"/>
                    </a:lnTo>
                    <a:lnTo>
                      <a:pt x="69" y="157"/>
                    </a:lnTo>
                    <a:lnTo>
                      <a:pt x="69" y="159"/>
                    </a:lnTo>
                    <a:lnTo>
                      <a:pt x="70" y="162"/>
                    </a:lnTo>
                    <a:lnTo>
                      <a:pt x="70" y="164"/>
                    </a:lnTo>
                    <a:lnTo>
                      <a:pt x="72" y="165"/>
                    </a:lnTo>
                    <a:lnTo>
                      <a:pt x="72" y="168"/>
                    </a:lnTo>
                    <a:lnTo>
                      <a:pt x="73" y="170"/>
                    </a:lnTo>
                    <a:lnTo>
                      <a:pt x="73" y="173"/>
                    </a:lnTo>
                    <a:lnTo>
                      <a:pt x="73" y="173"/>
                    </a:lnTo>
                    <a:lnTo>
                      <a:pt x="75" y="176"/>
                    </a:lnTo>
                    <a:lnTo>
                      <a:pt x="75" y="177"/>
                    </a:lnTo>
                    <a:lnTo>
                      <a:pt x="76" y="180"/>
                    </a:lnTo>
                    <a:lnTo>
                      <a:pt x="76" y="182"/>
                    </a:lnTo>
                    <a:lnTo>
                      <a:pt x="76" y="183"/>
                    </a:lnTo>
                    <a:lnTo>
                      <a:pt x="78" y="186"/>
                    </a:lnTo>
                    <a:lnTo>
                      <a:pt x="78" y="188"/>
                    </a:lnTo>
                    <a:lnTo>
                      <a:pt x="78" y="189"/>
                    </a:lnTo>
                    <a:lnTo>
                      <a:pt x="79" y="191"/>
                    </a:lnTo>
                    <a:lnTo>
                      <a:pt x="79" y="193"/>
                    </a:lnTo>
                    <a:lnTo>
                      <a:pt x="79" y="194"/>
                    </a:lnTo>
                    <a:lnTo>
                      <a:pt x="81" y="196"/>
                    </a:lnTo>
                    <a:lnTo>
                      <a:pt x="81" y="196"/>
                    </a:lnTo>
                    <a:lnTo>
                      <a:pt x="81" y="197"/>
                    </a:lnTo>
                    <a:lnTo>
                      <a:pt x="81" y="199"/>
                    </a:lnTo>
                    <a:lnTo>
                      <a:pt x="82" y="200"/>
                    </a:lnTo>
                    <a:lnTo>
                      <a:pt x="82" y="202"/>
                    </a:lnTo>
                    <a:lnTo>
                      <a:pt x="82" y="203"/>
                    </a:lnTo>
                    <a:lnTo>
                      <a:pt x="82" y="205"/>
                    </a:lnTo>
                    <a:lnTo>
                      <a:pt x="84" y="206"/>
                    </a:lnTo>
                    <a:lnTo>
                      <a:pt x="84" y="206"/>
                    </a:lnTo>
                    <a:lnTo>
                      <a:pt x="84" y="208"/>
                    </a:lnTo>
                    <a:lnTo>
                      <a:pt x="85" y="209"/>
                    </a:lnTo>
                    <a:lnTo>
                      <a:pt x="85" y="211"/>
                    </a:lnTo>
                    <a:lnTo>
                      <a:pt x="85" y="214"/>
                    </a:lnTo>
                    <a:lnTo>
                      <a:pt x="87" y="215"/>
                    </a:lnTo>
                    <a:lnTo>
                      <a:pt x="87" y="217"/>
                    </a:lnTo>
                    <a:lnTo>
                      <a:pt x="87" y="219"/>
                    </a:lnTo>
                    <a:lnTo>
                      <a:pt x="88" y="222"/>
                    </a:lnTo>
                    <a:lnTo>
                      <a:pt x="88" y="223"/>
                    </a:lnTo>
                    <a:lnTo>
                      <a:pt x="90" y="226"/>
                    </a:lnTo>
                    <a:lnTo>
                      <a:pt x="90" y="228"/>
                    </a:lnTo>
                    <a:lnTo>
                      <a:pt x="90" y="228"/>
                    </a:lnTo>
                    <a:lnTo>
                      <a:pt x="91" y="231"/>
                    </a:lnTo>
                    <a:lnTo>
                      <a:pt x="91" y="232"/>
                    </a:lnTo>
                    <a:lnTo>
                      <a:pt x="93" y="235"/>
                    </a:lnTo>
                    <a:lnTo>
                      <a:pt x="93" y="237"/>
                    </a:lnTo>
                    <a:lnTo>
                      <a:pt x="94" y="240"/>
                    </a:lnTo>
                    <a:lnTo>
                      <a:pt x="94" y="241"/>
                    </a:lnTo>
                    <a:lnTo>
                      <a:pt x="94" y="243"/>
                    </a:lnTo>
                    <a:lnTo>
                      <a:pt x="96" y="245"/>
                    </a:lnTo>
                    <a:lnTo>
                      <a:pt x="96" y="246"/>
                    </a:lnTo>
                    <a:lnTo>
                      <a:pt x="96" y="248"/>
                    </a:lnTo>
                    <a:lnTo>
                      <a:pt x="96" y="249"/>
                    </a:lnTo>
                    <a:lnTo>
                      <a:pt x="98" y="251"/>
                    </a:lnTo>
                    <a:lnTo>
                      <a:pt x="98" y="252"/>
                    </a:lnTo>
                    <a:lnTo>
                      <a:pt x="98" y="254"/>
                    </a:lnTo>
                    <a:lnTo>
                      <a:pt x="98" y="254"/>
                    </a:lnTo>
                    <a:lnTo>
                      <a:pt x="98" y="255"/>
                    </a:lnTo>
                    <a:lnTo>
                      <a:pt x="98" y="257"/>
                    </a:lnTo>
                    <a:lnTo>
                      <a:pt x="99" y="258"/>
                    </a:lnTo>
                    <a:lnTo>
                      <a:pt x="99" y="258"/>
                    </a:lnTo>
                    <a:lnTo>
                      <a:pt x="99" y="260"/>
                    </a:lnTo>
                    <a:lnTo>
                      <a:pt x="99" y="261"/>
                    </a:lnTo>
                    <a:lnTo>
                      <a:pt x="99" y="263"/>
                    </a:lnTo>
                    <a:lnTo>
                      <a:pt x="99" y="264"/>
                    </a:lnTo>
                    <a:lnTo>
                      <a:pt x="99" y="266"/>
                    </a:lnTo>
                    <a:lnTo>
                      <a:pt x="99" y="267"/>
                    </a:lnTo>
                    <a:lnTo>
                      <a:pt x="99" y="269"/>
                    </a:lnTo>
                    <a:lnTo>
                      <a:pt x="101" y="271"/>
                    </a:lnTo>
                    <a:lnTo>
                      <a:pt x="101" y="272"/>
                    </a:lnTo>
                    <a:lnTo>
                      <a:pt x="101" y="274"/>
                    </a:lnTo>
                    <a:lnTo>
                      <a:pt x="101" y="275"/>
                    </a:lnTo>
                    <a:lnTo>
                      <a:pt x="101" y="278"/>
                    </a:lnTo>
                    <a:lnTo>
                      <a:pt x="101" y="280"/>
                    </a:lnTo>
                    <a:lnTo>
                      <a:pt x="101" y="280"/>
                    </a:lnTo>
                    <a:lnTo>
                      <a:pt x="101" y="281"/>
                    </a:lnTo>
                    <a:lnTo>
                      <a:pt x="101" y="284"/>
                    </a:lnTo>
                    <a:lnTo>
                      <a:pt x="101" y="286"/>
                    </a:lnTo>
                    <a:lnTo>
                      <a:pt x="102" y="287"/>
                    </a:lnTo>
                    <a:lnTo>
                      <a:pt x="102" y="289"/>
                    </a:lnTo>
                    <a:lnTo>
                      <a:pt x="102" y="290"/>
                    </a:lnTo>
                    <a:lnTo>
                      <a:pt x="102" y="292"/>
                    </a:lnTo>
                    <a:lnTo>
                      <a:pt x="102" y="293"/>
                    </a:lnTo>
                    <a:lnTo>
                      <a:pt x="102" y="295"/>
                    </a:lnTo>
                    <a:lnTo>
                      <a:pt x="102" y="297"/>
                    </a:lnTo>
                    <a:lnTo>
                      <a:pt x="102" y="298"/>
                    </a:lnTo>
                    <a:lnTo>
                      <a:pt x="102" y="298"/>
                    </a:lnTo>
                    <a:lnTo>
                      <a:pt x="102" y="300"/>
                    </a:lnTo>
                    <a:lnTo>
                      <a:pt x="102" y="301"/>
                    </a:lnTo>
                    <a:lnTo>
                      <a:pt x="102" y="301"/>
                    </a:lnTo>
                    <a:lnTo>
                      <a:pt x="104" y="303"/>
                    </a:lnTo>
                    <a:lnTo>
                      <a:pt x="104" y="303"/>
                    </a:lnTo>
                    <a:lnTo>
                      <a:pt x="104" y="304"/>
                    </a:lnTo>
                    <a:lnTo>
                      <a:pt x="104" y="306"/>
                    </a:lnTo>
                    <a:lnTo>
                      <a:pt x="104" y="306"/>
                    </a:lnTo>
                    <a:lnTo>
                      <a:pt x="104" y="307"/>
                    </a:lnTo>
                    <a:lnTo>
                      <a:pt x="104" y="307"/>
                    </a:lnTo>
                    <a:lnTo>
                      <a:pt x="104" y="309"/>
                    </a:lnTo>
                    <a:lnTo>
                      <a:pt x="104" y="309"/>
                    </a:lnTo>
                    <a:lnTo>
                      <a:pt x="104" y="310"/>
                    </a:lnTo>
                    <a:lnTo>
                      <a:pt x="104" y="312"/>
                    </a:lnTo>
                    <a:lnTo>
                      <a:pt x="105" y="312"/>
                    </a:lnTo>
                    <a:lnTo>
                      <a:pt x="105" y="313"/>
                    </a:lnTo>
                    <a:lnTo>
                      <a:pt x="105" y="315"/>
                    </a:lnTo>
                    <a:lnTo>
                      <a:pt x="105" y="315"/>
                    </a:lnTo>
                    <a:lnTo>
                      <a:pt x="105" y="316"/>
                    </a:lnTo>
                    <a:lnTo>
                      <a:pt x="105" y="318"/>
                    </a:lnTo>
                    <a:lnTo>
                      <a:pt x="105" y="318"/>
                    </a:lnTo>
                    <a:lnTo>
                      <a:pt x="105" y="319"/>
                    </a:lnTo>
                    <a:lnTo>
                      <a:pt x="107" y="321"/>
                    </a:lnTo>
                    <a:lnTo>
                      <a:pt x="107" y="321"/>
                    </a:lnTo>
                    <a:lnTo>
                      <a:pt x="107" y="323"/>
                    </a:lnTo>
                    <a:lnTo>
                      <a:pt x="107" y="324"/>
                    </a:lnTo>
                    <a:lnTo>
                      <a:pt x="107" y="326"/>
                    </a:lnTo>
                    <a:lnTo>
                      <a:pt x="107" y="326"/>
                    </a:lnTo>
                    <a:lnTo>
                      <a:pt x="107" y="327"/>
                    </a:lnTo>
                    <a:lnTo>
                      <a:pt x="107" y="327"/>
                    </a:lnTo>
                    <a:lnTo>
                      <a:pt x="107" y="329"/>
                    </a:lnTo>
                    <a:lnTo>
                      <a:pt x="108" y="330"/>
                    </a:lnTo>
                    <a:lnTo>
                      <a:pt x="108" y="330"/>
                    </a:lnTo>
                    <a:lnTo>
                      <a:pt x="108" y="332"/>
                    </a:lnTo>
                    <a:lnTo>
                      <a:pt x="108" y="333"/>
                    </a:lnTo>
                    <a:lnTo>
                      <a:pt x="108" y="333"/>
                    </a:lnTo>
                    <a:lnTo>
                      <a:pt x="108" y="335"/>
                    </a:lnTo>
                    <a:lnTo>
                      <a:pt x="108" y="336"/>
                    </a:lnTo>
                    <a:lnTo>
                      <a:pt x="108" y="336"/>
                    </a:lnTo>
                    <a:lnTo>
                      <a:pt x="108" y="338"/>
                    </a:lnTo>
                    <a:lnTo>
                      <a:pt x="108" y="339"/>
                    </a:lnTo>
                    <a:lnTo>
                      <a:pt x="108" y="341"/>
                    </a:lnTo>
                    <a:lnTo>
                      <a:pt x="108" y="342"/>
                    </a:lnTo>
                    <a:lnTo>
                      <a:pt x="108" y="344"/>
                    </a:lnTo>
                    <a:lnTo>
                      <a:pt x="108" y="345"/>
                    </a:lnTo>
                    <a:lnTo>
                      <a:pt x="107" y="347"/>
                    </a:lnTo>
                    <a:lnTo>
                      <a:pt x="107" y="350"/>
                    </a:lnTo>
                    <a:lnTo>
                      <a:pt x="107" y="352"/>
                    </a:lnTo>
                    <a:lnTo>
                      <a:pt x="107" y="355"/>
                    </a:lnTo>
                    <a:lnTo>
                      <a:pt x="107" y="356"/>
                    </a:lnTo>
                    <a:lnTo>
                      <a:pt x="107" y="359"/>
                    </a:lnTo>
                    <a:lnTo>
                      <a:pt x="107" y="362"/>
                    </a:lnTo>
                    <a:lnTo>
                      <a:pt x="107" y="365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81"/>
              <p:cNvSpPr>
                <a:spLocks/>
              </p:cNvSpPr>
              <p:nvPr/>
            </p:nvSpPr>
            <p:spPr bwMode="auto">
              <a:xfrm>
                <a:off x="3403" y="2768"/>
                <a:ext cx="55" cy="183"/>
              </a:xfrm>
              <a:custGeom>
                <a:avLst/>
                <a:gdLst>
                  <a:gd name="T0" fmla="*/ 6 w 108"/>
                  <a:gd name="T1" fmla="*/ 355 h 366"/>
                  <a:gd name="T2" fmla="*/ 12 w 108"/>
                  <a:gd name="T3" fmla="*/ 343 h 366"/>
                  <a:gd name="T4" fmla="*/ 18 w 108"/>
                  <a:gd name="T5" fmla="*/ 334 h 366"/>
                  <a:gd name="T6" fmla="*/ 21 w 108"/>
                  <a:gd name="T7" fmla="*/ 326 h 366"/>
                  <a:gd name="T8" fmla="*/ 24 w 108"/>
                  <a:gd name="T9" fmla="*/ 320 h 366"/>
                  <a:gd name="T10" fmla="*/ 27 w 108"/>
                  <a:gd name="T11" fmla="*/ 315 h 366"/>
                  <a:gd name="T12" fmla="*/ 30 w 108"/>
                  <a:gd name="T13" fmla="*/ 309 h 366"/>
                  <a:gd name="T14" fmla="*/ 33 w 108"/>
                  <a:gd name="T15" fmla="*/ 301 h 366"/>
                  <a:gd name="T16" fmla="*/ 36 w 108"/>
                  <a:gd name="T17" fmla="*/ 295 h 366"/>
                  <a:gd name="T18" fmla="*/ 38 w 108"/>
                  <a:gd name="T19" fmla="*/ 288 h 366"/>
                  <a:gd name="T20" fmla="*/ 41 w 108"/>
                  <a:gd name="T21" fmla="*/ 283 h 366"/>
                  <a:gd name="T22" fmla="*/ 43 w 108"/>
                  <a:gd name="T23" fmla="*/ 279 h 366"/>
                  <a:gd name="T24" fmla="*/ 44 w 108"/>
                  <a:gd name="T25" fmla="*/ 272 h 366"/>
                  <a:gd name="T26" fmla="*/ 47 w 108"/>
                  <a:gd name="T27" fmla="*/ 268 h 366"/>
                  <a:gd name="T28" fmla="*/ 49 w 108"/>
                  <a:gd name="T29" fmla="*/ 262 h 366"/>
                  <a:gd name="T30" fmla="*/ 52 w 108"/>
                  <a:gd name="T31" fmla="*/ 253 h 366"/>
                  <a:gd name="T32" fmla="*/ 55 w 108"/>
                  <a:gd name="T33" fmla="*/ 246 h 366"/>
                  <a:gd name="T34" fmla="*/ 58 w 108"/>
                  <a:gd name="T35" fmla="*/ 237 h 366"/>
                  <a:gd name="T36" fmla="*/ 61 w 108"/>
                  <a:gd name="T37" fmla="*/ 230 h 366"/>
                  <a:gd name="T38" fmla="*/ 62 w 108"/>
                  <a:gd name="T39" fmla="*/ 225 h 366"/>
                  <a:gd name="T40" fmla="*/ 65 w 108"/>
                  <a:gd name="T41" fmla="*/ 219 h 366"/>
                  <a:gd name="T42" fmla="*/ 67 w 108"/>
                  <a:gd name="T43" fmla="*/ 214 h 366"/>
                  <a:gd name="T44" fmla="*/ 69 w 108"/>
                  <a:gd name="T45" fmla="*/ 208 h 366"/>
                  <a:gd name="T46" fmla="*/ 72 w 108"/>
                  <a:gd name="T47" fmla="*/ 201 h 366"/>
                  <a:gd name="T48" fmla="*/ 73 w 108"/>
                  <a:gd name="T49" fmla="*/ 193 h 366"/>
                  <a:gd name="T50" fmla="*/ 76 w 108"/>
                  <a:gd name="T51" fmla="*/ 184 h 366"/>
                  <a:gd name="T52" fmla="*/ 78 w 108"/>
                  <a:gd name="T53" fmla="*/ 176 h 366"/>
                  <a:gd name="T54" fmla="*/ 81 w 108"/>
                  <a:gd name="T55" fmla="*/ 170 h 366"/>
                  <a:gd name="T56" fmla="*/ 82 w 108"/>
                  <a:gd name="T57" fmla="*/ 165 h 366"/>
                  <a:gd name="T58" fmla="*/ 84 w 108"/>
                  <a:gd name="T59" fmla="*/ 159 h 366"/>
                  <a:gd name="T60" fmla="*/ 85 w 108"/>
                  <a:gd name="T61" fmla="*/ 155 h 366"/>
                  <a:gd name="T62" fmla="*/ 87 w 108"/>
                  <a:gd name="T63" fmla="*/ 147 h 366"/>
                  <a:gd name="T64" fmla="*/ 90 w 108"/>
                  <a:gd name="T65" fmla="*/ 138 h 366"/>
                  <a:gd name="T66" fmla="*/ 93 w 108"/>
                  <a:gd name="T67" fmla="*/ 130 h 366"/>
                  <a:gd name="T68" fmla="*/ 94 w 108"/>
                  <a:gd name="T69" fmla="*/ 123 h 366"/>
                  <a:gd name="T70" fmla="*/ 96 w 108"/>
                  <a:gd name="T71" fmla="*/ 116 h 366"/>
                  <a:gd name="T72" fmla="*/ 98 w 108"/>
                  <a:gd name="T73" fmla="*/ 112 h 366"/>
                  <a:gd name="T74" fmla="*/ 99 w 108"/>
                  <a:gd name="T75" fmla="*/ 107 h 366"/>
                  <a:gd name="T76" fmla="*/ 99 w 108"/>
                  <a:gd name="T77" fmla="*/ 101 h 366"/>
                  <a:gd name="T78" fmla="*/ 101 w 108"/>
                  <a:gd name="T79" fmla="*/ 95 h 366"/>
                  <a:gd name="T80" fmla="*/ 101 w 108"/>
                  <a:gd name="T81" fmla="*/ 87 h 366"/>
                  <a:gd name="T82" fmla="*/ 101 w 108"/>
                  <a:gd name="T83" fmla="*/ 81 h 366"/>
                  <a:gd name="T84" fmla="*/ 102 w 108"/>
                  <a:gd name="T85" fmla="*/ 75 h 366"/>
                  <a:gd name="T86" fmla="*/ 102 w 108"/>
                  <a:gd name="T87" fmla="*/ 69 h 366"/>
                  <a:gd name="T88" fmla="*/ 102 w 108"/>
                  <a:gd name="T89" fmla="*/ 64 h 366"/>
                  <a:gd name="T90" fmla="*/ 104 w 108"/>
                  <a:gd name="T91" fmla="*/ 61 h 366"/>
                  <a:gd name="T92" fmla="*/ 104 w 108"/>
                  <a:gd name="T93" fmla="*/ 58 h 366"/>
                  <a:gd name="T94" fmla="*/ 104 w 108"/>
                  <a:gd name="T95" fmla="*/ 54 h 366"/>
                  <a:gd name="T96" fmla="*/ 105 w 108"/>
                  <a:gd name="T97" fmla="*/ 51 h 366"/>
                  <a:gd name="T98" fmla="*/ 105 w 108"/>
                  <a:gd name="T99" fmla="*/ 46 h 366"/>
                  <a:gd name="T100" fmla="*/ 107 w 108"/>
                  <a:gd name="T101" fmla="*/ 42 h 366"/>
                  <a:gd name="T102" fmla="*/ 107 w 108"/>
                  <a:gd name="T103" fmla="*/ 38 h 366"/>
                  <a:gd name="T104" fmla="*/ 108 w 108"/>
                  <a:gd name="T105" fmla="*/ 34 h 366"/>
                  <a:gd name="T106" fmla="*/ 108 w 108"/>
                  <a:gd name="T107" fmla="*/ 29 h 366"/>
                  <a:gd name="T108" fmla="*/ 108 w 108"/>
                  <a:gd name="T109" fmla="*/ 25 h 366"/>
                  <a:gd name="T110" fmla="*/ 107 w 108"/>
                  <a:gd name="T111" fmla="*/ 19 h 366"/>
                  <a:gd name="T112" fmla="*/ 107 w 108"/>
                  <a:gd name="T113" fmla="*/ 9 h 366"/>
                  <a:gd name="T114" fmla="*/ 0 w 108"/>
                  <a:gd name="T115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8" h="366">
                    <a:moveTo>
                      <a:pt x="0" y="366"/>
                    </a:moveTo>
                    <a:lnTo>
                      <a:pt x="1" y="361"/>
                    </a:lnTo>
                    <a:lnTo>
                      <a:pt x="4" y="358"/>
                    </a:lnTo>
                    <a:lnTo>
                      <a:pt x="6" y="355"/>
                    </a:lnTo>
                    <a:lnTo>
                      <a:pt x="7" y="352"/>
                    </a:lnTo>
                    <a:lnTo>
                      <a:pt x="9" y="349"/>
                    </a:lnTo>
                    <a:lnTo>
                      <a:pt x="10" y="346"/>
                    </a:lnTo>
                    <a:lnTo>
                      <a:pt x="12" y="343"/>
                    </a:lnTo>
                    <a:lnTo>
                      <a:pt x="13" y="340"/>
                    </a:lnTo>
                    <a:lnTo>
                      <a:pt x="15" y="338"/>
                    </a:lnTo>
                    <a:lnTo>
                      <a:pt x="17" y="335"/>
                    </a:lnTo>
                    <a:lnTo>
                      <a:pt x="18" y="334"/>
                    </a:lnTo>
                    <a:lnTo>
                      <a:pt x="18" y="332"/>
                    </a:lnTo>
                    <a:lnTo>
                      <a:pt x="20" y="329"/>
                    </a:lnTo>
                    <a:lnTo>
                      <a:pt x="21" y="327"/>
                    </a:lnTo>
                    <a:lnTo>
                      <a:pt x="21" y="326"/>
                    </a:lnTo>
                    <a:lnTo>
                      <a:pt x="23" y="324"/>
                    </a:lnTo>
                    <a:lnTo>
                      <a:pt x="23" y="323"/>
                    </a:lnTo>
                    <a:lnTo>
                      <a:pt x="24" y="321"/>
                    </a:lnTo>
                    <a:lnTo>
                      <a:pt x="24" y="320"/>
                    </a:lnTo>
                    <a:lnTo>
                      <a:pt x="26" y="318"/>
                    </a:lnTo>
                    <a:lnTo>
                      <a:pt x="26" y="317"/>
                    </a:lnTo>
                    <a:lnTo>
                      <a:pt x="27" y="315"/>
                    </a:lnTo>
                    <a:lnTo>
                      <a:pt x="27" y="315"/>
                    </a:lnTo>
                    <a:lnTo>
                      <a:pt x="29" y="314"/>
                    </a:lnTo>
                    <a:lnTo>
                      <a:pt x="29" y="312"/>
                    </a:lnTo>
                    <a:lnTo>
                      <a:pt x="29" y="311"/>
                    </a:lnTo>
                    <a:lnTo>
                      <a:pt x="30" y="309"/>
                    </a:lnTo>
                    <a:lnTo>
                      <a:pt x="30" y="306"/>
                    </a:lnTo>
                    <a:lnTo>
                      <a:pt x="32" y="305"/>
                    </a:lnTo>
                    <a:lnTo>
                      <a:pt x="32" y="303"/>
                    </a:lnTo>
                    <a:lnTo>
                      <a:pt x="33" y="301"/>
                    </a:lnTo>
                    <a:lnTo>
                      <a:pt x="33" y="298"/>
                    </a:lnTo>
                    <a:lnTo>
                      <a:pt x="33" y="298"/>
                    </a:lnTo>
                    <a:lnTo>
                      <a:pt x="35" y="297"/>
                    </a:lnTo>
                    <a:lnTo>
                      <a:pt x="36" y="295"/>
                    </a:lnTo>
                    <a:lnTo>
                      <a:pt x="36" y="294"/>
                    </a:lnTo>
                    <a:lnTo>
                      <a:pt x="38" y="291"/>
                    </a:lnTo>
                    <a:lnTo>
                      <a:pt x="38" y="289"/>
                    </a:lnTo>
                    <a:lnTo>
                      <a:pt x="38" y="288"/>
                    </a:lnTo>
                    <a:lnTo>
                      <a:pt x="39" y="286"/>
                    </a:lnTo>
                    <a:lnTo>
                      <a:pt x="39" y="285"/>
                    </a:lnTo>
                    <a:lnTo>
                      <a:pt x="41" y="285"/>
                    </a:lnTo>
                    <a:lnTo>
                      <a:pt x="41" y="283"/>
                    </a:lnTo>
                    <a:lnTo>
                      <a:pt x="41" y="282"/>
                    </a:lnTo>
                    <a:lnTo>
                      <a:pt x="43" y="280"/>
                    </a:lnTo>
                    <a:lnTo>
                      <a:pt x="43" y="279"/>
                    </a:lnTo>
                    <a:lnTo>
                      <a:pt x="43" y="279"/>
                    </a:lnTo>
                    <a:lnTo>
                      <a:pt x="43" y="277"/>
                    </a:lnTo>
                    <a:lnTo>
                      <a:pt x="44" y="275"/>
                    </a:lnTo>
                    <a:lnTo>
                      <a:pt x="44" y="274"/>
                    </a:lnTo>
                    <a:lnTo>
                      <a:pt x="44" y="272"/>
                    </a:lnTo>
                    <a:lnTo>
                      <a:pt x="46" y="272"/>
                    </a:lnTo>
                    <a:lnTo>
                      <a:pt x="46" y="271"/>
                    </a:lnTo>
                    <a:lnTo>
                      <a:pt x="46" y="269"/>
                    </a:lnTo>
                    <a:lnTo>
                      <a:pt x="47" y="268"/>
                    </a:lnTo>
                    <a:lnTo>
                      <a:pt x="47" y="266"/>
                    </a:lnTo>
                    <a:lnTo>
                      <a:pt x="47" y="265"/>
                    </a:lnTo>
                    <a:lnTo>
                      <a:pt x="49" y="263"/>
                    </a:lnTo>
                    <a:lnTo>
                      <a:pt x="49" y="262"/>
                    </a:lnTo>
                    <a:lnTo>
                      <a:pt x="50" y="260"/>
                    </a:lnTo>
                    <a:lnTo>
                      <a:pt x="50" y="257"/>
                    </a:lnTo>
                    <a:lnTo>
                      <a:pt x="52" y="256"/>
                    </a:lnTo>
                    <a:lnTo>
                      <a:pt x="52" y="253"/>
                    </a:lnTo>
                    <a:lnTo>
                      <a:pt x="53" y="251"/>
                    </a:lnTo>
                    <a:lnTo>
                      <a:pt x="53" y="248"/>
                    </a:lnTo>
                    <a:lnTo>
                      <a:pt x="53" y="248"/>
                    </a:lnTo>
                    <a:lnTo>
                      <a:pt x="55" y="246"/>
                    </a:lnTo>
                    <a:lnTo>
                      <a:pt x="56" y="243"/>
                    </a:lnTo>
                    <a:lnTo>
                      <a:pt x="56" y="242"/>
                    </a:lnTo>
                    <a:lnTo>
                      <a:pt x="58" y="239"/>
                    </a:lnTo>
                    <a:lnTo>
                      <a:pt x="58" y="237"/>
                    </a:lnTo>
                    <a:lnTo>
                      <a:pt x="59" y="236"/>
                    </a:lnTo>
                    <a:lnTo>
                      <a:pt x="59" y="234"/>
                    </a:lnTo>
                    <a:lnTo>
                      <a:pt x="61" y="231"/>
                    </a:lnTo>
                    <a:lnTo>
                      <a:pt x="61" y="230"/>
                    </a:lnTo>
                    <a:lnTo>
                      <a:pt x="61" y="228"/>
                    </a:lnTo>
                    <a:lnTo>
                      <a:pt x="62" y="227"/>
                    </a:lnTo>
                    <a:lnTo>
                      <a:pt x="62" y="227"/>
                    </a:lnTo>
                    <a:lnTo>
                      <a:pt x="62" y="225"/>
                    </a:lnTo>
                    <a:lnTo>
                      <a:pt x="64" y="223"/>
                    </a:lnTo>
                    <a:lnTo>
                      <a:pt x="64" y="222"/>
                    </a:lnTo>
                    <a:lnTo>
                      <a:pt x="64" y="220"/>
                    </a:lnTo>
                    <a:lnTo>
                      <a:pt x="65" y="219"/>
                    </a:lnTo>
                    <a:lnTo>
                      <a:pt x="65" y="217"/>
                    </a:lnTo>
                    <a:lnTo>
                      <a:pt x="65" y="216"/>
                    </a:lnTo>
                    <a:lnTo>
                      <a:pt x="65" y="216"/>
                    </a:lnTo>
                    <a:lnTo>
                      <a:pt x="67" y="214"/>
                    </a:lnTo>
                    <a:lnTo>
                      <a:pt x="67" y="213"/>
                    </a:lnTo>
                    <a:lnTo>
                      <a:pt x="67" y="211"/>
                    </a:lnTo>
                    <a:lnTo>
                      <a:pt x="69" y="210"/>
                    </a:lnTo>
                    <a:lnTo>
                      <a:pt x="69" y="208"/>
                    </a:lnTo>
                    <a:lnTo>
                      <a:pt x="69" y="207"/>
                    </a:lnTo>
                    <a:lnTo>
                      <a:pt x="70" y="204"/>
                    </a:lnTo>
                    <a:lnTo>
                      <a:pt x="70" y="202"/>
                    </a:lnTo>
                    <a:lnTo>
                      <a:pt x="72" y="201"/>
                    </a:lnTo>
                    <a:lnTo>
                      <a:pt x="72" y="197"/>
                    </a:lnTo>
                    <a:lnTo>
                      <a:pt x="73" y="196"/>
                    </a:lnTo>
                    <a:lnTo>
                      <a:pt x="73" y="193"/>
                    </a:lnTo>
                    <a:lnTo>
                      <a:pt x="73" y="193"/>
                    </a:lnTo>
                    <a:lnTo>
                      <a:pt x="75" y="190"/>
                    </a:lnTo>
                    <a:lnTo>
                      <a:pt x="75" y="188"/>
                    </a:lnTo>
                    <a:lnTo>
                      <a:pt x="76" y="185"/>
                    </a:lnTo>
                    <a:lnTo>
                      <a:pt x="76" y="184"/>
                    </a:lnTo>
                    <a:lnTo>
                      <a:pt x="76" y="182"/>
                    </a:lnTo>
                    <a:lnTo>
                      <a:pt x="78" y="179"/>
                    </a:lnTo>
                    <a:lnTo>
                      <a:pt x="78" y="178"/>
                    </a:lnTo>
                    <a:lnTo>
                      <a:pt x="78" y="176"/>
                    </a:lnTo>
                    <a:lnTo>
                      <a:pt x="79" y="175"/>
                    </a:lnTo>
                    <a:lnTo>
                      <a:pt x="79" y="173"/>
                    </a:lnTo>
                    <a:lnTo>
                      <a:pt x="79" y="171"/>
                    </a:lnTo>
                    <a:lnTo>
                      <a:pt x="81" y="170"/>
                    </a:lnTo>
                    <a:lnTo>
                      <a:pt x="81" y="168"/>
                    </a:lnTo>
                    <a:lnTo>
                      <a:pt x="81" y="168"/>
                    </a:lnTo>
                    <a:lnTo>
                      <a:pt x="81" y="167"/>
                    </a:lnTo>
                    <a:lnTo>
                      <a:pt x="82" y="165"/>
                    </a:lnTo>
                    <a:lnTo>
                      <a:pt x="82" y="164"/>
                    </a:lnTo>
                    <a:lnTo>
                      <a:pt x="82" y="162"/>
                    </a:lnTo>
                    <a:lnTo>
                      <a:pt x="82" y="161"/>
                    </a:lnTo>
                    <a:lnTo>
                      <a:pt x="84" y="159"/>
                    </a:lnTo>
                    <a:lnTo>
                      <a:pt x="84" y="158"/>
                    </a:lnTo>
                    <a:lnTo>
                      <a:pt x="84" y="158"/>
                    </a:lnTo>
                    <a:lnTo>
                      <a:pt x="85" y="156"/>
                    </a:lnTo>
                    <a:lnTo>
                      <a:pt x="85" y="155"/>
                    </a:lnTo>
                    <a:lnTo>
                      <a:pt x="85" y="152"/>
                    </a:lnTo>
                    <a:lnTo>
                      <a:pt x="87" y="150"/>
                    </a:lnTo>
                    <a:lnTo>
                      <a:pt x="87" y="149"/>
                    </a:lnTo>
                    <a:lnTo>
                      <a:pt x="87" y="147"/>
                    </a:lnTo>
                    <a:lnTo>
                      <a:pt x="88" y="144"/>
                    </a:lnTo>
                    <a:lnTo>
                      <a:pt x="88" y="142"/>
                    </a:lnTo>
                    <a:lnTo>
                      <a:pt x="90" y="139"/>
                    </a:lnTo>
                    <a:lnTo>
                      <a:pt x="90" y="138"/>
                    </a:lnTo>
                    <a:lnTo>
                      <a:pt x="90" y="138"/>
                    </a:lnTo>
                    <a:lnTo>
                      <a:pt x="91" y="135"/>
                    </a:lnTo>
                    <a:lnTo>
                      <a:pt x="91" y="133"/>
                    </a:lnTo>
                    <a:lnTo>
                      <a:pt x="93" y="130"/>
                    </a:lnTo>
                    <a:lnTo>
                      <a:pt x="93" y="129"/>
                    </a:lnTo>
                    <a:lnTo>
                      <a:pt x="94" y="127"/>
                    </a:lnTo>
                    <a:lnTo>
                      <a:pt x="94" y="124"/>
                    </a:lnTo>
                    <a:lnTo>
                      <a:pt x="94" y="123"/>
                    </a:lnTo>
                    <a:lnTo>
                      <a:pt x="96" y="121"/>
                    </a:lnTo>
                    <a:lnTo>
                      <a:pt x="96" y="120"/>
                    </a:lnTo>
                    <a:lnTo>
                      <a:pt x="96" y="118"/>
                    </a:lnTo>
                    <a:lnTo>
                      <a:pt x="96" y="116"/>
                    </a:lnTo>
                    <a:lnTo>
                      <a:pt x="98" y="115"/>
                    </a:lnTo>
                    <a:lnTo>
                      <a:pt x="98" y="113"/>
                    </a:lnTo>
                    <a:lnTo>
                      <a:pt x="98" y="113"/>
                    </a:lnTo>
                    <a:lnTo>
                      <a:pt x="98" y="112"/>
                    </a:lnTo>
                    <a:lnTo>
                      <a:pt x="98" y="110"/>
                    </a:lnTo>
                    <a:lnTo>
                      <a:pt x="98" y="109"/>
                    </a:lnTo>
                    <a:lnTo>
                      <a:pt x="99" y="107"/>
                    </a:lnTo>
                    <a:lnTo>
                      <a:pt x="99" y="107"/>
                    </a:lnTo>
                    <a:lnTo>
                      <a:pt x="99" y="106"/>
                    </a:lnTo>
                    <a:lnTo>
                      <a:pt x="99" y="104"/>
                    </a:lnTo>
                    <a:lnTo>
                      <a:pt x="99" y="103"/>
                    </a:lnTo>
                    <a:lnTo>
                      <a:pt x="99" y="101"/>
                    </a:lnTo>
                    <a:lnTo>
                      <a:pt x="99" y="100"/>
                    </a:lnTo>
                    <a:lnTo>
                      <a:pt x="99" y="98"/>
                    </a:lnTo>
                    <a:lnTo>
                      <a:pt x="99" y="97"/>
                    </a:lnTo>
                    <a:lnTo>
                      <a:pt x="101" y="95"/>
                    </a:lnTo>
                    <a:lnTo>
                      <a:pt x="101" y="94"/>
                    </a:lnTo>
                    <a:lnTo>
                      <a:pt x="101" y="92"/>
                    </a:lnTo>
                    <a:lnTo>
                      <a:pt x="101" y="90"/>
                    </a:lnTo>
                    <a:lnTo>
                      <a:pt x="101" y="87"/>
                    </a:lnTo>
                    <a:lnTo>
                      <a:pt x="101" y="86"/>
                    </a:lnTo>
                    <a:lnTo>
                      <a:pt x="101" y="86"/>
                    </a:lnTo>
                    <a:lnTo>
                      <a:pt x="101" y="84"/>
                    </a:lnTo>
                    <a:lnTo>
                      <a:pt x="101" y="81"/>
                    </a:lnTo>
                    <a:lnTo>
                      <a:pt x="101" y="80"/>
                    </a:lnTo>
                    <a:lnTo>
                      <a:pt x="102" y="78"/>
                    </a:lnTo>
                    <a:lnTo>
                      <a:pt x="102" y="77"/>
                    </a:lnTo>
                    <a:lnTo>
                      <a:pt x="102" y="75"/>
                    </a:lnTo>
                    <a:lnTo>
                      <a:pt x="102" y="74"/>
                    </a:lnTo>
                    <a:lnTo>
                      <a:pt x="102" y="72"/>
                    </a:lnTo>
                    <a:lnTo>
                      <a:pt x="102" y="71"/>
                    </a:lnTo>
                    <a:lnTo>
                      <a:pt x="102" y="69"/>
                    </a:lnTo>
                    <a:lnTo>
                      <a:pt x="102" y="68"/>
                    </a:lnTo>
                    <a:lnTo>
                      <a:pt x="102" y="68"/>
                    </a:lnTo>
                    <a:lnTo>
                      <a:pt x="102" y="66"/>
                    </a:lnTo>
                    <a:lnTo>
                      <a:pt x="102" y="64"/>
                    </a:lnTo>
                    <a:lnTo>
                      <a:pt x="102" y="64"/>
                    </a:lnTo>
                    <a:lnTo>
                      <a:pt x="104" y="63"/>
                    </a:lnTo>
                    <a:lnTo>
                      <a:pt x="104" y="63"/>
                    </a:lnTo>
                    <a:lnTo>
                      <a:pt x="104" y="61"/>
                    </a:lnTo>
                    <a:lnTo>
                      <a:pt x="104" y="61"/>
                    </a:lnTo>
                    <a:lnTo>
                      <a:pt x="104" y="60"/>
                    </a:lnTo>
                    <a:lnTo>
                      <a:pt x="104" y="58"/>
                    </a:lnTo>
                    <a:lnTo>
                      <a:pt x="104" y="58"/>
                    </a:lnTo>
                    <a:lnTo>
                      <a:pt x="104" y="57"/>
                    </a:lnTo>
                    <a:lnTo>
                      <a:pt x="104" y="57"/>
                    </a:lnTo>
                    <a:lnTo>
                      <a:pt x="104" y="55"/>
                    </a:lnTo>
                    <a:lnTo>
                      <a:pt x="104" y="54"/>
                    </a:lnTo>
                    <a:lnTo>
                      <a:pt x="105" y="54"/>
                    </a:lnTo>
                    <a:lnTo>
                      <a:pt x="105" y="52"/>
                    </a:lnTo>
                    <a:lnTo>
                      <a:pt x="105" y="51"/>
                    </a:lnTo>
                    <a:lnTo>
                      <a:pt x="105" y="51"/>
                    </a:lnTo>
                    <a:lnTo>
                      <a:pt x="105" y="49"/>
                    </a:lnTo>
                    <a:lnTo>
                      <a:pt x="105" y="48"/>
                    </a:lnTo>
                    <a:lnTo>
                      <a:pt x="105" y="48"/>
                    </a:lnTo>
                    <a:lnTo>
                      <a:pt x="105" y="46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43"/>
                    </a:lnTo>
                    <a:lnTo>
                      <a:pt x="107" y="42"/>
                    </a:lnTo>
                    <a:lnTo>
                      <a:pt x="107" y="42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7" y="38"/>
                    </a:lnTo>
                    <a:lnTo>
                      <a:pt x="107" y="37"/>
                    </a:lnTo>
                    <a:lnTo>
                      <a:pt x="108" y="35"/>
                    </a:lnTo>
                    <a:lnTo>
                      <a:pt x="108" y="35"/>
                    </a:lnTo>
                    <a:lnTo>
                      <a:pt x="108" y="34"/>
                    </a:lnTo>
                    <a:lnTo>
                      <a:pt x="108" y="34"/>
                    </a:lnTo>
                    <a:lnTo>
                      <a:pt x="108" y="32"/>
                    </a:lnTo>
                    <a:lnTo>
                      <a:pt x="108" y="31"/>
                    </a:lnTo>
                    <a:lnTo>
                      <a:pt x="108" y="29"/>
                    </a:lnTo>
                    <a:lnTo>
                      <a:pt x="108" y="29"/>
                    </a:lnTo>
                    <a:lnTo>
                      <a:pt x="108" y="28"/>
                    </a:lnTo>
                    <a:lnTo>
                      <a:pt x="108" y="26"/>
                    </a:lnTo>
                    <a:lnTo>
                      <a:pt x="108" y="25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8" y="20"/>
                    </a:lnTo>
                    <a:lnTo>
                      <a:pt x="107" y="19"/>
                    </a:lnTo>
                    <a:lnTo>
                      <a:pt x="107" y="16"/>
                    </a:lnTo>
                    <a:lnTo>
                      <a:pt x="107" y="14"/>
                    </a:lnTo>
                    <a:lnTo>
                      <a:pt x="107" y="11"/>
                    </a:lnTo>
                    <a:lnTo>
                      <a:pt x="107" y="9"/>
                    </a:lnTo>
                    <a:lnTo>
                      <a:pt x="107" y="6"/>
                    </a:lnTo>
                    <a:lnTo>
                      <a:pt x="107" y="3"/>
                    </a:lnTo>
                    <a:lnTo>
                      <a:pt x="107" y="0"/>
                    </a:lnTo>
                    <a:lnTo>
                      <a:pt x="0" y="366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82"/>
              <p:cNvSpPr>
                <a:spLocks/>
              </p:cNvSpPr>
              <p:nvPr/>
            </p:nvSpPr>
            <p:spPr bwMode="auto">
              <a:xfrm>
                <a:off x="3403" y="2768"/>
                <a:ext cx="55" cy="183"/>
              </a:xfrm>
              <a:custGeom>
                <a:avLst/>
                <a:gdLst>
                  <a:gd name="T0" fmla="*/ 6 w 108"/>
                  <a:gd name="T1" fmla="*/ 355 h 366"/>
                  <a:gd name="T2" fmla="*/ 12 w 108"/>
                  <a:gd name="T3" fmla="*/ 343 h 366"/>
                  <a:gd name="T4" fmla="*/ 18 w 108"/>
                  <a:gd name="T5" fmla="*/ 334 h 366"/>
                  <a:gd name="T6" fmla="*/ 21 w 108"/>
                  <a:gd name="T7" fmla="*/ 326 h 366"/>
                  <a:gd name="T8" fmla="*/ 24 w 108"/>
                  <a:gd name="T9" fmla="*/ 320 h 366"/>
                  <a:gd name="T10" fmla="*/ 27 w 108"/>
                  <a:gd name="T11" fmla="*/ 315 h 366"/>
                  <a:gd name="T12" fmla="*/ 30 w 108"/>
                  <a:gd name="T13" fmla="*/ 309 h 366"/>
                  <a:gd name="T14" fmla="*/ 33 w 108"/>
                  <a:gd name="T15" fmla="*/ 301 h 366"/>
                  <a:gd name="T16" fmla="*/ 36 w 108"/>
                  <a:gd name="T17" fmla="*/ 295 h 366"/>
                  <a:gd name="T18" fmla="*/ 38 w 108"/>
                  <a:gd name="T19" fmla="*/ 288 h 366"/>
                  <a:gd name="T20" fmla="*/ 41 w 108"/>
                  <a:gd name="T21" fmla="*/ 283 h 366"/>
                  <a:gd name="T22" fmla="*/ 43 w 108"/>
                  <a:gd name="T23" fmla="*/ 279 h 366"/>
                  <a:gd name="T24" fmla="*/ 44 w 108"/>
                  <a:gd name="T25" fmla="*/ 272 h 366"/>
                  <a:gd name="T26" fmla="*/ 47 w 108"/>
                  <a:gd name="T27" fmla="*/ 268 h 366"/>
                  <a:gd name="T28" fmla="*/ 49 w 108"/>
                  <a:gd name="T29" fmla="*/ 262 h 366"/>
                  <a:gd name="T30" fmla="*/ 52 w 108"/>
                  <a:gd name="T31" fmla="*/ 253 h 366"/>
                  <a:gd name="T32" fmla="*/ 55 w 108"/>
                  <a:gd name="T33" fmla="*/ 246 h 366"/>
                  <a:gd name="T34" fmla="*/ 58 w 108"/>
                  <a:gd name="T35" fmla="*/ 237 h 366"/>
                  <a:gd name="T36" fmla="*/ 61 w 108"/>
                  <a:gd name="T37" fmla="*/ 230 h 366"/>
                  <a:gd name="T38" fmla="*/ 62 w 108"/>
                  <a:gd name="T39" fmla="*/ 225 h 366"/>
                  <a:gd name="T40" fmla="*/ 65 w 108"/>
                  <a:gd name="T41" fmla="*/ 219 h 366"/>
                  <a:gd name="T42" fmla="*/ 67 w 108"/>
                  <a:gd name="T43" fmla="*/ 214 h 366"/>
                  <a:gd name="T44" fmla="*/ 69 w 108"/>
                  <a:gd name="T45" fmla="*/ 208 h 366"/>
                  <a:gd name="T46" fmla="*/ 72 w 108"/>
                  <a:gd name="T47" fmla="*/ 201 h 366"/>
                  <a:gd name="T48" fmla="*/ 73 w 108"/>
                  <a:gd name="T49" fmla="*/ 193 h 366"/>
                  <a:gd name="T50" fmla="*/ 76 w 108"/>
                  <a:gd name="T51" fmla="*/ 184 h 366"/>
                  <a:gd name="T52" fmla="*/ 78 w 108"/>
                  <a:gd name="T53" fmla="*/ 176 h 366"/>
                  <a:gd name="T54" fmla="*/ 81 w 108"/>
                  <a:gd name="T55" fmla="*/ 170 h 366"/>
                  <a:gd name="T56" fmla="*/ 82 w 108"/>
                  <a:gd name="T57" fmla="*/ 165 h 366"/>
                  <a:gd name="T58" fmla="*/ 84 w 108"/>
                  <a:gd name="T59" fmla="*/ 159 h 366"/>
                  <a:gd name="T60" fmla="*/ 85 w 108"/>
                  <a:gd name="T61" fmla="*/ 155 h 366"/>
                  <a:gd name="T62" fmla="*/ 87 w 108"/>
                  <a:gd name="T63" fmla="*/ 147 h 366"/>
                  <a:gd name="T64" fmla="*/ 90 w 108"/>
                  <a:gd name="T65" fmla="*/ 138 h 366"/>
                  <a:gd name="T66" fmla="*/ 93 w 108"/>
                  <a:gd name="T67" fmla="*/ 130 h 366"/>
                  <a:gd name="T68" fmla="*/ 94 w 108"/>
                  <a:gd name="T69" fmla="*/ 123 h 366"/>
                  <a:gd name="T70" fmla="*/ 96 w 108"/>
                  <a:gd name="T71" fmla="*/ 116 h 366"/>
                  <a:gd name="T72" fmla="*/ 98 w 108"/>
                  <a:gd name="T73" fmla="*/ 112 h 366"/>
                  <a:gd name="T74" fmla="*/ 99 w 108"/>
                  <a:gd name="T75" fmla="*/ 107 h 366"/>
                  <a:gd name="T76" fmla="*/ 99 w 108"/>
                  <a:gd name="T77" fmla="*/ 101 h 366"/>
                  <a:gd name="T78" fmla="*/ 101 w 108"/>
                  <a:gd name="T79" fmla="*/ 95 h 366"/>
                  <a:gd name="T80" fmla="*/ 101 w 108"/>
                  <a:gd name="T81" fmla="*/ 87 h 366"/>
                  <a:gd name="T82" fmla="*/ 101 w 108"/>
                  <a:gd name="T83" fmla="*/ 81 h 366"/>
                  <a:gd name="T84" fmla="*/ 102 w 108"/>
                  <a:gd name="T85" fmla="*/ 75 h 366"/>
                  <a:gd name="T86" fmla="*/ 102 w 108"/>
                  <a:gd name="T87" fmla="*/ 69 h 366"/>
                  <a:gd name="T88" fmla="*/ 102 w 108"/>
                  <a:gd name="T89" fmla="*/ 64 h 366"/>
                  <a:gd name="T90" fmla="*/ 104 w 108"/>
                  <a:gd name="T91" fmla="*/ 61 h 366"/>
                  <a:gd name="T92" fmla="*/ 104 w 108"/>
                  <a:gd name="T93" fmla="*/ 58 h 366"/>
                  <a:gd name="T94" fmla="*/ 104 w 108"/>
                  <a:gd name="T95" fmla="*/ 54 h 366"/>
                  <a:gd name="T96" fmla="*/ 105 w 108"/>
                  <a:gd name="T97" fmla="*/ 51 h 366"/>
                  <a:gd name="T98" fmla="*/ 105 w 108"/>
                  <a:gd name="T99" fmla="*/ 46 h 366"/>
                  <a:gd name="T100" fmla="*/ 107 w 108"/>
                  <a:gd name="T101" fmla="*/ 42 h 366"/>
                  <a:gd name="T102" fmla="*/ 107 w 108"/>
                  <a:gd name="T103" fmla="*/ 38 h 366"/>
                  <a:gd name="T104" fmla="*/ 108 w 108"/>
                  <a:gd name="T105" fmla="*/ 34 h 366"/>
                  <a:gd name="T106" fmla="*/ 108 w 108"/>
                  <a:gd name="T107" fmla="*/ 29 h 366"/>
                  <a:gd name="T108" fmla="*/ 108 w 108"/>
                  <a:gd name="T109" fmla="*/ 25 h 366"/>
                  <a:gd name="T110" fmla="*/ 107 w 108"/>
                  <a:gd name="T111" fmla="*/ 19 h 366"/>
                  <a:gd name="T112" fmla="*/ 107 w 108"/>
                  <a:gd name="T113" fmla="*/ 9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8" h="366">
                    <a:moveTo>
                      <a:pt x="0" y="366"/>
                    </a:moveTo>
                    <a:lnTo>
                      <a:pt x="1" y="361"/>
                    </a:lnTo>
                    <a:lnTo>
                      <a:pt x="4" y="358"/>
                    </a:lnTo>
                    <a:lnTo>
                      <a:pt x="6" y="355"/>
                    </a:lnTo>
                    <a:lnTo>
                      <a:pt x="7" y="352"/>
                    </a:lnTo>
                    <a:lnTo>
                      <a:pt x="9" y="349"/>
                    </a:lnTo>
                    <a:lnTo>
                      <a:pt x="10" y="346"/>
                    </a:lnTo>
                    <a:lnTo>
                      <a:pt x="12" y="343"/>
                    </a:lnTo>
                    <a:lnTo>
                      <a:pt x="13" y="340"/>
                    </a:lnTo>
                    <a:lnTo>
                      <a:pt x="15" y="338"/>
                    </a:lnTo>
                    <a:lnTo>
                      <a:pt x="17" y="335"/>
                    </a:lnTo>
                    <a:lnTo>
                      <a:pt x="18" y="334"/>
                    </a:lnTo>
                    <a:lnTo>
                      <a:pt x="18" y="332"/>
                    </a:lnTo>
                    <a:lnTo>
                      <a:pt x="20" y="329"/>
                    </a:lnTo>
                    <a:lnTo>
                      <a:pt x="21" y="327"/>
                    </a:lnTo>
                    <a:lnTo>
                      <a:pt x="21" y="326"/>
                    </a:lnTo>
                    <a:lnTo>
                      <a:pt x="23" y="324"/>
                    </a:lnTo>
                    <a:lnTo>
                      <a:pt x="23" y="323"/>
                    </a:lnTo>
                    <a:lnTo>
                      <a:pt x="24" y="321"/>
                    </a:lnTo>
                    <a:lnTo>
                      <a:pt x="24" y="320"/>
                    </a:lnTo>
                    <a:lnTo>
                      <a:pt x="26" y="318"/>
                    </a:lnTo>
                    <a:lnTo>
                      <a:pt x="26" y="317"/>
                    </a:lnTo>
                    <a:lnTo>
                      <a:pt x="27" y="315"/>
                    </a:lnTo>
                    <a:lnTo>
                      <a:pt x="27" y="315"/>
                    </a:lnTo>
                    <a:lnTo>
                      <a:pt x="29" y="314"/>
                    </a:lnTo>
                    <a:lnTo>
                      <a:pt x="29" y="312"/>
                    </a:lnTo>
                    <a:lnTo>
                      <a:pt x="29" y="311"/>
                    </a:lnTo>
                    <a:lnTo>
                      <a:pt x="30" y="309"/>
                    </a:lnTo>
                    <a:lnTo>
                      <a:pt x="30" y="306"/>
                    </a:lnTo>
                    <a:lnTo>
                      <a:pt x="32" y="305"/>
                    </a:lnTo>
                    <a:lnTo>
                      <a:pt x="32" y="303"/>
                    </a:lnTo>
                    <a:lnTo>
                      <a:pt x="33" y="301"/>
                    </a:lnTo>
                    <a:lnTo>
                      <a:pt x="33" y="298"/>
                    </a:lnTo>
                    <a:lnTo>
                      <a:pt x="33" y="298"/>
                    </a:lnTo>
                    <a:lnTo>
                      <a:pt x="35" y="297"/>
                    </a:lnTo>
                    <a:lnTo>
                      <a:pt x="36" y="295"/>
                    </a:lnTo>
                    <a:lnTo>
                      <a:pt x="36" y="294"/>
                    </a:lnTo>
                    <a:lnTo>
                      <a:pt x="38" y="291"/>
                    </a:lnTo>
                    <a:lnTo>
                      <a:pt x="38" y="289"/>
                    </a:lnTo>
                    <a:lnTo>
                      <a:pt x="38" y="288"/>
                    </a:lnTo>
                    <a:lnTo>
                      <a:pt x="39" y="286"/>
                    </a:lnTo>
                    <a:lnTo>
                      <a:pt x="39" y="285"/>
                    </a:lnTo>
                    <a:lnTo>
                      <a:pt x="41" y="285"/>
                    </a:lnTo>
                    <a:lnTo>
                      <a:pt x="41" y="283"/>
                    </a:lnTo>
                    <a:lnTo>
                      <a:pt x="41" y="282"/>
                    </a:lnTo>
                    <a:lnTo>
                      <a:pt x="43" y="280"/>
                    </a:lnTo>
                    <a:lnTo>
                      <a:pt x="43" y="279"/>
                    </a:lnTo>
                    <a:lnTo>
                      <a:pt x="43" y="279"/>
                    </a:lnTo>
                    <a:lnTo>
                      <a:pt x="43" y="277"/>
                    </a:lnTo>
                    <a:lnTo>
                      <a:pt x="44" y="275"/>
                    </a:lnTo>
                    <a:lnTo>
                      <a:pt x="44" y="274"/>
                    </a:lnTo>
                    <a:lnTo>
                      <a:pt x="44" y="272"/>
                    </a:lnTo>
                    <a:lnTo>
                      <a:pt x="46" y="272"/>
                    </a:lnTo>
                    <a:lnTo>
                      <a:pt x="46" y="271"/>
                    </a:lnTo>
                    <a:lnTo>
                      <a:pt x="46" y="269"/>
                    </a:lnTo>
                    <a:lnTo>
                      <a:pt x="47" y="268"/>
                    </a:lnTo>
                    <a:lnTo>
                      <a:pt x="47" y="266"/>
                    </a:lnTo>
                    <a:lnTo>
                      <a:pt x="47" y="265"/>
                    </a:lnTo>
                    <a:lnTo>
                      <a:pt x="49" y="263"/>
                    </a:lnTo>
                    <a:lnTo>
                      <a:pt x="49" y="262"/>
                    </a:lnTo>
                    <a:lnTo>
                      <a:pt x="50" y="260"/>
                    </a:lnTo>
                    <a:lnTo>
                      <a:pt x="50" y="257"/>
                    </a:lnTo>
                    <a:lnTo>
                      <a:pt x="52" y="256"/>
                    </a:lnTo>
                    <a:lnTo>
                      <a:pt x="52" y="253"/>
                    </a:lnTo>
                    <a:lnTo>
                      <a:pt x="53" y="251"/>
                    </a:lnTo>
                    <a:lnTo>
                      <a:pt x="53" y="248"/>
                    </a:lnTo>
                    <a:lnTo>
                      <a:pt x="53" y="248"/>
                    </a:lnTo>
                    <a:lnTo>
                      <a:pt x="55" y="246"/>
                    </a:lnTo>
                    <a:lnTo>
                      <a:pt x="56" y="243"/>
                    </a:lnTo>
                    <a:lnTo>
                      <a:pt x="56" y="242"/>
                    </a:lnTo>
                    <a:lnTo>
                      <a:pt x="58" y="239"/>
                    </a:lnTo>
                    <a:lnTo>
                      <a:pt x="58" y="237"/>
                    </a:lnTo>
                    <a:lnTo>
                      <a:pt x="59" y="236"/>
                    </a:lnTo>
                    <a:lnTo>
                      <a:pt x="59" y="234"/>
                    </a:lnTo>
                    <a:lnTo>
                      <a:pt x="61" y="231"/>
                    </a:lnTo>
                    <a:lnTo>
                      <a:pt x="61" y="230"/>
                    </a:lnTo>
                    <a:lnTo>
                      <a:pt x="61" y="228"/>
                    </a:lnTo>
                    <a:lnTo>
                      <a:pt x="62" y="227"/>
                    </a:lnTo>
                    <a:lnTo>
                      <a:pt x="62" y="227"/>
                    </a:lnTo>
                    <a:lnTo>
                      <a:pt x="62" y="225"/>
                    </a:lnTo>
                    <a:lnTo>
                      <a:pt x="64" y="223"/>
                    </a:lnTo>
                    <a:lnTo>
                      <a:pt x="64" y="222"/>
                    </a:lnTo>
                    <a:lnTo>
                      <a:pt x="64" y="220"/>
                    </a:lnTo>
                    <a:lnTo>
                      <a:pt x="65" y="219"/>
                    </a:lnTo>
                    <a:lnTo>
                      <a:pt x="65" y="217"/>
                    </a:lnTo>
                    <a:lnTo>
                      <a:pt x="65" y="216"/>
                    </a:lnTo>
                    <a:lnTo>
                      <a:pt x="65" y="216"/>
                    </a:lnTo>
                    <a:lnTo>
                      <a:pt x="67" y="214"/>
                    </a:lnTo>
                    <a:lnTo>
                      <a:pt x="67" y="213"/>
                    </a:lnTo>
                    <a:lnTo>
                      <a:pt x="67" y="211"/>
                    </a:lnTo>
                    <a:lnTo>
                      <a:pt x="69" y="210"/>
                    </a:lnTo>
                    <a:lnTo>
                      <a:pt x="69" y="208"/>
                    </a:lnTo>
                    <a:lnTo>
                      <a:pt x="69" y="207"/>
                    </a:lnTo>
                    <a:lnTo>
                      <a:pt x="70" y="204"/>
                    </a:lnTo>
                    <a:lnTo>
                      <a:pt x="70" y="202"/>
                    </a:lnTo>
                    <a:lnTo>
                      <a:pt x="72" y="201"/>
                    </a:lnTo>
                    <a:lnTo>
                      <a:pt x="72" y="197"/>
                    </a:lnTo>
                    <a:lnTo>
                      <a:pt x="73" y="196"/>
                    </a:lnTo>
                    <a:lnTo>
                      <a:pt x="73" y="193"/>
                    </a:lnTo>
                    <a:lnTo>
                      <a:pt x="73" y="193"/>
                    </a:lnTo>
                    <a:lnTo>
                      <a:pt x="75" y="190"/>
                    </a:lnTo>
                    <a:lnTo>
                      <a:pt x="75" y="188"/>
                    </a:lnTo>
                    <a:lnTo>
                      <a:pt x="76" y="185"/>
                    </a:lnTo>
                    <a:lnTo>
                      <a:pt x="76" y="184"/>
                    </a:lnTo>
                    <a:lnTo>
                      <a:pt x="76" y="182"/>
                    </a:lnTo>
                    <a:lnTo>
                      <a:pt x="78" y="179"/>
                    </a:lnTo>
                    <a:lnTo>
                      <a:pt x="78" y="178"/>
                    </a:lnTo>
                    <a:lnTo>
                      <a:pt x="78" y="176"/>
                    </a:lnTo>
                    <a:lnTo>
                      <a:pt x="79" y="175"/>
                    </a:lnTo>
                    <a:lnTo>
                      <a:pt x="79" y="173"/>
                    </a:lnTo>
                    <a:lnTo>
                      <a:pt x="79" y="171"/>
                    </a:lnTo>
                    <a:lnTo>
                      <a:pt x="81" y="170"/>
                    </a:lnTo>
                    <a:lnTo>
                      <a:pt x="81" y="168"/>
                    </a:lnTo>
                    <a:lnTo>
                      <a:pt x="81" y="168"/>
                    </a:lnTo>
                    <a:lnTo>
                      <a:pt x="81" y="167"/>
                    </a:lnTo>
                    <a:lnTo>
                      <a:pt x="82" y="165"/>
                    </a:lnTo>
                    <a:lnTo>
                      <a:pt x="82" y="164"/>
                    </a:lnTo>
                    <a:lnTo>
                      <a:pt x="82" y="162"/>
                    </a:lnTo>
                    <a:lnTo>
                      <a:pt x="82" y="161"/>
                    </a:lnTo>
                    <a:lnTo>
                      <a:pt x="84" y="159"/>
                    </a:lnTo>
                    <a:lnTo>
                      <a:pt x="84" y="158"/>
                    </a:lnTo>
                    <a:lnTo>
                      <a:pt x="84" y="158"/>
                    </a:lnTo>
                    <a:lnTo>
                      <a:pt x="85" y="156"/>
                    </a:lnTo>
                    <a:lnTo>
                      <a:pt x="85" y="155"/>
                    </a:lnTo>
                    <a:lnTo>
                      <a:pt x="85" y="152"/>
                    </a:lnTo>
                    <a:lnTo>
                      <a:pt x="87" y="150"/>
                    </a:lnTo>
                    <a:lnTo>
                      <a:pt x="87" y="149"/>
                    </a:lnTo>
                    <a:lnTo>
                      <a:pt x="87" y="147"/>
                    </a:lnTo>
                    <a:lnTo>
                      <a:pt x="88" y="144"/>
                    </a:lnTo>
                    <a:lnTo>
                      <a:pt x="88" y="142"/>
                    </a:lnTo>
                    <a:lnTo>
                      <a:pt x="90" y="139"/>
                    </a:lnTo>
                    <a:lnTo>
                      <a:pt x="90" y="138"/>
                    </a:lnTo>
                    <a:lnTo>
                      <a:pt x="90" y="138"/>
                    </a:lnTo>
                    <a:lnTo>
                      <a:pt x="91" y="135"/>
                    </a:lnTo>
                    <a:lnTo>
                      <a:pt x="91" y="133"/>
                    </a:lnTo>
                    <a:lnTo>
                      <a:pt x="93" y="130"/>
                    </a:lnTo>
                    <a:lnTo>
                      <a:pt x="93" y="129"/>
                    </a:lnTo>
                    <a:lnTo>
                      <a:pt x="94" y="127"/>
                    </a:lnTo>
                    <a:lnTo>
                      <a:pt x="94" y="124"/>
                    </a:lnTo>
                    <a:lnTo>
                      <a:pt x="94" y="123"/>
                    </a:lnTo>
                    <a:lnTo>
                      <a:pt x="96" y="121"/>
                    </a:lnTo>
                    <a:lnTo>
                      <a:pt x="96" y="120"/>
                    </a:lnTo>
                    <a:lnTo>
                      <a:pt x="96" y="118"/>
                    </a:lnTo>
                    <a:lnTo>
                      <a:pt x="96" y="116"/>
                    </a:lnTo>
                    <a:lnTo>
                      <a:pt x="98" y="115"/>
                    </a:lnTo>
                    <a:lnTo>
                      <a:pt x="98" y="113"/>
                    </a:lnTo>
                    <a:lnTo>
                      <a:pt x="98" y="113"/>
                    </a:lnTo>
                    <a:lnTo>
                      <a:pt x="98" y="112"/>
                    </a:lnTo>
                    <a:lnTo>
                      <a:pt x="98" y="110"/>
                    </a:lnTo>
                    <a:lnTo>
                      <a:pt x="98" y="109"/>
                    </a:lnTo>
                    <a:lnTo>
                      <a:pt x="99" y="107"/>
                    </a:lnTo>
                    <a:lnTo>
                      <a:pt x="99" y="107"/>
                    </a:lnTo>
                    <a:lnTo>
                      <a:pt x="99" y="106"/>
                    </a:lnTo>
                    <a:lnTo>
                      <a:pt x="99" y="104"/>
                    </a:lnTo>
                    <a:lnTo>
                      <a:pt x="99" y="103"/>
                    </a:lnTo>
                    <a:lnTo>
                      <a:pt x="99" y="101"/>
                    </a:lnTo>
                    <a:lnTo>
                      <a:pt x="99" y="100"/>
                    </a:lnTo>
                    <a:lnTo>
                      <a:pt x="99" y="98"/>
                    </a:lnTo>
                    <a:lnTo>
                      <a:pt x="99" y="97"/>
                    </a:lnTo>
                    <a:lnTo>
                      <a:pt x="101" y="95"/>
                    </a:lnTo>
                    <a:lnTo>
                      <a:pt x="101" y="94"/>
                    </a:lnTo>
                    <a:lnTo>
                      <a:pt x="101" y="92"/>
                    </a:lnTo>
                    <a:lnTo>
                      <a:pt x="101" y="90"/>
                    </a:lnTo>
                    <a:lnTo>
                      <a:pt x="101" y="87"/>
                    </a:lnTo>
                    <a:lnTo>
                      <a:pt x="101" y="86"/>
                    </a:lnTo>
                    <a:lnTo>
                      <a:pt x="101" y="86"/>
                    </a:lnTo>
                    <a:lnTo>
                      <a:pt x="101" y="84"/>
                    </a:lnTo>
                    <a:lnTo>
                      <a:pt x="101" y="81"/>
                    </a:lnTo>
                    <a:lnTo>
                      <a:pt x="101" y="80"/>
                    </a:lnTo>
                    <a:lnTo>
                      <a:pt x="102" y="78"/>
                    </a:lnTo>
                    <a:lnTo>
                      <a:pt x="102" y="77"/>
                    </a:lnTo>
                    <a:lnTo>
                      <a:pt x="102" y="75"/>
                    </a:lnTo>
                    <a:lnTo>
                      <a:pt x="102" y="74"/>
                    </a:lnTo>
                    <a:lnTo>
                      <a:pt x="102" y="72"/>
                    </a:lnTo>
                    <a:lnTo>
                      <a:pt x="102" y="71"/>
                    </a:lnTo>
                    <a:lnTo>
                      <a:pt x="102" y="69"/>
                    </a:lnTo>
                    <a:lnTo>
                      <a:pt x="102" y="68"/>
                    </a:lnTo>
                    <a:lnTo>
                      <a:pt x="102" y="68"/>
                    </a:lnTo>
                    <a:lnTo>
                      <a:pt x="102" y="66"/>
                    </a:lnTo>
                    <a:lnTo>
                      <a:pt x="102" y="64"/>
                    </a:lnTo>
                    <a:lnTo>
                      <a:pt x="102" y="64"/>
                    </a:lnTo>
                    <a:lnTo>
                      <a:pt x="104" y="63"/>
                    </a:lnTo>
                    <a:lnTo>
                      <a:pt x="104" y="63"/>
                    </a:lnTo>
                    <a:lnTo>
                      <a:pt x="104" y="61"/>
                    </a:lnTo>
                    <a:lnTo>
                      <a:pt x="104" y="61"/>
                    </a:lnTo>
                    <a:lnTo>
                      <a:pt x="104" y="60"/>
                    </a:lnTo>
                    <a:lnTo>
                      <a:pt x="104" y="58"/>
                    </a:lnTo>
                    <a:lnTo>
                      <a:pt x="104" y="58"/>
                    </a:lnTo>
                    <a:lnTo>
                      <a:pt x="104" y="57"/>
                    </a:lnTo>
                    <a:lnTo>
                      <a:pt x="104" y="57"/>
                    </a:lnTo>
                    <a:lnTo>
                      <a:pt x="104" y="55"/>
                    </a:lnTo>
                    <a:lnTo>
                      <a:pt x="104" y="54"/>
                    </a:lnTo>
                    <a:lnTo>
                      <a:pt x="105" y="54"/>
                    </a:lnTo>
                    <a:lnTo>
                      <a:pt x="105" y="52"/>
                    </a:lnTo>
                    <a:lnTo>
                      <a:pt x="105" y="51"/>
                    </a:lnTo>
                    <a:lnTo>
                      <a:pt x="105" y="51"/>
                    </a:lnTo>
                    <a:lnTo>
                      <a:pt x="105" y="49"/>
                    </a:lnTo>
                    <a:lnTo>
                      <a:pt x="105" y="48"/>
                    </a:lnTo>
                    <a:lnTo>
                      <a:pt x="105" y="48"/>
                    </a:lnTo>
                    <a:lnTo>
                      <a:pt x="105" y="46"/>
                    </a:lnTo>
                    <a:lnTo>
                      <a:pt x="107" y="45"/>
                    </a:lnTo>
                    <a:lnTo>
                      <a:pt x="107" y="45"/>
                    </a:lnTo>
                    <a:lnTo>
                      <a:pt x="107" y="43"/>
                    </a:lnTo>
                    <a:lnTo>
                      <a:pt x="107" y="42"/>
                    </a:lnTo>
                    <a:lnTo>
                      <a:pt x="107" y="42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7" y="38"/>
                    </a:lnTo>
                    <a:lnTo>
                      <a:pt x="107" y="37"/>
                    </a:lnTo>
                    <a:lnTo>
                      <a:pt x="108" y="35"/>
                    </a:lnTo>
                    <a:lnTo>
                      <a:pt x="108" y="35"/>
                    </a:lnTo>
                    <a:lnTo>
                      <a:pt x="108" y="34"/>
                    </a:lnTo>
                    <a:lnTo>
                      <a:pt x="108" y="34"/>
                    </a:lnTo>
                    <a:lnTo>
                      <a:pt x="108" y="32"/>
                    </a:lnTo>
                    <a:lnTo>
                      <a:pt x="108" y="31"/>
                    </a:lnTo>
                    <a:lnTo>
                      <a:pt x="108" y="29"/>
                    </a:lnTo>
                    <a:lnTo>
                      <a:pt x="108" y="29"/>
                    </a:lnTo>
                    <a:lnTo>
                      <a:pt x="108" y="28"/>
                    </a:lnTo>
                    <a:lnTo>
                      <a:pt x="108" y="26"/>
                    </a:lnTo>
                    <a:lnTo>
                      <a:pt x="108" y="25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8" y="20"/>
                    </a:lnTo>
                    <a:lnTo>
                      <a:pt x="107" y="19"/>
                    </a:lnTo>
                    <a:lnTo>
                      <a:pt x="107" y="16"/>
                    </a:lnTo>
                    <a:lnTo>
                      <a:pt x="107" y="14"/>
                    </a:lnTo>
                    <a:lnTo>
                      <a:pt x="107" y="11"/>
                    </a:lnTo>
                    <a:lnTo>
                      <a:pt x="107" y="9"/>
                    </a:lnTo>
                    <a:lnTo>
                      <a:pt x="107" y="6"/>
                    </a:lnTo>
                    <a:lnTo>
                      <a:pt x="107" y="3"/>
                    </a:lnTo>
                    <a:lnTo>
                      <a:pt x="107" y="0"/>
                    </a:lnTo>
                  </a:path>
                </a:pathLst>
              </a:custGeom>
              <a:noFill/>
              <a:ln w="2540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168" name="Object 83"/>
          <p:cNvGraphicFramePr>
            <a:graphicFrameLocks noChangeAspect="1"/>
          </p:cNvGraphicFramePr>
          <p:nvPr/>
        </p:nvGraphicFramePr>
        <p:xfrm>
          <a:off x="5514975" y="1941512"/>
          <a:ext cx="24844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1206360" imgH="393480" progId="Equation.3">
                  <p:embed/>
                </p:oleObj>
              </mc:Choice>
              <mc:Fallback>
                <p:oleObj name="Equation" r:id="rId4" imgW="1206360" imgH="393480" progId="Equation.3">
                  <p:embed/>
                  <p:pic>
                    <p:nvPicPr>
                      <p:cNvPr id="168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975" y="1941512"/>
                        <a:ext cx="248443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" name="Line 85"/>
          <p:cNvSpPr>
            <a:spLocks noChangeShapeType="1"/>
          </p:cNvSpPr>
          <p:nvPr/>
        </p:nvSpPr>
        <p:spPr bwMode="auto">
          <a:xfrm flipH="1">
            <a:off x="1670050" y="3055937"/>
            <a:ext cx="150813" cy="138113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" name="Line 86"/>
          <p:cNvSpPr>
            <a:spLocks noChangeShapeType="1"/>
          </p:cNvSpPr>
          <p:nvPr/>
        </p:nvSpPr>
        <p:spPr bwMode="auto">
          <a:xfrm flipH="1" flipV="1">
            <a:off x="1670050" y="3065462"/>
            <a:ext cx="150813" cy="138113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" name="Line 87"/>
          <p:cNvSpPr>
            <a:spLocks noChangeShapeType="1"/>
          </p:cNvSpPr>
          <p:nvPr/>
        </p:nvSpPr>
        <p:spPr bwMode="auto">
          <a:xfrm flipH="1">
            <a:off x="1670050" y="5308600"/>
            <a:ext cx="150813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Line 88"/>
          <p:cNvSpPr>
            <a:spLocks noChangeShapeType="1"/>
          </p:cNvSpPr>
          <p:nvPr/>
        </p:nvSpPr>
        <p:spPr bwMode="auto">
          <a:xfrm flipH="1" flipV="1">
            <a:off x="1670050" y="5318125"/>
            <a:ext cx="150813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" name="Line 89"/>
          <p:cNvSpPr>
            <a:spLocks noChangeShapeType="1"/>
          </p:cNvSpPr>
          <p:nvPr/>
        </p:nvSpPr>
        <p:spPr bwMode="auto">
          <a:xfrm flipH="1">
            <a:off x="2116138" y="3794125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" name="Line 90"/>
          <p:cNvSpPr>
            <a:spLocks noChangeShapeType="1"/>
          </p:cNvSpPr>
          <p:nvPr/>
        </p:nvSpPr>
        <p:spPr bwMode="auto">
          <a:xfrm flipH="1" flipV="1">
            <a:off x="2116138" y="3803650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" name="Line 91"/>
          <p:cNvSpPr>
            <a:spLocks noChangeShapeType="1"/>
          </p:cNvSpPr>
          <p:nvPr/>
        </p:nvSpPr>
        <p:spPr bwMode="auto">
          <a:xfrm flipH="1">
            <a:off x="2116138" y="4565650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Line 92"/>
          <p:cNvSpPr>
            <a:spLocks noChangeShapeType="1"/>
          </p:cNvSpPr>
          <p:nvPr/>
        </p:nvSpPr>
        <p:spPr bwMode="auto">
          <a:xfrm flipH="1" flipV="1">
            <a:off x="2116138" y="4575175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Line 93"/>
          <p:cNvSpPr>
            <a:spLocks noChangeShapeType="1"/>
          </p:cNvSpPr>
          <p:nvPr/>
        </p:nvSpPr>
        <p:spPr bwMode="auto">
          <a:xfrm flipH="1">
            <a:off x="3021013" y="4565650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Line 94"/>
          <p:cNvSpPr>
            <a:spLocks noChangeShapeType="1"/>
          </p:cNvSpPr>
          <p:nvPr/>
        </p:nvSpPr>
        <p:spPr bwMode="auto">
          <a:xfrm flipH="1" flipV="1">
            <a:off x="3021013" y="4575175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Line 95"/>
          <p:cNvSpPr>
            <a:spLocks noChangeShapeType="1"/>
          </p:cNvSpPr>
          <p:nvPr/>
        </p:nvSpPr>
        <p:spPr bwMode="auto">
          <a:xfrm flipH="1">
            <a:off x="3021013" y="3794125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0" name="Line 96"/>
          <p:cNvSpPr>
            <a:spLocks noChangeShapeType="1"/>
          </p:cNvSpPr>
          <p:nvPr/>
        </p:nvSpPr>
        <p:spPr bwMode="auto">
          <a:xfrm flipH="1" flipV="1">
            <a:off x="3021013" y="3803650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" name="Line 97"/>
          <p:cNvSpPr>
            <a:spLocks noChangeShapeType="1"/>
          </p:cNvSpPr>
          <p:nvPr/>
        </p:nvSpPr>
        <p:spPr bwMode="auto">
          <a:xfrm flipH="1">
            <a:off x="2581275" y="3046412"/>
            <a:ext cx="150813" cy="138113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" name="Line 98"/>
          <p:cNvSpPr>
            <a:spLocks noChangeShapeType="1"/>
          </p:cNvSpPr>
          <p:nvPr/>
        </p:nvSpPr>
        <p:spPr bwMode="auto">
          <a:xfrm flipH="1" flipV="1">
            <a:off x="2581275" y="3055937"/>
            <a:ext cx="150813" cy="138113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3" name="Line 99"/>
          <p:cNvSpPr>
            <a:spLocks noChangeShapeType="1"/>
          </p:cNvSpPr>
          <p:nvPr/>
        </p:nvSpPr>
        <p:spPr bwMode="auto">
          <a:xfrm flipH="1">
            <a:off x="2581275" y="5308600"/>
            <a:ext cx="150813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" name="Line 100"/>
          <p:cNvSpPr>
            <a:spLocks noChangeShapeType="1"/>
          </p:cNvSpPr>
          <p:nvPr/>
        </p:nvSpPr>
        <p:spPr bwMode="auto">
          <a:xfrm flipH="1" flipV="1">
            <a:off x="2581275" y="5318125"/>
            <a:ext cx="150813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5" name="Line 101"/>
          <p:cNvSpPr>
            <a:spLocks noChangeShapeType="1"/>
          </p:cNvSpPr>
          <p:nvPr/>
        </p:nvSpPr>
        <p:spPr bwMode="auto">
          <a:xfrm flipH="1">
            <a:off x="3467100" y="3798887"/>
            <a:ext cx="150813" cy="138113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6" name="Line 102"/>
          <p:cNvSpPr>
            <a:spLocks noChangeShapeType="1"/>
          </p:cNvSpPr>
          <p:nvPr/>
        </p:nvSpPr>
        <p:spPr bwMode="auto">
          <a:xfrm flipH="1" flipV="1">
            <a:off x="3467100" y="3808412"/>
            <a:ext cx="150813" cy="138113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7" name="Line 103"/>
          <p:cNvSpPr>
            <a:spLocks noChangeShapeType="1"/>
          </p:cNvSpPr>
          <p:nvPr/>
        </p:nvSpPr>
        <p:spPr bwMode="auto">
          <a:xfrm flipH="1">
            <a:off x="3468688" y="5318125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8" name="Line 104"/>
          <p:cNvSpPr>
            <a:spLocks noChangeShapeType="1"/>
          </p:cNvSpPr>
          <p:nvPr/>
        </p:nvSpPr>
        <p:spPr bwMode="auto">
          <a:xfrm flipH="1" flipV="1">
            <a:off x="3468688" y="5327650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9" name="Line 105"/>
          <p:cNvSpPr>
            <a:spLocks noChangeShapeType="1"/>
          </p:cNvSpPr>
          <p:nvPr/>
        </p:nvSpPr>
        <p:spPr bwMode="auto">
          <a:xfrm flipH="1">
            <a:off x="3916363" y="3051175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" name="Line 106"/>
          <p:cNvSpPr>
            <a:spLocks noChangeShapeType="1"/>
          </p:cNvSpPr>
          <p:nvPr/>
        </p:nvSpPr>
        <p:spPr bwMode="auto">
          <a:xfrm flipH="1" flipV="1">
            <a:off x="3916363" y="3060700"/>
            <a:ext cx="150812" cy="138112"/>
          </a:xfrm>
          <a:prstGeom prst="line">
            <a:avLst/>
          </a:prstGeom>
          <a:noFill/>
          <a:ln w="20638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1" name="Rectangle 3"/>
          <p:cNvSpPr>
            <a:spLocks noChangeArrowheads="1"/>
          </p:cNvSpPr>
          <p:nvPr/>
        </p:nvSpPr>
        <p:spPr bwMode="auto">
          <a:xfrm>
            <a:off x="2586038" y="6003925"/>
            <a:ext cx="981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en-US" sz="1600">
                <a:solidFill>
                  <a:srgbClr val="000000"/>
                </a:solidFill>
                <a:latin typeface="Times-Roman"/>
              </a:rPr>
              <a:t>AND plane </a:t>
            </a:r>
            <a:endParaRPr lang="en-US" altLang="en-US"/>
          </a:p>
        </p:txBody>
      </p:sp>
      <p:sp>
        <p:nvSpPr>
          <p:cNvPr id="192" name="Text Box 107"/>
          <p:cNvSpPr txBox="1">
            <a:spLocks noChangeArrowheads="1"/>
          </p:cNvSpPr>
          <p:nvPr/>
        </p:nvSpPr>
        <p:spPr bwMode="auto">
          <a:xfrm>
            <a:off x="7010400" y="2668587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00"/>
                </a:solidFill>
                <a:latin typeface="Arial" pitchFamily="34" charset="0"/>
              </a:rPr>
              <a:t>P</a:t>
            </a:r>
            <a:r>
              <a:rPr lang="en-US" altLang="en-US" sz="1600" baseline="-25000">
                <a:solidFill>
                  <a:srgbClr val="000000"/>
                </a:solidFill>
                <a:latin typeface="Arial" pitchFamily="34" charset="0"/>
              </a:rPr>
              <a:t>4</a:t>
            </a:r>
          </a:p>
        </p:txBody>
      </p:sp>
      <p:sp>
        <p:nvSpPr>
          <p:cNvPr id="193" name="Text Box 108"/>
          <p:cNvSpPr txBox="1">
            <a:spLocks noChangeArrowheads="1"/>
          </p:cNvSpPr>
          <p:nvPr/>
        </p:nvSpPr>
        <p:spPr bwMode="auto">
          <a:xfrm>
            <a:off x="6103938" y="2668587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00"/>
                </a:solidFill>
                <a:latin typeface="Arial" pitchFamily="34" charset="0"/>
              </a:rPr>
              <a:t>P</a:t>
            </a:r>
            <a:r>
              <a:rPr lang="en-US" altLang="en-US" sz="1600" baseline="-25000">
                <a:solidFill>
                  <a:srgbClr val="000000"/>
                </a:solidFill>
                <a:latin typeface="Arial" pitchFamily="34" charset="0"/>
              </a:rPr>
              <a:t>3</a:t>
            </a:r>
          </a:p>
        </p:txBody>
      </p:sp>
      <p:sp>
        <p:nvSpPr>
          <p:cNvPr id="194" name="Text Box 109"/>
          <p:cNvSpPr txBox="1">
            <a:spLocks noChangeArrowheads="1"/>
          </p:cNvSpPr>
          <p:nvPr/>
        </p:nvSpPr>
        <p:spPr bwMode="auto">
          <a:xfrm>
            <a:off x="7239000" y="1665287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00"/>
                </a:solidFill>
                <a:latin typeface="Arial" pitchFamily="34" charset="0"/>
              </a:rPr>
              <a:t>P</a:t>
            </a:r>
            <a:r>
              <a:rPr lang="en-US" altLang="en-US" sz="1600" baseline="-25000">
                <a:solidFill>
                  <a:srgbClr val="000000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195" name="Text Box 110"/>
          <p:cNvSpPr txBox="1">
            <a:spLocks noChangeArrowheads="1"/>
          </p:cNvSpPr>
          <p:nvPr/>
        </p:nvSpPr>
        <p:spPr bwMode="auto">
          <a:xfrm>
            <a:off x="6096000" y="1665287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00"/>
                </a:solidFill>
                <a:latin typeface="Arial" pitchFamily="34" charset="0"/>
              </a:rPr>
              <a:t>P</a:t>
            </a:r>
            <a:r>
              <a:rPr lang="en-US" altLang="en-US" sz="1600" baseline="-25000">
                <a:solidFill>
                  <a:srgbClr val="000000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96" name="Text Box 111"/>
          <p:cNvSpPr txBox="1">
            <a:spLocks noChangeArrowheads="1"/>
          </p:cNvSpPr>
          <p:nvPr/>
        </p:nvSpPr>
        <p:spPr bwMode="auto">
          <a:xfrm>
            <a:off x="7283450" y="3265487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i="1">
                <a:solidFill>
                  <a:schemeClr val="accent2"/>
                </a:solidFill>
                <a:latin typeface="Arial" pitchFamily="34" charset="0"/>
              </a:rPr>
              <a:t>f</a:t>
            </a:r>
            <a:r>
              <a:rPr lang="en-US" altLang="en-US" baseline="-25000">
                <a:solidFill>
                  <a:schemeClr val="accent2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97" name="Text Box 112"/>
          <p:cNvSpPr txBox="1">
            <a:spLocks noChangeArrowheads="1"/>
          </p:cNvSpPr>
          <p:nvPr/>
        </p:nvSpPr>
        <p:spPr bwMode="auto">
          <a:xfrm>
            <a:off x="7275513" y="4773612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i="1">
                <a:solidFill>
                  <a:schemeClr val="accent2"/>
                </a:solidFill>
                <a:latin typeface="Arial" pitchFamily="34" charset="0"/>
              </a:rPr>
              <a:t>f</a:t>
            </a:r>
            <a:r>
              <a:rPr lang="en-US" altLang="en-US" baseline="-25000">
                <a:solidFill>
                  <a:schemeClr val="accent2"/>
                </a:solidFill>
                <a:latin typeface="Arial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51240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SPLD - PAL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4841875" y="152400"/>
          <a:ext cx="4149725" cy="647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Artwork" r:id="rId4" imgW="6504762" imgH="10155067" progId="Adobe.Illustrator.7">
                  <p:embed/>
                </p:oleObj>
              </mc:Choice>
              <mc:Fallback>
                <p:oleObj name="Artwork" r:id="rId4" imgW="6504762" imgH="10155067" progId="Adobe.Illustrator.7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5" y="152400"/>
                        <a:ext cx="4149725" cy="647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61975" y="1628775"/>
            <a:ext cx="381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400" kern="0" dirty="0"/>
              <a:t>An actual PAL device</a:t>
            </a:r>
          </a:p>
          <a:p>
            <a:pPr>
              <a:lnSpc>
                <a:spcPct val="90000"/>
              </a:lnSpc>
            </a:pPr>
            <a:r>
              <a:rPr lang="en-US" altLang="en-US" sz="2400" kern="0" dirty="0"/>
              <a:t>PAL16L8</a:t>
            </a:r>
          </a:p>
          <a:p>
            <a:pPr lvl="1">
              <a:lnSpc>
                <a:spcPct val="90000"/>
              </a:lnSpc>
            </a:pPr>
            <a:r>
              <a:rPr lang="en-US" altLang="en-US" sz="2000" kern="0" dirty="0"/>
              <a:t>32 input AND gates</a:t>
            </a:r>
          </a:p>
          <a:p>
            <a:pPr lvl="1">
              <a:lnSpc>
                <a:spcPct val="90000"/>
              </a:lnSpc>
            </a:pPr>
            <a:r>
              <a:rPr lang="en-US" altLang="en-US" sz="2000" kern="0" dirty="0"/>
              <a:t>up to 8 output functions</a:t>
            </a: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4365625"/>
            <a:ext cx="3352800" cy="13493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1066800" y="4343400"/>
            <a:ext cx="3352800" cy="1447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5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PAL Outputs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1013" y="1295400"/>
            <a:ext cx="7424737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en-US" sz="2400" kern="0"/>
              <a:t>Typical PALs have: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000" kern="0"/>
              <a:t>from 10 to 20 inputs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000" kern="0"/>
              <a:t>from 2 to 10 outputs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000" kern="0"/>
              <a:t>from 2 to 8 AND gates driving each OR gate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en-US" sz="2000" kern="0"/>
              <a:t>often include D flip-flops</a:t>
            </a:r>
          </a:p>
        </p:txBody>
      </p: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1468438" y="2374900"/>
            <a:ext cx="7370762" cy="3309938"/>
            <a:chOff x="615" y="1706"/>
            <a:chExt cx="4643" cy="2085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3234" y="3609"/>
              <a:ext cx="244" cy="182"/>
            </a:xfrm>
            <a:custGeom>
              <a:avLst/>
              <a:gdLst>
                <a:gd name="T0" fmla="*/ 0 w 503"/>
                <a:gd name="T1" fmla="*/ 251 h 502"/>
                <a:gd name="T2" fmla="*/ 503 w 503"/>
                <a:gd name="T3" fmla="*/ 0 h 502"/>
                <a:gd name="T4" fmla="*/ 503 w 503"/>
                <a:gd name="T5" fmla="*/ 502 h 502"/>
                <a:gd name="T6" fmla="*/ 0 w 503"/>
                <a:gd name="T7" fmla="*/ 251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3" h="502">
                  <a:moveTo>
                    <a:pt x="0" y="251"/>
                  </a:moveTo>
                  <a:lnTo>
                    <a:pt x="503" y="0"/>
                  </a:lnTo>
                  <a:lnTo>
                    <a:pt x="503" y="502"/>
                  </a:lnTo>
                  <a:lnTo>
                    <a:pt x="0" y="251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5114" y="2074"/>
              <a:ext cx="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800" i="1">
                  <a:solidFill>
                    <a:srgbClr val="000000"/>
                  </a:solidFill>
                  <a:latin typeface="Times-Roman"/>
                </a:rPr>
                <a:t>f</a:t>
              </a:r>
              <a:r>
                <a:rPr lang="en-US" altLang="en-US" sz="200" b="1">
                  <a:solidFill>
                    <a:srgbClr val="000000"/>
                  </a:solidFill>
                  <a:latin typeface="System"/>
                </a:rPr>
                <a:t> </a:t>
              </a:r>
              <a:endParaRPr lang="en-US" altLang="en-US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618" y="2356"/>
              <a:ext cx="27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H="1">
              <a:off x="618" y="2778"/>
              <a:ext cx="27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5165" y="2143"/>
              <a:ext cx="9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Times-Roman"/>
                </a:rPr>
                <a:t>1 </a:t>
              </a:r>
              <a:endParaRPr lang="en-US" alt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891" y="2356"/>
              <a:ext cx="290" cy="148"/>
            </a:xfrm>
            <a:custGeom>
              <a:avLst/>
              <a:gdLst>
                <a:gd name="T0" fmla="*/ 0 w 596"/>
                <a:gd name="T1" fmla="*/ 0 h 408"/>
                <a:gd name="T2" fmla="*/ 0 w 596"/>
                <a:gd name="T3" fmla="*/ 408 h 408"/>
                <a:gd name="T4" fmla="*/ 596 w 596"/>
                <a:gd name="T5" fmla="*/ 408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6" h="408">
                  <a:moveTo>
                    <a:pt x="0" y="0"/>
                  </a:moveTo>
                  <a:lnTo>
                    <a:pt x="0" y="408"/>
                  </a:lnTo>
                  <a:lnTo>
                    <a:pt x="596" y="408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891" y="2630"/>
              <a:ext cx="290" cy="148"/>
            </a:xfrm>
            <a:custGeom>
              <a:avLst/>
              <a:gdLst>
                <a:gd name="T0" fmla="*/ 0 w 596"/>
                <a:gd name="T1" fmla="*/ 408 h 408"/>
                <a:gd name="T2" fmla="*/ 0 w 596"/>
                <a:gd name="T3" fmla="*/ 0 h 408"/>
                <a:gd name="T4" fmla="*/ 596 w 596"/>
                <a:gd name="T5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6" h="408">
                  <a:moveTo>
                    <a:pt x="0" y="408"/>
                  </a:moveTo>
                  <a:lnTo>
                    <a:pt x="0" y="0"/>
                  </a:lnTo>
                  <a:lnTo>
                    <a:pt x="59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2535" y="2846"/>
              <a:ext cx="105" cy="80"/>
            </a:xfrm>
            <a:custGeom>
              <a:avLst/>
              <a:gdLst>
                <a:gd name="T0" fmla="*/ 0 w 220"/>
                <a:gd name="T1" fmla="*/ 220 h 220"/>
                <a:gd name="T2" fmla="*/ 220 w 220"/>
                <a:gd name="T3" fmla="*/ 126 h 220"/>
                <a:gd name="T4" fmla="*/ 0 w 220"/>
                <a:gd name="T5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0" h="220">
                  <a:moveTo>
                    <a:pt x="0" y="220"/>
                  </a:moveTo>
                  <a:lnTo>
                    <a:pt x="220" y="126"/>
                  </a:lnTo>
                  <a:lnTo>
                    <a:pt x="0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888" y="2163"/>
              <a:ext cx="48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3067" y="2243"/>
              <a:ext cx="608" cy="319"/>
            </a:xfrm>
            <a:custGeom>
              <a:avLst/>
              <a:gdLst>
                <a:gd name="T0" fmla="*/ 1256 w 1256"/>
                <a:gd name="T1" fmla="*/ 0 h 879"/>
                <a:gd name="T2" fmla="*/ 471 w 1256"/>
                <a:gd name="T3" fmla="*/ 0 h 879"/>
                <a:gd name="T4" fmla="*/ 471 w 1256"/>
                <a:gd name="T5" fmla="*/ 879 h 879"/>
                <a:gd name="T6" fmla="*/ 0 w 1256"/>
                <a:gd name="T7" fmla="*/ 879 h 8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6" h="879">
                  <a:moveTo>
                    <a:pt x="1256" y="0"/>
                  </a:moveTo>
                  <a:lnTo>
                    <a:pt x="471" y="0"/>
                  </a:lnTo>
                  <a:lnTo>
                    <a:pt x="471" y="879"/>
                  </a:lnTo>
                  <a:lnTo>
                    <a:pt x="0" y="879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2002" y="2072"/>
              <a:ext cx="1673" cy="490"/>
            </a:xfrm>
            <a:custGeom>
              <a:avLst/>
              <a:gdLst>
                <a:gd name="T0" fmla="*/ 0 w 3454"/>
                <a:gd name="T1" fmla="*/ 1350 h 1350"/>
                <a:gd name="T2" fmla="*/ 0 w 3454"/>
                <a:gd name="T3" fmla="*/ 0 h 1350"/>
                <a:gd name="T4" fmla="*/ 3454 w 3454"/>
                <a:gd name="T5" fmla="*/ 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54" h="1350">
                  <a:moveTo>
                    <a:pt x="0" y="1350"/>
                  </a:moveTo>
                  <a:lnTo>
                    <a:pt x="0" y="0"/>
                  </a:lnTo>
                  <a:lnTo>
                    <a:pt x="3454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1606" y="2562"/>
              <a:ext cx="929" cy="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 flipH="1">
              <a:off x="3478" y="3700"/>
              <a:ext cx="654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1302" y="3677"/>
              <a:ext cx="91" cy="34"/>
            </a:xfrm>
            <a:custGeom>
              <a:avLst/>
              <a:gdLst>
                <a:gd name="T0" fmla="*/ 189 w 189"/>
                <a:gd name="T1" fmla="*/ 0 h 94"/>
                <a:gd name="T2" fmla="*/ 0 w 189"/>
                <a:gd name="T3" fmla="*/ 62 h 94"/>
                <a:gd name="T4" fmla="*/ 189 w 189"/>
                <a:gd name="T5" fmla="*/ 94 h 94"/>
                <a:gd name="T6" fmla="*/ 189 w 189"/>
                <a:gd name="T7" fmla="*/ 62 h 94"/>
                <a:gd name="T8" fmla="*/ 189 w 189"/>
                <a:gd name="T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" h="94">
                  <a:moveTo>
                    <a:pt x="189" y="0"/>
                  </a:moveTo>
                  <a:lnTo>
                    <a:pt x="0" y="62"/>
                  </a:lnTo>
                  <a:lnTo>
                    <a:pt x="189" y="94"/>
                  </a:lnTo>
                  <a:lnTo>
                    <a:pt x="189" y="6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00FFFF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1393" y="3700"/>
              <a:ext cx="176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1987" y="2550"/>
              <a:ext cx="30" cy="23"/>
            </a:xfrm>
            <a:custGeom>
              <a:avLst/>
              <a:gdLst>
                <a:gd name="T0" fmla="*/ 30 w 63"/>
                <a:gd name="T1" fmla="*/ 0 h 63"/>
                <a:gd name="T2" fmla="*/ 25 w 63"/>
                <a:gd name="T3" fmla="*/ 0 h 63"/>
                <a:gd name="T4" fmla="*/ 20 w 63"/>
                <a:gd name="T5" fmla="*/ 2 h 63"/>
                <a:gd name="T6" fmla="*/ 17 w 63"/>
                <a:gd name="T7" fmla="*/ 3 h 63"/>
                <a:gd name="T8" fmla="*/ 13 w 63"/>
                <a:gd name="T9" fmla="*/ 6 h 63"/>
                <a:gd name="T10" fmla="*/ 9 w 63"/>
                <a:gd name="T11" fmla="*/ 10 h 63"/>
                <a:gd name="T12" fmla="*/ 6 w 63"/>
                <a:gd name="T13" fmla="*/ 13 h 63"/>
                <a:gd name="T14" fmla="*/ 5 w 63"/>
                <a:gd name="T15" fmla="*/ 16 h 63"/>
                <a:gd name="T16" fmla="*/ 2 w 63"/>
                <a:gd name="T17" fmla="*/ 21 h 63"/>
                <a:gd name="T18" fmla="*/ 0 w 63"/>
                <a:gd name="T19" fmla="*/ 25 h 63"/>
                <a:gd name="T20" fmla="*/ 0 w 63"/>
                <a:gd name="T21" fmla="*/ 30 h 63"/>
                <a:gd name="T22" fmla="*/ 0 w 63"/>
                <a:gd name="T23" fmla="*/ 33 h 63"/>
                <a:gd name="T24" fmla="*/ 0 w 63"/>
                <a:gd name="T25" fmla="*/ 38 h 63"/>
                <a:gd name="T26" fmla="*/ 2 w 63"/>
                <a:gd name="T27" fmla="*/ 43 h 63"/>
                <a:gd name="T28" fmla="*/ 5 w 63"/>
                <a:gd name="T29" fmla="*/ 47 h 63"/>
                <a:gd name="T30" fmla="*/ 6 w 63"/>
                <a:gd name="T31" fmla="*/ 50 h 63"/>
                <a:gd name="T32" fmla="*/ 9 w 63"/>
                <a:gd name="T33" fmla="*/ 54 h 63"/>
                <a:gd name="T34" fmla="*/ 13 w 63"/>
                <a:gd name="T35" fmla="*/ 57 h 63"/>
                <a:gd name="T36" fmla="*/ 17 w 63"/>
                <a:gd name="T37" fmla="*/ 60 h 63"/>
                <a:gd name="T38" fmla="*/ 20 w 63"/>
                <a:gd name="T39" fmla="*/ 61 h 63"/>
                <a:gd name="T40" fmla="*/ 25 w 63"/>
                <a:gd name="T41" fmla="*/ 63 h 63"/>
                <a:gd name="T42" fmla="*/ 30 w 63"/>
                <a:gd name="T43" fmla="*/ 63 h 63"/>
                <a:gd name="T44" fmla="*/ 33 w 63"/>
                <a:gd name="T45" fmla="*/ 63 h 63"/>
                <a:gd name="T46" fmla="*/ 38 w 63"/>
                <a:gd name="T47" fmla="*/ 63 h 63"/>
                <a:gd name="T48" fmla="*/ 42 w 63"/>
                <a:gd name="T49" fmla="*/ 61 h 63"/>
                <a:gd name="T50" fmla="*/ 47 w 63"/>
                <a:gd name="T51" fmla="*/ 60 h 63"/>
                <a:gd name="T52" fmla="*/ 50 w 63"/>
                <a:gd name="T53" fmla="*/ 57 h 63"/>
                <a:gd name="T54" fmla="*/ 53 w 63"/>
                <a:gd name="T55" fmla="*/ 54 h 63"/>
                <a:gd name="T56" fmla="*/ 57 w 63"/>
                <a:gd name="T57" fmla="*/ 50 h 63"/>
                <a:gd name="T58" fmla="*/ 60 w 63"/>
                <a:gd name="T59" fmla="*/ 47 h 63"/>
                <a:gd name="T60" fmla="*/ 61 w 63"/>
                <a:gd name="T61" fmla="*/ 43 h 63"/>
                <a:gd name="T62" fmla="*/ 63 w 63"/>
                <a:gd name="T63" fmla="*/ 38 h 63"/>
                <a:gd name="T64" fmla="*/ 63 w 63"/>
                <a:gd name="T65" fmla="*/ 33 h 63"/>
                <a:gd name="T66" fmla="*/ 63 w 63"/>
                <a:gd name="T67" fmla="*/ 30 h 63"/>
                <a:gd name="T68" fmla="*/ 63 w 63"/>
                <a:gd name="T69" fmla="*/ 25 h 63"/>
                <a:gd name="T70" fmla="*/ 61 w 63"/>
                <a:gd name="T71" fmla="*/ 21 h 63"/>
                <a:gd name="T72" fmla="*/ 60 w 63"/>
                <a:gd name="T73" fmla="*/ 16 h 63"/>
                <a:gd name="T74" fmla="*/ 57 w 63"/>
                <a:gd name="T75" fmla="*/ 13 h 63"/>
                <a:gd name="T76" fmla="*/ 53 w 63"/>
                <a:gd name="T77" fmla="*/ 10 h 63"/>
                <a:gd name="T78" fmla="*/ 50 w 63"/>
                <a:gd name="T79" fmla="*/ 6 h 63"/>
                <a:gd name="T80" fmla="*/ 47 w 63"/>
                <a:gd name="T81" fmla="*/ 3 h 63"/>
                <a:gd name="T82" fmla="*/ 42 w 63"/>
                <a:gd name="T83" fmla="*/ 2 h 63"/>
                <a:gd name="T84" fmla="*/ 38 w 63"/>
                <a:gd name="T85" fmla="*/ 0 h 63"/>
                <a:gd name="T86" fmla="*/ 33 w 63"/>
                <a:gd name="T87" fmla="*/ 0 h 63"/>
                <a:gd name="T88" fmla="*/ 31 w 63"/>
                <a:gd name="T89" fmla="*/ 3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3" h="63">
                  <a:moveTo>
                    <a:pt x="31" y="32"/>
                  </a:move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6" y="5"/>
                  </a:lnTo>
                  <a:lnTo>
                    <a:pt x="14" y="5"/>
                  </a:lnTo>
                  <a:lnTo>
                    <a:pt x="13" y="6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9" y="10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2" y="39"/>
                  </a:lnTo>
                  <a:lnTo>
                    <a:pt x="2" y="41"/>
                  </a:lnTo>
                  <a:lnTo>
                    <a:pt x="2" y="43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6" y="49"/>
                  </a:lnTo>
                  <a:lnTo>
                    <a:pt x="6" y="50"/>
                  </a:lnTo>
                  <a:lnTo>
                    <a:pt x="8" y="52"/>
                  </a:lnTo>
                  <a:lnTo>
                    <a:pt x="8" y="52"/>
                  </a:lnTo>
                  <a:lnTo>
                    <a:pt x="9" y="54"/>
                  </a:lnTo>
                  <a:lnTo>
                    <a:pt x="11" y="55"/>
                  </a:lnTo>
                  <a:lnTo>
                    <a:pt x="11" y="55"/>
                  </a:lnTo>
                  <a:lnTo>
                    <a:pt x="13" y="57"/>
                  </a:lnTo>
                  <a:lnTo>
                    <a:pt x="14" y="58"/>
                  </a:lnTo>
                  <a:lnTo>
                    <a:pt x="16" y="58"/>
                  </a:lnTo>
                  <a:lnTo>
                    <a:pt x="17" y="60"/>
                  </a:lnTo>
                  <a:lnTo>
                    <a:pt x="17" y="60"/>
                  </a:lnTo>
                  <a:lnTo>
                    <a:pt x="19" y="60"/>
                  </a:lnTo>
                  <a:lnTo>
                    <a:pt x="20" y="61"/>
                  </a:lnTo>
                  <a:lnTo>
                    <a:pt x="22" y="61"/>
                  </a:lnTo>
                  <a:lnTo>
                    <a:pt x="24" y="61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8" y="63"/>
                  </a:lnTo>
                  <a:lnTo>
                    <a:pt x="30" y="63"/>
                  </a:lnTo>
                  <a:lnTo>
                    <a:pt x="31" y="63"/>
                  </a:lnTo>
                  <a:lnTo>
                    <a:pt x="31" y="63"/>
                  </a:lnTo>
                  <a:lnTo>
                    <a:pt x="33" y="63"/>
                  </a:lnTo>
                  <a:lnTo>
                    <a:pt x="35" y="63"/>
                  </a:lnTo>
                  <a:lnTo>
                    <a:pt x="36" y="63"/>
                  </a:lnTo>
                  <a:lnTo>
                    <a:pt x="38" y="63"/>
                  </a:lnTo>
                  <a:lnTo>
                    <a:pt x="39" y="61"/>
                  </a:lnTo>
                  <a:lnTo>
                    <a:pt x="41" y="61"/>
                  </a:lnTo>
                  <a:lnTo>
                    <a:pt x="42" y="61"/>
                  </a:lnTo>
                  <a:lnTo>
                    <a:pt x="44" y="60"/>
                  </a:lnTo>
                  <a:lnTo>
                    <a:pt x="46" y="60"/>
                  </a:lnTo>
                  <a:lnTo>
                    <a:pt x="47" y="60"/>
                  </a:lnTo>
                  <a:lnTo>
                    <a:pt x="47" y="58"/>
                  </a:lnTo>
                  <a:lnTo>
                    <a:pt x="49" y="58"/>
                  </a:lnTo>
                  <a:lnTo>
                    <a:pt x="50" y="57"/>
                  </a:lnTo>
                  <a:lnTo>
                    <a:pt x="52" y="55"/>
                  </a:lnTo>
                  <a:lnTo>
                    <a:pt x="53" y="55"/>
                  </a:lnTo>
                  <a:lnTo>
                    <a:pt x="53" y="54"/>
                  </a:lnTo>
                  <a:lnTo>
                    <a:pt x="55" y="52"/>
                  </a:lnTo>
                  <a:lnTo>
                    <a:pt x="57" y="52"/>
                  </a:lnTo>
                  <a:lnTo>
                    <a:pt x="57" y="50"/>
                  </a:lnTo>
                  <a:lnTo>
                    <a:pt x="58" y="49"/>
                  </a:lnTo>
                  <a:lnTo>
                    <a:pt x="58" y="47"/>
                  </a:lnTo>
                  <a:lnTo>
                    <a:pt x="60" y="47"/>
                  </a:lnTo>
                  <a:lnTo>
                    <a:pt x="60" y="46"/>
                  </a:lnTo>
                  <a:lnTo>
                    <a:pt x="61" y="44"/>
                  </a:lnTo>
                  <a:lnTo>
                    <a:pt x="61" y="43"/>
                  </a:lnTo>
                  <a:lnTo>
                    <a:pt x="61" y="41"/>
                  </a:lnTo>
                  <a:lnTo>
                    <a:pt x="61" y="39"/>
                  </a:lnTo>
                  <a:lnTo>
                    <a:pt x="63" y="38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3" y="33"/>
                  </a:lnTo>
                  <a:lnTo>
                    <a:pt x="63" y="32"/>
                  </a:lnTo>
                  <a:lnTo>
                    <a:pt x="63" y="32"/>
                  </a:lnTo>
                  <a:lnTo>
                    <a:pt x="63" y="30"/>
                  </a:lnTo>
                  <a:lnTo>
                    <a:pt x="63" y="28"/>
                  </a:lnTo>
                  <a:lnTo>
                    <a:pt x="63" y="27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61" y="22"/>
                  </a:lnTo>
                  <a:lnTo>
                    <a:pt x="61" y="21"/>
                  </a:lnTo>
                  <a:lnTo>
                    <a:pt x="61" y="19"/>
                  </a:lnTo>
                  <a:lnTo>
                    <a:pt x="60" y="17"/>
                  </a:lnTo>
                  <a:lnTo>
                    <a:pt x="60" y="16"/>
                  </a:lnTo>
                  <a:lnTo>
                    <a:pt x="58" y="16"/>
                  </a:lnTo>
                  <a:lnTo>
                    <a:pt x="58" y="14"/>
                  </a:lnTo>
                  <a:lnTo>
                    <a:pt x="57" y="13"/>
                  </a:lnTo>
                  <a:lnTo>
                    <a:pt x="57" y="11"/>
                  </a:lnTo>
                  <a:lnTo>
                    <a:pt x="55" y="11"/>
                  </a:lnTo>
                  <a:lnTo>
                    <a:pt x="53" y="10"/>
                  </a:lnTo>
                  <a:lnTo>
                    <a:pt x="53" y="8"/>
                  </a:lnTo>
                  <a:lnTo>
                    <a:pt x="52" y="8"/>
                  </a:lnTo>
                  <a:lnTo>
                    <a:pt x="50" y="6"/>
                  </a:lnTo>
                  <a:lnTo>
                    <a:pt x="49" y="5"/>
                  </a:lnTo>
                  <a:lnTo>
                    <a:pt x="47" y="5"/>
                  </a:lnTo>
                  <a:lnTo>
                    <a:pt x="47" y="3"/>
                  </a:lnTo>
                  <a:lnTo>
                    <a:pt x="46" y="3"/>
                  </a:lnTo>
                  <a:lnTo>
                    <a:pt x="44" y="3"/>
                  </a:lnTo>
                  <a:lnTo>
                    <a:pt x="42" y="2"/>
                  </a:lnTo>
                  <a:lnTo>
                    <a:pt x="41" y="2"/>
                  </a:lnTo>
                  <a:lnTo>
                    <a:pt x="39" y="2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32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1977" y="2554"/>
              <a:ext cx="38" cy="29"/>
            </a:xfrm>
            <a:custGeom>
              <a:avLst/>
              <a:gdLst>
                <a:gd name="T0" fmla="*/ 35 w 77"/>
                <a:gd name="T1" fmla="*/ 0 h 77"/>
                <a:gd name="T2" fmla="*/ 28 w 77"/>
                <a:gd name="T3" fmla="*/ 1 h 77"/>
                <a:gd name="T4" fmla="*/ 24 w 77"/>
                <a:gd name="T5" fmla="*/ 3 h 77"/>
                <a:gd name="T6" fmla="*/ 19 w 77"/>
                <a:gd name="T7" fmla="*/ 4 h 77"/>
                <a:gd name="T8" fmla="*/ 14 w 77"/>
                <a:gd name="T9" fmla="*/ 8 h 77"/>
                <a:gd name="T10" fmla="*/ 10 w 77"/>
                <a:gd name="T11" fmla="*/ 12 h 77"/>
                <a:gd name="T12" fmla="*/ 6 w 77"/>
                <a:gd name="T13" fmla="*/ 17 h 77"/>
                <a:gd name="T14" fmla="*/ 3 w 77"/>
                <a:gd name="T15" fmla="*/ 22 h 77"/>
                <a:gd name="T16" fmla="*/ 2 w 77"/>
                <a:gd name="T17" fmla="*/ 26 h 77"/>
                <a:gd name="T18" fmla="*/ 0 w 77"/>
                <a:gd name="T19" fmla="*/ 33 h 77"/>
                <a:gd name="T20" fmla="*/ 0 w 77"/>
                <a:gd name="T21" fmla="*/ 37 h 77"/>
                <a:gd name="T22" fmla="*/ 0 w 77"/>
                <a:gd name="T23" fmla="*/ 42 h 77"/>
                <a:gd name="T24" fmla="*/ 2 w 77"/>
                <a:gd name="T25" fmla="*/ 47 h 77"/>
                <a:gd name="T26" fmla="*/ 3 w 77"/>
                <a:gd name="T27" fmla="*/ 53 h 77"/>
                <a:gd name="T28" fmla="*/ 5 w 77"/>
                <a:gd name="T29" fmla="*/ 58 h 77"/>
                <a:gd name="T30" fmla="*/ 8 w 77"/>
                <a:gd name="T31" fmla="*/ 63 h 77"/>
                <a:gd name="T32" fmla="*/ 13 w 77"/>
                <a:gd name="T33" fmla="*/ 66 h 77"/>
                <a:gd name="T34" fmla="*/ 17 w 77"/>
                <a:gd name="T35" fmla="*/ 69 h 77"/>
                <a:gd name="T36" fmla="*/ 22 w 77"/>
                <a:gd name="T37" fmla="*/ 72 h 77"/>
                <a:gd name="T38" fmla="*/ 27 w 77"/>
                <a:gd name="T39" fmla="*/ 75 h 77"/>
                <a:gd name="T40" fmla="*/ 33 w 77"/>
                <a:gd name="T41" fmla="*/ 75 h 77"/>
                <a:gd name="T42" fmla="*/ 38 w 77"/>
                <a:gd name="T43" fmla="*/ 77 h 77"/>
                <a:gd name="T44" fmla="*/ 43 w 77"/>
                <a:gd name="T45" fmla="*/ 75 h 77"/>
                <a:gd name="T46" fmla="*/ 47 w 77"/>
                <a:gd name="T47" fmla="*/ 75 h 77"/>
                <a:gd name="T48" fmla="*/ 54 w 77"/>
                <a:gd name="T49" fmla="*/ 74 h 77"/>
                <a:gd name="T50" fmla="*/ 58 w 77"/>
                <a:gd name="T51" fmla="*/ 70 h 77"/>
                <a:gd name="T52" fmla="*/ 63 w 77"/>
                <a:gd name="T53" fmla="*/ 67 h 77"/>
                <a:gd name="T54" fmla="*/ 66 w 77"/>
                <a:gd name="T55" fmla="*/ 64 h 77"/>
                <a:gd name="T56" fmla="*/ 71 w 77"/>
                <a:gd name="T57" fmla="*/ 59 h 77"/>
                <a:gd name="T58" fmla="*/ 72 w 77"/>
                <a:gd name="T59" fmla="*/ 55 h 77"/>
                <a:gd name="T60" fmla="*/ 76 w 77"/>
                <a:gd name="T61" fmla="*/ 48 h 77"/>
                <a:gd name="T62" fmla="*/ 76 w 77"/>
                <a:gd name="T63" fmla="*/ 44 h 77"/>
                <a:gd name="T64" fmla="*/ 77 w 77"/>
                <a:gd name="T65" fmla="*/ 37 h 77"/>
                <a:gd name="T66" fmla="*/ 77 w 77"/>
                <a:gd name="T67" fmla="*/ 34 h 77"/>
                <a:gd name="T68" fmla="*/ 76 w 77"/>
                <a:gd name="T69" fmla="*/ 28 h 77"/>
                <a:gd name="T70" fmla="*/ 74 w 77"/>
                <a:gd name="T71" fmla="*/ 23 h 77"/>
                <a:gd name="T72" fmla="*/ 71 w 77"/>
                <a:gd name="T73" fmla="*/ 19 h 77"/>
                <a:gd name="T74" fmla="*/ 68 w 77"/>
                <a:gd name="T75" fmla="*/ 14 h 77"/>
                <a:gd name="T76" fmla="*/ 65 w 77"/>
                <a:gd name="T77" fmla="*/ 9 h 77"/>
                <a:gd name="T78" fmla="*/ 60 w 77"/>
                <a:gd name="T79" fmla="*/ 6 h 77"/>
                <a:gd name="T80" fmla="*/ 55 w 77"/>
                <a:gd name="T81" fmla="*/ 3 h 77"/>
                <a:gd name="T82" fmla="*/ 50 w 77"/>
                <a:gd name="T83" fmla="*/ 1 h 77"/>
                <a:gd name="T84" fmla="*/ 44 w 77"/>
                <a:gd name="T85" fmla="*/ 0 h 77"/>
                <a:gd name="T86" fmla="*/ 38 w 77"/>
                <a:gd name="T8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7" h="77">
                  <a:moveTo>
                    <a:pt x="38" y="0"/>
                  </a:moveTo>
                  <a:lnTo>
                    <a:pt x="36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5" y="1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6"/>
                  </a:lnTo>
                  <a:lnTo>
                    <a:pt x="16" y="8"/>
                  </a:lnTo>
                  <a:lnTo>
                    <a:pt x="14" y="8"/>
                  </a:lnTo>
                  <a:lnTo>
                    <a:pt x="13" y="9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8" y="14"/>
                  </a:lnTo>
                  <a:lnTo>
                    <a:pt x="8" y="15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2"/>
                  </a:lnTo>
                  <a:lnTo>
                    <a:pt x="0" y="44"/>
                  </a:lnTo>
                  <a:lnTo>
                    <a:pt x="0" y="45"/>
                  </a:lnTo>
                  <a:lnTo>
                    <a:pt x="2" y="47"/>
                  </a:lnTo>
                  <a:lnTo>
                    <a:pt x="2" y="48"/>
                  </a:lnTo>
                  <a:lnTo>
                    <a:pt x="2" y="52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5" y="56"/>
                  </a:lnTo>
                  <a:lnTo>
                    <a:pt x="5" y="58"/>
                  </a:lnTo>
                  <a:lnTo>
                    <a:pt x="6" y="59"/>
                  </a:lnTo>
                  <a:lnTo>
                    <a:pt x="8" y="61"/>
                  </a:lnTo>
                  <a:lnTo>
                    <a:pt x="8" y="63"/>
                  </a:lnTo>
                  <a:lnTo>
                    <a:pt x="10" y="64"/>
                  </a:lnTo>
                  <a:lnTo>
                    <a:pt x="11" y="64"/>
                  </a:lnTo>
                  <a:lnTo>
                    <a:pt x="13" y="66"/>
                  </a:lnTo>
                  <a:lnTo>
                    <a:pt x="14" y="67"/>
                  </a:lnTo>
                  <a:lnTo>
                    <a:pt x="16" y="69"/>
                  </a:lnTo>
                  <a:lnTo>
                    <a:pt x="17" y="69"/>
                  </a:lnTo>
                  <a:lnTo>
                    <a:pt x="19" y="70"/>
                  </a:lnTo>
                  <a:lnTo>
                    <a:pt x="21" y="72"/>
                  </a:lnTo>
                  <a:lnTo>
                    <a:pt x="22" y="72"/>
                  </a:lnTo>
                  <a:lnTo>
                    <a:pt x="24" y="74"/>
                  </a:lnTo>
                  <a:lnTo>
                    <a:pt x="25" y="74"/>
                  </a:lnTo>
                  <a:lnTo>
                    <a:pt x="27" y="75"/>
                  </a:lnTo>
                  <a:lnTo>
                    <a:pt x="28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5" y="75"/>
                  </a:lnTo>
                  <a:lnTo>
                    <a:pt x="36" y="77"/>
                  </a:lnTo>
                  <a:lnTo>
                    <a:pt x="38" y="77"/>
                  </a:lnTo>
                  <a:lnTo>
                    <a:pt x="38" y="77"/>
                  </a:lnTo>
                  <a:lnTo>
                    <a:pt x="41" y="77"/>
                  </a:lnTo>
                  <a:lnTo>
                    <a:pt x="43" y="75"/>
                  </a:lnTo>
                  <a:lnTo>
                    <a:pt x="44" y="75"/>
                  </a:lnTo>
                  <a:lnTo>
                    <a:pt x="46" y="75"/>
                  </a:lnTo>
                  <a:lnTo>
                    <a:pt x="47" y="75"/>
                  </a:lnTo>
                  <a:lnTo>
                    <a:pt x="50" y="75"/>
                  </a:lnTo>
                  <a:lnTo>
                    <a:pt x="52" y="74"/>
                  </a:lnTo>
                  <a:lnTo>
                    <a:pt x="54" y="74"/>
                  </a:lnTo>
                  <a:lnTo>
                    <a:pt x="55" y="72"/>
                  </a:lnTo>
                  <a:lnTo>
                    <a:pt x="57" y="72"/>
                  </a:lnTo>
                  <a:lnTo>
                    <a:pt x="58" y="70"/>
                  </a:lnTo>
                  <a:lnTo>
                    <a:pt x="60" y="69"/>
                  </a:lnTo>
                  <a:lnTo>
                    <a:pt x="61" y="69"/>
                  </a:lnTo>
                  <a:lnTo>
                    <a:pt x="63" y="67"/>
                  </a:lnTo>
                  <a:lnTo>
                    <a:pt x="65" y="66"/>
                  </a:lnTo>
                  <a:lnTo>
                    <a:pt x="66" y="64"/>
                  </a:lnTo>
                  <a:lnTo>
                    <a:pt x="66" y="64"/>
                  </a:lnTo>
                  <a:lnTo>
                    <a:pt x="68" y="63"/>
                  </a:lnTo>
                  <a:lnTo>
                    <a:pt x="69" y="61"/>
                  </a:lnTo>
                  <a:lnTo>
                    <a:pt x="71" y="59"/>
                  </a:lnTo>
                  <a:lnTo>
                    <a:pt x="71" y="58"/>
                  </a:lnTo>
                  <a:lnTo>
                    <a:pt x="72" y="56"/>
                  </a:lnTo>
                  <a:lnTo>
                    <a:pt x="72" y="55"/>
                  </a:lnTo>
                  <a:lnTo>
                    <a:pt x="74" y="53"/>
                  </a:lnTo>
                  <a:lnTo>
                    <a:pt x="74" y="52"/>
                  </a:lnTo>
                  <a:lnTo>
                    <a:pt x="76" y="48"/>
                  </a:lnTo>
                  <a:lnTo>
                    <a:pt x="76" y="47"/>
                  </a:lnTo>
                  <a:lnTo>
                    <a:pt x="76" y="45"/>
                  </a:lnTo>
                  <a:lnTo>
                    <a:pt x="76" y="44"/>
                  </a:lnTo>
                  <a:lnTo>
                    <a:pt x="77" y="42"/>
                  </a:lnTo>
                  <a:lnTo>
                    <a:pt x="77" y="39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7" y="36"/>
                  </a:lnTo>
                  <a:lnTo>
                    <a:pt x="77" y="34"/>
                  </a:lnTo>
                  <a:lnTo>
                    <a:pt x="76" y="33"/>
                  </a:lnTo>
                  <a:lnTo>
                    <a:pt x="76" y="30"/>
                  </a:lnTo>
                  <a:lnTo>
                    <a:pt x="76" y="28"/>
                  </a:lnTo>
                  <a:lnTo>
                    <a:pt x="76" y="26"/>
                  </a:lnTo>
                  <a:lnTo>
                    <a:pt x="74" y="25"/>
                  </a:lnTo>
                  <a:lnTo>
                    <a:pt x="74" y="23"/>
                  </a:lnTo>
                  <a:lnTo>
                    <a:pt x="72" y="22"/>
                  </a:lnTo>
                  <a:lnTo>
                    <a:pt x="72" y="20"/>
                  </a:lnTo>
                  <a:lnTo>
                    <a:pt x="71" y="19"/>
                  </a:lnTo>
                  <a:lnTo>
                    <a:pt x="71" y="17"/>
                  </a:lnTo>
                  <a:lnTo>
                    <a:pt x="69" y="15"/>
                  </a:lnTo>
                  <a:lnTo>
                    <a:pt x="68" y="14"/>
                  </a:lnTo>
                  <a:lnTo>
                    <a:pt x="66" y="12"/>
                  </a:lnTo>
                  <a:lnTo>
                    <a:pt x="66" y="11"/>
                  </a:lnTo>
                  <a:lnTo>
                    <a:pt x="65" y="9"/>
                  </a:lnTo>
                  <a:lnTo>
                    <a:pt x="63" y="8"/>
                  </a:lnTo>
                  <a:lnTo>
                    <a:pt x="61" y="8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7" y="4"/>
                  </a:lnTo>
                  <a:lnTo>
                    <a:pt x="55" y="3"/>
                  </a:lnTo>
                  <a:lnTo>
                    <a:pt x="54" y="3"/>
                  </a:lnTo>
                  <a:lnTo>
                    <a:pt x="52" y="1"/>
                  </a:lnTo>
                  <a:lnTo>
                    <a:pt x="50" y="1"/>
                  </a:lnTo>
                  <a:lnTo>
                    <a:pt x="47" y="1"/>
                  </a:lnTo>
                  <a:lnTo>
                    <a:pt x="46" y="0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8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4116" y="2152"/>
              <a:ext cx="30" cy="22"/>
            </a:xfrm>
            <a:custGeom>
              <a:avLst/>
              <a:gdLst>
                <a:gd name="T0" fmla="*/ 30 w 63"/>
                <a:gd name="T1" fmla="*/ 0 h 63"/>
                <a:gd name="T2" fmla="*/ 25 w 63"/>
                <a:gd name="T3" fmla="*/ 0 h 63"/>
                <a:gd name="T4" fmla="*/ 20 w 63"/>
                <a:gd name="T5" fmla="*/ 2 h 63"/>
                <a:gd name="T6" fmla="*/ 17 w 63"/>
                <a:gd name="T7" fmla="*/ 3 h 63"/>
                <a:gd name="T8" fmla="*/ 13 w 63"/>
                <a:gd name="T9" fmla="*/ 6 h 63"/>
                <a:gd name="T10" fmla="*/ 9 w 63"/>
                <a:gd name="T11" fmla="*/ 9 h 63"/>
                <a:gd name="T12" fmla="*/ 6 w 63"/>
                <a:gd name="T13" fmla="*/ 13 h 63"/>
                <a:gd name="T14" fmla="*/ 3 w 63"/>
                <a:gd name="T15" fmla="*/ 16 h 63"/>
                <a:gd name="T16" fmla="*/ 2 w 63"/>
                <a:gd name="T17" fmla="*/ 20 h 63"/>
                <a:gd name="T18" fmla="*/ 0 w 63"/>
                <a:gd name="T19" fmla="*/ 25 h 63"/>
                <a:gd name="T20" fmla="*/ 0 w 63"/>
                <a:gd name="T21" fmla="*/ 30 h 63"/>
                <a:gd name="T22" fmla="*/ 0 w 63"/>
                <a:gd name="T23" fmla="*/ 33 h 63"/>
                <a:gd name="T24" fmla="*/ 0 w 63"/>
                <a:gd name="T25" fmla="*/ 38 h 63"/>
                <a:gd name="T26" fmla="*/ 2 w 63"/>
                <a:gd name="T27" fmla="*/ 42 h 63"/>
                <a:gd name="T28" fmla="*/ 3 w 63"/>
                <a:gd name="T29" fmla="*/ 47 h 63"/>
                <a:gd name="T30" fmla="*/ 6 w 63"/>
                <a:gd name="T31" fmla="*/ 50 h 63"/>
                <a:gd name="T32" fmla="*/ 9 w 63"/>
                <a:gd name="T33" fmla="*/ 53 h 63"/>
                <a:gd name="T34" fmla="*/ 13 w 63"/>
                <a:gd name="T35" fmla="*/ 56 h 63"/>
                <a:gd name="T36" fmla="*/ 17 w 63"/>
                <a:gd name="T37" fmla="*/ 60 h 63"/>
                <a:gd name="T38" fmla="*/ 20 w 63"/>
                <a:gd name="T39" fmla="*/ 61 h 63"/>
                <a:gd name="T40" fmla="*/ 25 w 63"/>
                <a:gd name="T41" fmla="*/ 63 h 63"/>
                <a:gd name="T42" fmla="*/ 30 w 63"/>
                <a:gd name="T43" fmla="*/ 63 h 63"/>
                <a:gd name="T44" fmla="*/ 33 w 63"/>
                <a:gd name="T45" fmla="*/ 63 h 63"/>
                <a:gd name="T46" fmla="*/ 38 w 63"/>
                <a:gd name="T47" fmla="*/ 63 h 63"/>
                <a:gd name="T48" fmla="*/ 42 w 63"/>
                <a:gd name="T49" fmla="*/ 61 h 63"/>
                <a:gd name="T50" fmla="*/ 47 w 63"/>
                <a:gd name="T51" fmla="*/ 60 h 63"/>
                <a:gd name="T52" fmla="*/ 50 w 63"/>
                <a:gd name="T53" fmla="*/ 56 h 63"/>
                <a:gd name="T54" fmla="*/ 53 w 63"/>
                <a:gd name="T55" fmla="*/ 53 h 63"/>
                <a:gd name="T56" fmla="*/ 57 w 63"/>
                <a:gd name="T57" fmla="*/ 50 h 63"/>
                <a:gd name="T58" fmla="*/ 60 w 63"/>
                <a:gd name="T59" fmla="*/ 47 h 63"/>
                <a:gd name="T60" fmla="*/ 61 w 63"/>
                <a:gd name="T61" fmla="*/ 42 h 63"/>
                <a:gd name="T62" fmla="*/ 63 w 63"/>
                <a:gd name="T63" fmla="*/ 38 h 63"/>
                <a:gd name="T64" fmla="*/ 63 w 63"/>
                <a:gd name="T65" fmla="*/ 33 h 63"/>
                <a:gd name="T66" fmla="*/ 63 w 63"/>
                <a:gd name="T67" fmla="*/ 30 h 63"/>
                <a:gd name="T68" fmla="*/ 63 w 63"/>
                <a:gd name="T69" fmla="*/ 25 h 63"/>
                <a:gd name="T70" fmla="*/ 61 w 63"/>
                <a:gd name="T71" fmla="*/ 20 h 63"/>
                <a:gd name="T72" fmla="*/ 60 w 63"/>
                <a:gd name="T73" fmla="*/ 16 h 63"/>
                <a:gd name="T74" fmla="*/ 57 w 63"/>
                <a:gd name="T75" fmla="*/ 13 h 63"/>
                <a:gd name="T76" fmla="*/ 53 w 63"/>
                <a:gd name="T77" fmla="*/ 9 h 63"/>
                <a:gd name="T78" fmla="*/ 50 w 63"/>
                <a:gd name="T79" fmla="*/ 6 h 63"/>
                <a:gd name="T80" fmla="*/ 47 w 63"/>
                <a:gd name="T81" fmla="*/ 3 h 63"/>
                <a:gd name="T82" fmla="*/ 42 w 63"/>
                <a:gd name="T83" fmla="*/ 2 h 63"/>
                <a:gd name="T84" fmla="*/ 38 w 63"/>
                <a:gd name="T85" fmla="*/ 0 h 63"/>
                <a:gd name="T86" fmla="*/ 33 w 63"/>
                <a:gd name="T87" fmla="*/ 0 h 63"/>
                <a:gd name="T88" fmla="*/ 31 w 63"/>
                <a:gd name="T89" fmla="*/ 3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3" h="63">
                  <a:moveTo>
                    <a:pt x="31" y="31"/>
                  </a:move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6" y="5"/>
                  </a:lnTo>
                  <a:lnTo>
                    <a:pt x="14" y="5"/>
                  </a:lnTo>
                  <a:lnTo>
                    <a:pt x="13" y="6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9" y="9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5" y="16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2" y="39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5" y="47"/>
                  </a:lnTo>
                  <a:lnTo>
                    <a:pt x="6" y="49"/>
                  </a:lnTo>
                  <a:lnTo>
                    <a:pt x="6" y="50"/>
                  </a:lnTo>
                  <a:lnTo>
                    <a:pt x="8" y="52"/>
                  </a:lnTo>
                  <a:lnTo>
                    <a:pt x="8" y="52"/>
                  </a:lnTo>
                  <a:lnTo>
                    <a:pt x="9" y="53"/>
                  </a:lnTo>
                  <a:lnTo>
                    <a:pt x="11" y="55"/>
                  </a:lnTo>
                  <a:lnTo>
                    <a:pt x="11" y="55"/>
                  </a:lnTo>
                  <a:lnTo>
                    <a:pt x="13" y="56"/>
                  </a:lnTo>
                  <a:lnTo>
                    <a:pt x="14" y="58"/>
                  </a:lnTo>
                  <a:lnTo>
                    <a:pt x="16" y="58"/>
                  </a:lnTo>
                  <a:lnTo>
                    <a:pt x="17" y="60"/>
                  </a:lnTo>
                  <a:lnTo>
                    <a:pt x="17" y="60"/>
                  </a:lnTo>
                  <a:lnTo>
                    <a:pt x="19" y="60"/>
                  </a:lnTo>
                  <a:lnTo>
                    <a:pt x="20" y="61"/>
                  </a:lnTo>
                  <a:lnTo>
                    <a:pt x="22" y="61"/>
                  </a:lnTo>
                  <a:lnTo>
                    <a:pt x="24" y="61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8" y="63"/>
                  </a:lnTo>
                  <a:lnTo>
                    <a:pt x="30" y="63"/>
                  </a:lnTo>
                  <a:lnTo>
                    <a:pt x="31" y="63"/>
                  </a:lnTo>
                  <a:lnTo>
                    <a:pt x="31" y="63"/>
                  </a:lnTo>
                  <a:lnTo>
                    <a:pt x="33" y="63"/>
                  </a:lnTo>
                  <a:lnTo>
                    <a:pt x="35" y="63"/>
                  </a:lnTo>
                  <a:lnTo>
                    <a:pt x="36" y="63"/>
                  </a:lnTo>
                  <a:lnTo>
                    <a:pt x="38" y="63"/>
                  </a:lnTo>
                  <a:lnTo>
                    <a:pt x="39" y="61"/>
                  </a:lnTo>
                  <a:lnTo>
                    <a:pt x="41" y="61"/>
                  </a:lnTo>
                  <a:lnTo>
                    <a:pt x="42" y="61"/>
                  </a:lnTo>
                  <a:lnTo>
                    <a:pt x="44" y="60"/>
                  </a:lnTo>
                  <a:lnTo>
                    <a:pt x="46" y="60"/>
                  </a:lnTo>
                  <a:lnTo>
                    <a:pt x="47" y="60"/>
                  </a:lnTo>
                  <a:lnTo>
                    <a:pt x="47" y="58"/>
                  </a:lnTo>
                  <a:lnTo>
                    <a:pt x="49" y="58"/>
                  </a:lnTo>
                  <a:lnTo>
                    <a:pt x="50" y="56"/>
                  </a:lnTo>
                  <a:lnTo>
                    <a:pt x="52" y="55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5" y="52"/>
                  </a:lnTo>
                  <a:lnTo>
                    <a:pt x="57" y="52"/>
                  </a:lnTo>
                  <a:lnTo>
                    <a:pt x="57" y="50"/>
                  </a:lnTo>
                  <a:lnTo>
                    <a:pt x="58" y="49"/>
                  </a:lnTo>
                  <a:lnTo>
                    <a:pt x="58" y="47"/>
                  </a:lnTo>
                  <a:lnTo>
                    <a:pt x="60" y="47"/>
                  </a:lnTo>
                  <a:lnTo>
                    <a:pt x="60" y="46"/>
                  </a:lnTo>
                  <a:lnTo>
                    <a:pt x="61" y="44"/>
                  </a:lnTo>
                  <a:lnTo>
                    <a:pt x="61" y="42"/>
                  </a:lnTo>
                  <a:lnTo>
                    <a:pt x="61" y="41"/>
                  </a:lnTo>
                  <a:lnTo>
                    <a:pt x="61" y="39"/>
                  </a:lnTo>
                  <a:lnTo>
                    <a:pt x="63" y="38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3" y="33"/>
                  </a:lnTo>
                  <a:lnTo>
                    <a:pt x="63" y="31"/>
                  </a:lnTo>
                  <a:lnTo>
                    <a:pt x="63" y="31"/>
                  </a:lnTo>
                  <a:lnTo>
                    <a:pt x="63" y="30"/>
                  </a:lnTo>
                  <a:lnTo>
                    <a:pt x="63" y="28"/>
                  </a:lnTo>
                  <a:lnTo>
                    <a:pt x="63" y="27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61" y="22"/>
                  </a:lnTo>
                  <a:lnTo>
                    <a:pt x="61" y="20"/>
                  </a:lnTo>
                  <a:lnTo>
                    <a:pt x="61" y="19"/>
                  </a:lnTo>
                  <a:lnTo>
                    <a:pt x="60" y="17"/>
                  </a:lnTo>
                  <a:lnTo>
                    <a:pt x="60" y="16"/>
                  </a:lnTo>
                  <a:lnTo>
                    <a:pt x="58" y="16"/>
                  </a:lnTo>
                  <a:lnTo>
                    <a:pt x="58" y="14"/>
                  </a:lnTo>
                  <a:lnTo>
                    <a:pt x="57" y="13"/>
                  </a:lnTo>
                  <a:lnTo>
                    <a:pt x="57" y="11"/>
                  </a:lnTo>
                  <a:lnTo>
                    <a:pt x="55" y="11"/>
                  </a:lnTo>
                  <a:lnTo>
                    <a:pt x="53" y="9"/>
                  </a:lnTo>
                  <a:lnTo>
                    <a:pt x="53" y="8"/>
                  </a:lnTo>
                  <a:lnTo>
                    <a:pt x="52" y="8"/>
                  </a:lnTo>
                  <a:lnTo>
                    <a:pt x="50" y="6"/>
                  </a:lnTo>
                  <a:lnTo>
                    <a:pt x="49" y="5"/>
                  </a:lnTo>
                  <a:lnTo>
                    <a:pt x="47" y="5"/>
                  </a:lnTo>
                  <a:lnTo>
                    <a:pt x="47" y="3"/>
                  </a:lnTo>
                  <a:lnTo>
                    <a:pt x="46" y="3"/>
                  </a:lnTo>
                  <a:lnTo>
                    <a:pt x="44" y="3"/>
                  </a:lnTo>
                  <a:lnTo>
                    <a:pt x="42" y="2"/>
                  </a:lnTo>
                  <a:lnTo>
                    <a:pt x="41" y="2"/>
                  </a:lnTo>
                  <a:lnTo>
                    <a:pt x="39" y="2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31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4107" y="2145"/>
              <a:ext cx="37" cy="28"/>
            </a:xfrm>
            <a:custGeom>
              <a:avLst/>
              <a:gdLst>
                <a:gd name="T0" fmla="*/ 35 w 77"/>
                <a:gd name="T1" fmla="*/ 0 h 77"/>
                <a:gd name="T2" fmla="*/ 28 w 77"/>
                <a:gd name="T3" fmla="*/ 2 h 77"/>
                <a:gd name="T4" fmla="*/ 24 w 77"/>
                <a:gd name="T5" fmla="*/ 3 h 77"/>
                <a:gd name="T6" fmla="*/ 19 w 77"/>
                <a:gd name="T7" fmla="*/ 5 h 77"/>
                <a:gd name="T8" fmla="*/ 14 w 77"/>
                <a:gd name="T9" fmla="*/ 8 h 77"/>
                <a:gd name="T10" fmla="*/ 10 w 77"/>
                <a:gd name="T11" fmla="*/ 13 h 77"/>
                <a:gd name="T12" fmla="*/ 6 w 77"/>
                <a:gd name="T13" fmla="*/ 17 h 77"/>
                <a:gd name="T14" fmla="*/ 3 w 77"/>
                <a:gd name="T15" fmla="*/ 22 h 77"/>
                <a:gd name="T16" fmla="*/ 2 w 77"/>
                <a:gd name="T17" fmla="*/ 27 h 77"/>
                <a:gd name="T18" fmla="*/ 0 w 77"/>
                <a:gd name="T19" fmla="*/ 33 h 77"/>
                <a:gd name="T20" fmla="*/ 0 w 77"/>
                <a:gd name="T21" fmla="*/ 38 h 77"/>
                <a:gd name="T22" fmla="*/ 0 w 77"/>
                <a:gd name="T23" fmla="*/ 43 h 77"/>
                <a:gd name="T24" fmla="*/ 2 w 77"/>
                <a:gd name="T25" fmla="*/ 47 h 77"/>
                <a:gd name="T26" fmla="*/ 3 w 77"/>
                <a:gd name="T27" fmla="*/ 54 h 77"/>
                <a:gd name="T28" fmla="*/ 5 w 77"/>
                <a:gd name="T29" fmla="*/ 58 h 77"/>
                <a:gd name="T30" fmla="*/ 8 w 77"/>
                <a:gd name="T31" fmla="*/ 63 h 77"/>
                <a:gd name="T32" fmla="*/ 13 w 77"/>
                <a:gd name="T33" fmla="*/ 66 h 77"/>
                <a:gd name="T34" fmla="*/ 17 w 77"/>
                <a:gd name="T35" fmla="*/ 69 h 77"/>
                <a:gd name="T36" fmla="*/ 22 w 77"/>
                <a:gd name="T37" fmla="*/ 72 h 77"/>
                <a:gd name="T38" fmla="*/ 27 w 77"/>
                <a:gd name="T39" fmla="*/ 75 h 77"/>
                <a:gd name="T40" fmla="*/ 33 w 77"/>
                <a:gd name="T41" fmla="*/ 75 h 77"/>
                <a:gd name="T42" fmla="*/ 38 w 77"/>
                <a:gd name="T43" fmla="*/ 77 h 77"/>
                <a:gd name="T44" fmla="*/ 43 w 77"/>
                <a:gd name="T45" fmla="*/ 75 h 77"/>
                <a:gd name="T46" fmla="*/ 47 w 77"/>
                <a:gd name="T47" fmla="*/ 75 h 77"/>
                <a:gd name="T48" fmla="*/ 54 w 77"/>
                <a:gd name="T49" fmla="*/ 74 h 77"/>
                <a:gd name="T50" fmla="*/ 58 w 77"/>
                <a:gd name="T51" fmla="*/ 71 h 77"/>
                <a:gd name="T52" fmla="*/ 63 w 77"/>
                <a:gd name="T53" fmla="*/ 68 h 77"/>
                <a:gd name="T54" fmla="*/ 66 w 77"/>
                <a:gd name="T55" fmla="*/ 65 h 77"/>
                <a:gd name="T56" fmla="*/ 71 w 77"/>
                <a:gd name="T57" fmla="*/ 60 h 77"/>
                <a:gd name="T58" fmla="*/ 72 w 77"/>
                <a:gd name="T59" fmla="*/ 55 h 77"/>
                <a:gd name="T60" fmla="*/ 76 w 77"/>
                <a:gd name="T61" fmla="*/ 49 h 77"/>
                <a:gd name="T62" fmla="*/ 76 w 77"/>
                <a:gd name="T63" fmla="*/ 44 h 77"/>
                <a:gd name="T64" fmla="*/ 77 w 77"/>
                <a:gd name="T65" fmla="*/ 38 h 77"/>
                <a:gd name="T66" fmla="*/ 77 w 77"/>
                <a:gd name="T67" fmla="*/ 35 h 77"/>
                <a:gd name="T68" fmla="*/ 76 w 77"/>
                <a:gd name="T69" fmla="*/ 28 h 77"/>
                <a:gd name="T70" fmla="*/ 74 w 77"/>
                <a:gd name="T71" fmla="*/ 24 h 77"/>
                <a:gd name="T72" fmla="*/ 71 w 77"/>
                <a:gd name="T73" fmla="*/ 19 h 77"/>
                <a:gd name="T74" fmla="*/ 68 w 77"/>
                <a:gd name="T75" fmla="*/ 14 h 77"/>
                <a:gd name="T76" fmla="*/ 65 w 77"/>
                <a:gd name="T77" fmla="*/ 10 h 77"/>
                <a:gd name="T78" fmla="*/ 60 w 77"/>
                <a:gd name="T79" fmla="*/ 6 h 77"/>
                <a:gd name="T80" fmla="*/ 55 w 77"/>
                <a:gd name="T81" fmla="*/ 3 h 77"/>
                <a:gd name="T82" fmla="*/ 50 w 77"/>
                <a:gd name="T83" fmla="*/ 2 h 77"/>
                <a:gd name="T84" fmla="*/ 44 w 77"/>
                <a:gd name="T85" fmla="*/ 0 h 77"/>
                <a:gd name="T86" fmla="*/ 38 w 77"/>
                <a:gd name="T8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7" h="77">
                  <a:moveTo>
                    <a:pt x="38" y="0"/>
                  </a:moveTo>
                  <a:lnTo>
                    <a:pt x="36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8" y="2"/>
                  </a:lnTo>
                  <a:lnTo>
                    <a:pt x="27" y="2"/>
                  </a:lnTo>
                  <a:lnTo>
                    <a:pt x="25" y="2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1" y="5"/>
                  </a:lnTo>
                  <a:lnTo>
                    <a:pt x="19" y="5"/>
                  </a:lnTo>
                  <a:lnTo>
                    <a:pt x="17" y="6"/>
                  </a:lnTo>
                  <a:lnTo>
                    <a:pt x="16" y="8"/>
                  </a:lnTo>
                  <a:lnTo>
                    <a:pt x="14" y="8"/>
                  </a:lnTo>
                  <a:lnTo>
                    <a:pt x="13" y="10"/>
                  </a:lnTo>
                  <a:lnTo>
                    <a:pt x="11" y="11"/>
                  </a:lnTo>
                  <a:lnTo>
                    <a:pt x="10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3" y="22"/>
                  </a:lnTo>
                  <a:lnTo>
                    <a:pt x="3" y="24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2" y="28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9"/>
                  </a:lnTo>
                  <a:lnTo>
                    <a:pt x="0" y="43"/>
                  </a:lnTo>
                  <a:lnTo>
                    <a:pt x="0" y="44"/>
                  </a:lnTo>
                  <a:lnTo>
                    <a:pt x="0" y="46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3" y="55"/>
                  </a:lnTo>
                  <a:lnTo>
                    <a:pt x="5" y="57"/>
                  </a:lnTo>
                  <a:lnTo>
                    <a:pt x="5" y="58"/>
                  </a:lnTo>
                  <a:lnTo>
                    <a:pt x="6" y="60"/>
                  </a:lnTo>
                  <a:lnTo>
                    <a:pt x="8" y="61"/>
                  </a:lnTo>
                  <a:lnTo>
                    <a:pt x="8" y="63"/>
                  </a:lnTo>
                  <a:lnTo>
                    <a:pt x="10" y="65"/>
                  </a:lnTo>
                  <a:lnTo>
                    <a:pt x="11" y="65"/>
                  </a:lnTo>
                  <a:lnTo>
                    <a:pt x="13" y="66"/>
                  </a:lnTo>
                  <a:lnTo>
                    <a:pt x="14" y="68"/>
                  </a:lnTo>
                  <a:lnTo>
                    <a:pt x="16" y="69"/>
                  </a:lnTo>
                  <a:lnTo>
                    <a:pt x="17" y="69"/>
                  </a:lnTo>
                  <a:lnTo>
                    <a:pt x="19" y="71"/>
                  </a:lnTo>
                  <a:lnTo>
                    <a:pt x="21" y="72"/>
                  </a:lnTo>
                  <a:lnTo>
                    <a:pt x="22" y="72"/>
                  </a:lnTo>
                  <a:lnTo>
                    <a:pt x="24" y="74"/>
                  </a:lnTo>
                  <a:lnTo>
                    <a:pt x="25" y="74"/>
                  </a:lnTo>
                  <a:lnTo>
                    <a:pt x="27" y="75"/>
                  </a:lnTo>
                  <a:lnTo>
                    <a:pt x="28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5" y="75"/>
                  </a:lnTo>
                  <a:lnTo>
                    <a:pt x="36" y="77"/>
                  </a:lnTo>
                  <a:lnTo>
                    <a:pt x="38" y="77"/>
                  </a:lnTo>
                  <a:lnTo>
                    <a:pt x="38" y="77"/>
                  </a:lnTo>
                  <a:lnTo>
                    <a:pt x="41" y="77"/>
                  </a:lnTo>
                  <a:lnTo>
                    <a:pt x="43" y="75"/>
                  </a:lnTo>
                  <a:lnTo>
                    <a:pt x="44" y="75"/>
                  </a:lnTo>
                  <a:lnTo>
                    <a:pt x="46" y="75"/>
                  </a:lnTo>
                  <a:lnTo>
                    <a:pt x="47" y="75"/>
                  </a:lnTo>
                  <a:lnTo>
                    <a:pt x="50" y="75"/>
                  </a:lnTo>
                  <a:lnTo>
                    <a:pt x="52" y="74"/>
                  </a:lnTo>
                  <a:lnTo>
                    <a:pt x="54" y="74"/>
                  </a:lnTo>
                  <a:lnTo>
                    <a:pt x="55" y="72"/>
                  </a:lnTo>
                  <a:lnTo>
                    <a:pt x="57" y="72"/>
                  </a:lnTo>
                  <a:lnTo>
                    <a:pt x="58" y="71"/>
                  </a:lnTo>
                  <a:lnTo>
                    <a:pt x="60" y="69"/>
                  </a:lnTo>
                  <a:lnTo>
                    <a:pt x="61" y="69"/>
                  </a:lnTo>
                  <a:lnTo>
                    <a:pt x="63" y="68"/>
                  </a:lnTo>
                  <a:lnTo>
                    <a:pt x="65" y="66"/>
                  </a:lnTo>
                  <a:lnTo>
                    <a:pt x="66" y="65"/>
                  </a:lnTo>
                  <a:lnTo>
                    <a:pt x="66" y="65"/>
                  </a:lnTo>
                  <a:lnTo>
                    <a:pt x="68" y="63"/>
                  </a:lnTo>
                  <a:lnTo>
                    <a:pt x="69" y="61"/>
                  </a:lnTo>
                  <a:lnTo>
                    <a:pt x="71" y="60"/>
                  </a:lnTo>
                  <a:lnTo>
                    <a:pt x="71" y="58"/>
                  </a:lnTo>
                  <a:lnTo>
                    <a:pt x="72" y="57"/>
                  </a:lnTo>
                  <a:lnTo>
                    <a:pt x="72" y="55"/>
                  </a:lnTo>
                  <a:lnTo>
                    <a:pt x="74" y="54"/>
                  </a:lnTo>
                  <a:lnTo>
                    <a:pt x="74" y="52"/>
                  </a:lnTo>
                  <a:lnTo>
                    <a:pt x="76" y="49"/>
                  </a:lnTo>
                  <a:lnTo>
                    <a:pt x="76" y="47"/>
                  </a:lnTo>
                  <a:lnTo>
                    <a:pt x="76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7" y="39"/>
                  </a:lnTo>
                  <a:lnTo>
                    <a:pt x="77" y="38"/>
                  </a:lnTo>
                  <a:lnTo>
                    <a:pt x="77" y="38"/>
                  </a:lnTo>
                  <a:lnTo>
                    <a:pt x="77" y="36"/>
                  </a:lnTo>
                  <a:lnTo>
                    <a:pt x="77" y="35"/>
                  </a:lnTo>
                  <a:lnTo>
                    <a:pt x="76" y="33"/>
                  </a:lnTo>
                  <a:lnTo>
                    <a:pt x="76" y="30"/>
                  </a:lnTo>
                  <a:lnTo>
                    <a:pt x="76" y="28"/>
                  </a:lnTo>
                  <a:lnTo>
                    <a:pt x="76" y="27"/>
                  </a:lnTo>
                  <a:lnTo>
                    <a:pt x="74" y="25"/>
                  </a:lnTo>
                  <a:lnTo>
                    <a:pt x="74" y="24"/>
                  </a:lnTo>
                  <a:lnTo>
                    <a:pt x="72" y="22"/>
                  </a:lnTo>
                  <a:lnTo>
                    <a:pt x="72" y="21"/>
                  </a:lnTo>
                  <a:lnTo>
                    <a:pt x="71" y="19"/>
                  </a:lnTo>
                  <a:lnTo>
                    <a:pt x="71" y="17"/>
                  </a:lnTo>
                  <a:lnTo>
                    <a:pt x="69" y="16"/>
                  </a:lnTo>
                  <a:lnTo>
                    <a:pt x="68" y="14"/>
                  </a:lnTo>
                  <a:lnTo>
                    <a:pt x="66" y="13"/>
                  </a:lnTo>
                  <a:lnTo>
                    <a:pt x="66" y="11"/>
                  </a:lnTo>
                  <a:lnTo>
                    <a:pt x="65" y="10"/>
                  </a:lnTo>
                  <a:lnTo>
                    <a:pt x="63" y="8"/>
                  </a:lnTo>
                  <a:lnTo>
                    <a:pt x="61" y="8"/>
                  </a:lnTo>
                  <a:lnTo>
                    <a:pt x="60" y="6"/>
                  </a:lnTo>
                  <a:lnTo>
                    <a:pt x="58" y="5"/>
                  </a:lnTo>
                  <a:lnTo>
                    <a:pt x="57" y="5"/>
                  </a:lnTo>
                  <a:lnTo>
                    <a:pt x="55" y="3"/>
                  </a:lnTo>
                  <a:lnTo>
                    <a:pt x="54" y="3"/>
                  </a:lnTo>
                  <a:lnTo>
                    <a:pt x="52" y="2"/>
                  </a:lnTo>
                  <a:lnTo>
                    <a:pt x="50" y="2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8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615" y="3459"/>
              <a:ext cx="9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Times-Roman"/>
                </a:rPr>
                <a:t>To AND plane</a:t>
              </a:r>
              <a:endParaRPr lang="en-US" altLang="en-US"/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2613" y="2516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Times-Roman"/>
                </a:rPr>
                <a:t>D </a:t>
              </a:r>
              <a:endParaRPr lang="en-US" altLang="en-US"/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2215" y="2892"/>
              <a:ext cx="320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2916" y="2516"/>
              <a:ext cx="15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Times-Roman"/>
                </a:rPr>
                <a:t>Q </a:t>
              </a:r>
              <a:endParaRPr lang="en-US" altLang="en-US"/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1287" y="3358"/>
              <a:ext cx="92" cy="35"/>
            </a:xfrm>
            <a:custGeom>
              <a:avLst/>
              <a:gdLst>
                <a:gd name="T0" fmla="*/ 188 w 188"/>
                <a:gd name="T1" fmla="*/ 0 h 94"/>
                <a:gd name="T2" fmla="*/ 0 w 188"/>
                <a:gd name="T3" fmla="*/ 31 h 94"/>
                <a:gd name="T4" fmla="*/ 188 w 188"/>
                <a:gd name="T5" fmla="*/ 94 h 94"/>
                <a:gd name="T6" fmla="*/ 188 w 188"/>
                <a:gd name="T7" fmla="*/ 31 h 94"/>
                <a:gd name="T8" fmla="*/ 188 w 188"/>
                <a:gd name="T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94">
                  <a:moveTo>
                    <a:pt x="188" y="0"/>
                  </a:moveTo>
                  <a:lnTo>
                    <a:pt x="0" y="31"/>
                  </a:lnTo>
                  <a:lnTo>
                    <a:pt x="188" y="94"/>
                  </a:lnTo>
                  <a:lnTo>
                    <a:pt x="188" y="3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00FFFF"/>
            </a:solidFill>
            <a:ln w="2381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1393" y="2163"/>
              <a:ext cx="2739" cy="1207"/>
            </a:xfrm>
            <a:custGeom>
              <a:avLst/>
              <a:gdLst>
                <a:gd name="T0" fmla="*/ 0 w 5650"/>
                <a:gd name="T1" fmla="*/ 3326 h 3326"/>
                <a:gd name="T2" fmla="*/ 5650 w 5650"/>
                <a:gd name="T3" fmla="*/ 3326 h 3326"/>
                <a:gd name="T4" fmla="*/ 5650 w 5650"/>
                <a:gd name="T5" fmla="*/ 0 h 3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50" h="3326">
                  <a:moveTo>
                    <a:pt x="0" y="3326"/>
                  </a:moveTo>
                  <a:lnTo>
                    <a:pt x="5650" y="3326"/>
                  </a:lnTo>
                  <a:lnTo>
                    <a:pt x="5650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4116" y="3358"/>
              <a:ext cx="30" cy="23"/>
            </a:xfrm>
            <a:custGeom>
              <a:avLst/>
              <a:gdLst>
                <a:gd name="T0" fmla="*/ 30 w 63"/>
                <a:gd name="T1" fmla="*/ 0 h 63"/>
                <a:gd name="T2" fmla="*/ 25 w 63"/>
                <a:gd name="T3" fmla="*/ 0 h 63"/>
                <a:gd name="T4" fmla="*/ 20 w 63"/>
                <a:gd name="T5" fmla="*/ 2 h 63"/>
                <a:gd name="T6" fmla="*/ 17 w 63"/>
                <a:gd name="T7" fmla="*/ 3 h 63"/>
                <a:gd name="T8" fmla="*/ 13 w 63"/>
                <a:gd name="T9" fmla="*/ 6 h 63"/>
                <a:gd name="T10" fmla="*/ 9 w 63"/>
                <a:gd name="T11" fmla="*/ 9 h 63"/>
                <a:gd name="T12" fmla="*/ 6 w 63"/>
                <a:gd name="T13" fmla="*/ 13 h 63"/>
                <a:gd name="T14" fmla="*/ 3 w 63"/>
                <a:gd name="T15" fmla="*/ 16 h 63"/>
                <a:gd name="T16" fmla="*/ 2 w 63"/>
                <a:gd name="T17" fmla="*/ 20 h 63"/>
                <a:gd name="T18" fmla="*/ 0 w 63"/>
                <a:gd name="T19" fmla="*/ 25 h 63"/>
                <a:gd name="T20" fmla="*/ 0 w 63"/>
                <a:gd name="T21" fmla="*/ 30 h 63"/>
                <a:gd name="T22" fmla="*/ 0 w 63"/>
                <a:gd name="T23" fmla="*/ 33 h 63"/>
                <a:gd name="T24" fmla="*/ 0 w 63"/>
                <a:gd name="T25" fmla="*/ 38 h 63"/>
                <a:gd name="T26" fmla="*/ 2 w 63"/>
                <a:gd name="T27" fmla="*/ 42 h 63"/>
                <a:gd name="T28" fmla="*/ 3 w 63"/>
                <a:gd name="T29" fmla="*/ 47 h 63"/>
                <a:gd name="T30" fmla="*/ 6 w 63"/>
                <a:gd name="T31" fmla="*/ 50 h 63"/>
                <a:gd name="T32" fmla="*/ 9 w 63"/>
                <a:gd name="T33" fmla="*/ 53 h 63"/>
                <a:gd name="T34" fmla="*/ 13 w 63"/>
                <a:gd name="T35" fmla="*/ 56 h 63"/>
                <a:gd name="T36" fmla="*/ 17 w 63"/>
                <a:gd name="T37" fmla="*/ 60 h 63"/>
                <a:gd name="T38" fmla="*/ 20 w 63"/>
                <a:gd name="T39" fmla="*/ 61 h 63"/>
                <a:gd name="T40" fmla="*/ 25 w 63"/>
                <a:gd name="T41" fmla="*/ 63 h 63"/>
                <a:gd name="T42" fmla="*/ 30 w 63"/>
                <a:gd name="T43" fmla="*/ 63 h 63"/>
                <a:gd name="T44" fmla="*/ 33 w 63"/>
                <a:gd name="T45" fmla="*/ 63 h 63"/>
                <a:gd name="T46" fmla="*/ 38 w 63"/>
                <a:gd name="T47" fmla="*/ 63 h 63"/>
                <a:gd name="T48" fmla="*/ 42 w 63"/>
                <a:gd name="T49" fmla="*/ 61 h 63"/>
                <a:gd name="T50" fmla="*/ 47 w 63"/>
                <a:gd name="T51" fmla="*/ 60 h 63"/>
                <a:gd name="T52" fmla="*/ 50 w 63"/>
                <a:gd name="T53" fmla="*/ 56 h 63"/>
                <a:gd name="T54" fmla="*/ 53 w 63"/>
                <a:gd name="T55" fmla="*/ 53 h 63"/>
                <a:gd name="T56" fmla="*/ 57 w 63"/>
                <a:gd name="T57" fmla="*/ 50 h 63"/>
                <a:gd name="T58" fmla="*/ 60 w 63"/>
                <a:gd name="T59" fmla="*/ 47 h 63"/>
                <a:gd name="T60" fmla="*/ 61 w 63"/>
                <a:gd name="T61" fmla="*/ 42 h 63"/>
                <a:gd name="T62" fmla="*/ 63 w 63"/>
                <a:gd name="T63" fmla="*/ 38 h 63"/>
                <a:gd name="T64" fmla="*/ 63 w 63"/>
                <a:gd name="T65" fmla="*/ 33 h 63"/>
                <a:gd name="T66" fmla="*/ 63 w 63"/>
                <a:gd name="T67" fmla="*/ 30 h 63"/>
                <a:gd name="T68" fmla="*/ 63 w 63"/>
                <a:gd name="T69" fmla="*/ 25 h 63"/>
                <a:gd name="T70" fmla="*/ 61 w 63"/>
                <a:gd name="T71" fmla="*/ 20 h 63"/>
                <a:gd name="T72" fmla="*/ 60 w 63"/>
                <a:gd name="T73" fmla="*/ 16 h 63"/>
                <a:gd name="T74" fmla="*/ 57 w 63"/>
                <a:gd name="T75" fmla="*/ 13 h 63"/>
                <a:gd name="T76" fmla="*/ 53 w 63"/>
                <a:gd name="T77" fmla="*/ 9 h 63"/>
                <a:gd name="T78" fmla="*/ 50 w 63"/>
                <a:gd name="T79" fmla="*/ 6 h 63"/>
                <a:gd name="T80" fmla="*/ 47 w 63"/>
                <a:gd name="T81" fmla="*/ 3 h 63"/>
                <a:gd name="T82" fmla="*/ 42 w 63"/>
                <a:gd name="T83" fmla="*/ 2 h 63"/>
                <a:gd name="T84" fmla="*/ 38 w 63"/>
                <a:gd name="T85" fmla="*/ 0 h 63"/>
                <a:gd name="T86" fmla="*/ 33 w 63"/>
                <a:gd name="T87" fmla="*/ 0 h 63"/>
                <a:gd name="T88" fmla="*/ 31 w 63"/>
                <a:gd name="T89" fmla="*/ 3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3" h="63">
                  <a:moveTo>
                    <a:pt x="31" y="31"/>
                  </a:move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6" y="5"/>
                  </a:lnTo>
                  <a:lnTo>
                    <a:pt x="14" y="5"/>
                  </a:lnTo>
                  <a:lnTo>
                    <a:pt x="13" y="6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9" y="9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5" y="16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2" y="39"/>
                  </a:lnTo>
                  <a:lnTo>
                    <a:pt x="2" y="41"/>
                  </a:lnTo>
                  <a:lnTo>
                    <a:pt x="2" y="42"/>
                  </a:lnTo>
                  <a:lnTo>
                    <a:pt x="3" y="44"/>
                  </a:lnTo>
                  <a:lnTo>
                    <a:pt x="3" y="45"/>
                  </a:lnTo>
                  <a:lnTo>
                    <a:pt x="3" y="47"/>
                  </a:lnTo>
                  <a:lnTo>
                    <a:pt x="5" y="47"/>
                  </a:lnTo>
                  <a:lnTo>
                    <a:pt x="6" y="49"/>
                  </a:lnTo>
                  <a:lnTo>
                    <a:pt x="6" y="50"/>
                  </a:lnTo>
                  <a:lnTo>
                    <a:pt x="8" y="52"/>
                  </a:lnTo>
                  <a:lnTo>
                    <a:pt x="8" y="52"/>
                  </a:lnTo>
                  <a:lnTo>
                    <a:pt x="9" y="53"/>
                  </a:lnTo>
                  <a:lnTo>
                    <a:pt x="11" y="55"/>
                  </a:lnTo>
                  <a:lnTo>
                    <a:pt x="11" y="55"/>
                  </a:lnTo>
                  <a:lnTo>
                    <a:pt x="13" y="56"/>
                  </a:lnTo>
                  <a:lnTo>
                    <a:pt x="14" y="58"/>
                  </a:lnTo>
                  <a:lnTo>
                    <a:pt x="16" y="58"/>
                  </a:lnTo>
                  <a:lnTo>
                    <a:pt x="17" y="60"/>
                  </a:lnTo>
                  <a:lnTo>
                    <a:pt x="17" y="60"/>
                  </a:lnTo>
                  <a:lnTo>
                    <a:pt x="19" y="60"/>
                  </a:lnTo>
                  <a:lnTo>
                    <a:pt x="20" y="61"/>
                  </a:lnTo>
                  <a:lnTo>
                    <a:pt x="22" y="61"/>
                  </a:lnTo>
                  <a:lnTo>
                    <a:pt x="24" y="61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8" y="63"/>
                  </a:lnTo>
                  <a:lnTo>
                    <a:pt x="30" y="63"/>
                  </a:lnTo>
                  <a:lnTo>
                    <a:pt x="31" y="63"/>
                  </a:lnTo>
                  <a:lnTo>
                    <a:pt x="31" y="63"/>
                  </a:lnTo>
                  <a:lnTo>
                    <a:pt x="33" y="63"/>
                  </a:lnTo>
                  <a:lnTo>
                    <a:pt x="35" y="63"/>
                  </a:lnTo>
                  <a:lnTo>
                    <a:pt x="36" y="63"/>
                  </a:lnTo>
                  <a:lnTo>
                    <a:pt x="38" y="63"/>
                  </a:lnTo>
                  <a:lnTo>
                    <a:pt x="39" y="61"/>
                  </a:lnTo>
                  <a:lnTo>
                    <a:pt x="41" y="61"/>
                  </a:lnTo>
                  <a:lnTo>
                    <a:pt x="42" y="61"/>
                  </a:lnTo>
                  <a:lnTo>
                    <a:pt x="44" y="60"/>
                  </a:lnTo>
                  <a:lnTo>
                    <a:pt x="46" y="60"/>
                  </a:lnTo>
                  <a:lnTo>
                    <a:pt x="47" y="60"/>
                  </a:lnTo>
                  <a:lnTo>
                    <a:pt x="47" y="58"/>
                  </a:lnTo>
                  <a:lnTo>
                    <a:pt x="49" y="58"/>
                  </a:lnTo>
                  <a:lnTo>
                    <a:pt x="50" y="56"/>
                  </a:lnTo>
                  <a:lnTo>
                    <a:pt x="52" y="55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5" y="52"/>
                  </a:lnTo>
                  <a:lnTo>
                    <a:pt x="57" y="52"/>
                  </a:lnTo>
                  <a:lnTo>
                    <a:pt x="57" y="50"/>
                  </a:lnTo>
                  <a:lnTo>
                    <a:pt x="58" y="49"/>
                  </a:lnTo>
                  <a:lnTo>
                    <a:pt x="58" y="47"/>
                  </a:lnTo>
                  <a:lnTo>
                    <a:pt x="60" y="47"/>
                  </a:lnTo>
                  <a:lnTo>
                    <a:pt x="60" y="45"/>
                  </a:lnTo>
                  <a:lnTo>
                    <a:pt x="61" y="44"/>
                  </a:lnTo>
                  <a:lnTo>
                    <a:pt x="61" y="42"/>
                  </a:lnTo>
                  <a:lnTo>
                    <a:pt x="61" y="41"/>
                  </a:lnTo>
                  <a:lnTo>
                    <a:pt x="61" y="39"/>
                  </a:lnTo>
                  <a:lnTo>
                    <a:pt x="63" y="38"/>
                  </a:lnTo>
                  <a:lnTo>
                    <a:pt x="63" y="36"/>
                  </a:lnTo>
                  <a:lnTo>
                    <a:pt x="63" y="34"/>
                  </a:lnTo>
                  <a:lnTo>
                    <a:pt x="63" y="33"/>
                  </a:lnTo>
                  <a:lnTo>
                    <a:pt x="63" y="31"/>
                  </a:lnTo>
                  <a:lnTo>
                    <a:pt x="63" y="31"/>
                  </a:lnTo>
                  <a:lnTo>
                    <a:pt x="63" y="30"/>
                  </a:lnTo>
                  <a:lnTo>
                    <a:pt x="63" y="28"/>
                  </a:lnTo>
                  <a:lnTo>
                    <a:pt x="63" y="27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61" y="22"/>
                  </a:lnTo>
                  <a:lnTo>
                    <a:pt x="61" y="20"/>
                  </a:lnTo>
                  <a:lnTo>
                    <a:pt x="61" y="19"/>
                  </a:lnTo>
                  <a:lnTo>
                    <a:pt x="60" y="17"/>
                  </a:lnTo>
                  <a:lnTo>
                    <a:pt x="60" y="16"/>
                  </a:lnTo>
                  <a:lnTo>
                    <a:pt x="58" y="16"/>
                  </a:lnTo>
                  <a:lnTo>
                    <a:pt x="58" y="14"/>
                  </a:lnTo>
                  <a:lnTo>
                    <a:pt x="57" y="13"/>
                  </a:lnTo>
                  <a:lnTo>
                    <a:pt x="57" y="11"/>
                  </a:lnTo>
                  <a:lnTo>
                    <a:pt x="55" y="11"/>
                  </a:lnTo>
                  <a:lnTo>
                    <a:pt x="53" y="9"/>
                  </a:lnTo>
                  <a:lnTo>
                    <a:pt x="53" y="8"/>
                  </a:lnTo>
                  <a:lnTo>
                    <a:pt x="52" y="8"/>
                  </a:lnTo>
                  <a:lnTo>
                    <a:pt x="50" y="6"/>
                  </a:lnTo>
                  <a:lnTo>
                    <a:pt x="49" y="5"/>
                  </a:lnTo>
                  <a:lnTo>
                    <a:pt x="47" y="5"/>
                  </a:lnTo>
                  <a:lnTo>
                    <a:pt x="47" y="3"/>
                  </a:lnTo>
                  <a:lnTo>
                    <a:pt x="46" y="3"/>
                  </a:lnTo>
                  <a:lnTo>
                    <a:pt x="44" y="3"/>
                  </a:lnTo>
                  <a:lnTo>
                    <a:pt x="42" y="2"/>
                  </a:lnTo>
                  <a:lnTo>
                    <a:pt x="41" y="2"/>
                  </a:lnTo>
                  <a:lnTo>
                    <a:pt x="39" y="2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31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1"/>
            <p:cNvSpPr>
              <a:spLocks/>
            </p:cNvSpPr>
            <p:nvPr/>
          </p:nvSpPr>
          <p:spPr bwMode="auto">
            <a:xfrm>
              <a:off x="4107" y="3363"/>
              <a:ext cx="37" cy="28"/>
            </a:xfrm>
            <a:custGeom>
              <a:avLst/>
              <a:gdLst>
                <a:gd name="T0" fmla="*/ 35 w 77"/>
                <a:gd name="T1" fmla="*/ 0 h 76"/>
                <a:gd name="T2" fmla="*/ 28 w 77"/>
                <a:gd name="T3" fmla="*/ 1 h 76"/>
                <a:gd name="T4" fmla="*/ 24 w 77"/>
                <a:gd name="T5" fmla="*/ 3 h 76"/>
                <a:gd name="T6" fmla="*/ 19 w 77"/>
                <a:gd name="T7" fmla="*/ 4 h 76"/>
                <a:gd name="T8" fmla="*/ 14 w 77"/>
                <a:gd name="T9" fmla="*/ 7 h 76"/>
                <a:gd name="T10" fmla="*/ 10 w 77"/>
                <a:gd name="T11" fmla="*/ 12 h 76"/>
                <a:gd name="T12" fmla="*/ 6 w 77"/>
                <a:gd name="T13" fmla="*/ 17 h 76"/>
                <a:gd name="T14" fmla="*/ 3 w 77"/>
                <a:gd name="T15" fmla="*/ 21 h 76"/>
                <a:gd name="T16" fmla="*/ 2 w 77"/>
                <a:gd name="T17" fmla="*/ 26 h 76"/>
                <a:gd name="T18" fmla="*/ 0 w 77"/>
                <a:gd name="T19" fmla="*/ 31 h 76"/>
                <a:gd name="T20" fmla="*/ 0 w 77"/>
                <a:gd name="T21" fmla="*/ 37 h 76"/>
                <a:gd name="T22" fmla="*/ 0 w 77"/>
                <a:gd name="T23" fmla="*/ 42 h 76"/>
                <a:gd name="T24" fmla="*/ 2 w 77"/>
                <a:gd name="T25" fmla="*/ 47 h 76"/>
                <a:gd name="T26" fmla="*/ 3 w 77"/>
                <a:gd name="T27" fmla="*/ 53 h 76"/>
                <a:gd name="T28" fmla="*/ 5 w 77"/>
                <a:gd name="T29" fmla="*/ 58 h 76"/>
                <a:gd name="T30" fmla="*/ 8 w 77"/>
                <a:gd name="T31" fmla="*/ 62 h 76"/>
                <a:gd name="T32" fmla="*/ 13 w 77"/>
                <a:gd name="T33" fmla="*/ 65 h 76"/>
                <a:gd name="T34" fmla="*/ 17 w 77"/>
                <a:gd name="T35" fmla="*/ 69 h 76"/>
                <a:gd name="T36" fmla="*/ 22 w 77"/>
                <a:gd name="T37" fmla="*/ 72 h 76"/>
                <a:gd name="T38" fmla="*/ 27 w 77"/>
                <a:gd name="T39" fmla="*/ 75 h 76"/>
                <a:gd name="T40" fmla="*/ 33 w 77"/>
                <a:gd name="T41" fmla="*/ 75 h 76"/>
                <a:gd name="T42" fmla="*/ 38 w 77"/>
                <a:gd name="T43" fmla="*/ 76 h 76"/>
                <a:gd name="T44" fmla="*/ 43 w 77"/>
                <a:gd name="T45" fmla="*/ 75 h 76"/>
                <a:gd name="T46" fmla="*/ 47 w 77"/>
                <a:gd name="T47" fmla="*/ 75 h 76"/>
                <a:gd name="T48" fmla="*/ 54 w 77"/>
                <a:gd name="T49" fmla="*/ 73 h 76"/>
                <a:gd name="T50" fmla="*/ 58 w 77"/>
                <a:gd name="T51" fmla="*/ 70 h 76"/>
                <a:gd name="T52" fmla="*/ 63 w 77"/>
                <a:gd name="T53" fmla="*/ 67 h 76"/>
                <a:gd name="T54" fmla="*/ 66 w 77"/>
                <a:gd name="T55" fmla="*/ 64 h 76"/>
                <a:gd name="T56" fmla="*/ 71 w 77"/>
                <a:gd name="T57" fmla="*/ 59 h 76"/>
                <a:gd name="T58" fmla="*/ 72 w 77"/>
                <a:gd name="T59" fmla="*/ 54 h 76"/>
                <a:gd name="T60" fmla="*/ 76 w 77"/>
                <a:gd name="T61" fmla="*/ 48 h 76"/>
                <a:gd name="T62" fmla="*/ 76 w 77"/>
                <a:gd name="T63" fmla="*/ 43 h 76"/>
                <a:gd name="T64" fmla="*/ 77 w 77"/>
                <a:gd name="T65" fmla="*/ 37 h 76"/>
                <a:gd name="T66" fmla="*/ 77 w 77"/>
                <a:gd name="T67" fmla="*/ 34 h 76"/>
                <a:gd name="T68" fmla="*/ 76 w 77"/>
                <a:gd name="T69" fmla="*/ 28 h 76"/>
                <a:gd name="T70" fmla="*/ 74 w 77"/>
                <a:gd name="T71" fmla="*/ 23 h 76"/>
                <a:gd name="T72" fmla="*/ 71 w 77"/>
                <a:gd name="T73" fmla="*/ 18 h 76"/>
                <a:gd name="T74" fmla="*/ 68 w 77"/>
                <a:gd name="T75" fmla="*/ 14 h 76"/>
                <a:gd name="T76" fmla="*/ 65 w 77"/>
                <a:gd name="T77" fmla="*/ 9 h 76"/>
                <a:gd name="T78" fmla="*/ 60 w 77"/>
                <a:gd name="T79" fmla="*/ 6 h 76"/>
                <a:gd name="T80" fmla="*/ 55 w 77"/>
                <a:gd name="T81" fmla="*/ 3 h 76"/>
                <a:gd name="T82" fmla="*/ 50 w 77"/>
                <a:gd name="T83" fmla="*/ 1 h 76"/>
                <a:gd name="T84" fmla="*/ 44 w 77"/>
                <a:gd name="T85" fmla="*/ 0 h 76"/>
                <a:gd name="T86" fmla="*/ 38 w 77"/>
                <a:gd name="T8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7" h="76">
                  <a:moveTo>
                    <a:pt x="38" y="0"/>
                  </a:moveTo>
                  <a:lnTo>
                    <a:pt x="36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8" y="1"/>
                  </a:lnTo>
                  <a:lnTo>
                    <a:pt x="27" y="1"/>
                  </a:lnTo>
                  <a:lnTo>
                    <a:pt x="25" y="1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6"/>
                  </a:lnTo>
                  <a:lnTo>
                    <a:pt x="16" y="7"/>
                  </a:lnTo>
                  <a:lnTo>
                    <a:pt x="14" y="7"/>
                  </a:lnTo>
                  <a:lnTo>
                    <a:pt x="13" y="9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8" y="14"/>
                  </a:lnTo>
                  <a:lnTo>
                    <a:pt x="8" y="15"/>
                  </a:lnTo>
                  <a:lnTo>
                    <a:pt x="6" y="17"/>
                  </a:lnTo>
                  <a:lnTo>
                    <a:pt x="5" y="18"/>
                  </a:lnTo>
                  <a:lnTo>
                    <a:pt x="5" y="20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2" y="47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8"/>
                  </a:lnTo>
                  <a:lnTo>
                    <a:pt x="6" y="59"/>
                  </a:lnTo>
                  <a:lnTo>
                    <a:pt x="8" y="61"/>
                  </a:lnTo>
                  <a:lnTo>
                    <a:pt x="8" y="62"/>
                  </a:lnTo>
                  <a:lnTo>
                    <a:pt x="10" y="64"/>
                  </a:lnTo>
                  <a:lnTo>
                    <a:pt x="11" y="64"/>
                  </a:lnTo>
                  <a:lnTo>
                    <a:pt x="13" y="65"/>
                  </a:lnTo>
                  <a:lnTo>
                    <a:pt x="14" y="67"/>
                  </a:lnTo>
                  <a:lnTo>
                    <a:pt x="16" y="69"/>
                  </a:lnTo>
                  <a:lnTo>
                    <a:pt x="17" y="69"/>
                  </a:lnTo>
                  <a:lnTo>
                    <a:pt x="19" y="70"/>
                  </a:lnTo>
                  <a:lnTo>
                    <a:pt x="21" y="72"/>
                  </a:lnTo>
                  <a:lnTo>
                    <a:pt x="22" y="72"/>
                  </a:lnTo>
                  <a:lnTo>
                    <a:pt x="24" y="73"/>
                  </a:lnTo>
                  <a:lnTo>
                    <a:pt x="25" y="73"/>
                  </a:lnTo>
                  <a:lnTo>
                    <a:pt x="27" y="75"/>
                  </a:lnTo>
                  <a:lnTo>
                    <a:pt x="28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5" y="75"/>
                  </a:lnTo>
                  <a:lnTo>
                    <a:pt x="36" y="76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41" y="76"/>
                  </a:lnTo>
                  <a:lnTo>
                    <a:pt x="43" y="75"/>
                  </a:lnTo>
                  <a:lnTo>
                    <a:pt x="44" y="75"/>
                  </a:lnTo>
                  <a:lnTo>
                    <a:pt x="46" y="75"/>
                  </a:lnTo>
                  <a:lnTo>
                    <a:pt x="47" y="75"/>
                  </a:lnTo>
                  <a:lnTo>
                    <a:pt x="50" y="75"/>
                  </a:lnTo>
                  <a:lnTo>
                    <a:pt x="52" y="73"/>
                  </a:lnTo>
                  <a:lnTo>
                    <a:pt x="54" y="73"/>
                  </a:lnTo>
                  <a:lnTo>
                    <a:pt x="55" y="72"/>
                  </a:lnTo>
                  <a:lnTo>
                    <a:pt x="57" y="72"/>
                  </a:lnTo>
                  <a:lnTo>
                    <a:pt x="58" y="70"/>
                  </a:lnTo>
                  <a:lnTo>
                    <a:pt x="60" y="69"/>
                  </a:lnTo>
                  <a:lnTo>
                    <a:pt x="61" y="69"/>
                  </a:lnTo>
                  <a:lnTo>
                    <a:pt x="63" y="67"/>
                  </a:lnTo>
                  <a:lnTo>
                    <a:pt x="65" y="65"/>
                  </a:lnTo>
                  <a:lnTo>
                    <a:pt x="66" y="64"/>
                  </a:lnTo>
                  <a:lnTo>
                    <a:pt x="66" y="64"/>
                  </a:lnTo>
                  <a:lnTo>
                    <a:pt x="68" y="62"/>
                  </a:lnTo>
                  <a:lnTo>
                    <a:pt x="69" y="61"/>
                  </a:lnTo>
                  <a:lnTo>
                    <a:pt x="71" y="59"/>
                  </a:lnTo>
                  <a:lnTo>
                    <a:pt x="71" y="58"/>
                  </a:lnTo>
                  <a:lnTo>
                    <a:pt x="72" y="56"/>
                  </a:lnTo>
                  <a:lnTo>
                    <a:pt x="72" y="54"/>
                  </a:lnTo>
                  <a:lnTo>
                    <a:pt x="74" y="53"/>
                  </a:lnTo>
                  <a:lnTo>
                    <a:pt x="74" y="51"/>
                  </a:lnTo>
                  <a:lnTo>
                    <a:pt x="76" y="48"/>
                  </a:lnTo>
                  <a:lnTo>
                    <a:pt x="76" y="47"/>
                  </a:lnTo>
                  <a:lnTo>
                    <a:pt x="76" y="45"/>
                  </a:lnTo>
                  <a:lnTo>
                    <a:pt x="76" y="43"/>
                  </a:lnTo>
                  <a:lnTo>
                    <a:pt x="77" y="42"/>
                  </a:lnTo>
                  <a:lnTo>
                    <a:pt x="77" y="39"/>
                  </a:lnTo>
                  <a:lnTo>
                    <a:pt x="77" y="37"/>
                  </a:lnTo>
                  <a:lnTo>
                    <a:pt x="77" y="37"/>
                  </a:lnTo>
                  <a:lnTo>
                    <a:pt x="77" y="36"/>
                  </a:lnTo>
                  <a:lnTo>
                    <a:pt x="77" y="34"/>
                  </a:lnTo>
                  <a:lnTo>
                    <a:pt x="76" y="31"/>
                  </a:lnTo>
                  <a:lnTo>
                    <a:pt x="76" y="29"/>
                  </a:lnTo>
                  <a:lnTo>
                    <a:pt x="76" y="28"/>
                  </a:lnTo>
                  <a:lnTo>
                    <a:pt x="76" y="26"/>
                  </a:lnTo>
                  <a:lnTo>
                    <a:pt x="74" y="25"/>
                  </a:lnTo>
                  <a:lnTo>
                    <a:pt x="74" y="23"/>
                  </a:lnTo>
                  <a:lnTo>
                    <a:pt x="72" y="21"/>
                  </a:lnTo>
                  <a:lnTo>
                    <a:pt x="72" y="20"/>
                  </a:lnTo>
                  <a:lnTo>
                    <a:pt x="71" y="18"/>
                  </a:lnTo>
                  <a:lnTo>
                    <a:pt x="71" y="17"/>
                  </a:lnTo>
                  <a:lnTo>
                    <a:pt x="69" y="15"/>
                  </a:lnTo>
                  <a:lnTo>
                    <a:pt x="68" y="14"/>
                  </a:lnTo>
                  <a:lnTo>
                    <a:pt x="66" y="12"/>
                  </a:lnTo>
                  <a:lnTo>
                    <a:pt x="66" y="11"/>
                  </a:lnTo>
                  <a:lnTo>
                    <a:pt x="65" y="9"/>
                  </a:lnTo>
                  <a:lnTo>
                    <a:pt x="63" y="7"/>
                  </a:lnTo>
                  <a:lnTo>
                    <a:pt x="61" y="7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7" y="4"/>
                  </a:lnTo>
                  <a:lnTo>
                    <a:pt x="55" y="3"/>
                  </a:lnTo>
                  <a:lnTo>
                    <a:pt x="54" y="3"/>
                  </a:lnTo>
                  <a:lnTo>
                    <a:pt x="52" y="1"/>
                  </a:lnTo>
                  <a:lnTo>
                    <a:pt x="50" y="1"/>
                  </a:lnTo>
                  <a:lnTo>
                    <a:pt x="47" y="1"/>
                  </a:lnTo>
                  <a:lnTo>
                    <a:pt x="46" y="0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8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32"/>
            <p:cNvSpPr>
              <a:spLocks noChangeArrowheads="1"/>
            </p:cNvSpPr>
            <p:nvPr/>
          </p:nvSpPr>
          <p:spPr bwMode="auto">
            <a:xfrm>
              <a:off x="1830" y="2821"/>
              <a:ext cx="40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Times-Roman"/>
                </a:rPr>
                <a:t>Clock </a:t>
              </a:r>
              <a:endParaRPr lang="en-US" altLang="en-US"/>
            </a:p>
          </p:txBody>
        </p:sp>
        <p:sp>
          <p:nvSpPr>
            <p:cNvPr id="36" name="Rectangle 33"/>
            <p:cNvSpPr>
              <a:spLocks noChangeArrowheads="1"/>
            </p:cNvSpPr>
            <p:nvPr/>
          </p:nvSpPr>
          <p:spPr bwMode="auto">
            <a:xfrm>
              <a:off x="3611" y="1706"/>
              <a:ext cx="40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Times-Roman"/>
                </a:rPr>
                <a:t>Select</a:t>
              </a:r>
              <a:endParaRPr lang="en-US" altLang="en-US"/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>
              <a:off x="4132" y="3370"/>
              <a:ext cx="1" cy="33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35"/>
            <p:cNvSpPr>
              <a:spLocks noChangeArrowheads="1"/>
            </p:cNvSpPr>
            <p:nvPr/>
          </p:nvSpPr>
          <p:spPr bwMode="auto">
            <a:xfrm>
              <a:off x="4325" y="1787"/>
              <a:ext cx="4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Times-Roman"/>
                </a:rPr>
                <a:t>Enable</a:t>
              </a:r>
              <a:endParaRPr lang="en-US" altLang="en-US"/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3782" y="1844"/>
              <a:ext cx="1" cy="16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 flipH="1">
              <a:off x="4694" y="2163"/>
              <a:ext cx="304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>
              <a:off x="4512" y="1924"/>
              <a:ext cx="1" cy="17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39"/>
            <p:cNvSpPr>
              <a:spLocks noChangeArrowheads="1"/>
            </p:cNvSpPr>
            <p:nvPr/>
          </p:nvSpPr>
          <p:spPr bwMode="auto">
            <a:xfrm>
              <a:off x="2535" y="2402"/>
              <a:ext cx="532" cy="649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0"/>
            <p:cNvSpPr>
              <a:spLocks/>
            </p:cNvSpPr>
            <p:nvPr/>
          </p:nvSpPr>
          <p:spPr bwMode="auto">
            <a:xfrm>
              <a:off x="3675" y="1958"/>
              <a:ext cx="213" cy="410"/>
            </a:xfrm>
            <a:custGeom>
              <a:avLst/>
              <a:gdLst>
                <a:gd name="T0" fmla="*/ 439 w 439"/>
                <a:gd name="T1" fmla="*/ 910 h 1129"/>
                <a:gd name="T2" fmla="*/ 439 w 439"/>
                <a:gd name="T3" fmla="*/ 219 h 1129"/>
                <a:gd name="T4" fmla="*/ 0 w 439"/>
                <a:gd name="T5" fmla="*/ 0 h 1129"/>
                <a:gd name="T6" fmla="*/ 0 w 439"/>
                <a:gd name="T7" fmla="*/ 1129 h 1129"/>
                <a:gd name="T8" fmla="*/ 439 w 439"/>
                <a:gd name="T9" fmla="*/ 910 h 1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9" h="1129">
                  <a:moveTo>
                    <a:pt x="439" y="910"/>
                  </a:moveTo>
                  <a:lnTo>
                    <a:pt x="439" y="219"/>
                  </a:lnTo>
                  <a:lnTo>
                    <a:pt x="0" y="0"/>
                  </a:lnTo>
                  <a:lnTo>
                    <a:pt x="0" y="1129"/>
                  </a:lnTo>
                  <a:lnTo>
                    <a:pt x="439" y="910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1"/>
            <p:cNvSpPr>
              <a:spLocks/>
            </p:cNvSpPr>
            <p:nvPr/>
          </p:nvSpPr>
          <p:spPr bwMode="auto">
            <a:xfrm>
              <a:off x="4375" y="2038"/>
              <a:ext cx="319" cy="250"/>
            </a:xfrm>
            <a:custGeom>
              <a:avLst/>
              <a:gdLst>
                <a:gd name="T0" fmla="*/ 659 w 659"/>
                <a:gd name="T1" fmla="*/ 345 h 691"/>
                <a:gd name="T2" fmla="*/ 0 w 659"/>
                <a:gd name="T3" fmla="*/ 691 h 691"/>
                <a:gd name="T4" fmla="*/ 0 w 659"/>
                <a:gd name="T5" fmla="*/ 0 h 691"/>
                <a:gd name="T6" fmla="*/ 659 w 659"/>
                <a:gd name="T7" fmla="*/ 345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9" h="691">
                  <a:moveTo>
                    <a:pt x="659" y="345"/>
                  </a:moveTo>
                  <a:lnTo>
                    <a:pt x="0" y="691"/>
                  </a:lnTo>
                  <a:lnTo>
                    <a:pt x="0" y="0"/>
                  </a:lnTo>
                  <a:lnTo>
                    <a:pt x="659" y="345"/>
                  </a:lnTo>
                  <a:close/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2"/>
            <p:cNvSpPr>
              <a:spLocks/>
            </p:cNvSpPr>
            <p:nvPr/>
          </p:nvSpPr>
          <p:spPr bwMode="auto">
            <a:xfrm>
              <a:off x="3157" y="3676"/>
              <a:ext cx="65" cy="49"/>
            </a:xfrm>
            <a:custGeom>
              <a:avLst/>
              <a:gdLst>
                <a:gd name="T0" fmla="*/ 73 w 133"/>
                <a:gd name="T1" fmla="*/ 132 h 133"/>
                <a:gd name="T2" fmla="*/ 83 w 133"/>
                <a:gd name="T3" fmla="*/ 130 h 133"/>
                <a:gd name="T4" fmla="*/ 92 w 133"/>
                <a:gd name="T5" fmla="*/ 127 h 133"/>
                <a:gd name="T6" fmla="*/ 100 w 133"/>
                <a:gd name="T7" fmla="*/ 122 h 133"/>
                <a:gd name="T8" fmla="*/ 108 w 133"/>
                <a:gd name="T9" fmla="*/ 118 h 133"/>
                <a:gd name="T10" fmla="*/ 116 w 133"/>
                <a:gd name="T11" fmla="*/ 111 h 133"/>
                <a:gd name="T12" fmla="*/ 121 w 133"/>
                <a:gd name="T13" fmla="*/ 104 h 133"/>
                <a:gd name="T14" fmla="*/ 127 w 133"/>
                <a:gd name="T15" fmla="*/ 96 h 133"/>
                <a:gd name="T16" fmla="*/ 130 w 133"/>
                <a:gd name="T17" fmla="*/ 86 h 133"/>
                <a:gd name="T18" fmla="*/ 132 w 133"/>
                <a:gd name="T19" fmla="*/ 77 h 133"/>
                <a:gd name="T20" fmla="*/ 133 w 133"/>
                <a:gd name="T21" fmla="*/ 66 h 133"/>
                <a:gd name="T22" fmla="*/ 132 w 133"/>
                <a:gd name="T23" fmla="*/ 60 h 133"/>
                <a:gd name="T24" fmla="*/ 130 w 133"/>
                <a:gd name="T25" fmla="*/ 50 h 133"/>
                <a:gd name="T26" fmla="*/ 127 w 133"/>
                <a:gd name="T27" fmla="*/ 41 h 133"/>
                <a:gd name="T28" fmla="*/ 124 w 133"/>
                <a:gd name="T29" fmla="*/ 31 h 133"/>
                <a:gd name="T30" fmla="*/ 117 w 133"/>
                <a:gd name="T31" fmla="*/ 24 h 133"/>
                <a:gd name="T32" fmla="*/ 111 w 133"/>
                <a:gd name="T33" fmla="*/ 17 h 133"/>
                <a:gd name="T34" fmla="*/ 103 w 133"/>
                <a:gd name="T35" fmla="*/ 11 h 133"/>
                <a:gd name="T36" fmla="*/ 95 w 133"/>
                <a:gd name="T37" fmla="*/ 6 h 133"/>
                <a:gd name="T38" fmla="*/ 86 w 133"/>
                <a:gd name="T39" fmla="*/ 3 h 133"/>
                <a:gd name="T40" fmla="*/ 77 w 133"/>
                <a:gd name="T41" fmla="*/ 0 h 133"/>
                <a:gd name="T42" fmla="*/ 66 w 133"/>
                <a:gd name="T43" fmla="*/ 0 h 133"/>
                <a:gd name="T44" fmla="*/ 59 w 133"/>
                <a:gd name="T45" fmla="*/ 0 h 133"/>
                <a:gd name="T46" fmla="*/ 50 w 133"/>
                <a:gd name="T47" fmla="*/ 2 h 133"/>
                <a:gd name="T48" fmla="*/ 41 w 133"/>
                <a:gd name="T49" fmla="*/ 5 h 133"/>
                <a:gd name="T50" fmla="*/ 31 w 133"/>
                <a:gd name="T51" fmla="*/ 9 h 133"/>
                <a:gd name="T52" fmla="*/ 23 w 133"/>
                <a:gd name="T53" fmla="*/ 14 h 133"/>
                <a:gd name="T54" fmla="*/ 17 w 133"/>
                <a:gd name="T55" fmla="*/ 22 h 133"/>
                <a:gd name="T56" fmla="*/ 11 w 133"/>
                <a:gd name="T57" fmla="*/ 30 h 133"/>
                <a:gd name="T58" fmla="*/ 6 w 133"/>
                <a:gd name="T59" fmla="*/ 38 h 133"/>
                <a:gd name="T60" fmla="*/ 3 w 133"/>
                <a:gd name="T61" fmla="*/ 47 h 133"/>
                <a:gd name="T62" fmla="*/ 0 w 133"/>
                <a:gd name="T63" fmla="*/ 56 h 133"/>
                <a:gd name="T64" fmla="*/ 0 w 133"/>
                <a:gd name="T65" fmla="*/ 66 h 133"/>
                <a:gd name="T66" fmla="*/ 0 w 133"/>
                <a:gd name="T67" fmla="*/ 74 h 133"/>
                <a:gd name="T68" fmla="*/ 1 w 133"/>
                <a:gd name="T69" fmla="*/ 83 h 133"/>
                <a:gd name="T70" fmla="*/ 4 w 133"/>
                <a:gd name="T71" fmla="*/ 93 h 133"/>
                <a:gd name="T72" fmla="*/ 9 w 133"/>
                <a:gd name="T73" fmla="*/ 100 h 133"/>
                <a:gd name="T74" fmla="*/ 15 w 133"/>
                <a:gd name="T75" fmla="*/ 108 h 133"/>
                <a:gd name="T76" fmla="*/ 22 w 133"/>
                <a:gd name="T77" fmla="*/ 116 h 133"/>
                <a:gd name="T78" fmla="*/ 30 w 133"/>
                <a:gd name="T79" fmla="*/ 121 h 133"/>
                <a:gd name="T80" fmla="*/ 37 w 133"/>
                <a:gd name="T81" fmla="*/ 125 h 133"/>
                <a:gd name="T82" fmla="*/ 47 w 133"/>
                <a:gd name="T83" fmla="*/ 130 h 133"/>
                <a:gd name="T84" fmla="*/ 56 w 133"/>
                <a:gd name="T85" fmla="*/ 132 h 133"/>
                <a:gd name="T86" fmla="*/ 66 w 133"/>
                <a:gd name="T8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3" h="133">
                  <a:moveTo>
                    <a:pt x="66" y="133"/>
                  </a:moveTo>
                  <a:lnTo>
                    <a:pt x="69" y="133"/>
                  </a:lnTo>
                  <a:lnTo>
                    <a:pt x="73" y="132"/>
                  </a:lnTo>
                  <a:lnTo>
                    <a:pt x="77" y="132"/>
                  </a:lnTo>
                  <a:lnTo>
                    <a:pt x="80" y="132"/>
                  </a:lnTo>
                  <a:lnTo>
                    <a:pt x="83" y="130"/>
                  </a:lnTo>
                  <a:lnTo>
                    <a:pt x="86" y="130"/>
                  </a:lnTo>
                  <a:lnTo>
                    <a:pt x="89" y="129"/>
                  </a:lnTo>
                  <a:lnTo>
                    <a:pt x="92" y="127"/>
                  </a:lnTo>
                  <a:lnTo>
                    <a:pt x="95" y="125"/>
                  </a:lnTo>
                  <a:lnTo>
                    <a:pt x="97" y="124"/>
                  </a:lnTo>
                  <a:lnTo>
                    <a:pt x="100" y="122"/>
                  </a:lnTo>
                  <a:lnTo>
                    <a:pt x="103" y="121"/>
                  </a:lnTo>
                  <a:lnTo>
                    <a:pt x="106" y="119"/>
                  </a:lnTo>
                  <a:lnTo>
                    <a:pt x="108" y="118"/>
                  </a:lnTo>
                  <a:lnTo>
                    <a:pt x="111" y="116"/>
                  </a:lnTo>
                  <a:lnTo>
                    <a:pt x="113" y="113"/>
                  </a:lnTo>
                  <a:lnTo>
                    <a:pt x="116" y="111"/>
                  </a:lnTo>
                  <a:lnTo>
                    <a:pt x="117" y="108"/>
                  </a:lnTo>
                  <a:lnTo>
                    <a:pt x="119" y="107"/>
                  </a:lnTo>
                  <a:lnTo>
                    <a:pt x="121" y="104"/>
                  </a:lnTo>
                  <a:lnTo>
                    <a:pt x="124" y="100"/>
                  </a:lnTo>
                  <a:lnTo>
                    <a:pt x="125" y="97"/>
                  </a:lnTo>
                  <a:lnTo>
                    <a:pt x="127" y="96"/>
                  </a:lnTo>
                  <a:lnTo>
                    <a:pt x="127" y="93"/>
                  </a:lnTo>
                  <a:lnTo>
                    <a:pt x="128" y="89"/>
                  </a:lnTo>
                  <a:lnTo>
                    <a:pt x="130" y="86"/>
                  </a:lnTo>
                  <a:lnTo>
                    <a:pt x="130" y="83"/>
                  </a:lnTo>
                  <a:lnTo>
                    <a:pt x="132" y="80"/>
                  </a:lnTo>
                  <a:lnTo>
                    <a:pt x="132" y="77"/>
                  </a:lnTo>
                  <a:lnTo>
                    <a:pt x="132" y="74"/>
                  </a:lnTo>
                  <a:lnTo>
                    <a:pt x="133" y="69"/>
                  </a:lnTo>
                  <a:lnTo>
                    <a:pt x="133" y="66"/>
                  </a:lnTo>
                  <a:lnTo>
                    <a:pt x="133" y="66"/>
                  </a:lnTo>
                  <a:lnTo>
                    <a:pt x="133" y="63"/>
                  </a:lnTo>
                  <a:lnTo>
                    <a:pt x="132" y="60"/>
                  </a:lnTo>
                  <a:lnTo>
                    <a:pt x="132" y="56"/>
                  </a:lnTo>
                  <a:lnTo>
                    <a:pt x="132" y="53"/>
                  </a:lnTo>
                  <a:lnTo>
                    <a:pt x="130" y="50"/>
                  </a:lnTo>
                  <a:lnTo>
                    <a:pt x="130" y="47"/>
                  </a:lnTo>
                  <a:lnTo>
                    <a:pt x="128" y="44"/>
                  </a:lnTo>
                  <a:lnTo>
                    <a:pt x="127" y="41"/>
                  </a:lnTo>
                  <a:lnTo>
                    <a:pt x="127" y="38"/>
                  </a:lnTo>
                  <a:lnTo>
                    <a:pt x="125" y="34"/>
                  </a:lnTo>
                  <a:lnTo>
                    <a:pt x="124" y="31"/>
                  </a:lnTo>
                  <a:lnTo>
                    <a:pt x="121" y="30"/>
                  </a:lnTo>
                  <a:lnTo>
                    <a:pt x="119" y="27"/>
                  </a:lnTo>
                  <a:lnTo>
                    <a:pt x="117" y="24"/>
                  </a:lnTo>
                  <a:lnTo>
                    <a:pt x="116" y="22"/>
                  </a:lnTo>
                  <a:lnTo>
                    <a:pt x="113" y="19"/>
                  </a:lnTo>
                  <a:lnTo>
                    <a:pt x="111" y="17"/>
                  </a:lnTo>
                  <a:lnTo>
                    <a:pt x="108" y="14"/>
                  </a:lnTo>
                  <a:lnTo>
                    <a:pt x="106" y="13"/>
                  </a:lnTo>
                  <a:lnTo>
                    <a:pt x="103" y="11"/>
                  </a:lnTo>
                  <a:lnTo>
                    <a:pt x="100" y="9"/>
                  </a:lnTo>
                  <a:lnTo>
                    <a:pt x="97" y="8"/>
                  </a:lnTo>
                  <a:lnTo>
                    <a:pt x="95" y="6"/>
                  </a:lnTo>
                  <a:lnTo>
                    <a:pt x="92" y="5"/>
                  </a:lnTo>
                  <a:lnTo>
                    <a:pt x="89" y="3"/>
                  </a:lnTo>
                  <a:lnTo>
                    <a:pt x="86" y="3"/>
                  </a:lnTo>
                  <a:lnTo>
                    <a:pt x="83" y="2"/>
                  </a:lnTo>
                  <a:lnTo>
                    <a:pt x="80" y="2"/>
                  </a:lnTo>
                  <a:lnTo>
                    <a:pt x="77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3" y="0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3" y="2"/>
                  </a:lnTo>
                  <a:lnTo>
                    <a:pt x="50" y="2"/>
                  </a:lnTo>
                  <a:lnTo>
                    <a:pt x="47" y="3"/>
                  </a:lnTo>
                  <a:lnTo>
                    <a:pt x="44" y="3"/>
                  </a:lnTo>
                  <a:lnTo>
                    <a:pt x="41" y="5"/>
                  </a:lnTo>
                  <a:lnTo>
                    <a:pt x="37" y="6"/>
                  </a:lnTo>
                  <a:lnTo>
                    <a:pt x="34" y="8"/>
                  </a:lnTo>
                  <a:lnTo>
                    <a:pt x="31" y="9"/>
                  </a:lnTo>
                  <a:lnTo>
                    <a:pt x="30" y="11"/>
                  </a:lnTo>
                  <a:lnTo>
                    <a:pt x="26" y="13"/>
                  </a:lnTo>
                  <a:lnTo>
                    <a:pt x="23" y="14"/>
                  </a:lnTo>
                  <a:lnTo>
                    <a:pt x="22" y="17"/>
                  </a:lnTo>
                  <a:lnTo>
                    <a:pt x="19" y="19"/>
                  </a:lnTo>
                  <a:lnTo>
                    <a:pt x="17" y="22"/>
                  </a:lnTo>
                  <a:lnTo>
                    <a:pt x="15" y="24"/>
                  </a:lnTo>
                  <a:lnTo>
                    <a:pt x="12" y="27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4" y="41"/>
                  </a:lnTo>
                  <a:lnTo>
                    <a:pt x="3" y="44"/>
                  </a:lnTo>
                  <a:lnTo>
                    <a:pt x="3" y="47"/>
                  </a:lnTo>
                  <a:lnTo>
                    <a:pt x="1" y="50"/>
                  </a:lnTo>
                  <a:lnTo>
                    <a:pt x="1" y="53"/>
                  </a:lnTo>
                  <a:lnTo>
                    <a:pt x="0" y="56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9"/>
                  </a:lnTo>
                  <a:lnTo>
                    <a:pt x="0" y="74"/>
                  </a:lnTo>
                  <a:lnTo>
                    <a:pt x="0" y="77"/>
                  </a:lnTo>
                  <a:lnTo>
                    <a:pt x="1" y="80"/>
                  </a:lnTo>
                  <a:lnTo>
                    <a:pt x="1" y="83"/>
                  </a:lnTo>
                  <a:lnTo>
                    <a:pt x="3" y="86"/>
                  </a:lnTo>
                  <a:lnTo>
                    <a:pt x="3" y="89"/>
                  </a:lnTo>
                  <a:lnTo>
                    <a:pt x="4" y="93"/>
                  </a:lnTo>
                  <a:lnTo>
                    <a:pt x="6" y="96"/>
                  </a:lnTo>
                  <a:lnTo>
                    <a:pt x="8" y="97"/>
                  </a:lnTo>
                  <a:lnTo>
                    <a:pt x="9" y="100"/>
                  </a:lnTo>
                  <a:lnTo>
                    <a:pt x="11" y="104"/>
                  </a:lnTo>
                  <a:lnTo>
                    <a:pt x="12" y="107"/>
                  </a:lnTo>
                  <a:lnTo>
                    <a:pt x="15" y="108"/>
                  </a:lnTo>
                  <a:lnTo>
                    <a:pt x="17" y="111"/>
                  </a:lnTo>
                  <a:lnTo>
                    <a:pt x="19" y="113"/>
                  </a:lnTo>
                  <a:lnTo>
                    <a:pt x="22" y="116"/>
                  </a:lnTo>
                  <a:lnTo>
                    <a:pt x="23" y="118"/>
                  </a:lnTo>
                  <a:lnTo>
                    <a:pt x="26" y="119"/>
                  </a:lnTo>
                  <a:lnTo>
                    <a:pt x="30" y="121"/>
                  </a:lnTo>
                  <a:lnTo>
                    <a:pt x="31" y="122"/>
                  </a:lnTo>
                  <a:lnTo>
                    <a:pt x="34" y="124"/>
                  </a:lnTo>
                  <a:lnTo>
                    <a:pt x="37" y="125"/>
                  </a:lnTo>
                  <a:lnTo>
                    <a:pt x="41" y="127"/>
                  </a:lnTo>
                  <a:lnTo>
                    <a:pt x="44" y="129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3" y="132"/>
                  </a:lnTo>
                  <a:lnTo>
                    <a:pt x="56" y="132"/>
                  </a:lnTo>
                  <a:lnTo>
                    <a:pt x="59" y="132"/>
                  </a:lnTo>
                  <a:lnTo>
                    <a:pt x="63" y="133"/>
                  </a:lnTo>
                  <a:lnTo>
                    <a:pt x="66" y="133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3"/>
            <p:cNvSpPr>
              <a:spLocks/>
            </p:cNvSpPr>
            <p:nvPr/>
          </p:nvSpPr>
          <p:spPr bwMode="auto">
            <a:xfrm>
              <a:off x="1150" y="2436"/>
              <a:ext cx="456" cy="262"/>
            </a:xfrm>
            <a:custGeom>
              <a:avLst/>
              <a:gdLst>
                <a:gd name="T0" fmla="*/ 32 w 942"/>
                <a:gd name="T1" fmla="*/ 691 h 722"/>
                <a:gd name="T2" fmla="*/ 32 w 942"/>
                <a:gd name="T3" fmla="*/ 659 h 722"/>
                <a:gd name="T4" fmla="*/ 63 w 942"/>
                <a:gd name="T5" fmla="*/ 628 h 722"/>
                <a:gd name="T6" fmla="*/ 63 w 942"/>
                <a:gd name="T7" fmla="*/ 565 h 722"/>
                <a:gd name="T8" fmla="*/ 95 w 942"/>
                <a:gd name="T9" fmla="*/ 502 h 722"/>
                <a:gd name="T10" fmla="*/ 95 w 942"/>
                <a:gd name="T11" fmla="*/ 440 h 722"/>
                <a:gd name="T12" fmla="*/ 95 w 942"/>
                <a:gd name="T13" fmla="*/ 408 h 722"/>
                <a:gd name="T14" fmla="*/ 95 w 942"/>
                <a:gd name="T15" fmla="*/ 377 h 722"/>
                <a:gd name="T16" fmla="*/ 95 w 942"/>
                <a:gd name="T17" fmla="*/ 314 h 722"/>
                <a:gd name="T18" fmla="*/ 95 w 942"/>
                <a:gd name="T19" fmla="*/ 283 h 722"/>
                <a:gd name="T20" fmla="*/ 95 w 942"/>
                <a:gd name="T21" fmla="*/ 189 h 722"/>
                <a:gd name="T22" fmla="*/ 63 w 942"/>
                <a:gd name="T23" fmla="*/ 126 h 722"/>
                <a:gd name="T24" fmla="*/ 32 w 942"/>
                <a:gd name="T25" fmla="*/ 95 h 722"/>
                <a:gd name="T26" fmla="*/ 32 w 942"/>
                <a:gd name="T27" fmla="*/ 32 h 722"/>
                <a:gd name="T28" fmla="*/ 0 w 942"/>
                <a:gd name="T29" fmla="*/ 0 h 722"/>
                <a:gd name="T30" fmla="*/ 409 w 942"/>
                <a:gd name="T31" fmla="*/ 0 h 722"/>
                <a:gd name="T32" fmla="*/ 440 w 942"/>
                <a:gd name="T33" fmla="*/ 0 h 722"/>
                <a:gd name="T34" fmla="*/ 471 w 942"/>
                <a:gd name="T35" fmla="*/ 0 h 722"/>
                <a:gd name="T36" fmla="*/ 534 w 942"/>
                <a:gd name="T37" fmla="*/ 0 h 722"/>
                <a:gd name="T38" fmla="*/ 565 w 942"/>
                <a:gd name="T39" fmla="*/ 32 h 722"/>
                <a:gd name="T40" fmla="*/ 628 w 942"/>
                <a:gd name="T41" fmla="*/ 32 h 722"/>
                <a:gd name="T42" fmla="*/ 691 w 942"/>
                <a:gd name="T43" fmla="*/ 63 h 722"/>
                <a:gd name="T44" fmla="*/ 722 w 942"/>
                <a:gd name="T45" fmla="*/ 95 h 722"/>
                <a:gd name="T46" fmla="*/ 754 w 942"/>
                <a:gd name="T47" fmla="*/ 126 h 722"/>
                <a:gd name="T48" fmla="*/ 785 w 942"/>
                <a:gd name="T49" fmla="*/ 157 h 722"/>
                <a:gd name="T50" fmla="*/ 817 w 942"/>
                <a:gd name="T51" fmla="*/ 189 h 722"/>
                <a:gd name="T52" fmla="*/ 879 w 942"/>
                <a:gd name="T53" fmla="*/ 251 h 722"/>
                <a:gd name="T54" fmla="*/ 879 w 942"/>
                <a:gd name="T55" fmla="*/ 283 h 722"/>
                <a:gd name="T56" fmla="*/ 911 w 942"/>
                <a:gd name="T57" fmla="*/ 314 h 722"/>
                <a:gd name="T58" fmla="*/ 942 w 942"/>
                <a:gd name="T59" fmla="*/ 377 h 722"/>
                <a:gd name="T60" fmla="*/ 911 w 942"/>
                <a:gd name="T61" fmla="*/ 408 h 722"/>
                <a:gd name="T62" fmla="*/ 879 w 942"/>
                <a:gd name="T63" fmla="*/ 440 h 722"/>
                <a:gd name="T64" fmla="*/ 848 w 942"/>
                <a:gd name="T65" fmla="*/ 502 h 722"/>
                <a:gd name="T66" fmla="*/ 817 w 942"/>
                <a:gd name="T67" fmla="*/ 534 h 722"/>
                <a:gd name="T68" fmla="*/ 785 w 942"/>
                <a:gd name="T69" fmla="*/ 565 h 722"/>
                <a:gd name="T70" fmla="*/ 754 w 942"/>
                <a:gd name="T71" fmla="*/ 597 h 722"/>
                <a:gd name="T72" fmla="*/ 691 w 942"/>
                <a:gd name="T73" fmla="*/ 628 h 722"/>
                <a:gd name="T74" fmla="*/ 628 w 942"/>
                <a:gd name="T75" fmla="*/ 691 h 722"/>
                <a:gd name="T76" fmla="*/ 565 w 942"/>
                <a:gd name="T77" fmla="*/ 691 h 722"/>
                <a:gd name="T78" fmla="*/ 503 w 942"/>
                <a:gd name="T79" fmla="*/ 722 h 722"/>
                <a:gd name="T80" fmla="*/ 471 w 942"/>
                <a:gd name="T81" fmla="*/ 722 h 722"/>
                <a:gd name="T82" fmla="*/ 409 w 942"/>
                <a:gd name="T83" fmla="*/ 722 h 722"/>
                <a:gd name="T84" fmla="*/ 0 w 942"/>
                <a:gd name="T85" fmla="*/ 722 h 722"/>
                <a:gd name="T86" fmla="*/ 32 w 942"/>
                <a:gd name="T87" fmla="*/ 691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42" h="722">
                  <a:moveTo>
                    <a:pt x="32" y="691"/>
                  </a:moveTo>
                  <a:lnTo>
                    <a:pt x="32" y="659"/>
                  </a:lnTo>
                  <a:lnTo>
                    <a:pt x="63" y="628"/>
                  </a:lnTo>
                  <a:lnTo>
                    <a:pt x="63" y="565"/>
                  </a:lnTo>
                  <a:lnTo>
                    <a:pt x="95" y="502"/>
                  </a:lnTo>
                  <a:lnTo>
                    <a:pt x="95" y="440"/>
                  </a:lnTo>
                  <a:lnTo>
                    <a:pt x="95" y="408"/>
                  </a:lnTo>
                  <a:lnTo>
                    <a:pt x="95" y="377"/>
                  </a:lnTo>
                  <a:lnTo>
                    <a:pt x="95" y="314"/>
                  </a:lnTo>
                  <a:lnTo>
                    <a:pt x="95" y="283"/>
                  </a:lnTo>
                  <a:lnTo>
                    <a:pt x="95" y="189"/>
                  </a:lnTo>
                  <a:lnTo>
                    <a:pt x="63" y="126"/>
                  </a:lnTo>
                  <a:lnTo>
                    <a:pt x="32" y="95"/>
                  </a:lnTo>
                  <a:lnTo>
                    <a:pt x="32" y="32"/>
                  </a:lnTo>
                  <a:lnTo>
                    <a:pt x="0" y="0"/>
                  </a:lnTo>
                  <a:lnTo>
                    <a:pt x="409" y="0"/>
                  </a:lnTo>
                  <a:lnTo>
                    <a:pt x="440" y="0"/>
                  </a:lnTo>
                  <a:lnTo>
                    <a:pt x="471" y="0"/>
                  </a:lnTo>
                  <a:lnTo>
                    <a:pt x="534" y="0"/>
                  </a:lnTo>
                  <a:lnTo>
                    <a:pt x="565" y="32"/>
                  </a:lnTo>
                  <a:lnTo>
                    <a:pt x="628" y="32"/>
                  </a:lnTo>
                  <a:lnTo>
                    <a:pt x="691" y="63"/>
                  </a:lnTo>
                  <a:lnTo>
                    <a:pt x="722" y="95"/>
                  </a:lnTo>
                  <a:lnTo>
                    <a:pt x="754" y="126"/>
                  </a:lnTo>
                  <a:lnTo>
                    <a:pt x="785" y="157"/>
                  </a:lnTo>
                  <a:lnTo>
                    <a:pt x="817" y="189"/>
                  </a:lnTo>
                  <a:lnTo>
                    <a:pt x="879" y="251"/>
                  </a:lnTo>
                  <a:lnTo>
                    <a:pt x="879" y="283"/>
                  </a:lnTo>
                  <a:lnTo>
                    <a:pt x="911" y="314"/>
                  </a:lnTo>
                  <a:lnTo>
                    <a:pt x="942" y="377"/>
                  </a:lnTo>
                  <a:lnTo>
                    <a:pt x="911" y="408"/>
                  </a:lnTo>
                  <a:lnTo>
                    <a:pt x="879" y="440"/>
                  </a:lnTo>
                  <a:lnTo>
                    <a:pt x="848" y="502"/>
                  </a:lnTo>
                  <a:lnTo>
                    <a:pt x="817" y="534"/>
                  </a:lnTo>
                  <a:lnTo>
                    <a:pt x="785" y="565"/>
                  </a:lnTo>
                  <a:lnTo>
                    <a:pt x="754" y="597"/>
                  </a:lnTo>
                  <a:lnTo>
                    <a:pt x="691" y="628"/>
                  </a:lnTo>
                  <a:lnTo>
                    <a:pt x="628" y="691"/>
                  </a:lnTo>
                  <a:lnTo>
                    <a:pt x="565" y="691"/>
                  </a:lnTo>
                  <a:lnTo>
                    <a:pt x="503" y="722"/>
                  </a:lnTo>
                  <a:lnTo>
                    <a:pt x="471" y="722"/>
                  </a:lnTo>
                  <a:lnTo>
                    <a:pt x="409" y="722"/>
                  </a:lnTo>
                  <a:lnTo>
                    <a:pt x="0" y="722"/>
                  </a:lnTo>
                  <a:lnTo>
                    <a:pt x="32" y="691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4"/>
            <p:cNvSpPr>
              <a:spLocks/>
            </p:cNvSpPr>
            <p:nvPr/>
          </p:nvSpPr>
          <p:spPr bwMode="auto">
            <a:xfrm>
              <a:off x="1150" y="2567"/>
              <a:ext cx="455" cy="135"/>
            </a:xfrm>
            <a:custGeom>
              <a:avLst/>
              <a:gdLst>
                <a:gd name="T0" fmla="*/ 184 w 939"/>
                <a:gd name="T1" fmla="*/ 372 h 372"/>
                <a:gd name="T2" fmla="*/ 314 w 939"/>
                <a:gd name="T3" fmla="*/ 372 h 372"/>
                <a:gd name="T4" fmla="*/ 382 w 939"/>
                <a:gd name="T5" fmla="*/ 372 h 372"/>
                <a:gd name="T6" fmla="*/ 412 w 939"/>
                <a:gd name="T7" fmla="*/ 372 h 372"/>
                <a:gd name="T8" fmla="*/ 427 w 939"/>
                <a:gd name="T9" fmla="*/ 370 h 372"/>
                <a:gd name="T10" fmla="*/ 441 w 939"/>
                <a:gd name="T11" fmla="*/ 369 h 372"/>
                <a:gd name="T12" fmla="*/ 451 w 939"/>
                <a:gd name="T13" fmla="*/ 369 h 372"/>
                <a:gd name="T14" fmla="*/ 460 w 939"/>
                <a:gd name="T15" fmla="*/ 367 h 372"/>
                <a:gd name="T16" fmla="*/ 473 w 939"/>
                <a:gd name="T17" fmla="*/ 365 h 372"/>
                <a:gd name="T18" fmla="*/ 487 w 939"/>
                <a:gd name="T19" fmla="*/ 364 h 372"/>
                <a:gd name="T20" fmla="*/ 500 w 939"/>
                <a:gd name="T21" fmla="*/ 362 h 372"/>
                <a:gd name="T22" fmla="*/ 509 w 939"/>
                <a:gd name="T23" fmla="*/ 359 h 372"/>
                <a:gd name="T24" fmla="*/ 520 w 939"/>
                <a:gd name="T25" fmla="*/ 356 h 372"/>
                <a:gd name="T26" fmla="*/ 536 w 939"/>
                <a:gd name="T27" fmla="*/ 351 h 372"/>
                <a:gd name="T28" fmla="*/ 551 w 939"/>
                <a:gd name="T29" fmla="*/ 347 h 372"/>
                <a:gd name="T30" fmla="*/ 564 w 939"/>
                <a:gd name="T31" fmla="*/ 342 h 372"/>
                <a:gd name="T32" fmla="*/ 573 w 939"/>
                <a:gd name="T33" fmla="*/ 339 h 372"/>
                <a:gd name="T34" fmla="*/ 584 w 939"/>
                <a:gd name="T35" fmla="*/ 334 h 372"/>
                <a:gd name="T36" fmla="*/ 597 w 939"/>
                <a:gd name="T37" fmla="*/ 328 h 372"/>
                <a:gd name="T38" fmla="*/ 613 w 939"/>
                <a:gd name="T39" fmla="*/ 320 h 372"/>
                <a:gd name="T40" fmla="*/ 622 w 939"/>
                <a:gd name="T41" fmla="*/ 315 h 372"/>
                <a:gd name="T42" fmla="*/ 631 w 939"/>
                <a:gd name="T43" fmla="*/ 310 h 372"/>
                <a:gd name="T44" fmla="*/ 642 w 939"/>
                <a:gd name="T45" fmla="*/ 304 h 372"/>
                <a:gd name="T46" fmla="*/ 653 w 939"/>
                <a:gd name="T47" fmla="*/ 298 h 372"/>
                <a:gd name="T48" fmla="*/ 666 w 939"/>
                <a:gd name="T49" fmla="*/ 292 h 372"/>
                <a:gd name="T50" fmla="*/ 674 w 939"/>
                <a:gd name="T51" fmla="*/ 287 h 372"/>
                <a:gd name="T52" fmla="*/ 682 w 939"/>
                <a:gd name="T53" fmla="*/ 282 h 372"/>
                <a:gd name="T54" fmla="*/ 691 w 939"/>
                <a:gd name="T55" fmla="*/ 276 h 372"/>
                <a:gd name="T56" fmla="*/ 700 w 939"/>
                <a:gd name="T57" fmla="*/ 270 h 372"/>
                <a:gd name="T58" fmla="*/ 708 w 939"/>
                <a:gd name="T59" fmla="*/ 263 h 372"/>
                <a:gd name="T60" fmla="*/ 715 w 939"/>
                <a:gd name="T61" fmla="*/ 260 h 372"/>
                <a:gd name="T62" fmla="*/ 719 w 939"/>
                <a:gd name="T63" fmla="*/ 256 h 372"/>
                <a:gd name="T64" fmla="*/ 727 w 939"/>
                <a:gd name="T65" fmla="*/ 249 h 372"/>
                <a:gd name="T66" fmla="*/ 733 w 939"/>
                <a:gd name="T67" fmla="*/ 245 h 372"/>
                <a:gd name="T68" fmla="*/ 740 w 939"/>
                <a:gd name="T69" fmla="*/ 240 h 372"/>
                <a:gd name="T70" fmla="*/ 744 w 939"/>
                <a:gd name="T71" fmla="*/ 237 h 372"/>
                <a:gd name="T72" fmla="*/ 751 w 939"/>
                <a:gd name="T73" fmla="*/ 232 h 372"/>
                <a:gd name="T74" fmla="*/ 759 w 939"/>
                <a:gd name="T75" fmla="*/ 227 h 372"/>
                <a:gd name="T76" fmla="*/ 766 w 939"/>
                <a:gd name="T77" fmla="*/ 221 h 372"/>
                <a:gd name="T78" fmla="*/ 771 w 939"/>
                <a:gd name="T79" fmla="*/ 218 h 372"/>
                <a:gd name="T80" fmla="*/ 777 w 939"/>
                <a:gd name="T81" fmla="*/ 212 h 372"/>
                <a:gd name="T82" fmla="*/ 785 w 939"/>
                <a:gd name="T83" fmla="*/ 204 h 372"/>
                <a:gd name="T84" fmla="*/ 793 w 939"/>
                <a:gd name="T85" fmla="*/ 196 h 372"/>
                <a:gd name="T86" fmla="*/ 801 w 939"/>
                <a:gd name="T87" fmla="*/ 187 h 372"/>
                <a:gd name="T88" fmla="*/ 807 w 939"/>
                <a:gd name="T89" fmla="*/ 180 h 372"/>
                <a:gd name="T90" fmla="*/ 813 w 939"/>
                <a:gd name="T91" fmla="*/ 172 h 372"/>
                <a:gd name="T92" fmla="*/ 823 w 939"/>
                <a:gd name="T93" fmla="*/ 161 h 372"/>
                <a:gd name="T94" fmla="*/ 834 w 939"/>
                <a:gd name="T95" fmla="*/ 149 h 372"/>
                <a:gd name="T96" fmla="*/ 842 w 939"/>
                <a:gd name="T97" fmla="*/ 139 h 372"/>
                <a:gd name="T98" fmla="*/ 848 w 939"/>
                <a:gd name="T99" fmla="*/ 132 h 372"/>
                <a:gd name="T100" fmla="*/ 856 w 939"/>
                <a:gd name="T101" fmla="*/ 121 h 372"/>
                <a:gd name="T102" fmla="*/ 864 w 939"/>
                <a:gd name="T103" fmla="*/ 108 h 372"/>
                <a:gd name="T104" fmla="*/ 875 w 939"/>
                <a:gd name="T105" fmla="*/ 92 h 372"/>
                <a:gd name="T106" fmla="*/ 883 w 939"/>
                <a:gd name="T107" fmla="*/ 83 h 372"/>
                <a:gd name="T108" fmla="*/ 889 w 939"/>
                <a:gd name="T109" fmla="*/ 74 h 372"/>
                <a:gd name="T110" fmla="*/ 898 w 939"/>
                <a:gd name="T111" fmla="*/ 61 h 372"/>
                <a:gd name="T112" fmla="*/ 909 w 939"/>
                <a:gd name="T113" fmla="*/ 47 h 372"/>
                <a:gd name="T114" fmla="*/ 919 w 939"/>
                <a:gd name="T115" fmla="*/ 33 h 372"/>
                <a:gd name="T116" fmla="*/ 925 w 939"/>
                <a:gd name="T117" fmla="*/ 23 h 372"/>
                <a:gd name="T118" fmla="*/ 930 w 939"/>
                <a:gd name="T119" fmla="*/ 16 h 372"/>
                <a:gd name="T120" fmla="*/ 937 w 939"/>
                <a:gd name="T121" fmla="*/ 5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39" h="372">
                  <a:moveTo>
                    <a:pt x="0" y="372"/>
                  </a:moveTo>
                  <a:lnTo>
                    <a:pt x="37" y="372"/>
                  </a:lnTo>
                  <a:lnTo>
                    <a:pt x="71" y="372"/>
                  </a:lnTo>
                  <a:lnTo>
                    <a:pt x="102" y="372"/>
                  </a:lnTo>
                  <a:lnTo>
                    <a:pt x="132" y="372"/>
                  </a:lnTo>
                  <a:lnTo>
                    <a:pt x="159" y="372"/>
                  </a:lnTo>
                  <a:lnTo>
                    <a:pt x="184" y="372"/>
                  </a:lnTo>
                  <a:lnTo>
                    <a:pt x="208" y="372"/>
                  </a:lnTo>
                  <a:lnTo>
                    <a:pt x="230" y="372"/>
                  </a:lnTo>
                  <a:lnTo>
                    <a:pt x="250" y="372"/>
                  </a:lnTo>
                  <a:lnTo>
                    <a:pt x="269" y="372"/>
                  </a:lnTo>
                  <a:lnTo>
                    <a:pt x="286" y="372"/>
                  </a:lnTo>
                  <a:lnTo>
                    <a:pt x="300" y="372"/>
                  </a:lnTo>
                  <a:lnTo>
                    <a:pt x="314" y="372"/>
                  </a:lnTo>
                  <a:lnTo>
                    <a:pt x="328" y="372"/>
                  </a:lnTo>
                  <a:lnTo>
                    <a:pt x="339" y="372"/>
                  </a:lnTo>
                  <a:lnTo>
                    <a:pt x="350" y="372"/>
                  </a:lnTo>
                  <a:lnTo>
                    <a:pt x="360" y="372"/>
                  </a:lnTo>
                  <a:lnTo>
                    <a:pt x="368" y="372"/>
                  </a:lnTo>
                  <a:lnTo>
                    <a:pt x="376" y="372"/>
                  </a:lnTo>
                  <a:lnTo>
                    <a:pt x="382" y="372"/>
                  </a:lnTo>
                  <a:lnTo>
                    <a:pt x="388" y="372"/>
                  </a:lnTo>
                  <a:lnTo>
                    <a:pt x="393" y="372"/>
                  </a:lnTo>
                  <a:lnTo>
                    <a:pt x="398" y="372"/>
                  </a:lnTo>
                  <a:lnTo>
                    <a:pt x="402" y="372"/>
                  </a:lnTo>
                  <a:lnTo>
                    <a:pt x="405" y="372"/>
                  </a:lnTo>
                  <a:lnTo>
                    <a:pt x="409" y="372"/>
                  </a:lnTo>
                  <a:lnTo>
                    <a:pt x="412" y="372"/>
                  </a:lnTo>
                  <a:lnTo>
                    <a:pt x="413" y="372"/>
                  </a:lnTo>
                  <a:lnTo>
                    <a:pt x="416" y="372"/>
                  </a:lnTo>
                  <a:lnTo>
                    <a:pt x="420" y="370"/>
                  </a:lnTo>
                  <a:lnTo>
                    <a:pt x="421" y="370"/>
                  </a:lnTo>
                  <a:lnTo>
                    <a:pt x="424" y="370"/>
                  </a:lnTo>
                  <a:lnTo>
                    <a:pt x="424" y="370"/>
                  </a:lnTo>
                  <a:lnTo>
                    <a:pt x="427" y="370"/>
                  </a:lnTo>
                  <a:lnTo>
                    <a:pt x="429" y="370"/>
                  </a:lnTo>
                  <a:lnTo>
                    <a:pt x="432" y="370"/>
                  </a:lnTo>
                  <a:lnTo>
                    <a:pt x="434" y="370"/>
                  </a:lnTo>
                  <a:lnTo>
                    <a:pt x="435" y="370"/>
                  </a:lnTo>
                  <a:lnTo>
                    <a:pt x="437" y="370"/>
                  </a:lnTo>
                  <a:lnTo>
                    <a:pt x="440" y="370"/>
                  </a:lnTo>
                  <a:lnTo>
                    <a:pt x="441" y="369"/>
                  </a:lnTo>
                  <a:lnTo>
                    <a:pt x="443" y="369"/>
                  </a:lnTo>
                  <a:lnTo>
                    <a:pt x="445" y="369"/>
                  </a:lnTo>
                  <a:lnTo>
                    <a:pt x="446" y="369"/>
                  </a:lnTo>
                  <a:lnTo>
                    <a:pt x="448" y="369"/>
                  </a:lnTo>
                  <a:lnTo>
                    <a:pt x="448" y="369"/>
                  </a:lnTo>
                  <a:lnTo>
                    <a:pt x="449" y="369"/>
                  </a:lnTo>
                  <a:lnTo>
                    <a:pt x="451" y="369"/>
                  </a:lnTo>
                  <a:lnTo>
                    <a:pt x="452" y="369"/>
                  </a:lnTo>
                  <a:lnTo>
                    <a:pt x="454" y="369"/>
                  </a:lnTo>
                  <a:lnTo>
                    <a:pt x="456" y="369"/>
                  </a:lnTo>
                  <a:lnTo>
                    <a:pt x="457" y="369"/>
                  </a:lnTo>
                  <a:lnTo>
                    <a:pt x="457" y="367"/>
                  </a:lnTo>
                  <a:lnTo>
                    <a:pt x="459" y="367"/>
                  </a:lnTo>
                  <a:lnTo>
                    <a:pt x="460" y="367"/>
                  </a:lnTo>
                  <a:lnTo>
                    <a:pt x="462" y="367"/>
                  </a:lnTo>
                  <a:lnTo>
                    <a:pt x="463" y="367"/>
                  </a:lnTo>
                  <a:lnTo>
                    <a:pt x="465" y="367"/>
                  </a:lnTo>
                  <a:lnTo>
                    <a:pt x="467" y="367"/>
                  </a:lnTo>
                  <a:lnTo>
                    <a:pt x="468" y="365"/>
                  </a:lnTo>
                  <a:lnTo>
                    <a:pt x="471" y="365"/>
                  </a:lnTo>
                  <a:lnTo>
                    <a:pt x="473" y="365"/>
                  </a:lnTo>
                  <a:lnTo>
                    <a:pt x="474" y="365"/>
                  </a:lnTo>
                  <a:lnTo>
                    <a:pt x="478" y="365"/>
                  </a:lnTo>
                  <a:lnTo>
                    <a:pt x="479" y="364"/>
                  </a:lnTo>
                  <a:lnTo>
                    <a:pt x="479" y="364"/>
                  </a:lnTo>
                  <a:lnTo>
                    <a:pt x="482" y="364"/>
                  </a:lnTo>
                  <a:lnTo>
                    <a:pt x="485" y="364"/>
                  </a:lnTo>
                  <a:lnTo>
                    <a:pt x="487" y="364"/>
                  </a:lnTo>
                  <a:lnTo>
                    <a:pt x="489" y="364"/>
                  </a:lnTo>
                  <a:lnTo>
                    <a:pt x="492" y="362"/>
                  </a:lnTo>
                  <a:lnTo>
                    <a:pt x="493" y="362"/>
                  </a:lnTo>
                  <a:lnTo>
                    <a:pt x="495" y="362"/>
                  </a:lnTo>
                  <a:lnTo>
                    <a:pt x="496" y="362"/>
                  </a:lnTo>
                  <a:lnTo>
                    <a:pt x="498" y="362"/>
                  </a:lnTo>
                  <a:lnTo>
                    <a:pt x="500" y="362"/>
                  </a:lnTo>
                  <a:lnTo>
                    <a:pt x="501" y="361"/>
                  </a:lnTo>
                  <a:lnTo>
                    <a:pt x="503" y="361"/>
                  </a:lnTo>
                  <a:lnTo>
                    <a:pt x="504" y="361"/>
                  </a:lnTo>
                  <a:lnTo>
                    <a:pt x="506" y="361"/>
                  </a:lnTo>
                  <a:lnTo>
                    <a:pt x="507" y="361"/>
                  </a:lnTo>
                  <a:lnTo>
                    <a:pt x="507" y="361"/>
                  </a:lnTo>
                  <a:lnTo>
                    <a:pt x="509" y="359"/>
                  </a:lnTo>
                  <a:lnTo>
                    <a:pt x="511" y="359"/>
                  </a:lnTo>
                  <a:lnTo>
                    <a:pt x="512" y="359"/>
                  </a:lnTo>
                  <a:lnTo>
                    <a:pt x="514" y="359"/>
                  </a:lnTo>
                  <a:lnTo>
                    <a:pt x="515" y="358"/>
                  </a:lnTo>
                  <a:lnTo>
                    <a:pt x="517" y="358"/>
                  </a:lnTo>
                  <a:lnTo>
                    <a:pt x="518" y="358"/>
                  </a:lnTo>
                  <a:lnTo>
                    <a:pt x="520" y="356"/>
                  </a:lnTo>
                  <a:lnTo>
                    <a:pt x="522" y="356"/>
                  </a:lnTo>
                  <a:lnTo>
                    <a:pt x="525" y="356"/>
                  </a:lnTo>
                  <a:lnTo>
                    <a:pt x="526" y="354"/>
                  </a:lnTo>
                  <a:lnTo>
                    <a:pt x="528" y="354"/>
                  </a:lnTo>
                  <a:lnTo>
                    <a:pt x="531" y="353"/>
                  </a:lnTo>
                  <a:lnTo>
                    <a:pt x="534" y="353"/>
                  </a:lnTo>
                  <a:lnTo>
                    <a:pt x="536" y="351"/>
                  </a:lnTo>
                  <a:lnTo>
                    <a:pt x="539" y="351"/>
                  </a:lnTo>
                  <a:lnTo>
                    <a:pt x="539" y="351"/>
                  </a:lnTo>
                  <a:lnTo>
                    <a:pt x="542" y="350"/>
                  </a:lnTo>
                  <a:lnTo>
                    <a:pt x="545" y="350"/>
                  </a:lnTo>
                  <a:lnTo>
                    <a:pt x="547" y="348"/>
                  </a:lnTo>
                  <a:lnTo>
                    <a:pt x="550" y="348"/>
                  </a:lnTo>
                  <a:lnTo>
                    <a:pt x="551" y="347"/>
                  </a:lnTo>
                  <a:lnTo>
                    <a:pt x="553" y="347"/>
                  </a:lnTo>
                  <a:lnTo>
                    <a:pt x="556" y="345"/>
                  </a:lnTo>
                  <a:lnTo>
                    <a:pt x="558" y="345"/>
                  </a:lnTo>
                  <a:lnTo>
                    <a:pt x="559" y="345"/>
                  </a:lnTo>
                  <a:lnTo>
                    <a:pt x="561" y="343"/>
                  </a:lnTo>
                  <a:lnTo>
                    <a:pt x="562" y="343"/>
                  </a:lnTo>
                  <a:lnTo>
                    <a:pt x="564" y="342"/>
                  </a:lnTo>
                  <a:lnTo>
                    <a:pt x="565" y="342"/>
                  </a:lnTo>
                  <a:lnTo>
                    <a:pt x="567" y="342"/>
                  </a:lnTo>
                  <a:lnTo>
                    <a:pt x="569" y="340"/>
                  </a:lnTo>
                  <a:lnTo>
                    <a:pt x="570" y="340"/>
                  </a:lnTo>
                  <a:lnTo>
                    <a:pt x="572" y="340"/>
                  </a:lnTo>
                  <a:lnTo>
                    <a:pt x="573" y="339"/>
                  </a:lnTo>
                  <a:lnTo>
                    <a:pt x="573" y="339"/>
                  </a:lnTo>
                  <a:lnTo>
                    <a:pt x="575" y="339"/>
                  </a:lnTo>
                  <a:lnTo>
                    <a:pt x="576" y="337"/>
                  </a:lnTo>
                  <a:lnTo>
                    <a:pt x="578" y="337"/>
                  </a:lnTo>
                  <a:lnTo>
                    <a:pt x="580" y="336"/>
                  </a:lnTo>
                  <a:lnTo>
                    <a:pt x="581" y="336"/>
                  </a:lnTo>
                  <a:lnTo>
                    <a:pt x="583" y="334"/>
                  </a:lnTo>
                  <a:lnTo>
                    <a:pt x="584" y="334"/>
                  </a:lnTo>
                  <a:lnTo>
                    <a:pt x="586" y="332"/>
                  </a:lnTo>
                  <a:lnTo>
                    <a:pt x="589" y="332"/>
                  </a:lnTo>
                  <a:lnTo>
                    <a:pt x="591" y="331"/>
                  </a:lnTo>
                  <a:lnTo>
                    <a:pt x="592" y="329"/>
                  </a:lnTo>
                  <a:lnTo>
                    <a:pt x="595" y="328"/>
                  </a:lnTo>
                  <a:lnTo>
                    <a:pt x="597" y="328"/>
                  </a:lnTo>
                  <a:lnTo>
                    <a:pt x="597" y="328"/>
                  </a:lnTo>
                  <a:lnTo>
                    <a:pt x="600" y="326"/>
                  </a:lnTo>
                  <a:lnTo>
                    <a:pt x="603" y="325"/>
                  </a:lnTo>
                  <a:lnTo>
                    <a:pt x="605" y="323"/>
                  </a:lnTo>
                  <a:lnTo>
                    <a:pt x="606" y="323"/>
                  </a:lnTo>
                  <a:lnTo>
                    <a:pt x="609" y="321"/>
                  </a:lnTo>
                  <a:lnTo>
                    <a:pt x="611" y="321"/>
                  </a:lnTo>
                  <a:lnTo>
                    <a:pt x="613" y="320"/>
                  </a:lnTo>
                  <a:lnTo>
                    <a:pt x="614" y="320"/>
                  </a:lnTo>
                  <a:lnTo>
                    <a:pt x="616" y="318"/>
                  </a:lnTo>
                  <a:lnTo>
                    <a:pt x="617" y="318"/>
                  </a:lnTo>
                  <a:lnTo>
                    <a:pt x="619" y="317"/>
                  </a:lnTo>
                  <a:lnTo>
                    <a:pt x="620" y="317"/>
                  </a:lnTo>
                  <a:lnTo>
                    <a:pt x="620" y="315"/>
                  </a:lnTo>
                  <a:lnTo>
                    <a:pt x="622" y="315"/>
                  </a:lnTo>
                  <a:lnTo>
                    <a:pt x="624" y="314"/>
                  </a:lnTo>
                  <a:lnTo>
                    <a:pt x="625" y="314"/>
                  </a:lnTo>
                  <a:lnTo>
                    <a:pt x="627" y="314"/>
                  </a:lnTo>
                  <a:lnTo>
                    <a:pt x="627" y="312"/>
                  </a:lnTo>
                  <a:lnTo>
                    <a:pt x="628" y="312"/>
                  </a:lnTo>
                  <a:lnTo>
                    <a:pt x="630" y="310"/>
                  </a:lnTo>
                  <a:lnTo>
                    <a:pt x="631" y="310"/>
                  </a:lnTo>
                  <a:lnTo>
                    <a:pt x="633" y="309"/>
                  </a:lnTo>
                  <a:lnTo>
                    <a:pt x="633" y="309"/>
                  </a:lnTo>
                  <a:lnTo>
                    <a:pt x="635" y="307"/>
                  </a:lnTo>
                  <a:lnTo>
                    <a:pt x="636" y="307"/>
                  </a:lnTo>
                  <a:lnTo>
                    <a:pt x="638" y="306"/>
                  </a:lnTo>
                  <a:lnTo>
                    <a:pt x="639" y="306"/>
                  </a:lnTo>
                  <a:lnTo>
                    <a:pt x="642" y="304"/>
                  </a:lnTo>
                  <a:lnTo>
                    <a:pt x="644" y="303"/>
                  </a:lnTo>
                  <a:lnTo>
                    <a:pt x="646" y="303"/>
                  </a:lnTo>
                  <a:lnTo>
                    <a:pt x="647" y="301"/>
                  </a:lnTo>
                  <a:lnTo>
                    <a:pt x="650" y="299"/>
                  </a:lnTo>
                  <a:lnTo>
                    <a:pt x="650" y="299"/>
                  </a:lnTo>
                  <a:lnTo>
                    <a:pt x="652" y="298"/>
                  </a:lnTo>
                  <a:lnTo>
                    <a:pt x="653" y="298"/>
                  </a:lnTo>
                  <a:lnTo>
                    <a:pt x="657" y="296"/>
                  </a:lnTo>
                  <a:lnTo>
                    <a:pt x="658" y="295"/>
                  </a:lnTo>
                  <a:lnTo>
                    <a:pt x="660" y="295"/>
                  </a:lnTo>
                  <a:lnTo>
                    <a:pt x="661" y="293"/>
                  </a:lnTo>
                  <a:lnTo>
                    <a:pt x="663" y="293"/>
                  </a:lnTo>
                  <a:lnTo>
                    <a:pt x="664" y="292"/>
                  </a:lnTo>
                  <a:lnTo>
                    <a:pt x="666" y="292"/>
                  </a:lnTo>
                  <a:lnTo>
                    <a:pt x="668" y="290"/>
                  </a:lnTo>
                  <a:lnTo>
                    <a:pt x="668" y="290"/>
                  </a:lnTo>
                  <a:lnTo>
                    <a:pt x="669" y="289"/>
                  </a:lnTo>
                  <a:lnTo>
                    <a:pt x="671" y="289"/>
                  </a:lnTo>
                  <a:lnTo>
                    <a:pt x="672" y="287"/>
                  </a:lnTo>
                  <a:lnTo>
                    <a:pt x="672" y="287"/>
                  </a:lnTo>
                  <a:lnTo>
                    <a:pt x="674" y="287"/>
                  </a:lnTo>
                  <a:lnTo>
                    <a:pt x="675" y="285"/>
                  </a:lnTo>
                  <a:lnTo>
                    <a:pt x="675" y="285"/>
                  </a:lnTo>
                  <a:lnTo>
                    <a:pt x="677" y="284"/>
                  </a:lnTo>
                  <a:lnTo>
                    <a:pt x="678" y="284"/>
                  </a:lnTo>
                  <a:lnTo>
                    <a:pt x="678" y="284"/>
                  </a:lnTo>
                  <a:lnTo>
                    <a:pt x="680" y="282"/>
                  </a:lnTo>
                  <a:lnTo>
                    <a:pt x="682" y="282"/>
                  </a:lnTo>
                  <a:lnTo>
                    <a:pt x="682" y="281"/>
                  </a:lnTo>
                  <a:lnTo>
                    <a:pt x="683" y="281"/>
                  </a:lnTo>
                  <a:lnTo>
                    <a:pt x="685" y="279"/>
                  </a:lnTo>
                  <a:lnTo>
                    <a:pt x="686" y="279"/>
                  </a:lnTo>
                  <a:lnTo>
                    <a:pt x="688" y="278"/>
                  </a:lnTo>
                  <a:lnTo>
                    <a:pt x="689" y="276"/>
                  </a:lnTo>
                  <a:lnTo>
                    <a:pt x="691" y="276"/>
                  </a:lnTo>
                  <a:lnTo>
                    <a:pt x="693" y="274"/>
                  </a:lnTo>
                  <a:lnTo>
                    <a:pt x="694" y="273"/>
                  </a:lnTo>
                  <a:lnTo>
                    <a:pt x="694" y="273"/>
                  </a:lnTo>
                  <a:lnTo>
                    <a:pt x="696" y="273"/>
                  </a:lnTo>
                  <a:lnTo>
                    <a:pt x="697" y="271"/>
                  </a:lnTo>
                  <a:lnTo>
                    <a:pt x="699" y="270"/>
                  </a:lnTo>
                  <a:lnTo>
                    <a:pt x="700" y="270"/>
                  </a:lnTo>
                  <a:lnTo>
                    <a:pt x="702" y="268"/>
                  </a:lnTo>
                  <a:lnTo>
                    <a:pt x="704" y="268"/>
                  </a:lnTo>
                  <a:lnTo>
                    <a:pt x="704" y="267"/>
                  </a:lnTo>
                  <a:lnTo>
                    <a:pt x="705" y="267"/>
                  </a:lnTo>
                  <a:lnTo>
                    <a:pt x="707" y="265"/>
                  </a:lnTo>
                  <a:lnTo>
                    <a:pt x="708" y="265"/>
                  </a:lnTo>
                  <a:lnTo>
                    <a:pt x="708" y="263"/>
                  </a:lnTo>
                  <a:lnTo>
                    <a:pt x="710" y="263"/>
                  </a:lnTo>
                  <a:lnTo>
                    <a:pt x="710" y="262"/>
                  </a:lnTo>
                  <a:lnTo>
                    <a:pt x="711" y="262"/>
                  </a:lnTo>
                  <a:lnTo>
                    <a:pt x="711" y="262"/>
                  </a:lnTo>
                  <a:lnTo>
                    <a:pt x="713" y="260"/>
                  </a:lnTo>
                  <a:lnTo>
                    <a:pt x="713" y="260"/>
                  </a:lnTo>
                  <a:lnTo>
                    <a:pt x="715" y="260"/>
                  </a:lnTo>
                  <a:lnTo>
                    <a:pt x="715" y="259"/>
                  </a:lnTo>
                  <a:lnTo>
                    <a:pt x="716" y="259"/>
                  </a:lnTo>
                  <a:lnTo>
                    <a:pt x="716" y="259"/>
                  </a:lnTo>
                  <a:lnTo>
                    <a:pt x="718" y="257"/>
                  </a:lnTo>
                  <a:lnTo>
                    <a:pt x="718" y="257"/>
                  </a:lnTo>
                  <a:lnTo>
                    <a:pt x="719" y="256"/>
                  </a:lnTo>
                  <a:lnTo>
                    <a:pt x="719" y="256"/>
                  </a:lnTo>
                  <a:lnTo>
                    <a:pt x="721" y="256"/>
                  </a:lnTo>
                  <a:lnTo>
                    <a:pt x="722" y="254"/>
                  </a:lnTo>
                  <a:lnTo>
                    <a:pt x="722" y="254"/>
                  </a:lnTo>
                  <a:lnTo>
                    <a:pt x="724" y="252"/>
                  </a:lnTo>
                  <a:lnTo>
                    <a:pt x="726" y="252"/>
                  </a:lnTo>
                  <a:lnTo>
                    <a:pt x="726" y="251"/>
                  </a:lnTo>
                  <a:lnTo>
                    <a:pt x="727" y="249"/>
                  </a:lnTo>
                  <a:lnTo>
                    <a:pt x="727" y="249"/>
                  </a:lnTo>
                  <a:lnTo>
                    <a:pt x="729" y="249"/>
                  </a:lnTo>
                  <a:lnTo>
                    <a:pt x="730" y="248"/>
                  </a:lnTo>
                  <a:lnTo>
                    <a:pt x="730" y="248"/>
                  </a:lnTo>
                  <a:lnTo>
                    <a:pt x="732" y="246"/>
                  </a:lnTo>
                  <a:lnTo>
                    <a:pt x="733" y="246"/>
                  </a:lnTo>
                  <a:lnTo>
                    <a:pt x="733" y="245"/>
                  </a:lnTo>
                  <a:lnTo>
                    <a:pt x="735" y="245"/>
                  </a:lnTo>
                  <a:lnTo>
                    <a:pt x="735" y="243"/>
                  </a:lnTo>
                  <a:lnTo>
                    <a:pt x="737" y="243"/>
                  </a:lnTo>
                  <a:lnTo>
                    <a:pt x="737" y="241"/>
                  </a:lnTo>
                  <a:lnTo>
                    <a:pt x="738" y="241"/>
                  </a:lnTo>
                  <a:lnTo>
                    <a:pt x="738" y="241"/>
                  </a:lnTo>
                  <a:lnTo>
                    <a:pt x="740" y="240"/>
                  </a:lnTo>
                  <a:lnTo>
                    <a:pt x="740" y="240"/>
                  </a:lnTo>
                  <a:lnTo>
                    <a:pt x="741" y="240"/>
                  </a:lnTo>
                  <a:lnTo>
                    <a:pt x="741" y="238"/>
                  </a:lnTo>
                  <a:lnTo>
                    <a:pt x="741" y="238"/>
                  </a:lnTo>
                  <a:lnTo>
                    <a:pt x="743" y="238"/>
                  </a:lnTo>
                  <a:lnTo>
                    <a:pt x="743" y="237"/>
                  </a:lnTo>
                  <a:lnTo>
                    <a:pt x="744" y="237"/>
                  </a:lnTo>
                  <a:lnTo>
                    <a:pt x="744" y="237"/>
                  </a:lnTo>
                  <a:lnTo>
                    <a:pt x="746" y="235"/>
                  </a:lnTo>
                  <a:lnTo>
                    <a:pt x="746" y="235"/>
                  </a:lnTo>
                  <a:lnTo>
                    <a:pt x="748" y="235"/>
                  </a:lnTo>
                  <a:lnTo>
                    <a:pt x="749" y="234"/>
                  </a:lnTo>
                  <a:lnTo>
                    <a:pt x="749" y="234"/>
                  </a:lnTo>
                  <a:lnTo>
                    <a:pt x="751" y="232"/>
                  </a:lnTo>
                  <a:lnTo>
                    <a:pt x="752" y="232"/>
                  </a:lnTo>
                  <a:lnTo>
                    <a:pt x="752" y="230"/>
                  </a:lnTo>
                  <a:lnTo>
                    <a:pt x="754" y="230"/>
                  </a:lnTo>
                  <a:lnTo>
                    <a:pt x="755" y="229"/>
                  </a:lnTo>
                  <a:lnTo>
                    <a:pt x="757" y="229"/>
                  </a:lnTo>
                  <a:lnTo>
                    <a:pt x="757" y="229"/>
                  </a:lnTo>
                  <a:lnTo>
                    <a:pt x="759" y="227"/>
                  </a:lnTo>
                  <a:lnTo>
                    <a:pt x="760" y="226"/>
                  </a:lnTo>
                  <a:lnTo>
                    <a:pt x="760" y="226"/>
                  </a:lnTo>
                  <a:lnTo>
                    <a:pt x="762" y="224"/>
                  </a:lnTo>
                  <a:lnTo>
                    <a:pt x="763" y="224"/>
                  </a:lnTo>
                  <a:lnTo>
                    <a:pt x="765" y="223"/>
                  </a:lnTo>
                  <a:lnTo>
                    <a:pt x="765" y="223"/>
                  </a:lnTo>
                  <a:lnTo>
                    <a:pt x="766" y="221"/>
                  </a:lnTo>
                  <a:lnTo>
                    <a:pt x="766" y="221"/>
                  </a:lnTo>
                  <a:lnTo>
                    <a:pt x="768" y="221"/>
                  </a:lnTo>
                  <a:lnTo>
                    <a:pt x="768" y="219"/>
                  </a:lnTo>
                  <a:lnTo>
                    <a:pt x="770" y="219"/>
                  </a:lnTo>
                  <a:lnTo>
                    <a:pt x="771" y="218"/>
                  </a:lnTo>
                  <a:lnTo>
                    <a:pt x="771" y="218"/>
                  </a:lnTo>
                  <a:lnTo>
                    <a:pt x="771" y="218"/>
                  </a:lnTo>
                  <a:lnTo>
                    <a:pt x="773" y="216"/>
                  </a:lnTo>
                  <a:lnTo>
                    <a:pt x="773" y="216"/>
                  </a:lnTo>
                  <a:lnTo>
                    <a:pt x="774" y="215"/>
                  </a:lnTo>
                  <a:lnTo>
                    <a:pt x="774" y="215"/>
                  </a:lnTo>
                  <a:lnTo>
                    <a:pt x="776" y="213"/>
                  </a:lnTo>
                  <a:lnTo>
                    <a:pt x="776" y="213"/>
                  </a:lnTo>
                  <a:lnTo>
                    <a:pt x="777" y="212"/>
                  </a:lnTo>
                  <a:lnTo>
                    <a:pt x="779" y="212"/>
                  </a:lnTo>
                  <a:lnTo>
                    <a:pt x="779" y="210"/>
                  </a:lnTo>
                  <a:lnTo>
                    <a:pt x="781" y="209"/>
                  </a:lnTo>
                  <a:lnTo>
                    <a:pt x="782" y="209"/>
                  </a:lnTo>
                  <a:lnTo>
                    <a:pt x="782" y="207"/>
                  </a:lnTo>
                  <a:lnTo>
                    <a:pt x="784" y="205"/>
                  </a:lnTo>
                  <a:lnTo>
                    <a:pt x="785" y="204"/>
                  </a:lnTo>
                  <a:lnTo>
                    <a:pt x="787" y="202"/>
                  </a:lnTo>
                  <a:lnTo>
                    <a:pt x="788" y="201"/>
                  </a:lnTo>
                  <a:lnTo>
                    <a:pt x="788" y="199"/>
                  </a:lnTo>
                  <a:lnTo>
                    <a:pt x="788" y="199"/>
                  </a:lnTo>
                  <a:lnTo>
                    <a:pt x="790" y="198"/>
                  </a:lnTo>
                  <a:lnTo>
                    <a:pt x="792" y="196"/>
                  </a:lnTo>
                  <a:lnTo>
                    <a:pt x="793" y="196"/>
                  </a:lnTo>
                  <a:lnTo>
                    <a:pt x="795" y="194"/>
                  </a:lnTo>
                  <a:lnTo>
                    <a:pt x="796" y="193"/>
                  </a:lnTo>
                  <a:lnTo>
                    <a:pt x="796" y="191"/>
                  </a:lnTo>
                  <a:lnTo>
                    <a:pt x="798" y="190"/>
                  </a:lnTo>
                  <a:lnTo>
                    <a:pt x="799" y="190"/>
                  </a:lnTo>
                  <a:lnTo>
                    <a:pt x="799" y="188"/>
                  </a:lnTo>
                  <a:lnTo>
                    <a:pt x="801" y="187"/>
                  </a:lnTo>
                  <a:lnTo>
                    <a:pt x="802" y="187"/>
                  </a:lnTo>
                  <a:lnTo>
                    <a:pt x="802" y="185"/>
                  </a:lnTo>
                  <a:lnTo>
                    <a:pt x="804" y="185"/>
                  </a:lnTo>
                  <a:lnTo>
                    <a:pt x="804" y="183"/>
                  </a:lnTo>
                  <a:lnTo>
                    <a:pt x="806" y="182"/>
                  </a:lnTo>
                  <a:lnTo>
                    <a:pt x="806" y="182"/>
                  </a:lnTo>
                  <a:lnTo>
                    <a:pt x="807" y="180"/>
                  </a:lnTo>
                  <a:lnTo>
                    <a:pt x="807" y="179"/>
                  </a:lnTo>
                  <a:lnTo>
                    <a:pt x="809" y="179"/>
                  </a:lnTo>
                  <a:lnTo>
                    <a:pt x="810" y="177"/>
                  </a:lnTo>
                  <a:lnTo>
                    <a:pt x="810" y="176"/>
                  </a:lnTo>
                  <a:lnTo>
                    <a:pt x="812" y="176"/>
                  </a:lnTo>
                  <a:lnTo>
                    <a:pt x="812" y="174"/>
                  </a:lnTo>
                  <a:lnTo>
                    <a:pt x="813" y="172"/>
                  </a:lnTo>
                  <a:lnTo>
                    <a:pt x="815" y="171"/>
                  </a:lnTo>
                  <a:lnTo>
                    <a:pt x="817" y="169"/>
                  </a:lnTo>
                  <a:lnTo>
                    <a:pt x="817" y="168"/>
                  </a:lnTo>
                  <a:lnTo>
                    <a:pt x="818" y="166"/>
                  </a:lnTo>
                  <a:lnTo>
                    <a:pt x="820" y="165"/>
                  </a:lnTo>
                  <a:lnTo>
                    <a:pt x="821" y="163"/>
                  </a:lnTo>
                  <a:lnTo>
                    <a:pt x="823" y="161"/>
                  </a:lnTo>
                  <a:lnTo>
                    <a:pt x="824" y="158"/>
                  </a:lnTo>
                  <a:lnTo>
                    <a:pt x="824" y="158"/>
                  </a:lnTo>
                  <a:lnTo>
                    <a:pt x="828" y="157"/>
                  </a:lnTo>
                  <a:lnTo>
                    <a:pt x="829" y="155"/>
                  </a:lnTo>
                  <a:lnTo>
                    <a:pt x="831" y="152"/>
                  </a:lnTo>
                  <a:lnTo>
                    <a:pt x="832" y="150"/>
                  </a:lnTo>
                  <a:lnTo>
                    <a:pt x="834" y="149"/>
                  </a:lnTo>
                  <a:lnTo>
                    <a:pt x="834" y="147"/>
                  </a:lnTo>
                  <a:lnTo>
                    <a:pt x="835" y="146"/>
                  </a:lnTo>
                  <a:lnTo>
                    <a:pt x="837" y="144"/>
                  </a:lnTo>
                  <a:lnTo>
                    <a:pt x="839" y="143"/>
                  </a:lnTo>
                  <a:lnTo>
                    <a:pt x="839" y="143"/>
                  </a:lnTo>
                  <a:lnTo>
                    <a:pt x="840" y="141"/>
                  </a:lnTo>
                  <a:lnTo>
                    <a:pt x="842" y="139"/>
                  </a:lnTo>
                  <a:lnTo>
                    <a:pt x="842" y="138"/>
                  </a:lnTo>
                  <a:lnTo>
                    <a:pt x="843" y="136"/>
                  </a:lnTo>
                  <a:lnTo>
                    <a:pt x="843" y="136"/>
                  </a:lnTo>
                  <a:lnTo>
                    <a:pt x="845" y="135"/>
                  </a:lnTo>
                  <a:lnTo>
                    <a:pt x="846" y="133"/>
                  </a:lnTo>
                  <a:lnTo>
                    <a:pt x="846" y="132"/>
                  </a:lnTo>
                  <a:lnTo>
                    <a:pt x="848" y="132"/>
                  </a:lnTo>
                  <a:lnTo>
                    <a:pt x="848" y="130"/>
                  </a:lnTo>
                  <a:lnTo>
                    <a:pt x="850" y="128"/>
                  </a:lnTo>
                  <a:lnTo>
                    <a:pt x="851" y="127"/>
                  </a:lnTo>
                  <a:lnTo>
                    <a:pt x="851" y="125"/>
                  </a:lnTo>
                  <a:lnTo>
                    <a:pt x="853" y="124"/>
                  </a:lnTo>
                  <a:lnTo>
                    <a:pt x="854" y="122"/>
                  </a:lnTo>
                  <a:lnTo>
                    <a:pt x="856" y="121"/>
                  </a:lnTo>
                  <a:lnTo>
                    <a:pt x="856" y="119"/>
                  </a:lnTo>
                  <a:lnTo>
                    <a:pt x="857" y="116"/>
                  </a:lnTo>
                  <a:lnTo>
                    <a:pt x="859" y="114"/>
                  </a:lnTo>
                  <a:lnTo>
                    <a:pt x="861" y="113"/>
                  </a:lnTo>
                  <a:lnTo>
                    <a:pt x="862" y="110"/>
                  </a:lnTo>
                  <a:lnTo>
                    <a:pt x="864" y="108"/>
                  </a:lnTo>
                  <a:lnTo>
                    <a:pt x="864" y="108"/>
                  </a:lnTo>
                  <a:lnTo>
                    <a:pt x="867" y="105"/>
                  </a:lnTo>
                  <a:lnTo>
                    <a:pt x="868" y="103"/>
                  </a:lnTo>
                  <a:lnTo>
                    <a:pt x="870" y="100"/>
                  </a:lnTo>
                  <a:lnTo>
                    <a:pt x="872" y="99"/>
                  </a:lnTo>
                  <a:lnTo>
                    <a:pt x="873" y="97"/>
                  </a:lnTo>
                  <a:lnTo>
                    <a:pt x="873" y="94"/>
                  </a:lnTo>
                  <a:lnTo>
                    <a:pt x="875" y="92"/>
                  </a:lnTo>
                  <a:lnTo>
                    <a:pt x="876" y="91"/>
                  </a:lnTo>
                  <a:lnTo>
                    <a:pt x="878" y="89"/>
                  </a:lnTo>
                  <a:lnTo>
                    <a:pt x="878" y="88"/>
                  </a:lnTo>
                  <a:lnTo>
                    <a:pt x="879" y="86"/>
                  </a:lnTo>
                  <a:lnTo>
                    <a:pt x="881" y="86"/>
                  </a:lnTo>
                  <a:lnTo>
                    <a:pt x="881" y="85"/>
                  </a:lnTo>
                  <a:lnTo>
                    <a:pt x="883" y="83"/>
                  </a:lnTo>
                  <a:lnTo>
                    <a:pt x="884" y="81"/>
                  </a:lnTo>
                  <a:lnTo>
                    <a:pt x="884" y="80"/>
                  </a:lnTo>
                  <a:lnTo>
                    <a:pt x="886" y="78"/>
                  </a:lnTo>
                  <a:lnTo>
                    <a:pt x="886" y="77"/>
                  </a:lnTo>
                  <a:lnTo>
                    <a:pt x="887" y="77"/>
                  </a:lnTo>
                  <a:lnTo>
                    <a:pt x="889" y="75"/>
                  </a:lnTo>
                  <a:lnTo>
                    <a:pt x="889" y="74"/>
                  </a:lnTo>
                  <a:lnTo>
                    <a:pt x="890" y="72"/>
                  </a:lnTo>
                  <a:lnTo>
                    <a:pt x="892" y="70"/>
                  </a:lnTo>
                  <a:lnTo>
                    <a:pt x="892" y="69"/>
                  </a:lnTo>
                  <a:lnTo>
                    <a:pt x="894" y="67"/>
                  </a:lnTo>
                  <a:lnTo>
                    <a:pt x="895" y="66"/>
                  </a:lnTo>
                  <a:lnTo>
                    <a:pt x="897" y="63"/>
                  </a:lnTo>
                  <a:lnTo>
                    <a:pt x="898" y="61"/>
                  </a:lnTo>
                  <a:lnTo>
                    <a:pt x="900" y="59"/>
                  </a:lnTo>
                  <a:lnTo>
                    <a:pt x="901" y="56"/>
                  </a:lnTo>
                  <a:lnTo>
                    <a:pt x="903" y="55"/>
                  </a:lnTo>
                  <a:lnTo>
                    <a:pt x="905" y="52"/>
                  </a:lnTo>
                  <a:lnTo>
                    <a:pt x="905" y="52"/>
                  </a:lnTo>
                  <a:lnTo>
                    <a:pt x="906" y="48"/>
                  </a:lnTo>
                  <a:lnTo>
                    <a:pt x="909" y="47"/>
                  </a:lnTo>
                  <a:lnTo>
                    <a:pt x="911" y="44"/>
                  </a:lnTo>
                  <a:lnTo>
                    <a:pt x="912" y="42"/>
                  </a:lnTo>
                  <a:lnTo>
                    <a:pt x="914" y="41"/>
                  </a:lnTo>
                  <a:lnTo>
                    <a:pt x="914" y="39"/>
                  </a:lnTo>
                  <a:lnTo>
                    <a:pt x="916" y="36"/>
                  </a:lnTo>
                  <a:lnTo>
                    <a:pt x="917" y="34"/>
                  </a:lnTo>
                  <a:lnTo>
                    <a:pt x="919" y="33"/>
                  </a:lnTo>
                  <a:lnTo>
                    <a:pt x="919" y="31"/>
                  </a:lnTo>
                  <a:lnTo>
                    <a:pt x="920" y="30"/>
                  </a:lnTo>
                  <a:lnTo>
                    <a:pt x="922" y="30"/>
                  </a:lnTo>
                  <a:lnTo>
                    <a:pt x="922" y="28"/>
                  </a:lnTo>
                  <a:lnTo>
                    <a:pt x="923" y="27"/>
                  </a:lnTo>
                  <a:lnTo>
                    <a:pt x="923" y="25"/>
                  </a:lnTo>
                  <a:lnTo>
                    <a:pt x="925" y="23"/>
                  </a:lnTo>
                  <a:lnTo>
                    <a:pt x="925" y="23"/>
                  </a:lnTo>
                  <a:lnTo>
                    <a:pt x="926" y="22"/>
                  </a:lnTo>
                  <a:lnTo>
                    <a:pt x="926" y="20"/>
                  </a:lnTo>
                  <a:lnTo>
                    <a:pt x="928" y="19"/>
                  </a:lnTo>
                  <a:lnTo>
                    <a:pt x="928" y="19"/>
                  </a:lnTo>
                  <a:lnTo>
                    <a:pt x="930" y="17"/>
                  </a:lnTo>
                  <a:lnTo>
                    <a:pt x="930" y="16"/>
                  </a:lnTo>
                  <a:lnTo>
                    <a:pt x="931" y="14"/>
                  </a:lnTo>
                  <a:lnTo>
                    <a:pt x="931" y="12"/>
                  </a:lnTo>
                  <a:lnTo>
                    <a:pt x="933" y="11"/>
                  </a:lnTo>
                  <a:lnTo>
                    <a:pt x="934" y="9"/>
                  </a:lnTo>
                  <a:lnTo>
                    <a:pt x="934" y="8"/>
                  </a:lnTo>
                  <a:lnTo>
                    <a:pt x="936" y="6"/>
                  </a:lnTo>
                  <a:lnTo>
                    <a:pt x="937" y="5"/>
                  </a:lnTo>
                  <a:lnTo>
                    <a:pt x="937" y="1"/>
                  </a:lnTo>
                  <a:lnTo>
                    <a:pt x="939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5"/>
            <p:cNvSpPr>
              <a:spLocks/>
            </p:cNvSpPr>
            <p:nvPr/>
          </p:nvSpPr>
          <p:spPr bwMode="auto">
            <a:xfrm>
              <a:off x="1150" y="2432"/>
              <a:ext cx="455" cy="135"/>
            </a:xfrm>
            <a:custGeom>
              <a:avLst/>
              <a:gdLst>
                <a:gd name="T0" fmla="*/ 184 w 939"/>
                <a:gd name="T1" fmla="*/ 0 h 373"/>
                <a:gd name="T2" fmla="*/ 314 w 939"/>
                <a:gd name="T3" fmla="*/ 0 h 373"/>
                <a:gd name="T4" fmla="*/ 382 w 939"/>
                <a:gd name="T5" fmla="*/ 1 h 373"/>
                <a:gd name="T6" fmla="*/ 412 w 939"/>
                <a:gd name="T7" fmla="*/ 1 h 373"/>
                <a:gd name="T8" fmla="*/ 427 w 939"/>
                <a:gd name="T9" fmla="*/ 3 h 373"/>
                <a:gd name="T10" fmla="*/ 441 w 939"/>
                <a:gd name="T11" fmla="*/ 3 h 373"/>
                <a:gd name="T12" fmla="*/ 451 w 939"/>
                <a:gd name="T13" fmla="*/ 5 h 373"/>
                <a:gd name="T14" fmla="*/ 460 w 939"/>
                <a:gd name="T15" fmla="*/ 5 h 373"/>
                <a:gd name="T16" fmla="*/ 473 w 939"/>
                <a:gd name="T17" fmla="*/ 8 h 373"/>
                <a:gd name="T18" fmla="*/ 487 w 939"/>
                <a:gd name="T19" fmla="*/ 9 h 373"/>
                <a:gd name="T20" fmla="*/ 500 w 939"/>
                <a:gd name="T21" fmla="*/ 11 h 373"/>
                <a:gd name="T22" fmla="*/ 509 w 939"/>
                <a:gd name="T23" fmla="*/ 12 h 373"/>
                <a:gd name="T24" fmla="*/ 520 w 939"/>
                <a:gd name="T25" fmla="*/ 16 h 373"/>
                <a:gd name="T26" fmla="*/ 536 w 939"/>
                <a:gd name="T27" fmla="*/ 20 h 373"/>
                <a:gd name="T28" fmla="*/ 551 w 939"/>
                <a:gd name="T29" fmla="*/ 27 h 373"/>
                <a:gd name="T30" fmla="*/ 564 w 939"/>
                <a:gd name="T31" fmla="*/ 30 h 373"/>
                <a:gd name="T32" fmla="*/ 573 w 939"/>
                <a:gd name="T33" fmla="*/ 34 h 373"/>
                <a:gd name="T34" fmla="*/ 584 w 939"/>
                <a:gd name="T35" fmla="*/ 39 h 373"/>
                <a:gd name="T36" fmla="*/ 597 w 939"/>
                <a:gd name="T37" fmla="*/ 45 h 373"/>
                <a:gd name="T38" fmla="*/ 613 w 939"/>
                <a:gd name="T39" fmla="*/ 53 h 373"/>
                <a:gd name="T40" fmla="*/ 622 w 939"/>
                <a:gd name="T41" fmla="*/ 58 h 373"/>
                <a:gd name="T42" fmla="*/ 631 w 939"/>
                <a:gd name="T43" fmla="*/ 63 h 373"/>
                <a:gd name="T44" fmla="*/ 642 w 939"/>
                <a:gd name="T45" fmla="*/ 67 h 373"/>
                <a:gd name="T46" fmla="*/ 653 w 939"/>
                <a:gd name="T47" fmla="*/ 75 h 373"/>
                <a:gd name="T48" fmla="*/ 666 w 939"/>
                <a:gd name="T49" fmla="*/ 81 h 373"/>
                <a:gd name="T50" fmla="*/ 674 w 939"/>
                <a:gd name="T51" fmla="*/ 86 h 373"/>
                <a:gd name="T52" fmla="*/ 682 w 939"/>
                <a:gd name="T53" fmla="*/ 91 h 373"/>
                <a:gd name="T54" fmla="*/ 691 w 939"/>
                <a:gd name="T55" fmla="*/ 97 h 373"/>
                <a:gd name="T56" fmla="*/ 700 w 939"/>
                <a:gd name="T57" fmla="*/ 103 h 373"/>
                <a:gd name="T58" fmla="*/ 708 w 939"/>
                <a:gd name="T59" fmla="*/ 108 h 373"/>
                <a:gd name="T60" fmla="*/ 715 w 939"/>
                <a:gd name="T61" fmla="*/ 113 h 373"/>
                <a:gd name="T62" fmla="*/ 719 w 939"/>
                <a:gd name="T63" fmla="*/ 118 h 373"/>
                <a:gd name="T64" fmla="*/ 727 w 939"/>
                <a:gd name="T65" fmla="*/ 122 h 373"/>
                <a:gd name="T66" fmla="*/ 733 w 939"/>
                <a:gd name="T67" fmla="*/ 129 h 373"/>
                <a:gd name="T68" fmla="*/ 740 w 939"/>
                <a:gd name="T69" fmla="*/ 132 h 373"/>
                <a:gd name="T70" fmla="*/ 744 w 939"/>
                <a:gd name="T71" fmla="*/ 136 h 373"/>
                <a:gd name="T72" fmla="*/ 751 w 939"/>
                <a:gd name="T73" fmla="*/ 140 h 373"/>
                <a:gd name="T74" fmla="*/ 759 w 939"/>
                <a:gd name="T75" fmla="*/ 146 h 373"/>
                <a:gd name="T76" fmla="*/ 766 w 939"/>
                <a:gd name="T77" fmla="*/ 151 h 373"/>
                <a:gd name="T78" fmla="*/ 771 w 939"/>
                <a:gd name="T79" fmla="*/ 155 h 373"/>
                <a:gd name="T80" fmla="*/ 777 w 939"/>
                <a:gd name="T81" fmla="*/ 160 h 373"/>
                <a:gd name="T82" fmla="*/ 785 w 939"/>
                <a:gd name="T83" fmla="*/ 168 h 373"/>
                <a:gd name="T84" fmla="*/ 793 w 939"/>
                <a:gd name="T85" fmla="*/ 177 h 373"/>
                <a:gd name="T86" fmla="*/ 801 w 939"/>
                <a:gd name="T87" fmla="*/ 185 h 373"/>
                <a:gd name="T88" fmla="*/ 807 w 939"/>
                <a:gd name="T89" fmla="*/ 193 h 373"/>
                <a:gd name="T90" fmla="*/ 813 w 939"/>
                <a:gd name="T91" fmla="*/ 201 h 373"/>
                <a:gd name="T92" fmla="*/ 823 w 939"/>
                <a:gd name="T93" fmla="*/ 212 h 373"/>
                <a:gd name="T94" fmla="*/ 834 w 939"/>
                <a:gd name="T95" fmla="*/ 223 h 373"/>
                <a:gd name="T96" fmla="*/ 842 w 939"/>
                <a:gd name="T97" fmla="*/ 234 h 373"/>
                <a:gd name="T98" fmla="*/ 848 w 939"/>
                <a:gd name="T99" fmla="*/ 241 h 373"/>
                <a:gd name="T100" fmla="*/ 856 w 939"/>
                <a:gd name="T101" fmla="*/ 252 h 373"/>
                <a:gd name="T102" fmla="*/ 864 w 939"/>
                <a:gd name="T103" fmla="*/ 265 h 373"/>
                <a:gd name="T104" fmla="*/ 875 w 939"/>
                <a:gd name="T105" fmla="*/ 279 h 373"/>
                <a:gd name="T106" fmla="*/ 883 w 939"/>
                <a:gd name="T107" fmla="*/ 290 h 373"/>
                <a:gd name="T108" fmla="*/ 889 w 939"/>
                <a:gd name="T109" fmla="*/ 300 h 373"/>
                <a:gd name="T110" fmla="*/ 898 w 939"/>
                <a:gd name="T111" fmla="*/ 312 h 373"/>
                <a:gd name="T112" fmla="*/ 909 w 939"/>
                <a:gd name="T113" fmla="*/ 326 h 373"/>
                <a:gd name="T114" fmla="*/ 919 w 939"/>
                <a:gd name="T115" fmla="*/ 339 h 373"/>
                <a:gd name="T116" fmla="*/ 925 w 939"/>
                <a:gd name="T117" fmla="*/ 348 h 373"/>
                <a:gd name="T118" fmla="*/ 930 w 939"/>
                <a:gd name="T119" fmla="*/ 358 h 373"/>
                <a:gd name="T120" fmla="*/ 937 w 939"/>
                <a:gd name="T121" fmla="*/ 369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39" h="373">
                  <a:moveTo>
                    <a:pt x="0" y="0"/>
                  </a:moveTo>
                  <a:lnTo>
                    <a:pt x="37" y="0"/>
                  </a:lnTo>
                  <a:lnTo>
                    <a:pt x="71" y="0"/>
                  </a:lnTo>
                  <a:lnTo>
                    <a:pt x="102" y="0"/>
                  </a:lnTo>
                  <a:lnTo>
                    <a:pt x="132" y="0"/>
                  </a:lnTo>
                  <a:lnTo>
                    <a:pt x="159" y="0"/>
                  </a:lnTo>
                  <a:lnTo>
                    <a:pt x="184" y="0"/>
                  </a:lnTo>
                  <a:lnTo>
                    <a:pt x="208" y="0"/>
                  </a:lnTo>
                  <a:lnTo>
                    <a:pt x="230" y="0"/>
                  </a:lnTo>
                  <a:lnTo>
                    <a:pt x="250" y="0"/>
                  </a:lnTo>
                  <a:lnTo>
                    <a:pt x="269" y="0"/>
                  </a:lnTo>
                  <a:lnTo>
                    <a:pt x="286" y="0"/>
                  </a:lnTo>
                  <a:lnTo>
                    <a:pt x="300" y="0"/>
                  </a:lnTo>
                  <a:lnTo>
                    <a:pt x="314" y="0"/>
                  </a:lnTo>
                  <a:lnTo>
                    <a:pt x="328" y="0"/>
                  </a:lnTo>
                  <a:lnTo>
                    <a:pt x="339" y="0"/>
                  </a:lnTo>
                  <a:lnTo>
                    <a:pt x="350" y="0"/>
                  </a:lnTo>
                  <a:lnTo>
                    <a:pt x="360" y="0"/>
                  </a:lnTo>
                  <a:lnTo>
                    <a:pt x="368" y="0"/>
                  </a:lnTo>
                  <a:lnTo>
                    <a:pt x="376" y="0"/>
                  </a:lnTo>
                  <a:lnTo>
                    <a:pt x="382" y="1"/>
                  </a:lnTo>
                  <a:lnTo>
                    <a:pt x="388" y="1"/>
                  </a:lnTo>
                  <a:lnTo>
                    <a:pt x="393" y="1"/>
                  </a:lnTo>
                  <a:lnTo>
                    <a:pt x="398" y="1"/>
                  </a:lnTo>
                  <a:lnTo>
                    <a:pt x="402" y="1"/>
                  </a:lnTo>
                  <a:lnTo>
                    <a:pt x="405" y="1"/>
                  </a:lnTo>
                  <a:lnTo>
                    <a:pt x="409" y="1"/>
                  </a:lnTo>
                  <a:lnTo>
                    <a:pt x="412" y="1"/>
                  </a:lnTo>
                  <a:lnTo>
                    <a:pt x="413" y="1"/>
                  </a:lnTo>
                  <a:lnTo>
                    <a:pt x="416" y="1"/>
                  </a:lnTo>
                  <a:lnTo>
                    <a:pt x="420" y="1"/>
                  </a:lnTo>
                  <a:lnTo>
                    <a:pt x="421" y="1"/>
                  </a:lnTo>
                  <a:lnTo>
                    <a:pt x="424" y="1"/>
                  </a:lnTo>
                  <a:lnTo>
                    <a:pt x="424" y="1"/>
                  </a:lnTo>
                  <a:lnTo>
                    <a:pt x="427" y="3"/>
                  </a:lnTo>
                  <a:lnTo>
                    <a:pt x="429" y="3"/>
                  </a:lnTo>
                  <a:lnTo>
                    <a:pt x="432" y="3"/>
                  </a:lnTo>
                  <a:lnTo>
                    <a:pt x="434" y="3"/>
                  </a:lnTo>
                  <a:lnTo>
                    <a:pt x="435" y="3"/>
                  </a:lnTo>
                  <a:lnTo>
                    <a:pt x="437" y="3"/>
                  </a:lnTo>
                  <a:lnTo>
                    <a:pt x="440" y="3"/>
                  </a:lnTo>
                  <a:lnTo>
                    <a:pt x="441" y="3"/>
                  </a:lnTo>
                  <a:lnTo>
                    <a:pt x="443" y="3"/>
                  </a:lnTo>
                  <a:lnTo>
                    <a:pt x="445" y="3"/>
                  </a:lnTo>
                  <a:lnTo>
                    <a:pt x="446" y="3"/>
                  </a:lnTo>
                  <a:lnTo>
                    <a:pt x="448" y="3"/>
                  </a:lnTo>
                  <a:lnTo>
                    <a:pt x="448" y="5"/>
                  </a:lnTo>
                  <a:lnTo>
                    <a:pt x="449" y="5"/>
                  </a:lnTo>
                  <a:lnTo>
                    <a:pt x="451" y="5"/>
                  </a:lnTo>
                  <a:lnTo>
                    <a:pt x="452" y="5"/>
                  </a:lnTo>
                  <a:lnTo>
                    <a:pt x="454" y="5"/>
                  </a:lnTo>
                  <a:lnTo>
                    <a:pt x="456" y="5"/>
                  </a:lnTo>
                  <a:lnTo>
                    <a:pt x="457" y="5"/>
                  </a:lnTo>
                  <a:lnTo>
                    <a:pt x="457" y="5"/>
                  </a:lnTo>
                  <a:lnTo>
                    <a:pt x="459" y="5"/>
                  </a:lnTo>
                  <a:lnTo>
                    <a:pt x="460" y="5"/>
                  </a:lnTo>
                  <a:lnTo>
                    <a:pt x="462" y="6"/>
                  </a:lnTo>
                  <a:lnTo>
                    <a:pt x="463" y="6"/>
                  </a:lnTo>
                  <a:lnTo>
                    <a:pt x="465" y="6"/>
                  </a:lnTo>
                  <a:lnTo>
                    <a:pt x="467" y="6"/>
                  </a:lnTo>
                  <a:lnTo>
                    <a:pt x="468" y="6"/>
                  </a:lnTo>
                  <a:lnTo>
                    <a:pt x="471" y="6"/>
                  </a:lnTo>
                  <a:lnTo>
                    <a:pt x="473" y="8"/>
                  </a:lnTo>
                  <a:lnTo>
                    <a:pt x="474" y="8"/>
                  </a:lnTo>
                  <a:lnTo>
                    <a:pt x="478" y="8"/>
                  </a:lnTo>
                  <a:lnTo>
                    <a:pt x="479" y="8"/>
                  </a:lnTo>
                  <a:lnTo>
                    <a:pt x="479" y="8"/>
                  </a:lnTo>
                  <a:lnTo>
                    <a:pt x="482" y="8"/>
                  </a:lnTo>
                  <a:lnTo>
                    <a:pt x="485" y="9"/>
                  </a:lnTo>
                  <a:lnTo>
                    <a:pt x="487" y="9"/>
                  </a:lnTo>
                  <a:lnTo>
                    <a:pt x="489" y="9"/>
                  </a:lnTo>
                  <a:lnTo>
                    <a:pt x="492" y="9"/>
                  </a:lnTo>
                  <a:lnTo>
                    <a:pt x="493" y="9"/>
                  </a:lnTo>
                  <a:lnTo>
                    <a:pt x="495" y="11"/>
                  </a:lnTo>
                  <a:lnTo>
                    <a:pt x="496" y="11"/>
                  </a:lnTo>
                  <a:lnTo>
                    <a:pt x="498" y="11"/>
                  </a:lnTo>
                  <a:lnTo>
                    <a:pt x="500" y="11"/>
                  </a:lnTo>
                  <a:lnTo>
                    <a:pt x="501" y="11"/>
                  </a:lnTo>
                  <a:lnTo>
                    <a:pt x="503" y="11"/>
                  </a:lnTo>
                  <a:lnTo>
                    <a:pt x="504" y="12"/>
                  </a:lnTo>
                  <a:lnTo>
                    <a:pt x="506" y="12"/>
                  </a:lnTo>
                  <a:lnTo>
                    <a:pt x="507" y="12"/>
                  </a:lnTo>
                  <a:lnTo>
                    <a:pt x="507" y="12"/>
                  </a:lnTo>
                  <a:lnTo>
                    <a:pt x="509" y="12"/>
                  </a:lnTo>
                  <a:lnTo>
                    <a:pt x="511" y="14"/>
                  </a:lnTo>
                  <a:lnTo>
                    <a:pt x="512" y="14"/>
                  </a:lnTo>
                  <a:lnTo>
                    <a:pt x="514" y="14"/>
                  </a:lnTo>
                  <a:lnTo>
                    <a:pt x="515" y="14"/>
                  </a:lnTo>
                  <a:lnTo>
                    <a:pt x="517" y="16"/>
                  </a:lnTo>
                  <a:lnTo>
                    <a:pt x="518" y="16"/>
                  </a:lnTo>
                  <a:lnTo>
                    <a:pt x="520" y="16"/>
                  </a:lnTo>
                  <a:lnTo>
                    <a:pt x="522" y="17"/>
                  </a:lnTo>
                  <a:lnTo>
                    <a:pt x="525" y="17"/>
                  </a:lnTo>
                  <a:lnTo>
                    <a:pt x="526" y="17"/>
                  </a:lnTo>
                  <a:lnTo>
                    <a:pt x="528" y="19"/>
                  </a:lnTo>
                  <a:lnTo>
                    <a:pt x="531" y="19"/>
                  </a:lnTo>
                  <a:lnTo>
                    <a:pt x="534" y="20"/>
                  </a:lnTo>
                  <a:lnTo>
                    <a:pt x="536" y="20"/>
                  </a:lnTo>
                  <a:lnTo>
                    <a:pt x="539" y="22"/>
                  </a:lnTo>
                  <a:lnTo>
                    <a:pt x="539" y="22"/>
                  </a:lnTo>
                  <a:lnTo>
                    <a:pt x="542" y="23"/>
                  </a:lnTo>
                  <a:lnTo>
                    <a:pt x="545" y="23"/>
                  </a:lnTo>
                  <a:lnTo>
                    <a:pt x="547" y="25"/>
                  </a:lnTo>
                  <a:lnTo>
                    <a:pt x="550" y="25"/>
                  </a:lnTo>
                  <a:lnTo>
                    <a:pt x="551" y="27"/>
                  </a:lnTo>
                  <a:lnTo>
                    <a:pt x="553" y="27"/>
                  </a:lnTo>
                  <a:lnTo>
                    <a:pt x="556" y="27"/>
                  </a:lnTo>
                  <a:lnTo>
                    <a:pt x="558" y="28"/>
                  </a:lnTo>
                  <a:lnTo>
                    <a:pt x="559" y="28"/>
                  </a:lnTo>
                  <a:lnTo>
                    <a:pt x="561" y="28"/>
                  </a:lnTo>
                  <a:lnTo>
                    <a:pt x="562" y="30"/>
                  </a:lnTo>
                  <a:lnTo>
                    <a:pt x="564" y="30"/>
                  </a:lnTo>
                  <a:lnTo>
                    <a:pt x="565" y="31"/>
                  </a:lnTo>
                  <a:lnTo>
                    <a:pt x="567" y="31"/>
                  </a:lnTo>
                  <a:lnTo>
                    <a:pt x="569" y="31"/>
                  </a:lnTo>
                  <a:lnTo>
                    <a:pt x="570" y="33"/>
                  </a:lnTo>
                  <a:lnTo>
                    <a:pt x="572" y="33"/>
                  </a:lnTo>
                  <a:lnTo>
                    <a:pt x="573" y="33"/>
                  </a:lnTo>
                  <a:lnTo>
                    <a:pt x="573" y="34"/>
                  </a:lnTo>
                  <a:lnTo>
                    <a:pt x="575" y="34"/>
                  </a:lnTo>
                  <a:lnTo>
                    <a:pt x="576" y="34"/>
                  </a:lnTo>
                  <a:lnTo>
                    <a:pt x="578" y="36"/>
                  </a:lnTo>
                  <a:lnTo>
                    <a:pt x="580" y="36"/>
                  </a:lnTo>
                  <a:lnTo>
                    <a:pt x="581" y="38"/>
                  </a:lnTo>
                  <a:lnTo>
                    <a:pt x="583" y="38"/>
                  </a:lnTo>
                  <a:lnTo>
                    <a:pt x="584" y="39"/>
                  </a:lnTo>
                  <a:lnTo>
                    <a:pt x="586" y="39"/>
                  </a:lnTo>
                  <a:lnTo>
                    <a:pt x="589" y="41"/>
                  </a:lnTo>
                  <a:lnTo>
                    <a:pt x="591" y="42"/>
                  </a:lnTo>
                  <a:lnTo>
                    <a:pt x="592" y="42"/>
                  </a:lnTo>
                  <a:lnTo>
                    <a:pt x="595" y="44"/>
                  </a:lnTo>
                  <a:lnTo>
                    <a:pt x="597" y="45"/>
                  </a:lnTo>
                  <a:lnTo>
                    <a:pt x="597" y="45"/>
                  </a:lnTo>
                  <a:lnTo>
                    <a:pt x="600" y="47"/>
                  </a:lnTo>
                  <a:lnTo>
                    <a:pt x="603" y="49"/>
                  </a:lnTo>
                  <a:lnTo>
                    <a:pt x="605" y="49"/>
                  </a:lnTo>
                  <a:lnTo>
                    <a:pt x="606" y="50"/>
                  </a:lnTo>
                  <a:lnTo>
                    <a:pt x="609" y="50"/>
                  </a:lnTo>
                  <a:lnTo>
                    <a:pt x="611" y="52"/>
                  </a:lnTo>
                  <a:lnTo>
                    <a:pt x="613" y="53"/>
                  </a:lnTo>
                  <a:lnTo>
                    <a:pt x="614" y="53"/>
                  </a:lnTo>
                  <a:lnTo>
                    <a:pt x="616" y="55"/>
                  </a:lnTo>
                  <a:lnTo>
                    <a:pt x="617" y="55"/>
                  </a:lnTo>
                  <a:lnTo>
                    <a:pt x="619" y="56"/>
                  </a:lnTo>
                  <a:lnTo>
                    <a:pt x="620" y="56"/>
                  </a:lnTo>
                  <a:lnTo>
                    <a:pt x="620" y="56"/>
                  </a:lnTo>
                  <a:lnTo>
                    <a:pt x="622" y="58"/>
                  </a:lnTo>
                  <a:lnTo>
                    <a:pt x="624" y="58"/>
                  </a:lnTo>
                  <a:lnTo>
                    <a:pt x="625" y="60"/>
                  </a:lnTo>
                  <a:lnTo>
                    <a:pt x="627" y="60"/>
                  </a:lnTo>
                  <a:lnTo>
                    <a:pt x="627" y="60"/>
                  </a:lnTo>
                  <a:lnTo>
                    <a:pt x="628" y="61"/>
                  </a:lnTo>
                  <a:lnTo>
                    <a:pt x="630" y="61"/>
                  </a:lnTo>
                  <a:lnTo>
                    <a:pt x="631" y="63"/>
                  </a:lnTo>
                  <a:lnTo>
                    <a:pt x="633" y="63"/>
                  </a:lnTo>
                  <a:lnTo>
                    <a:pt x="633" y="64"/>
                  </a:lnTo>
                  <a:lnTo>
                    <a:pt x="635" y="64"/>
                  </a:lnTo>
                  <a:lnTo>
                    <a:pt x="636" y="66"/>
                  </a:lnTo>
                  <a:lnTo>
                    <a:pt x="638" y="66"/>
                  </a:lnTo>
                  <a:lnTo>
                    <a:pt x="639" y="67"/>
                  </a:lnTo>
                  <a:lnTo>
                    <a:pt x="642" y="67"/>
                  </a:lnTo>
                  <a:lnTo>
                    <a:pt x="644" y="69"/>
                  </a:lnTo>
                  <a:lnTo>
                    <a:pt x="646" y="70"/>
                  </a:lnTo>
                  <a:lnTo>
                    <a:pt x="647" y="72"/>
                  </a:lnTo>
                  <a:lnTo>
                    <a:pt x="650" y="72"/>
                  </a:lnTo>
                  <a:lnTo>
                    <a:pt x="650" y="72"/>
                  </a:lnTo>
                  <a:lnTo>
                    <a:pt x="652" y="74"/>
                  </a:lnTo>
                  <a:lnTo>
                    <a:pt x="653" y="75"/>
                  </a:lnTo>
                  <a:lnTo>
                    <a:pt x="657" y="77"/>
                  </a:lnTo>
                  <a:lnTo>
                    <a:pt x="658" y="77"/>
                  </a:lnTo>
                  <a:lnTo>
                    <a:pt x="660" y="78"/>
                  </a:lnTo>
                  <a:lnTo>
                    <a:pt x="661" y="80"/>
                  </a:lnTo>
                  <a:lnTo>
                    <a:pt x="663" y="80"/>
                  </a:lnTo>
                  <a:lnTo>
                    <a:pt x="664" y="81"/>
                  </a:lnTo>
                  <a:lnTo>
                    <a:pt x="666" y="81"/>
                  </a:lnTo>
                  <a:lnTo>
                    <a:pt x="668" y="83"/>
                  </a:lnTo>
                  <a:lnTo>
                    <a:pt x="668" y="83"/>
                  </a:lnTo>
                  <a:lnTo>
                    <a:pt x="669" y="85"/>
                  </a:lnTo>
                  <a:lnTo>
                    <a:pt x="671" y="85"/>
                  </a:lnTo>
                  <a:lnTo>
                    <a:pt x="672" y="85"/>
                  </a:lnTo>
                  <a:lnTo>
                    <a:pt x="672" y="86"/>
                  </a:lnTo>
                  <a:lnTo>
                    <a:pt x="674" y="86"/>
                  </a:lnTo>
                  <a:lnTo>
                    <a:pt x="675" y="88"/>
                  </a:lnTo>
                  <a:lnTo>
                    <a:pt x="675" y="88"/>
                  </a:lnTo>
                  <a:lnTo>
                    <a:pt x="677" y="88"/>
                  </a:lnTo>
                  <a:lnTo>
                    <a:pt x="678" y="89"/>
                  </a:lnTo>
                  <a:lnTo>
                    <a:pt x="678" y="89"/>
                  </a:lnTo>
                  <a:lnTo>
                    <a:pt x="680" y="91"/>
                  </a:lnTo>
                  <a:lnTo>
                    <a:pt x="682" y="91"/>
                  </a:lnTo>
                  <a:lnTo>
                    <a:pt x="682" y="92"/>
                  </a:lnTo>
                  <a:lnTo>
                    <a:pt x="683" y="92"/>
                  </a:lnTo>
                  <a:lnTo>
                    <a:pt x="685" y="94"/>
                  </a:lnTo>
                  <a:lnTo>
                    <a:pt x="686" y="94"/>
                  </a:lnTo>
                  <a:lnTo>
                    <a:pt x="688" y="96"/>
                  </a:lnTo>
                  <a:lnTo>
                    <a:pt x="689" y="96"/>
                  </a:lnTo>
                  <a:lnTo>
                    <a:pt x="691" y="97"/>
                  </a:lnTo>
                  <a:lnTo>
                    <a:pt x="693" y="99"/>
                  </a:lnTo>
                  <a:lnTo>
                    <a:pt x="694" y="99"/>
                  </a:lnTo>
                  <a:lnTo>
                    <a:pt x="694" y="99"/>
                  </a:lnTo>
                  <a:lnTo>
                    <a:pt x="696" y="100"/>
                  </a:lnTo>
                  <a:lnTo>
                    <a:pt x="697" y="102"/>
                  </a:lnTo>
                  <a:lnTo>
                    <a:pt x="699" y="102"/>
                  </a:lnTo>
                  <a:lnTo>
                    <a:pt x="700" y="103"/>
                  </a:lnTo>
                  <a:lnTo>
                    <a:pt x="702" y="105"/>
                  </a:lnTo>
                  <a:lnTo>
                    <a:pt x="704" y="105"/>
                  </a:lnTo>
                  <a:lnTo>
                    <a:pt x="704" y="107"/>
                  </a:lnTo>
                  <a:lnTo>
                    <a:pt x="705" y="107"/>
                  </a:lnTo>
                  <a:lnTo>
                    <a:pt x="707" y="108"/>
                  </a:lnTo>
                  <a:lnTo>
                    <a:pt x="708" y="108"/>
                  </a:lnTo>
                  <a:lnTo>
                    <a:pt x="708" y="108"/>
                  </a:lnTo>
                  <a:lnTo>
                    <a:pt x="710" y="110"/>
                  </a:lnTo>
                  <a:lnTo>
                    <a:pt x="710" y="110"/>
                  </a:lnTo>
                  <a:lnTo>
                    <a:pt x="711" y="111"/>
                  </a:lnTo>
                  <a:lnTo>
                    <a:pt x="711" y="111"/>
                  </a:lnTo>
                  <a:lnTo>
                    <a:pt x="713" y="111"/>
                  </a:lnTo>
                  <a:lnTo>
                    <a:pt x="713" y="113"/>
                  </a:lnTo>
                  <a:lnTo>
                    <a:pt x="715" y="113"/>
                  </a:lnTo>
                  <a:lnTo>
                    <a:pt x="715" y="113"/>
                  </a:lnTo>
                  <a:lnTo>
                    <a:pt x="716" y="114"/>
                  </a:lnTo>
                  <a:lnTo>
                    <a:pt x="716" y="114"/>
                  </a:lnTo>
                  <a:lnTo>
                    <a:pt x="718" y="114"/>
                  </a:lnTo>
                  <a:lnTo>
                    <a:pt x="718" y="116"/>
                  </a:lnTo>
                  <a:lnTo>
                    <a:pt x="719" y="116"/>
                  </a:lnTo>
                  <a:lnTo>
                    <a:pt x="719" y="118"/>
                  </a:lnTo>
                  <a:lnTo>
                    <a:pt x="721" y="118"/>
                  </a:lnTo>
                  <a:lnTo>
                    <a:pt x="722" y="119"/>
                  </a:lnTo>
                  <a:lnTo>
                    <a:pt x="722" y="119"/>
                  </a:lnTo>
                  <a:lnTo>
                    <a:pt x="724" y="121"/>
                  </a:lnTo>
                  <a:lnTo>
                    <a:pt x="726" y="121"/>
                  </a:lnTo>
                  <a:lnTo>
                    <a:pt x="726" y="122"/>
                  </a:lnTo>
                  <a:lnTo>
                    <a:pt x="727" y="122"/>
                  </a:lnTo>
                  <a:lnTo>
                    <a:pt x="727" y="122"/>
                  </a:lnTo>
                  <a:lnTo>
                    <a:pt x="729" y="124"/>
                  </a:lnTo>
                  <a:lnTo>
                    <a:pt x="730" y="125"/>
                  </a:lnTo>
                  <a:lnTo>
                    <a:pt x="730" y="125"/>
                  </a:lnTo>
                  <a:lnTo>
                    <a:pt x="732" y="127"/>
                  </a:lnTo>
                  <a:lnTo>
                    <a:pt x="733" y="127"/>
                  </a:lnTo>
                  <a:lnTo>
                    <a:pt x="733" y="129"/>
                  </a:lnTo>
                  <a:lnTo>
                    <a:pt x="735" y="129"/>
                  </a:lnTo>
                  <a:lnTo>
                    <a:pt x="735" y="129"/>
                  </a:lnTo>
                  <a:lnTo>
                    <a:pt x="737" y="130"/>
                  </a:lnTo>
                  <a:lnTo>
                    <a:pt x="737" y="130"/>
                  </a:lnTo>
                  <a:lnTo>
                    <a:pt x="738" y="132"/>
                  </a:lnTo>
                  <a:lnTo>
                    <a:pt x="738" y="132"/>
                  </a:lnTo>
                  <a:lnTo>
                    <a:pt x="740" y="132"/>
                  </a:lnTo>
                  <a:lnTo>
                    <a:pt x="740" y="133"/>
                  </a:lnTo>
                  <a:lnTo>
                    <a:pt x="741" y="133"/>
                  </a:lnTo>
                  <a:lnTo>
                    <a:pt x="741" y="133"/>
                  </a:lnTo>
                  <a:lnTo>
                    <a:pt x="741" y="135"/>
                  </a:lnTo>
                  <a:lnTo>
                    <a:pt x="743" y="135"/>
                  </a:lnTo>
                  <a:lnTo>
                    <a:pt x="743" y="135"/>
                  </a:lnTo>
                  <a:lnTo>
                    <a:pt x="744" y="136"/>
                  </a:lnTo>
                  <a:lnTo>
                    <a:pt x="744" y="136"/>
                  </a:lnTo>
                  <a:lnTo>
                    <a:pt x="746" y="136"/>
                  </a:lnTo>
                  <a:lnTo>
                    <a:pt x="746" y="138"/>
                  </a:lnTo>
                  <a:lnTo>
                    <a:pt x="748" y="138"/>
                  </a:lnTo>
                  <a:lnTo>
                    <a:pt x="749" y="138"/>
                  </a:lnTo>
                  <a:lnTo>
                    <a:pt x="749" y="140"/>
                  </a:lnTo>
                  <a:lnTo>
                    <a:pt x="751" y="140"/>
                  </a:lnTo>
                  <a:lnTo>
                    <a:pt x="752" y="141"/>
                  </a:lnTo>
                  <a:lnTo>
                    <a:pt x="752" y="141"/>
                  </a:lnTo>
                  <a:lnTo>
                    <a:pt x="754" y="143"/>
                  </a:lnTo>
                  <a:lnTo>
                    <a:pt x="755" y="143"/>
                  </a:lnTo>
                  <a:lnTo>
                    <a:pt x="757" y="144"/>
                  </a:lnTo>
                  <a:lnTo>
                    <a:pt x="757" y="144"/>
                  </a:lnTo>
                  <a:lnTo>
                    <a:pt x="759" y="146"/>
                  </a:lnTo>
                  <a:lnTo>
                    <a:pt x="760" y="146"/>
                  </a:lnTo>
                  <a:lnTo>
                    <a:pt x="760" y="147"/>
                  </a:lnTo>
                  <a:lnTo>
                    <a:pt x="762" y="147"/>
                  </a:lnTo>
                  <a:lnTo>
                    <a:pt x="763" y="149"/>
                  </a:lnTo>
                  <a:lnTo>
                    <a:pt x="765" y="149"/>
                  </a:lnTo>
                  <a:lnTo>
                    <a:pt x="765" y="151"/>
                  </a:lnTo>
                  <a:lnTo>
                    <a:pt x="766" y="151"/>
                  </a:lnTo>
                  <a:lnTo>
                    <a:pt x="766" y="152"/>
                  </a:lnTo>
                  <a:lnTo>
                    <a:pt x="768" y="152"/>
                  </a:lnTo>
                  <a:lnTo>
                    <a:pt x="768" y="152"/>
                  </a:lnTo>
                  <a:lnTo>
                    <a:pt x="770" y="154"/>
                  </a:lnTo>
                  <a:lnTo>
                    <a:pt x="771" y="154"/>
                  </a:lnTo>
                  <a:lnTo>
                    <a:pt x="771" y="155"/>
                  </a:lnTo>
                  <a:lnTo>
                    <a:pt x="771" y="155"/>
                  </a:lnTo>
                  <a:lnTo>
                    <a:pt x="773" y="157"/>
                  </a:lnTo>
                  <a:lnTo>
                    <a:pt x="773" y="157"/>
                  </a:lnTo>
                  <a:lnTo>
                    <a:pt x="774" y="157"/>
                  </a:lnTo>
                  <a:lnTo>
                    <a:pt x="774" y="158"/>
                  </a:lnTo>
                  <a:lnTo>
                    <a:pt x="776" y="158"/>
                  </a:lnTo>
                  <a:lnTo>
                    <a:pt x="776" y="160"/>
                  </a:lnTo>
                  <a:lnTo>
                    <a:pt x="777" y="160"/>
                  </a:lnTo>
                  <a:lnTo>
                    <a:pt x="779" y="161"/>
                  </a:lnTo>
                  <a:lnTo>
                    <a:pt x="779" y="163"/>
                  </a:lnTo>
                  <a:lnTo>
                    <a:pt x="781" y="163"/>
                  </a:lnTo>
                  <a:lnTo>
                    <a:pt x="782" y="165"/>
                  </a:lnTo>
                  <a:lnTo>
                    <a:pt x="782" y="166"/>
                  </a:lnTo>
                  <a:lnTo>
                    <a:pt x="784" y="168"/>
                  </a:lnTo>
                  <a:lnTo>
                    <a:pt x="785" y="168"/>
                  </a:lnTo>
                  <a:lnTo>
                    <a:pt x="787" y="169"/>
                  </a:lnTo>
                  <a:lnTo>
                    <a:pt x="788" y="171"/>
                  </a:lnTo>
                  <a:lnTo>
                    <a:pt x="788" y="172"/>
                  </a:lnTo>
                  <a:lnTo>
                    <a:pt x="788" y="172"/>
                  </a:lnTo>
                  <a:lnTo>
                    <a:pt x="790" y="174"/>
                  </a:lnTo>
                  <a:lnTo>
                    <a:pt x="792" y="176"/>
                  </a:lnTo>
                  <a:lnTo>
                    <a:pt x="793" y="177"/>
                  </a:lnTo>
                  <a:lnTo>
                    <a:pt x="795" y="179"/>
                  </a:lnTo>
                  <a:lnTo>
                    <a:pt x="796" y="180"/>
                  </a:lnTo>
                  <a:lnTo>
                    <a:pt x="796" y="182"/>
                  </a:lnTo>
                  <a:lnTo>
                    <a:pt x="798" y="182"/>
                  </a:lnTo>
                  <a:lnTo>
                    <a:pt x="799" y="183"/>
                  </a:lnTo>
                  <a:lnTo>
                    <a:pt x="799" y="185"/>
                  </a:lnTo>
                  <a:lnTo>
                    <a:pt x="801" y="185"/>
                  </a:lnTo>
                  <a:lnTo>
                    <a:pt x="802" y="187"/>
                  </a:lnTo>
                  <a:lnTo>
                    <a:pt x="802" y="187"/>
                  </a:lnTo>
                  <a:lnTo>
                    <a:pt x="804" y="188"/>
                  </a:lnTo>
                  <a:lnTo>
                    <a:pt x="804" y="190"/>
                  </a:lnTo>
                  <a:lnTo>
                    <a:pt x="806" y="190"/>
                  </a:lnTo>
                  <a:lnTo>
                    <a:pt x="806" y="191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9" y="194"/>
                  </a:lnTo>
                  <a:lnTo>
                    <a:pt x="810" y="194"/>
                  </a:lnTo>
                  <a:lnTo>
                    <a:pt x="810" y="196"/>
                  </a:lnTo>
                  <a:lnTo>
                    <a:pt x="812" y="198"/>
                  </a:lnTo>
                  <a:lnTo>
                    <a:pt x="812" y="199"/>
                  </a:lnTo>
                  <a:lnTo>
                    <a:pt x="813" y="201"/>
                  </a:lnTo>
                  <a:lnTo>
                    <a:pt x="815" y="201"/>
                  </a:lnTo>
                  <a:lnTo>
                    <a:pt x="817" y="202"/>
                  </a:lnTo>
                  <a:lnTo>
                    <a:pt x="817" y="204"/>
                  </a:lnTo>
                  <a:lnTo>
                    <a:pt x="818" y="205"/>
                  </a:lnTo>
                  <a:lnTo>
                    <a:pt x="820" y="209"/>
                  </a:lnTo>
                  <a:lnTo>
                    <a:pt x="821" y="210"/>
                  </a:lnTo>
                  <a:lnTo>
                    <a:pt x="823" y="212"/>
                  </a:lnTo>
                  <a:lnTo>
                    <a:pt x="824" y="213"/>
                  </a:lnTo>
                  <a:lnTo>
                    <a:pt x="824" y="213"/>
                  </a:lnTo>
                  <a:lnTo>
                    <a:pt x="828" y="216"/>
                  </a:lnTo>
                  <a:lnTo>
                    <a:pt x="829" y="218"/>
                  </a:lnTo>
                  <a:lnTo>
                    <a:pt x="831" y="220"/>
                  </a:lnTo>
                  <a:lnTo>
                    <a:pt x="832" y="221"/>
                  </a:lnTo>
                  <a:lnTo>
                    <a:pt x="834" y="223"/>
                  </a:lnTo>
                  <a:lnTo>
                    <a:pt x="834" y="224"/>
                  </a:lnTo>
                  <a:lnTo>
                    <a:pt x="835" y="226"/>
                  </a:lnTo>
                  <a:lnTo>
                    <a:pt x="837" y="227"/>
                  </a:lnTo>
                  <a:lnTo>
                    <a:pt x="839" y="229"/>
                  </a:lnTo>
                  <a:lnTo>
                    <a:pt x="839" y="231"/>
                  </a:lnTo>
                  <a:lnTo>
                    <a:pt x="840" y="232"/>
                  </a:lnTo>
                  <a:lnTo>
                    <a:pt x="842" y="234"/>
                  </a:lnTo>
                  <a:lnTo>
                    <a:pt x="842" y="234"/>
                  </a:lnTo>
                  <a:lnTo>
                    <a:pt x="843" y="235"/>
                  </a:lnTo>
                  <a:lnTo>
                    <a:pt x="843" y="237"/>
                  </a:lnTo>
                  <a:lnTo>
                    <a:pt x="845" y="238"/>
                  </a:lnTo>
                  <a:lnTo>
                    <a:pt x="846" y="240"/>
                  </a:lnTo>
                  <a:lnTo>
                    <a:pt x="846" y="240"/>
                  </a:lnTo>
                  <a:lnTo>
                    <a:pt x="848" y="241"/>
                  </a:lnTo>
                  <a:lnTo>
                    <a:pt x="848" y="243"/>
                  </a:lnTo>
                  <a:lnTo>
                    <a:pt x="850" y="245"/>
                  </a:lnTo>
                  <a:lnTo>
                    <a:pt x="851" y="246"/>
                  </a:lnTo>
                  <a:lnTo>
                    <a:pt x="851" y="248"/>
                  </a:lnTo>
                  <a:lnTo>
                    <a:pt x="853" y="249"/>
                  </a:lnTo>
                  <a:lnTo>
                    <a:pt x="854" y="251"/>
                  </a:lnTo>
                  <a:lnTo>
                    <a:pt x="856" y="252"/>
                  </a:lnTo>
                  <a:lnTo>
                    <a:pt x="856" y="254"/>
                  </a:lnTo>
                  <a:lnTo>
                    <a:pt x="857" y="256"/>
                  </a:lnTo>
                  <a:lnTo>
                    <a:pt x="859" y="259"/>
                  </a:lnTo>
                  <a:lnTo>
                    <a:pt x="861" y="260"/>
                  </a:lnTo>
                  <a:lnTo>
                    <a:pt x="862" y="262"/>
                  </a:lnTo>
                  <a:lnTo>
                    <a:pt x="864" y="265"/>
                  </a:lnTo>
                  <a:lnTo>
                    <a:pt x="864" y="265"/>
                  </a:lnTo>
                  <a:lnTo>
                    <a:pt x="867" y="268"/>
                  </a:lnTo>
                  <a:lnTo>
                    <a:pt x="868" y="270"/>
                  </a:lnTo>
                  <a:lnTo>
                    <a:pt x="870" y="271"/>
                  </a:lnTo>
                  <a:lnTo>
                    <a:pt x="872" y="274"/>
                  </a:lnTo>
                  <a:lnTo>
                    <a:pt x="873" y="276"/>
                  </a:lnTo>
                  <a:lnTo>
                    <a:pt x="873" y="278"/>
                  </a:lnTo>
                  <a:lnTo>
                    <a:pt x="875" y="279"/>
                  </a:lnTo>
                  <a:lnTo>
                    <a:pt x="876" y="281"/>
                  </a:lnTo>
                  <a:lnTo>
                    <a:pt x="878" y="282"/>
                  </a:lnTo>
                  <a:lnTo>
                    <a:pt x="878" y="284"/>
                  </a:lnTo>
                  <a:lnTo>
                    <a:pt x="879" y="285"/>
                  </a:lnTo>
                  <a:lnTo>
                    <a:pt x="881" y="287"/>
                  </a:lnTo>
                  <a:lnTo>
                    <a:pt x="881" y="289"/>
                  </a:lnTo>
                  <a:lnTo>
                    <a:pt x="883" y="290"/>
                  </a:lnTo>
                  <a:lnTo>
                    <a:pt x="884" y="292"/>
                  </a:lnTo>
                  <a:lnTo>
                    <a:pt x="884" y="293"/>
                  </a:lnTo>
                  <a:lnTo>
                    <a:pt x="886" y="293"/>
                  </a:lnTo>
                  <a:lnTo>
                    <a:pt x="886" y="295"/>
                  </a:lnTo>
                  <a:lnTo>
                    <a:pt x="887" y="296"/>
                  </a:lnTo>
                  <a:lnTo>
                    <a:pt x="889" y="298"/>
                  </a:lnTo>
                  <a:lnTo>
                    <a:pt x="889" y="300"/>
                  </a:lnTo>
                  <a:lnTo>
                    <a:pt x="890" y="301"/>
                  </a:lnTo>
                  <a:lnTo>
                    <a:pt x="892" y="303"/>
                  </a:lnTo>
                  <a:lnTo>
                    <a:pt x="892" y="304"/>
                  </a:lnTo>
                  <a:lnTo>
                    <a:pt x="894" y="306"/>
                  </a:lnTo>
                  <a:lnTo>
                    <a:pt x="895" y="307"/>
                  </a:lnTo>
                  <a:lnTo>
                    <a:pt x="897" y="309"/>
                  </a:lnTo>
                  <a:lnTo>
                    <a:pt x="898" y="312"/>
                  </a:lnTo>
                  <a:lnTo>
                    <a:pt x="900" y="314"/>
                  </a:lnTo>
                  <a:lnTo>
                    <a:pt x="901" y="315"/>
                  </a:lnTo>
                  <a:lnTo>
                    <a:pt x="903" y="318"/>
                  </a:lnTo>
                  <a:lnTo>
                    <a:pt x="905" y="322"/>
                  </a:lnTo>
                  <a:lnTo>
                    <a:pt x="905" y="322"/>
                  </a:lnTo>
                  <a:lnTo>
                    <a:pt x="906" y="323"/>
                  </a:lnTo>
                  <a:lnTo>
                    <a:pt x="909" y="326"/>
                  </a:lnTo>
                  <a:lnTo>
                    <a:pt x="911" y="328"/>
                  </a:lnTo>
                  <a:lnTo>
                    <a:pt x="912" y="331"/>
                  </a:lnTo>
                  <a:lnTo>
                    <a:pt x="914" y="332"/>
                  </a:lnTo>
                  <a:lnTo>
                    <a:pt x="914" y="334"/>
                  </a:lnTo>
                  <a:lnTo>
                    <a:pt x="916" y="336"/>
                  </a:lnTo>
                  <a:lnTo>
                    <a:pt x="917" y="337"/>
                  </a:lnTo>
                  <a:lnTo>
                    <a:pt x="919" y="339"/>
                  </a:lnTo>
                  <a:lnTo>
                    <a:pt x="919" y="340"/>
                  </a:lnTo>
                  <a:lnTo>
                    <a:pt x="920" y="342"/>
                  </a:lnTo>
                  <a:lnTo>
                    <a:pt x="922" y="343"/>
                  </a:lnTo>
                  <a:lnTo>
                    <a:pt x="922" y="345"/>
                  </a:lnTo>
                  <a:lnTo>
                    <a:pt x="923" y="347"/>
                  </a:lnTo>
                  <a:lnTo>
                    <a:pt x="923" y="347"/>
                  </a:lnTo>
                  <a:lnTo>
                    <a:pt x="925" y="348"/>
                  </a:lnTo>
                  <a:lnTo>
                    <a:pt x="925" y="350"/>
                  </a:lnTo>
                  <a:lnTo>
                    <a:pt x="926" y="351"/>
                  </a:lnTo>
                  <a:lnTo>
                    <a:pt x="926" y="353"/>
                  </a:lnTo>
                  <a:lnTo>
                    <a:pt x="928" y="353"/>
                  </a:lnTo>
                  <a:lnTo>
                    <a:pt x="928" y="354"/>
                  </a:lnTo>
                  <a:lnTo>
                    <a:pt x="930" y="356"/>
                  </a:lnTo>
                  <a:lnTo>
                    <a:pt x="930" y="358"/>
                  </a:lnTo>
                  <a:lnTo>
                    <a:pt x="931" y="359"/>
                  </a:lnTo>
                  <a:lnTo>
                    <a:pt x="931" y="361"/>
                  </a:lnTo>
                  <a:lnTo>
                    <a:pt x="933" y="362"/>
                  </a:lnTo>
                  <a:lnTo>
                    <a:pt x="934" y="364"/>
                  </a:lnTo>
                  <a:lnTo>
                    <a:pt x="934" y="365"/>
                  </a:lnTo>
                  <a:lnTo>
                    <a:pt x="936" y="367"/>
                  </a:lnTo>
                  <a:lnTo>
                    <a:pt x="937" y="369"/>
                  </a:lnTo>
                  <a:lnTo>
                    <a:pt x="937" y="370"/>
                  </a:lnTo>
                  <a:lnTo>
                    <a:pt x="939" y="373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6"/>
            <p:cNvSpPr>
              <a:spLocks/>
            </p:cNvSpPr>
            <p:nvPr/>
          </p:nvSpPr>
          <p:spPr bwMode="auto">
            <a:xfrm>
              <a:off x="1145" y="2567"/>
              <a:ext cx="54" cy="135"/>
            </a:xfrm>
            <a:custGeom>
              <a:avLst/>
              <a:gdLst>
                <a:gd name="T0" fmla="*/ 6 w 111"/>
                <a:gd name="T1" fmla="*/ 363 h 374"/>
                <a:gd name="T2" fmla="*/ 14 w 111"/>
                <a:gd name="T3" fmla="*/ 350 h 374"/>
                <a:gd name="T4" fmla="*/ 19 w 111"/>
                <a:gd name="T5" fmla="*/ 341 h 374"/>
                <a:gd name="T6" fmla="*/ 24 w 111"/>
                <a:gd name="T7" fmla="*/ 333 h 374"/>
                <a:gd name="T8" fmla="*/ 27 w 111"/>
                <a:gd name="T9" fmla="*/ 327 h 374"/>
                <a:gd name="T10" fmla="*/ 30 w 111"/>
                <a:gd name="T11" fmla="*/ 322 h 374"/>
                <a:gd name="T12" fmla="*/ 31 w 111"/>
                <a:gd name="T13" fmla="*/ 316 h 374"/>
                <a:gd name="T14" fmla="*/ 35 w 111"/>
                <a:gd name="T15" fmla="*/ 308 h 374"/>
                <a:gd name="T16" fmla="*/ 38 w 111"/>
                <a:gd name="T17" fmla="*/ 301 h 374"/>
                <a:gd name="T18" fmla="*/ 41 w 111"/>
                <a:gd name="T19" fmla="*/ 295 h 374"/>
                <a:gd name="T20" fmla="*/ 42 w 111"/>
                <a:gd name="T21" fmla="*/ 289 h 374"/>
                <a:gd name="T22" fmla="*/ 46 w 111"/>
                <a:gd name="T23" fmla="*/ 284 h 374"/>
                <a:gd name="T24" fmla="*/ 47 w 111"/>
                <a:gd name="T25" fmla="*/ 280 h 374"/>
                <a:gd name="T26" fmla="*/ 49 w 111"/>
                <a:gd name="T27" fmla="*/ 273 h 374"/>
                <a:gd name="T28" fmla="*/ 52 w 111"/>
                <a:gd name="T29" fmla="*/ 267 h 374"/>
                <a:gd name="T30" fmla="*/ 55 w 111"/>
                <a:gd name="T31" fmla="*/ 259 h 374"/>
                <a:gd name="T32" fmla="*/ 58 w 111"/>
                <a:gd name="T33" fmla="*/ 251 h 374"/>
                <a:gd name="T34" fmla="*/ 61 w 111"/>
                <a:gd name="T35" fmla="*/ 242 h 374"/>
                <a:gd name="T36" fmla="*/ 63 w 111"/>
                <a:gd name="T37" fmla="*/ 236 h 374"/>
                <a:gd name="T38" fmla="*/ 66 w 111"/>
                <a:gd name="T39" fmla="*/ 229 h 374"/>
                <a:gd name="T40" fmla="*/ 67 w 111"/>
                <a:gd name="T41" fmla="*/ 225 h 374"/>
                <a:gd name="T42" fmla="*/ 69 w 111"/>
                <a:gd name="T43" fmla="*/ 218 h 374"/>
                <a:gd name="T44" fmla="*/ 71 w 111"/>
                <a:gd name="T45" fmla="*/ 212 h 374"/>
                <a:gd name="T46" fmla="*/ 74 w 111"/>
                <a:gd name="T47" fmla="*/ 204 h 374"/>
                <a:gd name="T48" fmla="*/ 75 w 111"/>
                <a:gd name="T49" fmla="*/ 196 h 374"/>
                <a:gd name="T50" fmla="*/ 78 w 111"/>
                <a:gd name="T51" fmla="*/ 187 h 374"/>
                <a:gd name="T52" fmla="*/ 82 w 111"/>
                <a:gd name="T53" fmla="*/ 181 h 374"/>
                <a:gd name="T54" fmla="*/ 83 w 111"/>
                <a:gd name="T55" fmla="*/ 174 h 374"/>
                <a:gd name="T56" fmla="*/ 85 w 111"/>
                <a:gd name="T57" fmla="*/ 168 h 374"/>
                <a:gd name="T58" fmla="*/ 86 w 111"/>
                <a:gd name="T59" fmla="*/ 163 h 374"/>
                <a:gd name="T60" fmla="*/ 88 w 111"/>
                <a:gd name="T61" fmla="*/ 157 h 374"/>
                <a:gd name="T62" fmla="*/ 91 w 111"/>
                <a:gd name="T63" fmla="*/ 149 h 374"/>
                <a:gd name="T64" fmla="*/ 94 w 111"/>
                <a:gd name="T65" fmla="*/ 140 h 374"/>
                <a:gd name="T66" fmla="*/ 96 w 111"/>
                <a:gd name="T67" fmla="*/ 132 h 374"/>
                <a:gd name="T68" fmla="*/ 99 w 111"/>
                <a:gd name="T69" fmla="*/ 124 h 374"/>
                <a:gd name="T70" fmla="*/ 100 w 111"/>
                <a:gd name="T71" fmla="*/ 118 h 374"/>
                <a:gd name="T72" fmla="*/ 102 w 111"/>
                <a:gd name="T73" fmla="*/ 113 h 374"/>
                <a:gd name="T74" fmla="*/ 102 w 111"/>
                <a:gd name="T75" fmla="*/ 109 h 374"/>
                <a:gd name="T76" fmla="*/ 104 w 111"/>
                <a:gd name="T77" fmla="*/ 104 h 374"/>
                <a:gd name="T78" fmla="*/ 104 w 111"/>
                <a:gd name="T79" fmla="*/ 98 h 374"/>
                <a:gd name="T80" fmla="*/ 104 w 111"/>
                <a:gd name="T81" fmla="*/ 90 h 374"/>
                <a:gd name="T82" fmla="*/ 105 w 111"/>
                <a:gd name="T83" fmla="*/ 83 h 374"/>
                <a:gd name="T84" fmla="*/ 105 w 111"/>
                <a:gd name="T85" fmla="*/ 76 h 374"/>
                <a:gd name="T86" fmla="*/ 105 w 111"/>
                <a:gd name="T87" fmla="*/ 69 h 374"/>
                <a:gd name="T88" fmla="*/ 107 w 111"/>
                <a:gd name="T89" fmla="*/ 66 h 374"/>
                <a:gd name="T90" fmla="*/ 107 w 111"/>
                <a:gd name="T91" fmla="*/ 61 h 374"/>
                <a:gd name="T92" fmla="*/ 107 w 111"/>
                <a:gd name="T93" fmla="*/ 58 h 374"/>
                <a:gd name="T94" fmla="*/ 108 w 111"/>
                <a:gd name="T95" fmla="*/ 55 h 374"/>
                <a:gd name="T96" fmla="*/ 108 w 111"/>
                <a:gd name="T97" fmla="*/ 50 h 374"/>
                <a:gd name="T98" fmla="*/ 110 w 111"/>
                <a:gd name="T99" fmla="*/ 47 h 374"/>
                <a:gd name="T100" fmla="*/ 110 w 111"/>
                <a:gd name="T101" fmla="*/ 43 h 374"/>
                <a:gd name="T102" fmla="*/ 111 w 111"/>
                <a:gd name="T103" fmla="*/ 38 h 374"/>
                <a:gd name="T104" fmla="*/ 111 w 111"/>
                <a:gd name="T105" fmla="*/ 35 h 374"/>
                <a:gd name="T106" fmla="*/ 111 w 111"/>
                <a:gd name="T107" fmla="*/ 30 h 374"/>
                <a:gd name="T108" fmla="*/ 111 w 111"/>
                <a:gd name="T109" fmla="*/ 24 h 374"/>
                <a:gd name="T110" fmla="*/ 111 w 111"/>
                <a:gd name="T111" fmla="*/ 18 h 374"/>
                <a:gd name="T112" fmla="*/ 111 w 111"/>
                <a:gd name="T113" fmla="*/ 8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1" h="374">
                  <a:moveTo>
                    <a:pt x="0" y="374"/>
                  </a:moveTo>
                  <a:lnTo>
                    <a:pt x="3" y="371"/>
                  </a:lnTo>
                  <a:lnTo>
                    <a:pt x="5" y="366"/>
                  </a:lnTo>
                  <a:lnTo>
                    <a:pt x="6" y="363"/>
                  </a:lnTo>
                  <a:lnTo>
                    <a:pt x="9" y="360"/>
                  </a:lnTo>
                  <a:lnTo>
                    <a:pt x="11" y="356"/>
                  </a:lnTo>
                  <a:lnTo>
                    <a:pt x="13" y="353"/>
                  </a:lnTo>
                  <a:lnTo>
                    <a:pt x="14" y="350"/>
                  </a:lnTo>
                  <a:lnTo>
                    <a:pt x="16" y="349"/>
                  </a:lnTo>
                  <a:lnTo>
                    <a:pt x="17" y="345"/>
                  </a:lnTo>
                  <a:lnTo>
                    <a:pt x="17" y="344"/>
                  </a:lnTo>
                  <a:lnTo>
                    <a:pt x="19" y="341"/>
                  </a:lnTo>
                  <a:lnTo>
                    <a:pt x="20" y="339"/>
                  </a:lnTo>
                  <a:lnTo>
                    <a:pt x="22" y="338"/>
                  </a:lnTo>
                  <a:lnTo>
                    <a:pt x="22" y="334"/>
                  </a:lnTo>
                  <a:lnTo>
                    <a:pt x="24" y="333"/>
                  </a:lnTo>
                  <a:lnTo>
                    <a:pt x="24" y="331"/>
                  </a:lnTo>
                  <a:lnTo>
                    <a:pt x="25" y="330"/>
                  </a:lnTo>
                  <a:lnTo>
                    <a:pt x="25" y="328"/>
                  </a:lnTo>
                  <a:lnTo>
                    <a:pt x="27" y="327"/>
                  </a:lnTo>
                  <a:lnTo>
                    <a:pt x="27" y="325"/>
                  </a:lnTo>
                  <a:lnTo>
                    <a:pt x="28" y="325"/>
                  </a:lnTo>
                  <a:lnTo>
                    <a:pt x="28" y="323"/>
                  </a:lnTo>
                  <a:lnTo>
                    <a:pt x="30" y="322"/>
                  </a:lnTo>
                  <a:lnTo>
                    <a:pt x="30" y="320"/>
                  </a:lnTo>
                  <a:lnTo>
                    <a:pt x="30" y="319"/>
                  </a:lnTo>
                  <a:lnTo>
                    <a:pt x="31" y="317"/>
                  </a:lnTo>
                  <a:lnTo>
                    <a:pt x="31" y="316"/>
                  </a:lnTo>
                  <a:lnTo>
                    <a:pt x="33" y="314"/>
                  </a:lnTo>
                  <a:lnTo>
                    <a:pt x="33" y="311"/>
                  </a:lnTo>
                  <a:lnTo>
                    <a:pt x="35" y="309"/>
                  </a:lnTo>
                  <a:lnTo>
                    <a:pt x="35" y="308"/>
                  </a:lnTo>
                  <a:lnTo>
                    <a:pt x="36" y="306"/>
                  </a:lnTo>
                  <a:lnTo>
                    <a:pt x="36" y="306"/>
                  </a:lnTo>
                  <a:lnTo>
                    <a:pt x="36" y="303"/>
                  </a:lnTo>
                  <a:lnTo>
                    <a:pt x="38" y="301"/>
                  </a:lnTo>
                  <a:lnTo>
                    <a:pt x="38" y="300"/>
                  </a:lnTo>
                  <a:lnTo>
                    <a:pt x="39" y="298"/>
                  </a:lnTo>
                  <a:lnTo>
                    <a:pt x="39" y="297"/>
                  </a:lnTo>
                  <a:lnTo>
                    <a:pt x="41" y="295"/>
                  </a:lnTo>
                  <a:lnTo>
                    <a:pt x="41" y="294"/>
                  </a:lnTo>
                  <a:lnTo>
                    <a:pt x="42" y="292"/>
                  </a:lnTo>
                  <a:lnTo>
                    <a:pt x="42" y="291"/>
                  </a:lnTo>
                  <a:lnTo>
                    <a:pt x="42" y="289"/>
                  </a:lnTo>
                  <a:lnTo>
                    <a:pt x="44" y="287"/>
                  </a:lnTo>
                  <a:lnTo>
                    <a:pt x="44" y="286"/>
                  </a:lnTo>
                  <a:lnTo>
                    <a:pt x="44" y="286"/>
                  </a:lnTo>
                  <a:lnTo>
                    <a:pt x="46" y="284"/>
                  </a:lnTo>
                  <a:lnTo>
                    <a:pt x="46" y="283"/>
                  </a:lnTo>
                  <a:lnTo>
                    <a:pt x="46" y="281"/>
                  </a:lnTo>
                  <a:lnTo>
                    <a:pt x="46" y="280"/>
                  </a:lnTo>
                  <a:lnTo>
                    <a:pt x="47" y="280"/>
                  </a:lnTo>
                  <a:lnTo>
                    <a:pt x="47" y="278"/>
                  </a:lnTo>
                  <a:lnTo>
                    <a:pt x="47" y="276"/>
                  </a:lnTo>
                  <a:lnTo>
                    <a:pt x="49" y="275"/>
                  </a:lnTo>
                  <a:lnTo>
                    <a:pt x="49" y="273"/>
                  </a:lnTo>
                  <a:lnTo>
                    <a:pt x="49" y="272"/>
                  </a:lnTo>
                  <a:lnTo>
                    <a:pt x="50" y="270"/>
                  </a:lnTo>
                  <a:lnTo>
                    <a:pt x="50" y="269"/>
                  </a:lnTo>
                  <a:lnTo>
                    <a:pt x="52" y="267"/>
                  </a:lnTo>
                  <a:lnTo>
                    <a:pt x="52" y="265"/>
                  </a:lnTo>
                  <a:lnTo>
                    <a:pt x="53" y="264"/>
                  </a:lnTo>
                  <a:lnTo>
                    <a:pt x="53" y="261"/>
                  </a:lnTo>
                  <a:lnTo>
                    <a:pt x="55" y="259"/>
                  </a:lnTo>
                  <a:lnTo>
                    <a:pt x="55" y="256"/>
                  </a:lnTo>
                  <a:lnTo>
                    <a:pt x="56" y="254"/>
                  </a:lnTo>
                  <a:lnTo>
                    <a:pt x="56" y="254"/>
                  </a:lnTo>
                  <a:lnTo>
                    <a:pt x="58" y="251"/>
                  </a:lnTo>
                  <a:lnTo>
                    <a:pt x="58" y="248"/>
                  </a:lnTo>
                  <a:lnTo>
                    <a:pt x="60" y="247"/>
                  </a:lnTo>
                  <a:lnTo>
                    <a:pt x="60" y="245"/>
                  </a:lnTo>
                  <a:lnTo>
                    <a:pt x="61" y="242"/>
                  </a:lnTo>
                  <a:lnTo>
                    <a:pt x="61" y="240"/>
                  </a:lnTo>
                  <a:lnTo>
                    <a:pt x="63" y="239"/>
                  </a:lnTo>
                  <a:lnTo>
                    <a:pt x="63" y="237"/>
                  </a:lnTo>
                  <a:lnTo>
                    <a:pt x="63" y="236"/>
                  </a:lnTo>
                  <a:lnTo>
                    <a:pt x="64" y="234"/>
                  </a:lnTo>
                  <a:lnTo>
                    <a:pt x="64" y="232"/>
                  </a:lnTo>
                  <a:lnTo>
                    <a:pt x="64" y="231"/>
                  </a:lnTo>
                  <a:lnTo>
                    <a:pt x="66" y="229"/>
                  </a:lnTo>
                  <a:lnTo>
                    <a:pt x="66" y="228"/>
                  </a:lnTo>
                  <a:lnTo>
                    <a:pt x="66" y="226"/>
                  </a:lnTo>
                  <a:lnTo>
                    <a:pt x="67" y="225"/>
                  </a:lnTo>
                  <a:lnTo>
                    <a:pt x="67" y="225"/>
                  </a:lnTo>
                  <a:lnTo>
                    <a:pt x="67" y="223"/>
                  </a:lnTo>
                  <a:lnTo>
                    <a:pt x="69" y="221"/>
                  </a:lnTo>
                  <a:lnTo>
                    <a:pt x="69" y="220"/>
                  </a:lnTo>
                  <a:lnTo>
                    <a:pt x="69" y="218"/>
                  </a:lnTo>
                  <a:lnTo>
                    <a:pt x="69" y="217"/>
                  </a:lnTo>
                  <a:lnTo>
                    <a:pt x="71" y="215"/>
                  </a:lnTo>
                  <a:lnTo>
                    <a:pt x="71" y="214"/>
                  </a:lnTo>
                  <a:lnTo>
                    <a:pt x="71" y="212"/>
                  </a:lnTo>
                  <a:lnTo>
                    <a:pt x="72" y="211"/>
                  </a:lnTo>
                  <a:lnTo>
                    <a:pt x="72" y="209"/>
                  </a:lnTo>
                  <a:lnTo>
                    <a:pt x="74" y="206"/>
                  </a:lnTo>
                  <a:lnTo>
                    <a:pt x="74" y="204"/>
                  </a:lnTo>
                  <a:lnTo>
                    <a:pt x="75" y="203"/>
                  </a:lnTo>
                  <a:lnTo>
                    <a:pt x="75" y="200"/>
                  </a:lnTo>
                  <a:lnTo>
                    <a:pt x="75" y="196"/>
                  </a:lnTo>
                  <a:lnTo>
                    <a:pt x="75" y="196"/>
                  </a:lnTo>
                  <a:lnTo>
                    <a:pt x="77" y="195"/>
                  </a:lnTo>
                  <a:lnTo>
                    <a:pt x="77" y="192"/>
                  </a:lnTo>
                  <a:lnTo>
                    <a:pt x="78" y="190"/>
                  </a:lnTo>
                  <a:lnTo>
                    <a:pt x="78" y="187"/>
                  </a:lnTo>
                  <a:lnTo>
                    <a:pt x="80" y="185"/>
                  </a:lnTo>
                  <a:lnTo>
                    <a:pt x="80" y="184"/>
                  </a:lnTo>
                  <a:lnTo>
                    <a:pt x="80" y="182"/>
                  </a:lnTo>
                  <a:lnTo>
                    <a:pt x="82" y="181"/>
                  </a:lnTo>
                  <a:lnTo>
                    <a:pt x="82" y="179"/>
                  </a:lnTo>
                  <a:lnTo>
                    <a:pt x="82" y="178"/>
                  </a:lnTo>
                  <a:lnTo>
                    <a:pt x="83" y="176"/>
                  </a:lnTo>
                  <a:lnTo>
                    <a:pt x="83" y="174"/>
                  </a:lnTo>
                  <a:lnTo>
                    <a:pt x="83" y="173"/>
                  </a:lnTo>
                  <a:lnTo>
                    <a:pt x="85" y="171"/>
                  </a:lnTo>
                  <a:lnTo>
                    <a:pt x="85" y="170"/>
                  </a:lnTo>
                  <a:lnTo>
                    <a:pt x="85" y="168"/>
                  </a:lnTo>
                  <a:lnTo>
                    <a:pt x="85" y="167"/>
                  </a:lnTo>
                  <a:lnTo>
                    <a:pt x="86" y="167"/>
                  </a:lnTo>
                  <a:lnTo>
                    <a:pt x="86" y="165"/>
                  </a:lnTo>
                  <a:lnTo>
                    <a:pt x="86" y="163"/>
                  </a:lnTo>
                  <a:lnTo>
                    <a:pt x="86" y="162"/>
                  </a:lnTo>
                  <a:lnTo>
                    <a:pt x="88" y="160"/>
                  </a:lnTo>
                  <a:lnTo>
                    <a:pt x="88" y="159"/>
                  </a:lnTo>
                  <a:lnTo>
                    <a:pt x="88" y="157"/>
                  </a:lnTo>
                  <a:lnTo>
                    <a:pt x="89" y="156"/>
                  </a:lnTo>
                  <a:lnTo>
                    <a:pt x="89" y="154"/>
                  </a:lnTo>
                  <a:lnTo>
                    <a:pt x="89" y="151"/>
                  </a:lnTo>
                  <a:lnTo>
                    <a:pt x="91" y="149"/>
                  </a:lnTo>
                  <a:lnTo>
                    <a:pt x="91" y="148"/>
                  </a:lnTo>
                  <a:lnTo>
                    <a:pt x="93" y="145"/>
                  </a:lnTo>
                  <a:lnTo>
                    <a:pt x="93" y="143"/>
                  </a:lnTo>
                  <a:lnTo>
                    <a:pt x="94" y="140"/>
                  </a:lnTo>
                  <a:lnTo>
                    <a:pt x="94" y="140"/>
                  </a:lnTo>
                  <a:lnTo>
                    <a:pt x="94" y="137"/>
                  </a:lnTo>
                  <a:lnTo>
                    <a:pt x="96" y="135"/>
                  </a:lnTo>
                  <a:lnTo>
                    <a:pt x="96" y="132"/>
                  </a:lnTo>
                  <a:lnTo>
                    <a:pt x="97" y="130"/>
                  </a:lnTo>
                  <a:lnTo>
                    <a:pt x="97" y="129"/>
                  </a:lnTo>
                  <a:lnTo>
                    <a:pt x="97" y="127"/>
                  </a:lnTo>
                  <a:lnTo>
                    <a:pt x="99" y="124"/>
                  </a:lnTo>
                  <a:lnTo>
                    <a:pt x="99" y="123"/>
                  </a:lnTo>
                  <a:lnTo>
                    <a:pt x="99" y="121"/>
                  </a:lnTo>
                  <a:lnTo>
                    <a:pt x="100" y="120"/>
                  </a:lnTo>
                  <a:lnTo>
                    <a:pt x="100" y="118"/>
                  </a:lnTo>
                  <a:lnTo>
                    <a:pt x="100" y="118"/>
                  </a:lnTo>
                  <a:lnTo>
                    <a:pt x="100" y="116"/>
                  </a:lnTo>
                  <a:lnTo>
                    <a:pt x="100" y="115"/>
                  </a:lnTo>
                  <a:lnTo>
                    <a:pt x="102" y="113"/>
                  </a:lnTo>
                  <a:lnTo>
                    <a:pt x="102" y="112"/>
                  </a:lnTo>
                  <a:lnTo>
                    <a:pt x="102" y="112"/>
                  </a:lnTo>
                  <a:lnTo>
                    <a:pt x="102" y="110"/>
                  </a:lnTo>
                  <a:lnTo>
                    <a:pt x="102" y="109"/>
                  </a:lnTo>
                  <a:lnTo>
                    <a:pt x="102" y="107"/>
                  </a:lnTo>
                  <a:lnTo>
                    <a:pt x="102" y="105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2"/>
                  </a:lnTo>
                  <a:lnTo>
                    <a:pt x="104" y="101"/>
                  </a:lnTo>
                  <a:lnTo>
                    <a:pt x="104" y="99"/>
                  </a:lnTo>
                  <a:lnTo>
                    <a:pt x="104" y="98"/>
                  </a:lnTo>
                  <a:lnTo>
                    <a:pt x="104" y="96"/>
                  </a:lnTo>
                  <a:lnTo>
                    <a:pt x="104" y="93"/>
                  </a:lnTo>
                  <a:lnTo>
                    <a:pt x="104" y="91"/>
                  </a:lnTo>
                  <a:lnTo>
                    <a:pt x="104" y="90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105" y="85"/>
                  </a:lnTo>
                  <a:lnTo>
                    <a:pt x="105" y="83"/>
                  </a:lnTo>
                  <a:lnTo>
                    <a:pt x="105" y="80"/>
                  </a:lnTo>
                  <a:lnTo>
                    <a:pt x="105" y="79"/>
                  </a:lnTo>
                  <a:lnTo>
                    <a:pt x="105" y="77"/>
                  </a:lnTo>
                  <a:lnTo>
                    <a:pt x="105" y="76"/>
                  </a:lnTo>
                  <a:lnTo>
                    <a:pt x="105" y="74"/>
                  </a:lnTo>
                  <a:lnTo>
                    <a:pt x="105" y="72"/>
                  </a:lnTo>
                  <a:lnTo>
                    <a:pt x="105" y="71"/>
                  </a:lnTo>
                  <a:lnTo>
                    <a:pt x="105" y="69"/>
                  </a:lnTo>
                  <a:lnTo>
                    <a:pt x="107" y="69"/>
                  </a:lnTo>
                  <a:lnTo>
                    <a:pt x="107" y="68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5"/>
                  </a:lnTo>
                  <a:lnTo>
                    <a:pt x="107" y="63"/>
                  </a:lnTo>
                  <a:lnTo>
                    <a:pt x="107" y="63"/>
                  </a:lnTo>
                  <a:lnTo>
                    <a:pt x="107" y="61"/>
                  </a:lnTo>
                  <a:lnTo>
                    <a:pt x="107" y="61"/>
                  </a:lnTo>
                  <a:lnTo>
                    <a:pt x="107" y="60"/>
                  </a:lnTo>
                  <a:lnTo>
                    <a:pt x="107" y="60"/>
                  </a:lnTo>
                  <a:lnTo>
                    <a:pt x="107" y="58"/>
                  </a:lnTo>
                  <a:lnTo>
                    <a:pt x="108" y="58"/>
                  </a:lnTo>
                  <a:lnTo>
                    <a:pt x="108" y="57"/>
                  </a:lnTo>
                  <a:lnTo>
                    <a:pt x="108" y="55"/>
                  </a:lnTo>
                  <a:lnTo>
                    <a:pt x="108" y="55"/>
                  </a:lnTo>
                  <a:lnTo>
                    <a:pt x="108" y="54"/>
                  </a:lnTo>
                  <a:lnTo>
                    <a:pt x="108" y="52"/>
                  </a:lnTo>
                  <a:lnTo>
                    <a:pt x="108" y="52"/>
                  </a:lnTo>
                  <a:lnTo>
                    <a:pt x="108" y="50"/>
                  </a:lnTo>
                  <a:lnTo>
                    <a:pt x="110" y="49"/>
                  </a:lnTo>
                  <a:lnTo>
                    <a:pt x="110" y="47"/>
                  </a:lnTo>
                  <a:lnTo>
                    <a:pt x="110" y="47"/>
                  </a:lnTo>
                  <a:lnTo>
                    <a:pt x="110" y="47"/>
                  </a:lnTo>
                  <a:lnTo>
                    <a:pt x="110" y="46"/>
                  </a:lnTo>
                  <a:lnTo>
                    <a:pt x="110" y="44"/>
                  </a:lnTo>
                  <a:lnTo>
                    <a:pt x="110" y="43"/>
                  </a:lnTo>
                  <a:lnTo>
                    <a:pt x="110" y="43"/>
                  </a:lnTo>
                  <a:lnTo>
                    <a:pt x="111" y="41"/>
                  </a:lnTo>
                  <a:lnTo>
                    <a:pt x="111" y="40"/>
                  </a:lnTo>
                  <a:lnTo>
                    <a:pt x="111" y="40"/>
                  </a:lnTo>
                  <a:lnTo>
                    <a:pt x="111" y="38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11" y="35"/>
                  </a:lnTo>
                  <a:lnTo>
                    <a:pt x="111" y="35"/>
                  </a:lnTo>
                  <a:lnTo>
                    <a:pt x="111" y="33"/>
                  </a:lnTo>
                  <a:lnTo>
                    <a:pt x="111" y="32"/>
                  </a:lnTo>
                  <a:lnTo>
                    <a:pt x="111" y="32"/>
                  </a:lnTo>
                  <a:lnTo>
                    <a:pt x="111" y="30"/>
                  </a:lnTo>
                  <a:lnTo>
                    <a:pt x="111" y="29"/>
                  </a:lnTo>
                  <a:lnTo>
                    <a:pt x="111" y="27"/>
                  </a:lnTo>
                  <a:lnTo>
                    <a:pt x="111" y="25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1" y="21"/>
                  </a:lnTo>
                  <a:lnTo>
                    <a:pt x="111" y="19"/>
                  </a:lnTo>
                  <a:lnTo>
                    <a:pt x="111" y="18"/>
                  </a:lnTo>
                  <a:lnTo>
                    <a:pt x="111" y="16"/>
                  </a:lnTo>
                  <a:lnTo>
                    <a:pt x="111" y="13"/>
                  </a:lnTo>
                  <a:lnTo>
                    <a:pt x="111" y="11"/>
                  </a:lnTo>
                  <a:lnTo>
                    <a:pt x="111" y="8"/>
                  </a:lnTo>
                  <a:lnTo>
                    <a:pt x="111" y="5"/>
                  </a:lnTo>
                  <a:lnTo>
                    <a:pt x="110" y="3"/>
                  </a:lnTo>
                  <a:lnTo>
                    <a:pt x="110" y="0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7"/>
            <p:cNvSpPr>
              <a:spLocks/>
            </p:cNvSpPr>
            <p:nvPr/>
          </p:nvSpPr>
          <p:spPr bwMode="auto">
            <a:xfrm>
              <a:off x="1145" y="2432"/>
              <a:ext cx="54" cy="135"/>
            </a:xfrm>
            <a:custGeom>
              <a:avLst/>
              <a:gdLst>
                <a:gd name="T0" fmla="*/ 6 w 111"/>
                <a:gd name="T1" fmla="*/ 12 h 375"/>
                <a:gd name="T2" fmla="*/ 14 w 111"/>
                <a:gd name="T3" fmla="*/ 23 h 375"/>
                <a:gd name="T4" fmla="*/ 19 w 111"/>
                <a:gd name="T5" fmla="*/ 33 h 375"/>
                <a:gd name="T6" fmla="*/ 24 w 111"/>
                <a:gd name="T7" fmla="*/ 41 h 375"/>
                <a:gd name="T8" fmla="*/ 27 w 111"/>
                <a:gd name="T9" fmla="*/ 47 h 375"/>
                <a:gd name="T10" fmla="*/ 30 w 111"/>
                <a:gd name="T11" fmla="*/ 53 h 375"/>
                <a:gd name="T12" fmla="*/ 31 w 111"/>
                <a:gd name="T13" fmla="*/ 60 h 375"/>
                <a:gd name="T14" fmla="*/ 35 w 111"/>
                <a:gd name="T15" fmla="*/ 67 h 375"/>
                <a:gd name="T16" fmla="*/ 38 w 111"/>
                <a:gd name="T17" fmla="*/ 74 h 375"/>
                <a:gd name="T18" fmla="*/ 41 w 111"/>
                <a:gd name="T19" fmla="*/ 80 h 375"/>
                <a:gd name="T20" fmla="*/ 42 w 111"/>
                <a:gd name="T21" fmla="*/ 86 h 375"/>
                <a:gd name="T22" fmla="*/ 46 w 111"/>
                <a:gd name="T23" fmla="*/ 91 h 375"/>
                <a:gd name="T24" fmla="*/ 47 w 111"/>
                <a:gd name="T25" fmla="*/ 96 h 375"/>
                <a:gd name="T26" fmla="*/ 49 w 111"/>
                <a:gd name="T27" fmla="*/ 100 h 375"/>
                <a:gd name="T28" fmla="*/ 52 w 111"/>
                <a:gd name="T29" fmla="*/ 108 h 375"/>
                <a:gd name="T30" fmla="*/ 55 w 111"/>
                <a:gd name="T31" fmla="*/ 116 h 375"/>
                <a:gd name="T32" fmla="*/ 58 w 111"/>
                <a:gd name="T33" fmla="*/ 124 h 375"/>
                <a:gd name="T34" fmla="*/ 61 w 111"/>
                <a:gd name="T35" fmla="*/ 132 h 375"/>
                <a:gd name="T36" fmla="*/ 63 w 111"/>
                <a:gd name="T37" fmla="*/ 140 h 375"/>
                <a:gd name="T38" fmla="*/ 66 w 111"/>
                <a:gd name="T39" fmla="*/ 146 h 375"/>
                <a:gd name="T40" fmla="*/ 67 w 111"/>
                <a:gd name="T41" fmla="*/ 151 h 375"/>
                <a:gd name="T42" fmla="*/ 69 w 111"/>
                <a:gd name="T43" fmla="*/ 157 h 375"/>
                <a:gd name="T44" fmla="*/ 71 w 111"/>
                <a:gd name="T45" fmla="*/ 163 h 375"/>
                <a:gd name="T46" fmla="*/ 74 w 111"/>
                <a:gd name="T47" fmla="*/ 171 h 375"/>
                <a:gd name="T48" fmla="*/ 75 w 111"/>
                <a:gd name="T49" fmla="*/ 177 h 375"/>
                <a:gd name="T50" fmla="*/ 78 w 111"/>
                <a:gd name="T51" fmla="*/ 187 h 375"/>
                <a:gd name="T52" fmla="*/ 82 w 111"/>
                <a:gd name="T53" fmla="*/ 194 h 375"/>
                <a:gd name="T54" fmla="*/ 83 w 111"/>
                <a:gd name="T55" fmla="*/ 201 h 375"/>
                <a:gd name="T56" fmla="*/ 85 w 111"/>
                <a:gd name="T57" fmla="*/ 205 h 375"/>
                <a:gd name="T58" fmla="*/ 86 w 111"/>
                <a:gd name="T59" fmla="*/ 212 h 375"/>
                <a:gd name="T60" fmla="*/ 88 w 111"/>
                <a:gd name="T61" fmla="*/ 218 h 375"/>
                <a:gd name="T62" fmla="*/ 91 w 111"/>
                <a:gd name="T63" fmla="*/ 226 h 375"/>
                <a:gd name="T64" fmla="*/ 94 w 111"/>
                <a:gd name="T65" fmla="*/ 235 h 375"/>
                <a:gd name="T66" fmla="*/ 96 w 111"/>
                <a:gd name="T67" fmla="*/ 241 h 375"/>
                <a:gd name="T68" fmla="*/ 99 w 111"/>
                <a:gd name="T69" fmla="*/ 249 h 375"/>
                <a:gd name="T70" fmla="*/ 100 w 111"/>
                <a:gd name="T71" fmla="*/ 256 h 375"/>
                <a:gd name="T72" fmla="*/ 102 w 111"/>
                <a:gd name="T73" fmla="*/ 262 h 375"/>
                <a:gd name="T74" fmla="*/ 102 w 111"/>
                <a:gd name="T75" fmla="*/ 267 h 375"/>
                <a:gd name="T76" fmla="*/ 104 w 111"/>
                <a:gd name="T77" fmla="*/ 271 h 375"/>
                <a:gd name="T78" fmla="*/ 104 w 111"/>
                <a:gd name="T79" fmla="*/ 278 h 375"/>
                <a:gd name="T80" fmla="*/ 104 w 111"/>
                <a:gd name="T81" fmla="*/ 285 h 375"/>
                <a:gd name="T82" fmla="*/ 105 w 111"/>
                <a:gd name="T83" fmla="*/ 292 h 375"/>
                <a:gd name="T84" fmla="*/ 105 w 111"/>
                <a:gd name="T85" fmla="*/ 300 h 375"/>
                <a:gd name="T86" fmla="*/ 105 w 111"/>
                <a:gd name="T87" fmla="*/ 304 h 375"/>
                <a:gd name="T88" fmla="*/ 107 w 111"/>
                <a:gd name="T89" fmla="*/ 309 h 375"/>
                <a:gd name="T90" fmla="*/ 107 w 111"/>
                <a:gd name="T91" fmla="*/ 312 h 375"/>
                <a:gd name="T92" fmla="*/ 107 w 111"/>
                <a:gd name="T93" fmla="*/ 317 h 375"/>
                <a:gd name="T94" fmla="*/ 108 w 111"/>
                <a:gd name="T95" fmla="*/ 320 h 375"/>
                <a:gd name="T96" fmla="*/ 108 w 111"/>
                <a:gd name="T97" fmla="*/ 325 h 375"/>
                <a:gd name="T98" fmla="*/ 110 w 111"/>
                <a:gd name="T99" fmla="*/ 328 h 375"/>
                <a:gd name="T100" fmla="*/ 110 w 111"/>
                <a:gd name="T101" fmla="*/ 332 h 375"/>
                <a:gd name="T102" fmla="*/ 111 w 111"/>
                <a:gd name="T103" fmla="*/ 337 h 375"/>
                <a:gd name="T104" fmla="*/ 111 w 111"/>
                <a:gd name="T105" fmla="*/ 340 h 375"/>
                <a:gd name="T106" fmla="*/ 111 w 111"/>
                <a:gd name="T107" fmla="*/ 345 h 375"/>
                <a:gd name="T108" fmla="*/ 111 w 111"/>
                <a:gd name="T109" fmla="*/ 350 h 375"/>
                <a:gd name="T110" fmla="*/ 111 w 111"/>
                <a:gd name="T111" fmla="*/ 358 h 375"/>
                <a:gd name="T112" fmla="*/ 111 w 111"/>
                <a:gd name="T113" fmla="*/ 367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1" h="375">
                  <a:moveTo>
                    <a:pt x="0" y="0"/>
                  </a:moveTo>
                  <a:lnTo>
                    <a:pt x="3" y="5"/>
                  </a:lnTo>
                  <a:lnTo>
                    <a:pt x="5" y="8"/>
                  </a:lnTo>
                  <a:lnTo>
                    <a:pt x="6" y="12"/>
                  </a:lnTo>
                  <a:lnTo>
                    <a:pt x="9" y="16"/>
                  </a:lnTo>
                  <a:lnTo>
                    <a:pt x="11" y="19"/>
                  </a:lnTo>
                  <a:lnTo>
                    <a:pt x="13" y="22"/>
                  </a:lnTo>
                  <a:lnTo>
                    <a:pt x="14" y="23"/>
                  </a:lnTo>
                  <a:lnTo>
                    <a:pt x="16" y="27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9" y="33"/>
                  </a:lnTo>
                  <a:lnTo>
                    <a:pt x="20" y="36"/>
                  </a:lnTo>
                  <a:lnTo>
                    <a:pt x="22" y="38"/>
                  </a:lnTo>
                  <a:lnTo>
                    <a:pt x="22" y="39"/>
                  </a:lnTo>
                  <a:lnTo>
                    <a:pt x="24" y="41"/>
                  </a:lnTo>
                  <a:lnTo>
                    <a:pt x="24" y="42"/>
                  </a:lnTo>
                  <a:lnTo>
                    <a:pt x="25" y="44"/>
                  </a:lnTo>
                  <a:lnTo>
                    <a:pt x="25" y="45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8" y="50"/>
                  </a:lnTo>
                  <a:lnTo>
                    <a:pt x="28" y="52"/>
                  </a:lnTo>
                  <a:lnTo>
                    <a:pt x="30" y="53"/>
                  </a:lnTo>
                  <a:lnTo>
                    <a:pt x="30" y="55"/>
                  </a:lnTo>
                  <a:lnTo>
                    <a:pt x="30" y="56"/>
                  </a:lnTo>
                  <a:lnTo>
                    <a:pt x="31" y="58"/>
                  </a:lnTo>
                  <a:lnTo>
                    <a:pt x="31" y="60"/>
                  </a:lnTo>
                  <a:lnTo>
                    <a:pt x="33" y="61"/>
                  </a:lnTo>
                  <a:lnTo>
                    <a:pt x="33" y="63"/>
                  </a:lnTo>
                  <a:lnTo>
                    <a:pt x="35" y="64"/>
                  </a:lnTo>
                  <a:lnTo>
                    <a:pt x="35" y="67"/>
                  </a:lnTo>
                  <a:lnTo>
                    <a:pt x="36" y="69"/>
                  </a:lnTo>
                  <a:lnTo>
                    <a:pt x="36" y="69"/>
                  </a:lnTo>
                  <a:lnTo>
                    <a:pt x="36" y="70"/>
                  </a:lnTo>
                  <a:lnTo>
                    <a:pt x="38" y="74"/>
                  </a:lnTo>
                  <a:lnTo>
                    <a:pt x="38" y="75"/>
                  </a:lnTo>
                  <a:lnTo>
                    <a:pt x="39" y="77"/>
                  </a:lnTo>
                  <a:lnTo>
                    <a:pt x="39" y="78"/>
                  </a:lnTo>
                  <a:lnTo>
                    <a:pt x="41" y="80"/>
                  </a:lnTo>
                  <a:lnTo>
                    <a:pt x="41" y="81"/>
                  </a:lnTo>
                  <a:lnTo>
                    <a:pt x="42" y="83"/>
                  </a:lnTo>
                  <a:lnTo>
                    <a:pt x="42" y="85"/>
                  </a:lnTo>
                  <a:lnTo>
                    <a:pt x="42" y="86"/>
                  </a:lnTo>
                  <a:lnTo>
                    <a:pt x="44" y="88"/>
                  </a:lnTo>
                  <a:lnTo>
                    <a:pt x="44" y="88"/>
                  </a:lnTo>
                  <a:lnTo>
                    <a:pt x="44" y="89"/>
                  </a:lnTo>
                  <a:lnTo>
                    <a:pt x="46" y="91"/>
                  </a:lnTo>
                  <a:lnTo>
                    <a:pt x="46" y="92"/>
                  </a:lnTo>
                  <a:lnTo>
                    <a:pt x="46" y="92"/>
                  </a:lnTo>
                  <a:lnTo>
                    <a:pt x="46" y="94"/>
                  </a:lnTo>
                  <a:lnTo>
                    <a:pt x="47" y="96"/>
                  </a:lnTo>
                  <a:lnTo>
                    <a:pt x="47" y="97"/>
                  </a:lnTo>
                  <a:lnTo>
                    <a:pt x="47" y="99"/>
                  </a:lnTo>
                  <a:lnTo>
                    <a:pt x="49" y="99"/>
                  </a:lnTo>
                  <a:lnTo>
                    <a:pt x="49" y="100"/>
                  </a:lnTo>
                  <a:lnTo>
                    <a:pt x="49" y="102"/>
                  </a:lnTo>
                  <a:lnTo>
                    <a:pt x="50" y="103"/>
                  </a:lnTo>
                  <a:lnTo>
                    <a:pt x="50" y="105"/>
                  </a:lnTo>
                  <a:lnTo>
                    <a:pt x="52" y="108"/>
                  </a:lnTo>
                  <a:lnTo>
                    <a:pt x="52" y="110"/>
                  </a:lnTo>
                  <a:lnTo>
                    <a:pt x="53" y="111"/>
                  </a:lnTo>
                  <a:lnTo>
                    <a:pt x="53" y="113"/>
                  </a:lnTo>
                  <a:lnTo>
                    <a:pt x="55" y="116"/>
                  </a:lnTo>
                  <a:lnTo>
                    <a:pt x="55" y="118"/>
                  </a:lnTo>
                  <a:lnTo>
                    <a:pt x="56" y="121"/>
                  </a:lnTo>
                  <a:lnTo>
                    <a:pt x="56" y="121"/>
                  </a:lnTo>
                  <a:lnTo>
                    <a:pt x="58" y="124"/>
                  </a:lnTo>
                  <a:lnTo>
                    <a:pt x="58" y="125"/>
                  </a:lnTo>
                  <a:lnTo>
                    <a:pt x="60" y="129"/>
                  </a:lnTo>
                  <a:lnTo>
                    <a:pt x="60" y="130"/>
                  </a:lnTo>
                  <a:lnTo>
                    <a:pt x="61" y="132"/>
                  </a:lnTo>
                  <a:lnTo>
                    <a:pt x="61" y="135"/>
                  </a:lnTo>
                  <a:lnTo>
                    <a:pt x="63" y="136"/>
                  </a:lnTo>
                  <a:lnTo>
                    <a:pt x="63" y="138"/>
                  </a:lnTo>
                  <a:lnTo>
                    <a:pt x="63" y="140"/>
                  </a:lnTo>
                  <a:lnTo>
                    <a:pt x="64" y="141"/>
                  </a:lnTo>
                  <a:lnTo>
                    <a:pt x="64" y="143"/>
                  </a:lnTo>
                  <a:lnTo>
                    <a:pt x="64" y="144"/>
                  </a:lnTo>
                  <a:lnTo>
                    <a:pt x="66" y="146"/>
                  </a:lnTo>
                  <a:lnTo>
                    <a:pt x="66" y="147"/>
                  </a:lnTo>
                  <a:lnTo>
                    <a:pt x="66" y="147"/>
                  </a:lnTo>
                  <a:lnTo>
                    <a:pt x="67" y="149"/>
                  </a:lnTo>
                  <a:lnTo>
                    <a:pt x="67" y="151"/>
                  </a:lnTo>
                  <a:lnTo>
                    <a:pt x="67" y="152"/>
                  </a:lnTo>
                  <a:lnTo>
                    <a:pt x="69" y="154"/>
                  </a:lnTo>
                  <a:lnTo>
                    <a:pt x="69" y="155"/>
                  </a:lnTo>
                  <a:lnTo>
                    <a:pt x="69" y="157"/>
                  </a:lnTo>
                  <a:lnTo>
                    <a:pt x="69" y="158"/>
                  </a:lnTo>
                  <a:lnTo>
                    <a:pt x="71" y="160"/>
                  </a:lnTo>
                  <a:lnTo>
                    <a:pt x="71" y="161"/>
                  </a:lnTo>
                  <a:lnTo>
                    <a:pt x="71" y="163"/>
                  </a:lnTo>
                  <a:lnTo>
                    <a:pt x="72" y="165"/>
                  </a:lnTo>
                  <a:lnTo>
                    <a:pt x="72" y="166"/>
                  </a:lnTo>
                  <a:lnTo>
                    <a:pt x="74" y="168"/>
                  </a:lnTo>
                  <a:lnTo>
                    <a:pt x="74" y="171"/>
                  </a:lnTo>
                  <a:lnTo>
                    <a:pt x="75" y="172"/>
                  </a:lnTo>
                  <a:lnTo>
                    <a:pt x="75" y="176"/>
                  </a:lnTo>
                  <a:lnTo>
                    <a:pt x="75" y="177"/>
                  </a:lnTo>
                  <a:lnTo>
                    <a:pt x="75" y="177"/>
                  </a:lnTo>
                  <a:lnTo>
                    <a:pt x="77" y="180"/>
                  </a:lnTo>
                  <a:lnTo>
                    <a:pt x="77" y="183"/>
                  </a:lnTo>
                  <a:lnTo>
                    <a:pt x="78" y="185"/>
                  </a:lnTo>
                  <a:lnTo>
                    <a:pt x="78" y="187"/>
                  </a:lnTo>
                  <a:lnTo>
                    <a:pt x="80" y="190"/>
                  </a:lnTo>
                  <a:lnTo>
                    <a:pt x="80" y="191"/>
                  </a:lnTo>
                  <a:lnTo>
                    <a:pt x="80" y="193"/>
                  </a:lnTo>
                  <a:lnTo>
                    <a:pt x="82" y="194"/>
                  </a:lnTo>
                  <a:lnTo>
                    <a:pt x="82" y="196"/>
                  </a:lnTo>
                  <a:lnTo>
                    <a:pt x="82" y="198"/>
                  </a:lnTo>
                  <a:lnTo>
                    <a:pt x="83" y="199"/>
                  </a:lnTo>
                  <a:lnTo>
                    <a:pt x="83" y="201"/>
                  </a:lnTo>
                  <a:lnTo>
                    <a:pt x="83" y="202"/>
                  </a:lnTo>
                  <a:lnTo>
                    <a:pt x="85" y="204"/>
                  </a:lnTo>
                  <a:lnTo>
                    <a:pt x="85" y="205"/>
                  </a:lnTo>
                  <a:lnTo>
                    <a:pt x="85" y="205"/>
                  </a:lnTo>
                  <a:lnTo>
                    <a:pt x="85" y="207"/>
                  </a:lnTo>
                  <a:lnTo>
                    <a:pt x="86" y="209"/>
                  </a:lnTo>
                  <a:lnTo>
                    <a:pt x="86" y="210"/>
                  </a:lnTo>
                  <a:lnTo>
                    <a:pt x="86" y="212"/>
                  </a:lnTo>
                  <a:lnTo>
                    <a:pt x="86" y="213"/>
                  </a:lnTo>
                  <a:lnTo>
                    <a:pt x="88" y="215"/>
                  </a:lnTo>
                  <a:lnTo>
                    <a:pt x="88" y="216"/>
                  </a:lnTo>
                  <a:lnTo>
                    <a:pt x="88" y="218"/>
                  </a:lnTo>
                  <a:lnTo>
                    <a:pt x="89" y="220"/>
                  </a:lnTo>
                  <a:lnTo>
                    <a:pt x="89" y="221"/>
                  </a:lnTo>
                  <a:lnTo>
                    <a:pt x="89" y="223"/>
                  </a:lnTo>
                  <a:lnTo>
                    <a:pt x="91" y="226"/>
                  </a:lnTo>
                  <a:lnTo>
                    <a:pt x="91" y="227"/>
                  </a:lnTo>
                  <a:lnTo>
                    <a:pt x="93" y="229"/>
                  </a:lnTo>
                  <a:lnTo>
                    <a:pt x="93" y="232"/>
                  </a:lnTo>
                  <a:lnTo>
                    <a:pt x="94" y="235"/>
                  </a:lnTo>
                  <a:lnTo>
                    <a:pt x="94" y="235"/>
                  </a:lnTo>
                  <a:lnTo>
                    <a:pt x="94" y="237"/>
                  </a:lnTo>
                  <a:lnTo>
                    <a:pt x="96" y="240"/>
                  </a:lnTo>
                  <a:lnTo>
                    <a:pt x="96" y="241"/>
                  </a:lnTo>
                  <a:lnTo>
                    <a:pt x="97" y="245"/>
                  </a:lnTo>
                  <a:lnTo>
                    <a:pt x="97" y="246"/>
                  </a:lnTo>
                  <a:lnTo>
                    <a:pt x="97" y="248"/>
                  </a:lnTo>
                  <a:lnTo>
                    <a:pt x="99" y="249"/>
                  </a:lnTo>
                  <a:lnTo>
                    <a:pt x="99" y="251"/>
                  </a:lnTo>
                  <a:lnTo>
                    <a:pt x="99" y="252"/>
                  </a:lnTo>
                  <a:lnTo>
                    <a:pt x="100" y="254"/>
                  </a:lnTo>
                  <a:lnTo>
                    <a:pt x="100" y="256"/>
                  </a:lnTo>
                  <a:lnTo>
                    <a:pt x="100" y="257"/>
                  </a:lnTo>
                  <a:lnTo>
                    <a:pt x="100" y="259"/>
                  </a:lnTo>
                  <a:lnTo>
                    <a:pt x="100" y="260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102" y="263"/>
                  </a:lnTo>
                  <a:lnTo>
                    <a:pt x="102" y="265"/>
                  </a:lnTo>
                  <a:lnTo>
                    <a:pt x="102" y="267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4" y="270"/>
                  </a:lnTo>
                  <a:lnTo>
                    <a:pt x="104" y="271"/>
                  </a:lnTo>
                  <a:lnTo>
                    <a:pt x="104" y="273"/>
                  </a:lnTo>
                  <a:lnTo>
                    <a:pt x="104" y="274"/>
                  </a:lnTo>
                  <a:lnTo>
                    <a:pt x="104" y="276"/>
                  </a:lnTo>
                  <a:lnTo>
                    <a:pt x="104" y="278"/>
                  </a:lnTo>
                  <a:lnTo>
                    <a:pt x="104" y="279"/>
                  </a:lnTo>
                  <a:lnTo>
                    <a:pt x="104" y="281"/>
                  </a:lnTo>
                  <a:lnTo>
                    <a:pt x="104" y="284"/>
                  </a:lnTo>
                  <a:lnTo>
                    <a:pt x="104" y="285"/>
                  </a:lnTo>
                  <a:lnTo>
                    <a:pt x="104" y="287"/>
                  </a:lnTo>
                  <a:lnTo>
                    <a:pt x="104" y="287"/>
                  </a:lnTo>
                  <a:lnTo>
                    <a:pt x="105" y="290"/>
                  </a:lnTo>
                  <a:lnTo>
                    <a:pt x="105" y="292"/>
                  </a:lnTo>
                  <a:lnTo>
                    <a:pt x="105" y="293"/>
                  </a:lnTo>
                  <a:lnTo>
                    <a:pt x="105" y="296"/>
                  </a:lnTo>
                  <a:lnTo>
                    <a:pt x="105" y="298"/>
                  </a:lnTo>
                  <a:lnTo>
                    <a:pt x="105" y="300"/>
                  </a:lnTo>
                  <a:lnTo>
                    <a:pt x="105" y="301"/>
                  </a:lnTo>
                  <a:lnTo>
                    <a:pt x="105" y="303"/>
                  </a:lnTo>
                  <a:lnTo>
                    <a:pt x="105" y="303"/>
                  </a:lnTo>
                  <a:lnTo>
                    <a:pt x="105" y="304"/>
                  </a:lnTo>
                  <a:lnTo>
                    <a:pt x="107" y="306"/>
                  </a:lnTo>
                  <a:lnTo>
                    <a:pt x="107" y="307"/>
                  </a:lnTo>
                  <a:lnTo>
                    <a:pt x="107" y="307"/>
                  </a:lnTo>
                  <a:lnTo>
                    <a:pt x="107" y="309"/>
                  </a:lnTo>
                  <a:lnTo>
                    <a:pt x="107" y="311"/>
                  </a:lnTo>
                  <a:lnTo>
                    <a:pt x="107" y="311"/>
                  </a:lnTo>
                  <a:lnTo>
                    <a:pt x="107" y="312"/>
                  </a:lnTo>
                  <a:lnTo>
                    <a:pt x="107" y="312"/>
                  </a:lnTo>
                  <a:lnTo>
                    <a:pt x="107" y="314"/>
                  </a:lnTo>
                  <a:lnTo>
                    <a:pt x="107" y="314"/>
                  </a:lnTo>
                  <a:lnTo>
                    <a:pt x="107" y="315"/>
                  </a:lnTo>
                  <a:lnTo>
                    <a:pt x="107" y="317"/>
                  </a:lnTo>
                  <a:lnTo>
                    <a:pt x="108" y="317"/>
                  </a:lnTo>
                  <a:lnTo>
                    <a:pt x="108" y="318"/>
                  </a:lnTo>
                  <a:lnTo>
                    <a:pt x="108" y="318"/>
                  </a:lnTo>
                  <a:lnTo>
                    <a:pt x="108" y="320"/>
                  </a:lnTo>
                  <a:lnTo>
                    <a:pt x="108" y="322"/>
                  </a:lnTo>
                  <a:lnTo>
                    <a:pt x="108" y="322"/>
                  </a:lnTo>
                  <a:lnTo>
                    <a:pt x="108" y="323"/>
                  </a:lnTo>
                  <a:lnTo>
                    <a:pt x="108" y="325"/>
                  </a:lnTo>
                  <a:lnTo>
                    <a:pt x="110" y="326"/>
                  </a:lnTo>
                  <a:lnTo>
                    <a:pt x="110" y="326"/>
                  </a:lnTo>
                  <a:lnTo>
                    <a:pt x="110" y="326"/>
                  </a:lnTo>
                  <a:lnTo>
                    <a:pt x="110" y="328"/>
                  </a:lnTo>
                  <a:lnTo>
                    <a:pt x="110" y="329"/>
                  </a:lnTo>
                  <a:lnTo>
                    <a:pt x="110" y="331"/>
                  </a:lnTo>
                  <a:lnTo>
                    <a:pt x="110" y="331"/>
                  </a:lnTo>
                  <a:lnTo>
                    <a:pt x="110" y="332"/>
                  </a:lnTo>
                  <a:lnTo>
                    <a:pt x="111" y="334"/>
                  </a:lnTo>
                  <a:lnTo>
                    <a:pt x="111" y="334"/>
                  </a:lnTo>
                  <a:lnTo>
                    <a:pt x="111" y="336"/>
                  </a:lnTo>
                  <a:lnTo>
                    <a:pt x="111" y="337"/>
                  </a:lnTo>
                  <a:lnTo>
                    <a:pt x="111" y="337"/>
                  </a:lnTo>
                  <a:lnTo>
                    <a:pt x="111" y="339"/>
                  </a:lnTo>
                  <a:lnTo>
                    <a:pt x="111" y="340"/>
                  </a:lnTo>
                  <a:lnTo>
                    <a:pt x="111" y="340"/>
                  </a:lnTo>
                  <a:lnTo>
                    <a:pt x="111" y="342"/>
                  </a:lnTo>
                  <a:lnTo>
                    <a:pt x="111" y="342"/>
                  </a:lnTo>
                  <a:lnTo>
                    <a:pt x="111" y="343"/>
                  </a:lnTo>
                  <a:lnTo>
                    <a:pt x="111" y="345"/>
                  </a:lnTo>
                  <a:lnTo>
                    <a:pt x="111" y="347"/>
                  </a:lnTo>
                  <a:lnTo>
                    <a:pt x="111" y="347"/>
                  </a:lnTo>
                  <a:lnTo>
                    <a:pt x="111" y="348"/>
                  </a:lnTo>
                  <a:lnTo>
                    <a:pt x="111" y="350"/>
                  </a:lnTo>
                  <a:lnTo>
                    <a:pt x="111" y="351"/>
                  </a:lnTo>
                  <a:lnTo>
                    <a:pt x="111" y="353"/>
                  </a:lnTo>
                  <a:lnTo>
                    <a:pt x="111" y="356"/>
                  </a:lnTo>
                  <a:lnTo>
                    <a:pt x="111" y="358"/>
                  </a:lnTo>
                  <a:lnTo>
                    <a:pt x="111" y="359"/>
                  </a:lnTo>
                  <a:lnTo>
                    <a:pt x="111" y="361"/>
                  </a:lnTo>
                  <a:lnTo>
                    <a:pt x="111" y="364"/>
                  </a:lnTo>
                  <a:lnTo>
                    <a:pt x="111" y="367"/>
                  </a:lnTo>
                  <a:lnTo>
                    <a:pt x="111" y="369"/>
                  </a:lnTo>
                  <a:lnTo>
                    <a:pt x="110" y="372"/>
                  </a:lnTo>
                  <a:lnTo>
                    <a:pt x="110" y="375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2561" y="2232"/>
              <a:ext cx="51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Times-Roman"/>
                </a:rPr>
                <a:t>Flip-flop</a:t>
              </a:r>
              <a:endParaRPr lang="en-US" altLang="en-US"/>
            </a:p>
          </p:txBody>
        </p:sp>
      </p:grpSp>
      <p:sp>
        <p:nvSpPr>
          <p:cNvPr id="52" name="Text Box 49"/>
          <p:cNvSpPr txBox="1">
            <a:spLocks noChangeArrowheads="1"/>
          </p:cNvSpPr>
          <p:nvPr/>
        </p:nvSpPr>
        <p:spPr bwMode="auto">
          <a:xfrm>
            <a:off x="2838450" y="5762625"/>
            <a:ext cx="54244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1800">
                <a:solidFill>
                  <a:srgbClr val="FF0000"/>
                </a:solidFill>
                <a:latin typeface="Arial" pitchFamily="34" charset="0"/>
              </a:rPr>
              <a:t>MUX output is “fed back” to the AND plane.</a:t>
            </a:r>
          </a:p>
        </p:txBody>
      </p:sp>
    </p:spTree>
    <p:extLst>
      <p:ext uri="{BB962C8B-B14F-4D97-AF65-F5344CB8AC3E}">
        <p14:creationId xmlns:p14="http://schemas.microsoft.com/office/powerpoint/2010/main" val="2306997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PAL Product Terms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134" name="Text Box 32"/>
          <p:cNvSpPr txBox="1">
            <a:spLocks noChangeArrowheads="1"/>
          </p:cNvSpPr>
          <p:nvPr/>
        </p:nvSpPr>
        <p:spPr bwMode="auto">
          <a:xfrm>
            <a:off x="533400" y="2590800"/>
            <a:ext cx="7239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This looks like an AND gate with one input.  It is actually many more:</a:t>
            </a:r>
          </a:p>
        </p:txBody>
      </p:sp>
      <p:grpSp>
        <p:nvGrpSpPr>
          <p:cNvPr id="135" name="Group 33"/>
          <p:cNvGrpSpPr>
            <a:grpSpLocks/>
          </p:cNvGrpSpPr>
          <p:nvPr/>
        </p:nvGrpSpPr>
        <p:grpSpPr bwMode="auto">
          <a:xfrm>
            <a:off x="7239000" y="3276600"/>
            <a:ext cx="685800" cy="2743200"/>
            <a:chOff x="1488" y="1056"/>
            <a:chExt cx="460" cy="560"/>
          </a:xfrm>
        </p:grpSpPr>
        <p:sp>
          <p:nvSpPr>
            <p:cNvPr id="136" name="Line 34"/>
            <p:cNvSpPr>
              <a:spLocks noChangeShapeType="1"/>
            </p:cNvSpPr>
            <p:nvPr/>
          </p:nvSpPr>
          <p:spPr bwMode="auto">
            <a:xfrm>
              <a:off x="1488" y="1056"/>
              <a:ext cx="0" cy="56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137" name="Line 35"/>
            <p:cNvSpPr>
              <a:spLocks noChangeShapeType="1"/>
            </p:cNvSpPr>
            <p:nvPr/>
          </p:nvSpPr>
          <p:spPr bwMode="auto">
            <a:xfrm>
              <a:off x="1488" y="1056"/>
              <a:ext cx="307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138" name="Line 36"/>
            <p:cNvSpPr>
              <a:spLocks noChangeShapeType="1"/>
            </p:cNvSpPr>
            <p:nvPr/>
          </p:nvSpPr>
          <p:spPr bwMode="auto">
            <a:xfrm>
              <a:off x="1488" y="1616"/>
              <a:ext cx="307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139" name="Arc 37"/>
            <p:cNvSpPr>
              <a:spLocks/>
            </p:cNvSpPr>
            <p:nvPr/>
          </p:nvSpPr>
          <p:spPr bwMode="auto">
            <a:xfrm>
              <a:off x="1795" y="1056"/>
              <a:ext cx="153" cy="28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140" name="Arc 38"/>
            <p:cNvSpPr>
              <a:spLocks/>
            </p:cNvSpPr>
            <p:nvPr/>
          </p:nvSpPr>
          <p:spPr bwMode="auto">
            <a:xfrm flipV="1">
              <a:off x="1795" y="1336"/>
              <a:ext cx="153" cy="28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</p:grpSp>
      <p:sp>
        <p:nvSpPr>
          <p:cNvPr id="141" name="Line 40"/>
          <p:cNvSpPr>
            <a:spLocks noChangeShapeType="1"/>
          </p:cNvSpPr>
          <p:nvPr/>
        </p:nvSpPr>
        <p:spPr bwMode="auto">
          <a:xfrm>
            <a:off x="4114800" y="3352800"/>
            <a:ext cx="3124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42" name="Text Box 41"/>
          <p:cNvSpPr txBox="1">
            <a:spLocks noChangeArrowheads="1"/>
          </p:cNvSpPr>
          <p:nvPr/>
        </p:nvSpPr>
        <p:spPr bwMode="auto">
          <a:xfrm>
            <a:off x="3686175" y="31242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B</a:t>
            </a:r>
          </a:p>
        </p:txBody>
      </p:sp>
      <p:sp>
        <p:nvSpPr>
          <p:cNvPr id="143" name="Line 42"/>
          <p:cNvSpPr>
            <a:spLocks noChangeShapeType="1"/>
          </p:cNvSpPr>
          <p:nvPr/>
        </p:nvSpPr>
        <p:spPr bwMode="auto">
          <a:xfrm>
            <a:off x="4114800" y="3657600"/>
            <a:ext cx="3124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44" name="Text Box 43"/>
          <p:cNvSpPr txBox="1">
            <a:spLocks noChangeArrowheads="1"/>
          </p:cNvSpPr>
          <p:nvPr/>
        </p:nvSpPr>
        <p:spPr bwMode="auto">
          <a:xfrm>
            <a:off x="3686175" y="3429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B’</a:t>
            </a:r>
          </a:p>
        </p:txBody>
      </p:sp>
      <p:sp>
        <p:nvSpPr>
          <p:cNvPr id="145" name="Line 44"/>
          <p:cNvSpPr>
            <a:spLocks noChangeShapeType="1"/>
          </p:cNvSpPr>
          <p:nvPr/>
        </p:nvSpPr>
        <p:spPr bwMode="auto">
          <a:xfrm>
            <a:off x="4114800" y="3886200"/>
            <a:ext cx="3124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46" name="Text Box 45"/>
          <p:cNvSpPr txBox="1">
            <a:spLocks noChangeArrowheads="1"/>
          </p:cNvSpPr>
          <p:nvPr/>
        </p:nvSpPr>
        <p:spPr bwMode="auto">
          <a:xfrm>
            <a:off x="3686175" y="36576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A</a:t>
            </a:r>
          </a:p>
        </p:txBody>
      </p:sp>
      <p:sp>
        <p:nvSpPr>
          <p:cNvPr id="147" name="Line 46"/>
          <p:cNvSpPr>
            <a:spLocks noChangeShapeType="1"/>
          </p:cNvSpPr>
          <p:nvPr/>
        </p:nvSpPr>
        <p:spPr bwMode="auto">
          <a:xfrm>
            <a:off x="4114800" y="4191000"/>
            <a:ext cx="3124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48" name="Text Box 47"/>
          <p:cNvSpPr txBox="1">
            <a:spLocks noChangeArrowheads="1"/>
          </p:cNvSpPr>
          <p:nvPr/>
        </p:nvSpPr>
        <p:spPr bwMode="auto">
          <a:xfrm>
            <a:off x="3686175" y="39624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A’</a:t>
            </a:r>
          </a:p>
        </p:txBody>
      </p:sp>
      <p:sp>
        <p:nvSpPr>
          <p:cNvPr id="149" name="Line 48"/>
          <p:cNvSpPr>
            <a:spLocks noChangeShapeType="1"/>
          </p:cNvSpPr>
          <p:nvPr/>
        </p:nvSpPr>
        <p:spPr bwMode="auto">
          <a:xfrm>
            <a:off x="4114800" y="4495800"/>
            <a:ext cx="3124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50" name="Text Box 49"/>
          <p:cNvSpPr txBox="1">
            <a:spLocks noChangeArrowheads="1"/>
          </p:cNvSpPr>
          <p:nvPr/>
        </p:nvSpPr>
        <p:spPr bwMode="auto">
          <a:xfrm>
            <a:off x="3686175" y="42672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C</a:t>
            </a:r>
          </a:p>
        </p:txBody>
      </p:sp>
      <p:sp>
        <p:nvSpPr>
          <p:cNvPr id="151" name="Line 50"/>
          <p:cNvSpPr>
            <a:spLocks noChangeShapeType="1"/>
          </p:cNvSpPr>
          <p:nvPr/>
        </p:nvSpPr>
        <p:spPr bwMode="auto">
          <a:xfrm>
            <a:off x="4114800" y="4800600"/>
            <a:ext cx="3124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52" name="Text Box 51"/>
          <p:cNvSpPr txBox="1">
            <a:spLocks noChangeArrowheads="1"/>
          </p:cNvSpPr>
          <p:nvPr/>
        </p:nvSpPr>
        <p:spPr bwMode="auto">
          <a:xfrm>
            <a:off x="3686175" y="4572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C’</a:t>
            </a:r>
          </a:p>
        </p:txBody>
      </p:sp>
      <p:sp>
        <p:nvSpPr>
          <p:cNvPr id="153" name="Oval 52"/>
          <p:cNvSpPr>
            <a:spLocks noChangeArrowheads="1"/>
          </p:cNvSpPr>
          <p:nvPr/>
        </p:nvSpPr>
        <p:spPr bwMode="auto">
          <a:xfrm>
            <a:off x="5334000" y="4876800"/>
            <a:ext cx="152400" cy="1524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54" name="Oval 53"/>
          <p:cNvSpPr>
            <a:spLocks noChangeArrowheads="1"/>
          </p:cNvSpPr>
          <p:nvPr/>
        </p:nvSpPr>
        <p:spPr bwMode="auto">
          <a:xfrm>
            <a:off x="5334000" y="5105400"/>
            <a:ext cx="152400" cy="1524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55" name="Oval 54"/>
          <p:cNvSpPr>
            <a:spLocks noChangeArrowheads="1"/>
          </p:cNvSpPr>
          <p:nvPr/>
        </p:nvSpPr>
        <p:spPr bwMode="auto">
          <a:xfrm>
            <a:off x="5334000" y="5334000"/>
            <a:ext cx="152400" cy="1524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56" name="Line 55"/>
          <p:cNvSpPr>
            <a:spLocks noChangeShapeType="1"/>
          </p:cNvSpPr>
          <p:nvPr/>
        </p:nvSpPr>
        <p:spPr bwMode="auto">
          <a:xfrm>
            <a:off x="4114800" y="5638800"/>
            <a:ext cx="3124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57" name="Line 56"/>
          <p:cNvSpPr>
            <a:spLocks noChangeShapeType="1"/>
          </p:cNvSpPr>
          <p:nvPr/>
        </p:nvSpPr>
        <p:spPr bwMode="auto">
          <a:xfrm>
            <a:off x="4114800" y="5943600"/>
            <a:ext cx="3124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58" name="Text Box 57"/>
          <p:cNvSpPr txBox="1">
            <a:spLocks noChangeArrowheads="1"/>
          </p:cNvSpPr>
          <p:nvPr/>
        </p:nvSpPr>
        <p:spPr bwMode="auto">
          <a:xfrm>
            <a:off x="3686175" y="5715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H’</a:t>
            </a:r>
          </a:p>
        </p:txBody>
      </p:sp>
      <p:sp>
        <p:nvSpPr>
          <p:cNvPr id="159" name="Text Box 58"/>
          <p:cNvSpPr txBox="1">
            <a:spLocks noChangeArrowheads="1"/>
          </p:cNvSpPr>
          <p:nvPr/>
        </p:nvSpPr>
        <p:spPr bwMode="auto">
          <a:xfrm>
            <a:off x="3686175" y="54102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H</a:t>
            </a:r>
          </a:p>
        </p:txBody>
      </p:sp>
      <p:sp>
        <p:nvSpPr>
          <p:cNvPr id="160" name="Text Box 59"/>
          <p:cNvSpPr txBox="1">
            <a:spLocks noChangeArrowheads="1"/>
          </p:cNvSpPr>
          <p:nvPr/>
        </p:nvSpPr>
        <p:spPr bwMode="auto">
          <a:xfrm>
            <a:off x="533400" y="4038600"/>
            <a:ext cx="2514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Drawn with a single line (above) to save space.</a:t>
            </a:r>
          </a:p>
        </p:txBody>
      </p:sp>
      <p:grpSp>
        <p:nvGrpSpPr>
          <p:cNvPr id="161" name="Group 64"/>
          <p:cNvGrpSpPr>
            <a:grpSpLocks/>
          </p:cNvGrpSpPr>
          <p:nvPr/>
        </p:nvGrpSpPr>
        <p:grpSpPr bwMode="auto">
          <a:xfrm>
            <a:off x="1971675" y="1524000"/>
            <a:ext cx="6696075" cy="1066800"/>
            <a:chOff x="1488" y="936"/>
            <a:chExt cx="4218" cy="672"/>
          </a:xfrm>
        </p:grpSpPr>
        <p:sp>
          <p:nvSpPr>
            <p:cNvPr id="162" name="Text Box 39"/>
            <p:cNvSpPr txBox="1">
              <a:spLocks noChangeArrowheads="1"/>
            </p:cNvSpPr>
            <p:nvPr/>
          </p:nvSpPr>
          <p:spPr bwMode="auto">
            <a:xfrm>
              <a:off x="1530" y="936"/>
              <a:ext cx="41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rPr>
                <a:t>B B’A A’ C C’ D D’ I I’  J  J’    E E’  F F’ K K’GG’H H’</a:t>
              </a:r>
            </a:p>
          </p:txBody>
        </p:sp>
        <p:grpSp>
          <p:nvGrpSpPr>
            <p:cNvPr id="163" name="Group 61"/>
            <p:cNvGrpSpPr>
              <a:grpSpLocks/>
            </p:cNvGrpSpPr>
            <p:nvPr/>
          </p:nvGrpSpPr>
          <p:grpSpPr bwMode="auto">
            <a:xfrm>
              <a:off x="1488" y="1128"/>
              <a:ext cx="3552" cy="480"/>
              <a:chOff x="1488" y="1104"/>
              <a:chExt cx="3552" cy="480"/>
            </a:xfrm>
          </p:grpSpPr>
          <p:grpSp>
            <p:nvGrpSpPr>
              <p:cNvPr id="164" name="Group 3"/>
              <p:cNvGrpSpPr>
                <a:grpSpLocks/>
              </p:cNvGrpSpPr>
              <p:nvPr/>
            </p:nvGrpSpPr>
            <p:grpSpPr bwMode="auto">
              <a:xfrm>
                <a:off x="4656" y="1278"/>
                <a:ext cx="192" cy="128"/>
                <a:chOff x="1488" y="1056"/>
                <a:chExt cx="460" cy="560"/>
              </a:xfrm>
            </p:grpSpPr>
            <p:sp>
              <p:nvSpPr>
                <p:cNvPr id="189" name="Line 4"/>
                <p:cNvSpPr>
                  <a:spLocks noChangeShapeType="1"/>
                </p:cNvSpPr>
                <p:nvPr/>
              </p:nvSpPr>
              <p:spPr bwMode="auto">
                <a:xfrm>
                  <a:off x="1488" y="1056"/>
                  <a:ext cx="0" cy="560"/>
                </a:xfrm>
                <a:prstGeom prst="line">
                  <a:avLst/>
                </a:prstGeom>
                <a:noFill/>
                <a:ln w="28575">
                  <a:solidFill>
                    <a:srgbClr val="00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3399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</a:endParaRPr>
                </a:p>
              </p:txBody>
            </p:sp>
            <p:sp>
              <p:nvSpPr>
                <p:cNvPr id="190" name="Line 5"/>
                <p:cNvSpPr>
                  <a:spLocks noChangeShapeType="1"/>
                </p:cNvSpPr>
                <p:nvPr/>
              </p:nvSpPr>
              <p:spPr bwMode="auto">
                <a:xfrm>
                  <a:off x="1488" y="1056"/>
                  <a:ext cx="307" cy="0"/>
                </a:xfrm>
                <a:prstGeom prst="line">
                  <a:avLst/>
                </a:prstGeom>
                <a:noFill/>
                <a:ln w="28575">
                  <a:solidFill>
                    <a:srgbClr val="00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3399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</a:endParaRPr>
                </a:p>
              </p:txBody>
            </p:sp>
            <p:sp>
              <p:nvSpPr>
                <p:cNvPr id="191" name="Line 6"/>
                <p:cNvSpPr>
                  <a:spLocks noChangeShapeType="1"/>
                </p:cNvSpPr>
                <p:nvPr/>
              </p:nvSpPr>
              <p:spPr bwMode="auto">
                <a:xfrm>
                  <a:off x="1488" y="1616"/>
                  <a:ext cx="307" cy="0"/>
                </a:xfrm>
                <a:prstGeom prst="line">
                  <a:avLst/>
                </a:prstGeom>
                <a:noFill/>
                <a:ln w="28575">
                  <a:solidFill>
                    <a:srgbClr val="00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3399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</a:endParaRPr>
                </a:p>
              </p:txBody>
            </p:sp>
            <p:sp>
              <p:nvSpPr>
                <p:cNvPr id="192" name="Arc 7"/>
                <p:cNvSpPr>
                  <a:spLocks/>
                </p:cNvSpPr>
                <p:nvPr/>
              </p:nvSpPr>
              <p:spPr bwMode="auto">
                <a:xfrm>
                  <a:off x="1795" y="1056"/>
                  <a:ext cx="153" cy="2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3399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</a:endParaRPr>
                </a:p>
              </p:txBody>
            </p:sp>
            <p:sp>
              <p:nvSpPr>
                <p:cNvPr id="193" name="Arc 8"/>
                <p:cNvSpPr>
                  <a:spLocks/>
                </p:cNvSpPr>
                <p:nvPr/>
              </p:nvSpPr>
              <p:spPr bwMode="auto">
                <a:xfrm flipV="1">
                  <a:off x="1795" y="1336"/>
                  <a:ext cx="153" cy="28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3399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</a:endParaRPr>
                </a:p>
              </p:txBody>
            </p:sp>
          </p:grpSp>
          <p:sp>
            <p:nvSpPr>
              <p:cNvPr id="165" name="Line 9"/>
              <p:cNvSpPr>
                <a:spLocks noChangeShapeType="1"/>
              </p:cNvSpPr>
              <p:nvPr/>
            </p:nvSpPr>
            <p:spPr bwMode="auto">
              <a:xfrm>
                <a:off x="1650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6" name="Line 10"/>
              <p:cNvSpPr>
                <a:spLocks noChangeShapeType="1"/>
              </p:cNvSpPr>
              <p:nvPr/>
            </p:nvSpPr>
            <p:spPr bwMode="auto">
              <a:xfrm>
                <a:off x="1746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7" name="Line 11"/>
              <p:cNvSpPr>
                <a:spLocks noChangeShapeType="1"/>
              </p:cNvSpPr>
              <p:nvPr/>
            </p:nvSpPr>
            <p:spPr bwMode="auto">
              <a:xfrm>
                <a:off x="1896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8" name="Line 12"/>
              <p:cNvSpPr>
                <a:spLocks noChangeShapeType="1"/>
              </p:cNvSpPr>
              <p:nvPr/>
            </p:nvSpPr>
            <p:spPr bwMode="auto">
              <a:xfrm>
                <a:off x="1992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69" name="Line 13"/>
              <p:cNvSpPr>
                <a:spLocks noChangeShapeType="1"/>
              </p:cNvSpPr>
              <p:nvPr/>
            </p:nvSpPr>
            <p:spPr bwMode="auto">
              <a:xfrm>
                <a:off x="2172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0" name="Line 14"/>
              <p:cNvSpPr>
                <a:spLocks noChangeShapeType="1"/>
              </p:cNvSpPr>
              <p:nvPr/>
            </p:nvSpPr>
            <p:spPr bwMode="auto">
              <a:xfrm>
                <a:off x="2268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1" name="Line 15"/>
              <p:cNvSpPr>
                <a:spLocks noChangeShapeType="1"/>
              </p:cNvSpPr>
              <p:nvPr/>
            </p:nvSpPr>
            <p:spPr bwMode="auto">
              <a:xfrm>
                <a:off x="2466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2" name="Line 16"/>
              <p:cNvSpPr>
                <a:spLocks noChangeShapeType="1"/>
              </p:cNvSpPr>
              <p:nvPr/>
            </p:nvSpPr>
            <p:spPr bwMode="auto">
              <a:xfrm>
                <a:off x="2562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3" name="Line 17"/>
              <p:cNvSpPr>
                <a:spLocks noChangeShapeType="1"/>
              </p:cNvSpPr>
              <p:nvPr/>
            </p:nvSpPr>
            <p:spPr bwMode="auto">
              <a:xfrm>
                <a:off x="2688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4" name="Line 18"/>
              <p:cNvSpPr>
                <a:spLocks noChangeShapeType="1"/>
              </p:cNvSpPr>
              <p:nvPr/>
            </p:nvSpPr>
            <p:spPr bwMode="auto">
              <a:xfrm>
                <a:off x="2784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5" name="Line 19"/>
              <p:cNvSpPr>
                <a:spLocks noChangeShapeType="1"/>
              </p:cNvSpPr>
              <p:nvPr/>
            </p:nvSpPr>
            <p:spPr bwMode="auto">
              <a:xfrm>
                <a:off x="3600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6" name="Line 20"/>
              <p:cNvSpPr>
                <a:spLocks noChangeShapeType="1"/>
              </p:cNvSpPr>
              <p:nvPr/>
            </p:nvSpPr>
            <p:spPr bwMode="auto">
              <a:xfrm>
                <a:off x="3696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7" name="Line 21"/>
              <p:cNvSpPr>
                <a:spLocks noChangeShapeType="1"/>
              </p:cNvSpPr>
              <p:nvPr/>
            </p:nvSpPr>
            <p:spPr bwMode="auto">
              <a:xfrm>
                <a:off x="3840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8" name="Line 22"/>
              <p:cNvSpPr>
                <a:spLocks noChangeShapeType="1"/>
              </p:cNvSpPr>
              <p:nvPr/>
            </p:nvSpPr>
            <p:spPr bwMode="auto">
              <a:xfrm>
                <a:off x="3936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79" name="Line 23"/>
              <p:cNvSpPr>
                <a:spLocks noChangeShapeType="1"/>
              </p:cNvSpPr>
              <p:nvPr/>
            </p:nvSpPr>
            <p:spPr bwMode="auto">
              <a:xfrm>
                <a:off x="4092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80" name="Line 24"/>
              <p:cNvSpPr>
                <a:spLocks noChangeShapeType="1"/>
              </p:cNvSpPr>
              <p:nvPr/>
            </p:nvSpPr>
            <p:spPr bwMode="auto">
              <a:xfrm>
                <a:off x="4188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81" name="Line 25"/>
              <p:cNvSpPr>
                <a:spLocks noChangeShapeType="1"/>
              </p:cNvSpPr>
              <p:nvPr/>
            </p:nvSpPr>
            <p:spPr bwMode="auto">
              <a:xfrm>
                <a:off x="4320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82" name="Line 26"/>
              <p:cNvSpPr>
                <a:spLocks noChangeShapeType="1"/>
              </p:cNvSpPr>
              <p:nvPr/>
            </p:nvSpPr>
            <p:spPr bwMode="auto">
              <a:xfrm>
                <a:off x="4416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83" name="Line 27"/>
              <p:cNvSpPr>
                <a:spLocks noChangeShapeType="1"/>
              </p:cNvSpPr>
              <p:nvPr/>
            </p:nvSpPr>
            <p:spPr bwMode="auto">
              <a:xfrm>
                <a:off x="2976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84" name="Line 28"/>
              <p:cNvSpPr>
                <a:spLocks noChangeShapeType="1"/>
              </p:cNvSpPr>
              <p:nvPr/>
            </p:nvSpPr>
            <p:spPr bwMode="auto">
              <a:xfrm>
                <a:off x="3072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85" name="Line 29"/>
              <p:cNvSpPr>
                <a:spLocks noChangeShapeType="1"/>
              </p:cNvSpPr>
              <p:nvPr/>
            </p:nvSpPr>
            <p:spPr bwMode="auto">
              <a:xfrm>
                <a:off x="3312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86" name="Line 30"/>
              <p:cNvSpPr>
                <a:spLocks noChangeShapeType="1"/>
              </p:cNvSpPr>
              <p:nvPr/>
            </p:nvSpPr>
            <p:spPr bwMode="auto">
              <a:xfrm>
                <a:off x="3408" y="110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87" name="Line 31"/>
              <p:cNvSpPr>
                <a:spLocks noChangeShapeType="1"/>
              </p:cNvSpPr>
              <p:nvPr/>
            </p:nvSpPr>
            <p:spPr bwMode="auto">
              <a:xfrm flipH="1">
                <a:off x="1488" y="1344"/>
                <a:ext cx="3168" cy="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188" name="Line 60"/>
              <p:cNvSpPr>
                <a:spLocks noChangeShapeType="1"/>
              </p:cNvSpPr>
              <p:nvPr/>
            </p:nvSpPr>
            <p:spPr bwMode="auto">
              <a:xfrm>
                <a:off x="4848" y="1344"/>
                <a:ext cx="192" cy="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</p:grpSp>
      <p:sp>
        <p:nvSpPr>
          <p:cNvPr id="194" name="Line 62"/>
          <p:cNvSpPr>
            <a:spLocks noChangeShapeType="1"/>
          </p:cNvSpPr>
          <p:nvPr/>
        </p:nvSpPr>
        <p:spPr bwMode="auto">
          <a:xfrm>
            <a:off x="7924800" y="4629150"/>
            <a:ext cx="685800" cy="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195" name="AutoShape 63"/>
          <p:cNvSpPr>
            <a:spLocks/>
          </p:cNvSpPr>
          <p:nvPr/>
        </p:nvSpPr>
        <p:spPr bwMode="auto">
          <a:xfrm>
            <a:off x="3371850" y="3200400"/>
            <a:ext cx="381000" cy="2895600"/>
          </a:xfrm>
          <a:prstGeom prst="leftBrace">
            <a:avLst>
              <a:gd name="adj1" fmla="val 63333"/>
              <a:gd name="adj2" fmla="val 50000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3399"/>
              </a:solidFill>
              <a:latin typeface="Times New Roman" pitchFamily="18" charset="0"/>
              <a:ea typeface="+mn-ea"/>
            </a:endParaRPr>
          </a:p>
        </p:txBody>
      </p:sp>
      <p:sp>
        <p:nvSpPr>
          <p:cNvPr id="196" name="Text Box 151"/>
          <p:cNvSpPr txBox="1">
            <a:spLocks noChangeArrowheads="1"/>
          </p:cNvSpPr>
          <p:nvPr/>
        </p:nvSpPr>
        <p:spPr bwMode="auto">
          <a:xfrm>
            <a:off x="8229600" y="4114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P</a:t>
            </a:r>
          </a:p>
        </p:txBody>
      </p:sp>
      <p:sp>
        <p:nvSpPr>
          <p:cNvPr id="197" name="Line 152"/>
          <p:cNvSpPr>
            <a:spLocks noChangeShapeType="1"/>
          </p:cNvSpPr>
          <p:nvPr/>
        </p:nvSpPr>
        <p:spPr bwMode="auto">
          <a:xfrm>
            <a:off x="7162800" y="2362200"/>
            <a:ext cx="304800" cy="8382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>
              <a:solidFill>
                <a:srgbClr val="003399"/>
              </a:solidFill>
              <a:latin typeface="Times New Roman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9146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PAL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grpSp>
        <p:nvGrpSpPr>
          <p:cNvPr id="552" name="Group 3"/>
          <p:cNvGrpSpPr>
            <a:grpSpLocks/>
          </p:cNvGrpSpPr>
          <p:nvPr/>
        </p:nvGrpSpPr>
        <p:grpSpPr bwMode="auto">
          <a:xfrm>
            <a:off x="7315200" y="4038600"/>
            <a:ext cx="1143000" cy="889000"/>
            <a:chOff x="4080" y="1056"/>
            <a:chExt cx="720" cy="560"/>
          </a:xfrm>
        </p:grpSpPr>
        <p:sp>
          <p:nvSpPr>
            <p:cNvPr id="553" name="Freeform 4"/>
            <p:cNvSpPr>
              <a:spLocks/>
            </p:cNvSpPr>
            <p:nvPr/>
          </p:nvSpPr>
          <p:spPr bwMode="auto">
            <a:xfrm>
              <a:off x="4416" y="1200"/>
              <a:ext cx="30" cy="274"/>
            </a:xfrm>
            <a:custGeom>
              <a:avLst/>
              <a:gdLst>
                <a:gd name="T0" fmla="*/ 4 w 61"/>
                <a:gd name="T1" fmla="*/ 6 h 370"/>
                <a:gd name="T2" fmla="*/ 10 w 61"/>
                <a:gd name="T3" fmla="*/ 15 h 370"/>
                <a:gd name="T4" fmla="*/ 15 w 61"/>
                <a:gd name="T5" fmla="*/ 25 h 370"/>
                <a:gd name="T6" fmla="*/ 21 w 61"/>
                <a:gd name="T7" fmla="*/ 35 h 370"/>
                <a:gd name="T8" fmla="*/ 27 w 61"/>
                <a:gd name="T9" fmla="*/ 46 h 370"/>
                <a:gd name="T10" fmla="*/ 33 w 61"/>
                <a:gd name="T11" fmla="*/ 56 h 370"/>
                <a:gd name="T12" fmla="*/ 37 w 61"/>
                <a:gd name="T13" fmla="*/ 65 h 370"/>
                <a:gd name="T14" fmla="*/ 40 w 61"/>
                <a:gd name="T15" fmla="*/ 75 h 370"/>
                <a:gd name="T16" fmla="*/ 44 w 61"/>
                <a:gd name="T17" fmla="*/ 86 h 370"/>
                <a:gd name="T18" fmla="*/ 48 w 61"/>
                <a:gd name="T19" fmla="*/ 96 h 370"/>
                <a:gd name="T20" fmla="*/ 50 w 61"/>
                <a:gd name="T21" fmla="*/ 105 h 370"/>
                <a:gd name="T22" fmla="*/ 54 w 61"/>
                <a:gd name="T23" fmla="*/ 117 h 370"/>
                <a:gd name="T24" fmla="*/ 56 w 61"/>
                <a:gd name="T25" fmla="*/ 127 h 370"/>
                <a:gd name="T26" fmla="*/ 58 w 61"/>
                <a:gd name="T27" fmla="*/ 136 h 370"/>
                <a:gd name="T28" fmla="*/ 60 w 61"/>
                <a:gd name="T29" fmla="*/ 146 h 370"/>
                <a:gd name="T30" fmla="*/ 61 w 61"/>
                <a:gd name="T31" fmla="*/ 155 h 370"/>
                <a:gd name="T32" fmla="*/ 61 w 61"/>
                <a:gd name="T33" fmla="*/ 171 h 370"/>
                <a:gd name="T34" fmla="*/ 61 w 61"/>
                <a:gd name="T35" fmla="*/ 205 h 370"/>
                <a:gd name="T36" fmla="*/ 60 w 61"/>
                <a:gd name="T37" fmla="*/ 215 h 370"/>
                <a:gd name="T38" fmla="*/ 60 w 61"/>
                <a:gd name="T39" fmla="*/ 226 h 370"/>
                <a:gd name="T40" fmla="*/ 58 w 61"/>
                <a:gd name="T41" fmla="*/ 236 h 370"/>
                <a:gd name="T42" fmla="*/ 56 w 61"/>
                <a:gd name="T43" fmla="*/ 245 h 370"/>
                <a:gd name="T44" fmla="*/ 52 w 61"/>
                <a:gd name="T45" fmla="*/ 255 h 370"/>
                <a:gd name="T46" fmla="*/ 50 w 61"/>
                <a:gd name="T47" fmla="*/ 265 h 370"/>
                <a:gd name="T48" fmla="*/ 46 w 61"/>
                <a:gd name="T49" fmla="*/ 276 h 370"/>
                <a:gd name="T50" fmla="*/ 44 w 61"/>
                <a:gd name="T51" fmla="*/ 286 h 370"/>
                <a:gd name="T52" fmla="*/ 38 w 61"/>
                <a:gd name="T53" fmla="*/ 295 h 370"/>
                <a:gd name="T54" fmla="*/ 35 w 61"/>
                <a:gd name="T55" fmla="*/ 307 h 370"/>
                <a:gd name="T56" fmla="*/ 31 w 61"/>
                <a:gd name="T57" fmla="*/ 316 h 370"/>
                <a:gd name="T58" fmla="*/ 25 w 61"/>
                <a:gd name="T59" fmla="*/ 326 h 370"/>
                <a:gd name="T60" fmla="*/ 21 w 61"/>
                <a:gd name="T61" fmla="*/ 336 h 370"/>
                <a:gd name="T62" fmla="*/ 15 w 61"/>
                <a:gd name="T63" fmla="*/ 345 h 370"/>
                <a:gd name="T64" fmla="*/ 8 w 61"/>
                <a:gd name="T65" fmla="*/ 357 h 370"/>
                <a:gd name="T66" fmla="*/ 2 w 61"/>
                <a:gd name="T67" fmla="*/ 366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" h="370">
                  <a:moveTo>
                    <a:pt x="0" y="0"/>
                  </a:moveTo>
                  <a:lnTo>
                    <a:pt x="4" y="6"/>
                  </a:lnTo>
                  <a:lnTo>
                    <a:pt x="6" y="10"/>
                  </a:lnTo>
                  <a:lnTo>
                    <a:pt x="10" y="15"/>
                  </a:lnTo>
                  <a:lnTo>
                    <a:pt x="12" y="19"/>
                  </a:lnTo>
                  <a:lnTo>
                    <a:pt x="15" y="25"/>
                  </a:lnTo>
                  <a:lnTo>
                    <a:pt x="19" y="31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7" y="46"/>
                  </a:lnTo>
                  <a:lnTo>
                    <a:pt x="29" y="50"/>
                  </a:lnTo>
                  <a:lnTo>
                    <a:pt x="33" y="56"/>
                  </a:lnTo>
                  <a:lnTo>
                    <a:pt x="35" y="61"/>
                  </a:lnTo>
                  <a:lnTo>
                    <a:pt x="37" y="65"/>
                  </a:lnTo>
                  <a:lnTo>
                    <a:pt x="38" y="71"/>
                  </a:lnTo>
                  <a:lnTo>
                    <a:pt x="40" y="75"/>
                  </a:lnTo>
                  <a:lnTo>
                    <a:pt x="42" y="81"/>
                  </a:lnTo>
                  <a:lnTo>
                    <a:pt x="44" y="86"/>
                  </a:lnTo>
                  <a:lnTo>
                    <a:pt x="46" y="90"/>
                  </a:lnTo>
                  <a:lnTo>
                    <a:pt x="48" y="96"/>
                  </a:lnTo>
                  <a:lnTo>
                    <a:pt x="50" y="102"/>
                  </a:lnTo>
                  <a:lnTo>
                    <a:pt x="50" y="105"/>
                  </a:lnTo>
                  <a:lnTo>
                    <a:pt x="52" y="111"/>
                  </a:lnTo>
                  <a:lnTo>
                    <a:pt x="54" y="117"/>
                  </a:lnTo>
                  <a:lnTo>
                    <a:pt x="56" y="121"/>
                  </a:lnTo>
                  <a:lnTo>
                    <a:pt x="56" y="127"/>
                  </a:lnTo>
                  <a:lnTo>
                    <a:pt x="58" y="132"/>
                  </a:lnTo>
                  <a:lnTo>
                    <a:pt x="58" y="136"/>
                  </a:lnTo>
                  <a:lnTo>
                    <a:pt x="60" y="142"/>
                  </a:lnTo>
                  <a:lnTo>
                    <a:pt x="60" y="146"/>
                  </a:lnTo>
                  <a:lnTo>
                    <a:pt x="60" y="152"/>
                  </a:lnTo>
                  <a:lnTo>
                    <a:pt x="61" y="155"/>
                  </a:lnTo>
                  <a:lnTo>
                    <a:pt x="61" y="167"/>
                  </a:lnTo>
                  <a:lnTo>
                    <a:pt x="61" y="171"/>
                  </a:lnTo>
                  <a:lnTo>
                    <a:pt x="61" y="199"/>
                  </a:lnTo>
                  <a:lnTo>
                    <a:pt x="61" y="205"/>
                  </a:lnTo>
                  <a:lnTo>
                    <a:pt x="61" y="209"/>
                  </a:lnTo>
                  <a:lnTo>
                    <a:pt x="60" y="215"/>
                  </a:lnTo>
                  <a:lnTo>
                    <a:pt x="60" y="221"/>
                  </a:lnTo>
                  <a:lnTo>
                    <a:pt x="60" y="226"/>
                  </a:lnTo>
                  <a:lnTo>
                    <a:pt x="58" y="230"/>
                  </a:lnTo>
                  <a:lnTo>
                    <a:pt x="58" y="236"/>
                  </a:lnTo>
                  <a:lnTo>
                    <a:pt x="58" y="240"/>
                  </a:lnTo>
                  <a:lnTo>
                    <a:pt x="56" y="245"/>
                  </a:lnTo>
                  <a:lnTo>
                    <a:pt x="54" y="249"/>
                  </a:lnTo>
                  <a:lnTo>
                    <a:pt x="52" y="255"/>
                  </a:lnTo>
                  <a:lnTo>
                    <a:pt x="52" y="261"/>
                  </a:lnTo>
                  <a:lnTo>
                    <a:pt x="50" y="265"/>
                  </a:lnTo>
                  <a:lnTo>
                    <a:pt x="48" y="270"/>
                  </a:lnTo>
                  <a:lnTo>
                    <a:pt x="46" y="276"/>
                  </a:lnTo>
                  <a:lnTo>
                    <a:pt x="46" y="280"/>
                  </a:lnTo>
                  <a:lnTo>
                    <a:pt x="44" y="286"/>
                  </a:lnTo>
                  <a:lnTo>
                    <a:pt x="42" y="292"/>
                  </a:lnTo>
                  <a:lnTo>
                    <a:pt x="38" y="295"/>
                  </a:lnTo>
                  <a:lnTo>
                    <a:pt x="37" y="301"/>
                  </a:lnTo>
                  <a:lnTo>
                    <a:pt x="35" y="307"/>
                  </a:lnTo>
                  <a:lnTo>
                    <a:pt x="33" y="311"/>
                  </a:lnTo>
                  <a:lnTo>
                    <a:pt x="31" y="316"/>
                  </a:lnTo>
                  <a:lnTo>
                    <a:pt x="29" y="320"/>
                  </a:lnTo>
                  <a:lnTo>
                    <a:pt x="25" y="326"/>
                  </a:lnTo>
                  <a:lnTo>
                    <a:pt x="23" y="330"/>
                  </a:lnTo>
                  <a:lnTo>
                    <a:pt x="21" y="336"/>
                  </a:lnTo>
                  <a:lnTo>
                    <a:pt x="17" y="341"/>
                  </a:lnTo>
                  <a:lnTo>
                    <a:pt x="15" y="345"/>
                  </a:lnTo>
                  <a:lnTo>
                    <a:pt x="12" y="351"/>
                  </a:lnTo>
                  <a:lnTo>
                    <a:pt x="8" y="357"/>
                  </a:lnTo>
                  <a:lnTo>
                    <a:pt x="6" y="361"/>
                  </a:lnTo>
                  <a:lnTo>
                    <a:pt x="2" y="366"/>
                  </a:lnTo>
                  <a:lnTo>
                    <a:pt x="0" y="370"/>
                  </a:lnTo>
                </a:path>
              </a:pathLst>
            </a:custGeom>
            <a:noFill/>
            <a:ln w="28575" cap="sq" cmpd="sng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554" name="Freeform 5"/>
            <p:cNvSpPr>
              <a:spLocks/>
            </p:cNvSpPr>
            <p:nvPr/>
          </p:nvSpPr>
          <p:spPr bwMode="auto">
            <a:xfrm>
              <a:off x="4416" y="1200"/>
              <a:ext cx="304" cy="136"/>
            </a:xfrm>
            <a:custGeom>
              <a:avLst/>
              <a:gdLst>
                <a:gd name="T0" fmla="*/ 186 w 621"/>
                <a:gd name="T1" fmla="*/ 0 h 184"/>
                <a:gd name="T2" fmla="*/ 209 w 621"/>
                <a:gd name="T3" fmla="*/ 0 h 184"/>
                <a:gd name="T4" fmla="*/ 221 w 621"/>
                <a:gd name="T5" fmla="*/ 2 h 184"/>
                <a:gd name="T6" fmla="*/ 234 w 621"/>
                <a:gd name="T7" fmla="*/ 2 h 184"/>
                <a:gd name="T8" fmla="*/ 246 w 621"/>
                <a:gd name="T9" fmla="*/ 4 h 184"/>
                <a:gd name="T10" fmla="*/ 258 w 621"/>
                <a:gd name="T11" fmla="*/ 4 h 184"/>
                <a:gd name="T12" fmla="*/ 269 w 621"/>
                <a:gd name="T13" fmla="*/ 8 h 184"/>
                <a:gd name="T14" fmla="*/ 283 w 621"/>
                <a:gd name="T15" fmla="*/ 8 h 184"/>
                <a:gd name="T16" fmla="*/ 292 w 621"/>
                <a:gd name="T17" fmla="*/ 12 h 184"/>
                <a:gd name="T18" fmla="*/ 306 w 621"/>
                <a:gd name="T19" fmla="*/ 13 h 184"/>
                <a:gd name="T20" fmla="*/ 317 w 621"/>
                <a:gd name="T21" fmla="*/ 17 h 184"/>
                <a:gd name="T22" fmla="*/ 329 w 621"/>
                <a:gd name="T23" fmla="*/ 19 h 184"/>
                <a:gd name="T24" fmla="*/ 340 w 621"/>
                <a:gd name="T25" fmla="*/ 23 h 184"/>
                <a:gd name="T26" fmla="*/ 354 w 621"/>
                <a:gd name="T27" fmla="*/ 27 h 184"/>
                <a:gd name="T28" fmla="*/ 365 w 621"/>
                <a:gd name="T29" fmla="*/ 31 h 184"/>
                <a:gd name="T30" fmla="*/ 377 w 621"/>
                <a:gd name="T31" fmla="*/ 35 h 184"/>
                <a:gd name="T32" fmla="*/ 388 w 621"/>
                <a:gd name="T33" fmla="*/ 40 h 184"/>
                <a:gd name="T34" fmla="*/ 402 w 621"/>
                <a:gd name="T35" fmla="*/ 44 h 184"/>
                <a:gd name="T36" fmla="*/ 409 w 621"/>
                <a:gd name="T37" fmla="*/ 48 h 184"/>
                <a:gd name="T38" fmla="*/ 421 w 621"/>
                <a:gd name="T39" fmla="*/ 54 h 184"/>
                <a:gd name="T40" fmla="*/ 434 w 621"/>
                <a:gd name="T41" fmla="*/ 59 h 184"/>
                <a:gd name="T42" fmla="*/ 446 w 621"/>
                <a:gd name="T43" fmla="*/ 65 h 184"/>
                <a:gd name="T44" fmla="*/ 457 w 621"/>
                <a:gd name="T45" fmla="*/ 71 h 184"/>
                <a:gd name="T46" fmla="*/ 469 w 621"/>
                <a:gd name="T47" fmla="*/ 79 h 184"/>
                <a:gd name="T48" fmla="*/ 482 w 621"/>
                <a:gd name="T49" fmla="*/ 84 h 184"/>
                <a:gd name="T50" fmla="*/ 492 w 621"/>
                <a:gd name="T51" fmla="*/ 92 h 184"/>
                <a:gd name="T52" fmla="*/ 505 w 621"/>
                <a:gd name="T53" fmla="*/ 100 h 184"/>
                <a:gd name="T54" fmla="*/ 517 w 621"/>
                <a:gd name="T55" fmla="*/ 107 h 184"/>
                <a:gd name="T56" fmla="*/ 528 w 621"/>
                <a:gd name="T57" fmla="*/ 115 h 184"/>
                <a:gd name="T58" fmla="*/ 540 w 621"/>
                <a:gd name="T59" fmla="*/ 123 h 184"/>
                <a:gd name="T60" fmla="*/ 553 w 621"/>
                <a:gd name="T61" fmla="*/ 130 h 184"/>
                <a:gd name="T62" fmla="*/ 565 w 621"/>
                <a:gd name="T63" fmla="*/ 140 h 184"/>
                <a:gd name="T64" fmla="*/ 582 w 621"/>
                <a:gd name="T65" fmla="*/ 153 h 184"/>
                <a:gd name="T66" fmla="*/ 600 w 621"/>
                <a:gd name="T67" fmla="*/ 167 h 184"/>
                <a:gd name="T68" fmla="*/ 611 w 621"/>
                <a:gd name="T69" fmla="*/ 176 h 184"/>
                <a:gd name="T70" fmla="*/ 621 w 621"/>
                <a:gd name="T71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21" h="184">
                  <a:moveTo>
                    <a:pt x="0" y="0"/>
                  </a:moveTo>
                  <a:lnTo>
                    <a:pt x="186" y="0"/>
                  </a:lnTo>
                  <a:lnTo>
                    <a:pt x="204" y="0"/>
                  </a:lnTo>
                  <a:lnTo>
                    <a:pt x="209" y="0"/>
                  </a:lnTo>
                  <a:lnTo>
                    <a:pt x="217" y="0"/>
                  </a:lnTo>
                  <a:lnTo>
                    <a:pt x="221" y="2"/>
                  </a:lnTo>
                  <a:lnTo>
                    <a:pt x="229" y="2"/>
                  </a:lnTo>
                  <a:lnTo>
                    <a:pt x="234" y="2"/>
                  </a:lnTo>
                  <a:lnTo>
                    <a:pt x="240" y="4"/>
                  </a:lnTo>
                  <a:lnTo>
                    <a:pt x="246" y="4"/>
                  </a:lnTo>
                  <a:lnTo>
                    <a:pt x="252" y="4"/>
                  </a:lnTo>
                  <a:lnTo>
                    <a:pt x="258" y="4"/>
                  </a:lnTo>
                  <a:lnTo>
                    <a:pt x="263" y="6"/>
                  </a:lnTo>
                  <a:lnTo>
                    <a:pt x="269" y="8"/>
                  </a:lnTo>
                  <a:lnTo>
                    <a:pt x="275" y="8"/>
                  </a:lnTo>
                  <a:lnTo>
                    <a:pt x="283" y="8"/>
                  </a:lnTo>
                  <a:lnTo>
                    <a:pt x="288" y="10"/>
                  </a:lnTo>
                  <a:lnTo>
                    <a:pt x="292" y="12"/>
                  </a:lnTo>
                  <a:lnTo>
                    <a:pt x="300" y="12"/>
                  </a:lnTo>
                  <a:lnTo>
                    <a:pt x="306" y="13"/>
                  </a:lnTo>
                  <a:lnTo>
                    <a:pt x="311" y="15"/>
                  </a:lnTo>
                  <a:lnTo>
                    <a:pt x="317" y="17"/>
                  </a:lnTo>
                  <a:lnTo>
                    <a:pt x="323" y="19"/>
                  </a:lnTo>
                  <a:lnTo>
                    <a:pt x="329" y="19"/>
                  </a:lnTo>
                  <a:lnTo>
                    <a:pt x="336" y="21"/>
                  </a:lnTo>
                  <a:lnTo>
                    <a:pt x="340" y="23"/>
                  </a:lnTo>
                  <a:lnTo>
                    <a:pt x="348" y="25"/>
                  </a:lnTo>
                  <a:lnTo>
                    <a:pt x="354" y="27"/>
                  </a:lnTo>
                  <a:lnTo>
                    <a:pt x="359" y="29"/>
                  </a:lnTo>
                  <a:lnTo>
                    <a:pt x="365" y="31"/>
                  </a:lnTo>
                  <a:lnTo>
                    <a:pt x="371" y="33"/>
                  </a:lnTo>
                  <a:lnTo>
                    <a:pt x="377" y="35"/>
                  </a:lnTo>
                  <a:lnTo>
                    <a:pt x="382" y="38"/>
                  </a:lnTo>
                  <a:lnTo>
                    <a:pt x="388" y="40"/>
                  </a:lnTo>
                  <a:lnTo>
                    <a:pt x="394" y="42"/>
                  </a:lnTo>
                  <a:lnTo>
                    <a:pt x="402" y="44"/>
                  </a:lnTo>
                  <a:lnTo>
                    <a:pt x="404" y="46"/>
                  </a:lnTo>
                  <a:lnTo>
                    <a:pt x="409" y="48"/>
                  </a:lnTo>
                  <a:lnTo>
                    <a:pt x="415" y="52"/>
                  </a:lnTo>
                  <a:lnTo>
                    <a:pt x="421" y="54"/>
                  </a:lnTo>
                  <a:lnTo>
                    <a:pt x="429" y="58"/>
                  </a:lnTo>
                  <a:lnTo>
                    <a:pt x="434" y="59"/>
                  </a:lnTo>
                  <a:lnTo>
                    <a:pt x="438" y="61"/>
                  </a:lnTo>
                  <a:lnTo>
                    <a:pt x="446" y="65"/>
                  </a:lnTo>
                  <a:lnTo>
                    <a:pt x="452" y="69"/>
                  </a:lnTo>
                  <a:lnTo>
                    <a:pt x="457" y="71"/>
                  </a:lnTo>
                  <a:lnTo>
                    <a:pt x="463" y="75"/>
                  </a:lnTo>
                  <a:lnTo>
                    <a:pt x="469" y="79"/>
                  </a:lnTo>
                  <a:lnTo>
                    <a:pt x="475" y="82"/>
                  </a:lnTo>
                  <a:lnTo>
                    <a:pt x="482" y="84"/>
                  </a:lnTo>
                  <a:lnTo>
                    <a:pt x="486" y="88"/>
                  </a:lnTo>
                  <a:lnTo>
                    <a:pt x="492" y="92"/>
                  </a:lnTo>
                  <a:lnTo>
                    <a:pt x="500" y="96"/>
                  </a:lnTo>
                  <a:lnTo>
                    <a:pt x="505" y="100"/>
                  </a:lnTo>
                  <a:lnTo>
                    <a:pt x="511" y="104"/>
                  </a:lnTo>
                  <a:lnTo>
                    <a:pt x="517" y="107"/>
                  </a:lnTo>
                  <a:lnTo>
                    <a:pt x="523" y="111"/>
                  </a:lnTo>
                  <a:lnTo>
                    <a:pt x="528" y="115"/>
                  </a:lnTo>
                  <a:lnTo>
                    <a:pt x="534" y="119"/>
                  </a:lnTo>
                  <a:lnTo>
                    <a:pt x="540" y="123"/>
                  </a:lnTo>
                  <a:lnTo>
                    <a:pt x="548" y="127"/>
                  </a:lnTo>
                  <a:lnTo>
                    <a:pt x="553" y="130"/>
                  </a:lnTo>
                  <a:lnTo>
                    <a:pt x="557" y="136"/>
                  </a:lnTo>
                  <a:lnTo>
                    <a:pt x="565" y="140"/>
                  </a:lnTo>
                  <a:lnTo>
                    <a:pt x="577" y="148"/>
                  </a:lnTo>
                  <a:lnTo>
                    <a:pt x="582" y="153"/>
                  </a:lnTo>
                  <a:lnTo>
                    <a:pt x="594" y="163"/>
                  </a:lnTo>
                  <a:lnTo>
                    <a:pt x="600" y="167"/>
                  </a:lnTo>
                  <a:lnTo>
                    <a:pt x="605" y="171"/>
                  </a:lnTo>
                  <a:lnTo>
                    <a:pt x="611" y="176"/>
                  </a:lnTo>
                  <a:lnTo>
                    <a:pt x="619" y="182"/>
                  </a:lnTo>
                  <a:lnTo>
                    <a:pt x="621" y="184"/>
                  </a:lnTo>
                </a:path>
              </a:pathLst>
            </a:custGeom>
            <a:noFill/>
            <a:ln w="28575" cap="sq" cmpd="sng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555" name="Freeform 6"/>
            <p:cNvSpPr>
              <a:spLocks/>
            </p:cNvSpPr>
            <p:nvPr/>
          </p:nvSpPr>
          <p:spPr bwMode="auto">
            <a:xfrm>
              <a:off x="4416" y="1336"/>
              <a:ext cx="304" cy="137"/>
            </a:xfrm>
            <a:custGeom>
              <a:avLst/>
              <a:gdLst>
                <a:gd name="T0" fmla="*/ 186 w 621"/>
                <a:gd name="T1" fmla="*/ 184 h 184"/>
                <a:gd name="T2" fmla="*/ 209 w 621"/>
                <a:gd name="T3" fmla="*/ 184 h 184"/>
                <a:gd name="T4" fmla="*/ 221 w 621"/>
                <a:gd name="T5" fmla="*/ 182 h 184"/>
                <a:gd name="T6" fmla="*/ 234 w 621"/>
                <a:gd name="T7" fmla="*/ 182 h 184"/>
                <a:gd name="T8" fmla="*/ 246 w 621"/>
                <a:gd name="T9" fmla="*/ 182 h 184"/>
                <a:gd name="T10" fmla="*/ 258 w 621"/>
                <a:gd name="T11" fmla="*/ 180 h 184"/>
                <a:gd name="T12" fmla="*/ 269 w 621"/>
                <a:gd name="T13" fmla="*/ 177 h 184"/>
                <a:gd name="T14" fmla="*/ 283 w 621"/>
                <a:gd name="T15" fmla="*/ 177 h 184"/>
                <a:gd name="T16" fmla="*/ 292 w 621"/>
                <a:gd name="T17" fmla="*/ 173 h 184"/>
                <a:gd name="T18" fmla="*/ 306 w 621"/>
                <a:gd name="T19" fmla="*/ 171 h 184"/>
                <a:gd name="T20" fmla="*/ 317 w 621"/>
                <a:gd name="T21" fmla="*/ 167 h 184"/>
                <a:gd name="T22" fmla="*/ 329 w 621"/>
                <a:gd name="T23" fmla="*/ 165 h 184"/>
                <a:gd name="T24" fmla="*/ 340 w 621"/>
                <a:gd name="T25" fmla="*/ 161 h 184"/>
                <a:gd name="T26" fmla="*/ 354 w 621"/>
                <a:gd name="T27" fmla="*/ 157 h 184"/>
                <a:gd name="T28" fmla="*/ 365 w 621"/>
                <a:gd name="T29" fmla="*/ 154 h 184"/>
                <a:gd name="T30" fmla="*/ 377 w 621"/>
                <a:gd name="T31" fmla="*/ 150 h 184"/>
                <a:gd name="T32" fmla="*/ 388 w 621"/>
                <a:gd name="T33" fmla="*/ 144 h 184"/>
                <a:gd name="T34" fmla="*/ 402 w 621"/>
                <a:gd name="T35" fmla="*/ 140 h 184"/>
                <a:gd name="T36" fmla="*/ 409 w 621"/>
                <a:gd name="T37" fmla="*/ 136 h 184"/>
                <a:gd name="T38" fmla="*/ 421 w 621"/>
                <a:gd name="T39" fmla="*/ 131 h 184"/>
                <a:gd name="T40" fmla="*/ 434 w 621"/>
                <a:gd name="T41" fmla="*/ 125 h 184"/>
                <a:gd name="T42" fmla="*/ 446 w 621"/>
                <a:gd name="T43" fmla="*/ 119 h 184"/>
                <a:gd name="T44" fmla="*/ 457 w 621"/>
                <a:gd name="T45" fmla="*/ 113 h 184"/>
                <a:gd name="T46" fmla="*/ 469 w 621"/>
                <a:gd name="T47" fmla="*/ 106 h 184"/>
                <a:gd name="T48" fmla="*/ 482 w 621"/>
                <a:gd name="T49" fmla="*/ 100 h 184"/>
                <a:gd name="T50" fmla="*/ 492 w 621"/>
                <a:gd name="T51" fmla="*/ 92 h 184"/>
                <a:gd name="T52" fmla="*/ 505 w 621"/>
                <a:gd name="T53" fmla="*/ 85 h 184"/>
                <a:gd name="T54" fmla="*/ 517 w 621"/>
                <a:gd name="T55" fmla="*/ 77 h 184"/>
                <a:gd name="T56" fmla="*/ 528 w 621"/>
                <a:gd name="T57" fmla="*/ 69 h 184"/>
                <a:gd name="T58" fmla="*/ 540 w 621"/>
                <a:gd name="T59" fmla="*/ 61 h 184"/>
                <a:gd name="T60" fmla="*/ 553 w 621"/>
                <a:gd name="T61" fmla="*/ 54 h 184"/>
                <a:gd name="T62" fmla="*/ 565 w 621"/>
                <a:gd name="T63" fmla="*/ 46 h 184"/>
                <a:gd name="T64" fmla="*/ 582 w 621"/>
                <a:gd name="T65" fmla="*/ 31 h 184"/>
                <a:gd name="T66" fmla="*/ 600 w 621"/>
                <a:gd name="T67" fmla="*/ 17 h 184"/>
                <a:gd name="T68" fmla="*/ 611 w 621"/>
                <a:gd name="T69" fmla="*/ 8 h 184"/>
                <a:gd name="T70" fmla="*/ 621 w 621"/>
                <a:gd name="T71" fmla="*/ 0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21" h="184">
                  <a:moveTo>
                    <a:pt x="0" y="184"/>
                  </a:moveTo>
                  <a:lnTo>
                    <a:pt x="186" y="184"/>
                  </a:lnTo>
                  <a:lnTo>
                    <a:pt x="204" y="184"/>
                  </a:lnTo>
                  <a:lnTo>
                    <a:pt x="209" y="184"/>
                  </a:lnTo>
                  <a:lnTo>
                    <a:pt x="217" y="184"/>
                  </a:lnTo>
                  <a:lnTo>
                    <a:pt x="221" y="182"/>
                  </a:lnTo>
                  <a:lnTo>
                    <a:pt x="229" y="182"/>
                  </a:lnTo>
                  <a:lnTo>
                    <a:pt x="234" y="182"/>
                  </a:lnTo>
                  <a:lnTo>
                    <a:pt x="240" y="182"/>
                  </a:lnTo>
                  <a:lnTo>
                    <a:pt x="246" y="182"/>
                  </a:lnTo>
                  <a:lnTo>
                    <a:pt x="252" y="180"/>
                  </a:lnTo>
                  <a:lnTo>
                    <a:pt x="258" y="180"/>
                  </a:lnTo>
                  <a:lnTo>
                    <a:pt x="263" y="178"/>
                  </a:lnTo>
                  <a:lnTo>
                    <a:pt x="269" y="177"/>
                  </a:lnTo>
                  <a:lnTo>
                    <a:pt x="275" y="177"/>
                  </a:lnTo>
                  <a:lnTo>
                    <a:pt x="283" y="177"/>
                  </a:lnTo>
                  <a:lnTo>
                    <a:pt x="288" y="175"/>
                  </a:lnTo>
                  <a:lnTo>
                    <a:pt x="292" y="173"/>
                  </a:lnTo>
                  <a:lnTo>
                    <a:pt x="300" y="173"/>
                  </a:lnTo>
                  <a:lnTo>
                    <a:pt x="306" y="171"/>
                  </a:lnTo>
                  <a:lnTo>
                    <a:pt x="311" y="169"/>
                  </a:lnTo>
                  <a:lnTo>
                    <a:pt x="317" y="167"/>
                  </a:lnTo>
                  <a:lnTo>
                    <a:pt x="323" y="165"/>
                  </a:lnTo>
                  <a:lnTo>
                    <a:pt x="329" y="165"/>
                  </a:lnTo>
                  <a:lnTo>
                    <a:pt x="336" y="163"/>
                  </a:lnTo>
                  <a:lnTo>
                    <a:pt x="340" y="161"/>
                  </a:lnTo>
                  <a:lnTo>
                    <a:pt x="348" y="159"/>
                  </a:lnTo>
                  <a:lnTo>
                    <a:pt x="354" y="157"/>
                  </a:lnTo>
                  <a:lnTo>
                    <a:pt x="359" y="155"/>
                  </a:lnTo>
                  <a:lnTo>
                    <a:pt x="365" y="154"/>
                  </a:lnTo>
                  <a:lnTo>
                    <a:pt x="371" y="152"/>
                  </a:lnTo>
                  <a:lnTo>
                    <a:pt x="377" y="150"/>
                  </a:lnTo>
                  <a:lnTo>
                    <a:pt x="382" y="146"/>
                  </a:lnTo>
                  <a:lnTo>
                    <a:pt x="388" y="144"/>
                  </a:lnTo>
                  <a:lnTo>
                    <a:pt x="394" y="142"/>
                  </a:lnTo>
                  <a:lnTo>
                    <a:pt x="402" y="140"/>
                  </a:lnTo>
                  <a:lnTo>
                    <a:pt x="404" y="138"/>
                  </a:lnTo>
                  <a:lnTo>
                    <a:pt x="409" y="136"/>
                  </a:lnTo>
                  <a:lnTo>
                    <a:pt x="415" y="132"/>
                  </a:lnTo>
                  <a:lnTo>
                    <a:pt x="421" y="131"/>
                  </a:lnTo>
                  <a:lnTo>
                    <a:pt x="429" y="127"/>
                  </a:lnTo>
                  <a:lnTo>
                    <a:pt x="434" y="125"/>
                  </a:lnTo>
                  <a:lnTo>
                    <a:pt x="438" y="123"/>
                  </a:lnTo>
                  <a:lnTo>
                    <a:pt x="446" y="119"/>
                  </a:lnTo>
                  <a:lnTo>
                    <a:pt x="452" y="115"/>
                  </a:lnTo>
                  <a:lnTo>
                    <a:pt x="457" y="113"/>
                  </a:lnTo>
                  <a:lnTo>
                    <a:pt x="463" y="109"/>
                  </a:lnTo>
                  <a:lnTo>
                    <a:pt x="469" y="106"/>
                  </a:lnTo>
                  <a:lnTo>
                    <a:pt x="475" y="104"/>
                  </a:lnTo>
                  <a:lnTo>
                    <a:pt x="482" y="100"/>
                  </a:lnTo>
                  <a:lnTo>
                    <a:pt x="486" y="96"/>
                  </a:lnTo>
                  <a:lnTo>
                    <a:pt x="492" y="92"/>
                  </a:lnTo>
                  <a:lnTo>
                    <a:pt x="500" y="88"/>
                  </a:lnTo>
                  <a:lnTo>
                    <a:pt x="505" y="85"/>
                  </a:lnTo>
                  <a:lnTo>
                    <a:pt x="511" y="81"/>
                  </a:lnTo>
                  <a:lnTo>
                    <a:pt x="517" y="77"/>
                  </a:lnTo>
                  <a:lnTo>
                    <a:pt x="523" y="73"/>
                  </a:lnTo>
                  <a:lnTo>
                    <a:pt x="528" y="69"/>
                  </a:lnTo>
                  <a:lnTo>
                    <a:pt x="534" y="65"/>
                  </a:lnTo>
                  <a:lnTo>
                    <a:pt x="540" y="61"/>
                  </a:lnTo>
                  <a:lnTo>
                    <a:pt x="548" y="58"/>
                  </a:lnTo>
                  <a:lnTo>
                    <a:pt x="553" y="54"/>
                  </a:lnTo>
                  <a:lnTo>
                    <a:pt x="557" y="50"/>
                  </a:lnTo>
                  <a:lnTo>
                    <a:pt x="565" y="46"/>
                  </a:lnTo>
                  <a:lnTo>
                    <a:pt x="577" y="37"/>
                  </a:lnTo>
                  <a:lnTo>
                    <a:pt x="582" y="31"/>
                  </a:lnTo>
                  <a:lnTo>
                    <a:pt x="594" y="21"/>
                  </a:lnTo>
                  <a:lnTo>
                    <a:pt x="600" y="17"/>
                  </a:lnTo>
                  <a:lnTo>
                    <a:pt x="605" y="14"/>
                  </a:lnTo>
                  <a:lnTo>
                    <a:pt x="611" y="8"/>
                  </a:lnTo>
                  <a:lnTo>
                    <a:pt x="619" y="2"/>
                  </a:lnTo>
                  <a:lnTo>
                    <a:pt x="621" y="0"/>
                  </a:lnTo>
                </a:path>
              </a:pathLst>
            </a:custGeom>
            <a:noFill/>
            <a:ln w="28575" cap="sq" cmpd="sng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556" name="Oval 7"/>
            <p:cNvSpPr>
              <a:spLocks noChangeArrowheads="1"/>
            </p:cNvSpPr>
            <p:nvPr/>
          </p:nvSpPr>
          <p:spPr bwMode="auto">
            <a:xfrm>
              <a:off x="4720" y="1296"/>
              <a:ext cx="80" cy="66"/>
            </a:xfrm>
            <a:prstGeom prst="ellipse">
              <a:avLst/>
            </a:prstGeom>
            <a:noFill/>
            <a:ln w="28575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557" name="Group 8"/>
            <p:cNvGrpSpPr>
              <a:grpSpLocks/>
            </p:cNvGrpSpPr>
            <p:nvPr/>
          </p:nvGrpSpPr>
          <p:grpSpPr bwMode="auto">
            <a:xfrm>
              <a:off x="4080" y="1200"/>
              <a:ext cx="192" cy="128"/>
              <a:chOff x="1488" y="1056"/>
              <a:chExt cx="460" cy="560"/>
            </a:xfrm>
          </p:grpSpPr>
          <p:sp>
            <p:nvSpPr>
              <p:cNvPr id="584" name="Line 9"/>
              <p:cNvSpPr>
                <a:spLocks noChangeShapeType="1"/>
              </p:cNvSpPr>
              <p:nvPr/>
            </p:nvSpPr>
            <p:spPr bwMode="auto">
              <a:xfrm>
                <a:off x="1488" y="1056"/>
                <a:ext cx="0" cy="56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85" name="Line 10"/>
              <p:cNvSpPr>
                <a:spLocks noChangeShapeType="1"/>
              </p:cNvSpPr>
              <p:nvPr/>
            </p:nvSpPr>
            <p:spPr bwMode="auto">
              <a:xfrm>
                <a:off x="1488" y="1056"/>
                <a:ext cx="307" cy="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86" name="Line 11"/>
              <p:cNvSpPr>
                <a:spLocks noChangeShapeType="1"/>
              </p:cNvSpPr>
              <p:nvPr/>
            </p:nvSpPr>
            <p:spPr bwMode="auto">
              <a:xfrm>
                <a:off x="1488" y="1616"/>
                <a:ext cx="307" cy="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87" name="Arc 12"/>
              <p:cNvSpPr>
                <a:spLocks/>
              </p:cNvSpPr>
              <p:nvPr/>
            </p:nvSpPr>
            <p:spPr bwMode="auto">
              <a:xfrm>
                <a:off x="1795" y="1056"/>
                <a:ext cx="153" cy="2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88" name="Arc 13"/>
              <p:cNvSpPr>
                <a:spLocks/>
              </p:cNvSpPr>
              <p:nvPr/>
            </p:nvSpPr>
            <p:spPr bwMode="auto">
              <a:xfrm flipV="1">
                <a:off x="1795" y="1336"/>
                <a:ext cx="153" cy="2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558" name="Group 14"/>
            <p:cNvGrpSpPr>
              <a:grpSpLocks/>
            </p:cNvGrpSpPr>
            <p:nvPr/>
          </p:nvGrpSpPr>
          <p:grpSpPr bwMode="auto">
            <a:xfrm>
              <a:off x="4080" y="1056"/>
              <a:ext cx="192" cy="128"/>
              <a:chOff x="1488" y="1056"/>
              <a:chExt cx="460" cy="560"/>
            </a:xfrm>
          </p:grpSpPr>
          <p:sp>
            <p:nvSpPr>
              <p:cNvPr id="579" name="Line 15"/>
              <p:cNvSpPr>
                <a:spLocks noChangeShapeType="1"/>
              </p:cNvSpPr>
              <p:nvPr/>
            </p:nvSpPr>
            <p:spPr bwMode="auto">
              <a:xfrm>
                <a:off x="1488" y="1056"/>
                <a:ext cx="0" cy="56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80" name="Line 16"/>
              <p:cNvSpPr>
                <a:spLocks noChangeShapeType="1"/>
              </p:cNvSpPr>
              <p:nvPr/>
            </p:nvSpPr>
            <p:spPr bwMode="auto">
              <a:xfrm>
                <a:off x="1488" y="1056"/>
                <a:ext cx="307" cy="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81" name="Line 17"/>
              <p:cNvSpPr>
                <a:spLocks noChangeShapeType="1"/>
              </p:cNvSpPr>
              <p:nvPr/>
            </p:nvSpPr>
            <p:spPr bwMode="auto">
              <a:xfrm>
                <a:off x="1488" y="1616"/>
                <a:ext cx="307" cy="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82" name="Arc 18"/>
              <p:cNvSpPr>
                <a:spLocks/>
              </p:cNvSpPr>
              <p:nvPr/>
            </p:nvSpPr>
            <p:spPr bwMode="auto">
              <a:xfrm>
                <a:off x="1795" y="1056"/>
                <a:ext cx="153" cy="2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83" name="Arc 19"/>
              <p:cNvSpPr>
                <a:spLocks/>
              </p:cNvSpPr>
              <p:nvPr/>
            </p:nvSpPr>
            <p:spPr bwMode="auto">
              <a:xfrm flipV="1">
                <a:off x="1795" y="1336"/>
                <a:ext cx="153" cy="2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559" name="Group 20"/>
            <p:cNvGrpSpPr>
              <a:grpSpLocks/>
            </p:cNvGrpSpPr>
            <p:nvPr/>
          </p:nvGrpSpPr>
          <p:grpSpPr bwMode="auto">
            <a:xfrm>
              <a:off x="4080" y="1344"/>
              <a:ext cx="192" cy="128"/>
              <a:chOff x="1488" y="1056"/>
              <a:chExt cx="460" cy="560"/>
            </a:xfrm>
          </p:grpSpPr>
          <p:sp>
            <p:nvSpPr>
              <p:cNvPr id="574" name="Line 21"/>
              <p:cNvSpPr>
                <a:spLocks noChangeShapeType="1"/>
              </p:cNvSpPr>
              <p:nvPr/>
            </p:nvSpPr>
            <p:spPr bwMode="auto">
              <a:xfrm>
                <a:off x="1488" y="1056"/>
                <a:ext cx="0" cy="56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75" name="Line 22"/>
              <p:cNvSpPr>
                <a:spLocks noChangeShapeType="1"/>
              </p:cNvSpPr>
              <p:nvPr/>
            </p:nvSpPr>
            <p:spPr bwMode="auto">
              <a:xfrm>
                <a:off x="1488" y="1056"/>
                <a:ext cx="307" cy="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76" name="Line 23"/>
              <p:cNvSpPr>
                <a:spLocks noChangeShapeType="1"/>
              </p:cNvSpPr>
              <p:nvPr/>
            </p:nvSpPr>
            <p:spPr bwMode="auto">
              <a:xfrm>
                <a:off x="1488" y="1616"/>
                <a:ext cx="307" cy="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77" name="Arc 24"/>
              <p:cNvSpPr>
                <a:spLocks/>
              </p:cNvSpPr>
              <p:nvPr/>
            </p:nvSpPr>
            <p:spPr bwMode="auto">
              <a:xfrm>
                <a:off x="1795" y="1056"/>
                <a:ext cx="153" cy="2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78" name="Arc 25"/>
              <p:cNvSpPr>
                <a:spLocks/>
              </p:cNvSpPr>
              <p:nvPr/>
            </p:nvSpPr>
            <p:spPr bwMode="auto">
              <a:xfrm flipV="1">
                <a:off x="1795" y="1336"/>
                <a:ext cx="153" cy="2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grpSp>
          <p:nvGrpSpPr>
            <p:cNvPr id="560" name="Group 26"/>
            <p:cNvGrpSpPr>
              <a:grpSpLocks/>
            </p:cNvGrpSpPr>
            <p:nvPr/>
          </p:nvGrpSpPr>
          <p:grpSpPr bwMode="auto">
            <a:xfrm>
              <a:off x="4080" y="1488"/>
              <a:ext cx="192" cy="128"/>
              <a:chOff x="1488" y="1056"/>
              <a:chExt cx="460" cy="560"/>
            </a:xfrm>
          </p:grpSpPr>
          <p:sp>
            <p:nvSpPr>
              <p:cNvPr id="569" name="Line 27"/>
              <p:cNvSpPr>
                <a:spLocks noChangeShapeType="1"/>
              </p:cNvSpPr>
              <p:nvPr/>
            </p:nvSpPr>
            <p:spPr bwMode="auto">
              <a:xfrm>
                <a:off x="1488" y="1056"/>
                <a:ext cx="0" cy="56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70" name="Line 28"/>
              <p:cNvSpPr>
                <a:spLocks noChangeShapeType="1"/>
              </p:cNvSpPr>
              <p:nvPr/>
            </p:nvSpPr>
            <p:spPr bwMode="auto">
              <a:xfrm>
                <a:off x="1488" y="1056"/>
                <a:ext cx="307" cy="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71" name="Line 29"/>
              <p:cNvSpPr>
                <a:spLocks noChangeShapeType="1"/>
              </p:cNvSpPr>
              <p:nvPr/>
            </p:nvSpPr>
            <p:spPr bwMode="auto">
              <a:xfrm>
                <a:off x="1488" y="1616"/>
                <a:ext cx="307" cy="0"/>
              </a:xfrm>
              <a:prstGeom prst="lin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72" name="Arc 30"/>
              <p:cNvSpPr>
                <a:spLocks/>
              </p:cNvSpPr>
              <p:nvPr/>
            </p:nvSpPr>
            <p:spPr bwMode="auto">
              <a:xfrm>
                <a:off x="1795" y="1056"/>
                <a:ext cx="153" cy="2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73" name="Arc 31"/>
              <p:cNvSpPr>
                <a:spLocks/>
              </p:cNvSpPr>
              <p:nvPr/>
            </p:nvSpPr>
            <p:spPr bwMode="auto">
              <a:xfrm flipV="1">
                <a:off x="1795" y="1336"/>
                <a:ext cx="153" cy="2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561" name="Line 32"/>
            <p:cNvSpPr>
              <a:spLocks noChangeShapeType="1"/>
            </p:cNvSpPr>
            <p:nvPr/>
          </p:nvSpPr>
          <p:spPr bwMode="auto">
            <a:xfrm>
              <a:off x="4272" y="1248"/>
              <a:ext cx="144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562" name="Line 33"/>
            <p:cNvSpPr>
              <a:spLocks noChangeShapeType="1"/>
            </p:cNvSpPr>
            <p:nvPr/>
          </p:nvSpPr>
          <p:spPr bwMode="auto">
            <a:xfrm>
              <a:off x="4272" y="1392"/>
              <a:ext cx="144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563" name="Line 34"/>
            <p:cNvSpPr>
              <a:spLocks noChangeShapeType="1"/>
            </p:cNvSpPr>
            <p:nvPr/>
          </p:nvSpPr>
          <p:spPr bwMode="auto">
            <a:xfrm>
              <a:off x="4272" y="1104"/>
              <a:ext cx="48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564" name="Line 35"/>
            <p:cNvSpPr>
              <a:spLocks noChangeShapeType="1"/>
            </p:cNvSpPr>
            <p:nvPr/>
          </p:nvSpPr>
          <p:spPr bwMode="auto">
            <a:xfrm flipV="1">
              <a:off x="4272" y="1536"/>
              <a:ext cx="48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565" name="Line 36"/>
            <p:cNvSpPr>
              <a:spLocks noChangeShapeType="1"/>
            </p:cNvSpPr>
            <p:nvPr/>
          </p:nvSpPr>
          <p:spPr bwMode="auto">
            <a:xfrm>
              <a:off x="4320" y="1104"/>
              <a:ext cx="0" cy="96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566" name="Line 37"/>
            <p:cNvSpPr>
              <a:spLocks noChangeShapeType="1"/>
            </p:cNvSpPr>
            <p:nvPr/>
          </p:nvSpPr>
          <p:spPr bwMode="auto">
            <a:xfrm>
              <a:off x="4320" y="1200"/>
              <a:ext cx="96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567" name="Line 38"/>
            <p:cNvSpPr>
              <a:spLocks noChangeShapeType="1"/>
            </p:cNvSpPr>
            <p:nvPr/>
          </p:nvSpPr>
          <p:spPr bwMode="auto">
            <a:xfrm flipV="1">
              <a:off x="4320" y="1488"/>
              <a:ext cx="0" cy="48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  <p:sp>
          <p:nvSpPr>
            <p:cNvPr id="568" name="Line 39"/>
            <p:cNvSpPr>
              <a:spLocks noChangeShapeType="1"/>
            </p:cNvSpPr>
            <p:nvPr/>
          </p:nvSpPr>
          <p:spPr bwMode="auto">
            <a:xfrm>
              <a:off x="4320" y="1488"/>
              <a:ext cx="96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589" name="Group 40"/>
          <p:cNvGrpSpPr>
            <a:grpSpLocks/>
          </p:cNvGrpSpPr>
          <p:nvPr/>
        </p:nvGrpSpPr>
        <p:grpSpPr bwMode="auto">
          <a:xfrm>
            <a:off x="533400" y="2133600"/>
            <a:ext cx="762000" cy="381000"/>
            <a:chOff x="288" y="240"/>
            <a:chExt cx="480" cy="336"/>
          </a:xfrm>
        </p:grpSpPr>
        <p:grpSp>
          <p:nvGrpSpPr>
            <p:cNvPr id="590" name="Group 41"/>
            <p:cNvGrpSpPr>
              <a:grpSpLocks/>
            </p:cNvGrpSpPr>
            <p:nvPr/>
          </p:nvGrpSpPr>
          <p:grpSpPr bwMode="auto">
            <a:xfrm>
              <a:off x="528" y="240"/>
              <a:ext cx="240" cy="336"/>
              <a:chOff x="912" y="1968"/>
              <a:chExt cx="240" cy="336"/>
            </a:xfrm>
          </p:grpSpPr>
          <p:sp>
            <p:nvSpPr>
              <p:cNvPr id="592" name="AutoShape 42"/>
              <p:cNvSpPr>
                <a:spLocks noChangeArrowheads="1"/>
              </p:cNvSpPr>
              <p:nvPr/>
            </p:nvSpPr>
            <p:spPr bwMode="auto">
              <a:xfrm rot="5400000">
                <a:off x="864" y="2016"/>
                <a:ext cx="336" cy="240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33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93" name="Oval 43"/>
              <p:cNvSpPr>
                <a:spLocks noChangeArrowheads="1"/>
              </p:cNvSpPr>
              <p:nvPr/>
            </p:nvSpPr>
            <p:spPr bwMode="auto">
              <a:xfrm>
                <a:off x="1008" y="2208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591" name="Line 44"/>
            <p:cNvSpPr>
              <a:spLocks noChangeShapeType="1"/>
            </p:cNvSpPr>
            <p:nvPr/>
          </p:nvSpPr>
          <p:spPr bwMode="auto">
            <a:xfrm>
              <a:off x="288" y="384"/>
              <a:ext cx="240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594" name="Group 45"/>
          <p:cNvGrpSpPr>
            <a:grpSpLocks/>
          </p:cNvGrpSpPr>
          <p:nvPr/>
        </p:nvGrpSpPr>
        <p:grpSpPr bwMode="auto">
          <a:xfrm>
            <a:off x="533400" y="2590800"/>
            <a:ext cx="762000" cy="381000"/>
            <a:chOff x="288" y="240"/>
            <a:chExt cx="480" cy="336"/>
          </a:xfrm>
        </p:grpSpPr>
        <p:grpSp>
          <p:nvGrpSpPr>
            <p:cNvPr id="595" name="Group 46"/>
            <p:cNvGrpSpPr>
              <a:grpSpLocks/>
            </p:cNvGrpSpPr>
            <p:nvPr/>
          </p:nvGrpSpPr>
          <p:grpSpPr bwMode="auto">
            <a:xfrm>
              <a:off x="528" y="240"/>
              <a:ext cx="240" cy="336"/>
              <a:chOff x="912" y="1968"/>
              <a:chExt cx="240" cy="336"/>
            </a:xfrm>
          </p:grpSpPr>
          <p:sp>
            <p:nvSpPr>
              <p:cNvPr id="597" name="AutoShape 47"/>
              <p:cNvSpPr>
                <a:spLocks noChangeArrowheads="1"/>
              </p:cNvSpPr>
              <p:nvPr/>
            </p:nvSpPr>
            <p:spPr bwMode="auto">
              <a:xfrm rot="5400000">
                <a:off x="864" y="2016"/>
                <a:ext cx="336" cy="240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33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598" name="Oval 48"/>
              <p:cNvSpPr>
                <a:spLocks noChangeArrowheads="1"/>
              </p:cNvSpPr>
              <p:nvPr/>
            </p:nvSpPr>
            <p:spPr bwMode="auto">
              <a:xfrm>
                <a:off x="1008" y="2208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596" name="Line 49"/>
            <p:cNvSpPr>
              <a:spLocks noChangeShapeType="1"/>
            </p:cNvSpPr>
            <p:nvPr/>
          </p:nvSpPr>
          <p:spPr bwMode="auto">
            <a:xfrm>
              <a:off x="288" y="384"/>
              <a:ext cx="240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599" name="Group 50"/>
          <p:cNvGrpSpPr>
            <a:grpSpLocks/>
          </p:cNvGrpSpPr>
          <p:nvPr/>
        </p:nvGrpSpPr>
        <p:grpSpPr bwMode="auto">
          <a:xfrm>
            <a:off x="533400" y="3048000"/>
            <a:ext cx="762000" cy="381000"/>
            <a:chOff x="288" y="240"/>
            <a:chExt cx="480" cy="336"/>
          </a:xfrm>
        </p:grpSpPr>
        <p:grpSp>
          <p:nvGrpSpPr>
            <p:cNvPr id="600" name="Group 51"/>
            <p:cNvGrpSpPr>
              <a:grpSpLocks/>
            </p:cNvGrpSpPr>
            <p:nvPr/>
          </p:nvGrpSpPr>
          <p:grpSpPr bwMode="auto">
            <a:xfrm>
              <a:off x="528" y="240"/>
              <a:ext cx="240" cy="336"/>
              <a:chOff x="912" y="1968"/>
              <a:chExt cx="240" cy="336"/>
            </a:xfrm>
          </p:grpSpPr>
          <p:sp>
            <p:nvSpPr>
              <p:cNvPr id="602" name="AutoShape 52"/>
              <p:cNvSpPr>
                <a:spLocks noChangeArrowheads="1"/>
              </p:cNvSpPr>
              <p:nvPr/>
            </p:nvSpPr>
            <p:spPr bwMode="auto">
              <a:xfrm rot="5400000">
                <a:off x="864" y="2016"/>
                <a:ext cx="336" cy="240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33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603" name="Oval 53"/>
              <p:cNvSpPr>
                <a:spLocks noChangeArrowheads="1"/>
              </p:cNvSpPr>
              <p:nvPr/>
            </p:nvSpPr>
            <p:spPr bwMode="auto">
              <a:xfrm>
                <a:off x="1008" y="2208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601" name="Line 54"/>
            <p:cNvSpPr>
              <a:spLocks noChangeShapeType="1"/>
            </p:cNvSpPr>
            <p:nvPr/>
          </p:nvSpPr>
          <p:spPr bwMode="auto">
            <a:xfrm>
              <a:off x="288" y="384"/>
              <a:ext cx="240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604" name="Group 55"/>
          <p:cNvGrpSpPr>
            <a:grpSpLocks/>
          </p:cNvGrpSpPr>
          <p:nvPr/>
        </p:nvGrpSpPr>
        <p:grpSpPr bwMode="auto">
          <a:xfrm>
            <a:off x="533400" y="3505200"/>
            <a:ext cx="762000" cy="381000"/>
            <a:chOff x="288" y="240"/>
            <a:chExt cx="480" cy="336"/>
          </a:xfrm>
        </p:grpSpPr>
        <p:grpSp>
          <p:nvGrpSpPr>
            <p:cNvPr id="605" name="Group 56"/>
            <p:cNvGrpSpPr>
              <a:grpSpLocks/>
            </p:cNvGrpSpPr>
            <p:nvPr/>
          </p:nvGrpSpPr>
          <p:grpSpPr bwMode="auto">
            <a:xfrm>
              <a:off x="528" y="240"/>
              <a:ext cx="240" cy="336"/>
              <a:chOff x="912" y="1968"/>
              <a:chExt cx="240" cy="336"/>
            </a:xfrm>
          </p:grpSpPr>
          <p:sp>
            <p:nvSpPr>
              <p:cNvPr id="607" name="AutoShape 57"/>
              <p:cNvSpPr>
                <a:spLocks noChangeArrowheads="1"/>
              </p:cNvSpPr>
              <p:nvPr/>
            </p:nvSpPr>
            <p:spPr bwMode="auto">
              <a:xfrm rot="5400000">
                <a:off x="864" y="2016"/>
                <a:ext cx="336" cy="240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33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608" name="Oval 58"/>
              <p:cNvSpPr>
                <a:spLocks noChangeArrowheads="1"/>
              </p:cNvSpPr>
              <p:nvPr/>
            </p:nvSpPr>
            <p:spPr bwMode="auto">
              <a:xfrm>
                <a:off x="1008" y="2208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606" name="Line 59"/>
            <p:cNvSpPr>
              <a:spLocks noChangeShapeType="1"/>
            </p:cNvSpPr>
            <p:nvPr/>
          </p:nvSpPr>
          <p:spPr bwMode="auto">
            <a:xfrm>
              <a:off x="288" y="384"/>
              <a:ext cx="240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</p:grpSp>
      <p:sp>
        <p:nvSpPr>
          <p:cNvPr id="609" name="Line 60"/>
          <p:cNvSpPr>
            <a:spLocks noChangeShapeType="1"/>
          </p:cNvSpPr>
          <p:nvPr/>
        </p:nvSpPr>
        <p:spPr bwMode="auto">
          <a:xfrm>
            <a:off x="17526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10" name="Line 61"/>
          <p:cNvSpPr>
            <a:spLocks noChangeShapeType="1"/>
          </p:cNvSpPr>
          <p:nvPr/>
        </p:nvSpPr>
        <p:spPr bwMode="auto">
          <a:xfrm>
            <a:off x="19050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11" name="Line 62"/>
          <p:cNvSpPr>
            <a:spLocks noChangeShapeType="1"/>
          </p:cNvSpPr>
          <p:nvPr/>
        </p:nvSpPr>
        <p:spPr bwMode="auto">
          <a:xfrm>
            <a:off x="20574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12" name="Line 63"/>
          <p:cNvSpPr>
            <a:spLocks noChangeShapeType="1"/>
          </p:cNvSpPr>
          <p:nvPr/>
        </p:nvSpPr>
        <p:spPr bwMode="auto">
          <a:xfrm>
            <a:off x="22098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13" name="Line 64"/>
          <p:cNvSpPr>
            <a:spLocks noChangeShapeType="1"/>
          </p:cNvSpPr>
          <p:nvPr/>
        </p:nvSpPr>
        <p:spPr bwMode="auto">
          <a:xfrm>
            <a:off x="25146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14" name="Line 65"/>
          <p:cNvSpPr>
            <a:spLocks noChangeShapeType="1"/>
          </p:cNvSpPr>
          <p:nvPr/>
        </p:nvSpPr>
        <p:spPr bwMode="auto">
          <a:xfrm>
            <a:off x="26670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15" name="Line 66"/>
          <p:cNvSpPr>
            <a:spLocks noChangeShapeType="1"/>
          </p:cNvSpPr>
          <p:nvPr/>
        </p:nvSpPr>
        <p:spPr bwMode="auto">
          <a:xfrm>
            <a:off x="32004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16" name="Line 67"/>
          <p:cNvSpPr>
            <a:spLocks noChangeShapeType="1"/>
          </p:cNvSpPr>
          <p:nvPr/>
        </p:nvSpPr>
        <p:spPr bwMode="auto">
          <a:xfrm>
            <a:off x="33528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17" name="Line 68"/>
          <p:cNvSpPr>
            <a:spLocks noChangeShapeType="1"/>
          </p:cNvSpPr>
          <p:nvPr/>
        </p:nvSpPr>
        <p:spPr bwMode="auto">
          <a:xfrm>
            <a:off x="35052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18" name="Line 69"/>
          <p:cNvSpPr>
            <a:spLocks noChangeShapeType="1"/>
          </p:cNvSpPr>
          <p:nvPr/>
        </p:nvSpPr>
        <p:spPr bwMode="auto">
          <a:xfrm>
            <a:off x="36576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19" name="Line 70"/>
          <p:cNvSpPr>
            <a:spLocks noChangeShapeType="1"/>
          </p:cNvSpPr>
          <p:nvPr/>
        </p:nvSpPr>
        <p:spPr bwMode="auto">
          <a:xfrm>
            <a:off x="50292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20" name="Line 71"/>
          <p:cNvSpPr>
            <a:spLocks noChangeShapeType="1"/>
          </p:cNvSpPr>
          <p:nvPr/>
        </p:nvSpPr>
        <p:spPr bwMode="auto">
          <a:xfrm>
            <a:off x="51816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21" name="Line 72"/>
          <p:cNvSpPr>
            <a:spLocks noChangeShapeType="1"/>
          </p:cNvSpPr>
          <p:nvPr/>
        </p:nvSpPr>
        <p:spPr bwMode="auto">
          <a:xfrm>
            <a:off x="53340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22" name="Line 73"/>
          <p:cNvSpPr>
            <a:spLocks noChangeShapeType="1"/>
          </p:cNvSpPr>
          <p:nvPr/>
        </p:nvSpPr>
        <p:spPr bwMode="auto">
          <a:xfrm>
            <a:off x="54864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23" name="Line 74"/>
          <p:cNvSpPr>
            <a:spLocks noChangeShapeType="1"/>
          </p:cNvSpPr>
          <p:nvPr/>
        </p:nvSpPr>
        <p:spPr bwMode="auto">
          <a:xfrm>
            <a:off x="57912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24" name="Line 75"/>
          <p:cNvSpPr>
            <a:spLocks noChangeShapeType="1"/>
          </p:cNvSpPr>
          <p:nvPr/>
        </p:nvSpPr>
        <p:spPr bwMode="auto">
          <a:xfrm>
            <a:off x="59436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25" name="Line 76"/>
          <p:cNvSpPr>
            <a:spLocks noChangeShapeType="1"/>
          </p:cNvSpPr>
          <p:nvPr/>
        </p:nvSpPr>
        <p:spPr bwMode="auto">
          <a:xfrm>
            <a:off x="60960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26" name="Line 77"/>
          <p:cNvSpPr>
            <a:spLocks noChangeShapeType="1"/>
          </p:cNvSpPr>
          <p:nvPr/>
        </p:nvSpPr>
        <p:spPr bwMode="auto">
          <a:xfrm>
            <a:off x="6629400" y="1862138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27" name="Line 78"/>
          <p:cNvSpPr>
            <a:spLocks noChangeShapeType="1"/>
          </p:cNvSpPr>
          <p:nvPr/>
        </p:nvSpPr>
        <p:spPr bwMode="auto">
          <a:xfrm>
            <a:off x="39624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28" name="Line 79"/>
          <p:cNvSpPr>
            <a:spLocks noChangeShapeType="1"/>
          </p:cNvSpPr>
          <p:nvPr/>
        </p:nvSpPr>
        <p:spPr bwMode="auto">
          <a:xfrm>
            <a:off x="41148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29" name="Line 80"/>
          <p:cNvSpPr>
            <a:spLocks noChangeShapeType="1"/>
          </p:cNvSpPr>
          <p:nvPr/>
        </p:nvSpPr>
        <p:spPr bwMode="auto">
          <a:xfrm>
            <a:off x="44958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30" name="Line 81"/>
          <p:cNvSpPr>
            <a:spLocks noChangeShapeType="1"/>
          </p:cNvSpPr>
          <p:nvPr/>
        </p:nvSpPr>
        <p:spPr bwMode="auto">
          <a:xfrm>
            <a:off x="4648200" y="1752600"/>
            <a:ext cx="0" cy="33528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grpSp>
        <p:nvGrpSpPr>
          <p:cNvPr id="631" name="Group 82"/>
          <p:cNvGrpSpPr>
            <a:grpSpLocks/>
          </p:cNvGrpSpPr>
          <p:nvPr/>
        </p:nvGrpSpPr>
        <p:grpSpPr bwMode="auto">
          <a:xfrm flipH="1">
            <a:off x="7543800" y="3048000"/>
            <a:ext cx="762000" cy="381000"/>
            <a:chOff x="288" y="240"/>
            <a:chExt cx="480" cy="336"/>
          </a:xfrm>
        </p:grpSpPr>
        <p:grpSp>
          <p:nvGrpSpPr>
            <p:cNvPr id="632" name="Group 83"/>
            <p:cNvGrpSpPr>
              <a:grpSpLocks/>
            </p:cNvGrpSpPr>
            <p:nvPr/>
          </p:nvGrpSpPr>
          <p:grpSpPr bwMode="auto">
            <a:xfrm>
              <a:off x="528" y="240"/>
              <a:ext cx="240" cy="336"/>
              <a:chOff x="912" y="1968"/>
              <a:chExt cx="240" cy="336"/>
            </a:xfrm>
          </p:grpSpPr>
          <p:sp>
            <p:nvSpPr>
              <p:cNvPr id="634" name="AutoShape 84"/>
              <p:cNvSpPr>
                <a:spLocks noChangeArrowheads="1"/>
              </p:cNvSpPr>
              <p:nvPr/>
            </p:nvSpPr>
            <p:spPr bwMode="auto">
              <a:xfrm rot="5400000">
                <a:off x="864" y="2016"/>
                <a:ext cx="336" cy="240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33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635" name="Oval 85"/>
              <p:cNvSpPr>
                <a:spLocks noChangeArrowheads="1"/>
              </p:cNvSpPr>
              <p:nvPr/>
            </p:nvSpPr>
            <p:spPr bwMode="auto">
              <a:xfrm>
                <a:off x="1008" y="2208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633" name="Line 86"/>
            <p:cNvSpPr>
              <a:spLocks noChangeShapeType="1"/>
            </p:cNvSpPr>
            <p:nvPr/>
          </p:nvSpPr>
          <p:spPr bwMode="auto">
            <a:xfrm>
              <a:off x="288" y="384"/>
              <a:ext cx="240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636" name="Group 87"/>
          <p:cNvGrpSpPr>
            <a:grpSpLocks/>
          </p:cNvGrpSpPr>
          <p:nvPr/>
        </p:nvGrpSpPr>
        <p:grpSpPr bwMode="auto">
          <a:xfrm flipH="1">
            <a:off x="7543800" y="3505200"/>
            <a:ext cx="762000" cy="381000"/>
            <a:chOff x="288" y="240"/>
            <a:chExt cx="480" cy="336"/>
          </a:xfrm>
        </p:grpSpPr>
        <p:grpSp>
          <p:nvGrpSpPr>
            <p:cNvPr id="637" name="Group 88"/>
            <p:cNvGrpSpPr>
              <a:grpSpLocks/>
            </p:cNvGrpSpPr>
            <p:nvPr/>
          </p:nvGrpSpPr>
          <p:grpSpPr bwMode="auto">
            <a:xfrm>
              <a:off x="528" y="240"/>
              <a:ext cx="240" cy="336"/>
              <a:chOff x="912" y="1968"/>
              <a:chExt cx="240" cy="336"/>
            </a:xfrm>
          </p:grpSpPr>
          <p:sp>
            <p:nvSpPr>
              <p:cNvPr id="639" name="AutoShape 89"/>
              <p:cNvSpPr>
                <a:spLocks noChangeArrowheads="1"/>
              </p:cNvSpPr>
              <p:nvPr/>
            </p:nvSpPr>
            <p:spPr bwMode="auto">
              <a:xfrm rot="5400000">
                <a:off x="864" y="2016"/>
                <a:ext cx="336" cy="240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33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640" name="Oval 90"/>
              <p:cNvSpPr>
                <a:spLocks noChangeArrowheads="1"/>
              </p:cNvSpPr>
              <p:nvPr/>
            </p:nvSpPr>
            <p:spPr bwMode="auto">
              <a:xfrm>
                <a:off x="1008" y="2208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638" name="Line 91"/>
            <p:cNvSpPr>
              <a:spLocks noChangeShapeType="1"/>
            </p:cNvSpPr>
            <p:nvPr/>
          </p:nvSpPr>
          <p:spPr bwMode="auto">
            <a:xfrm>
              <a:off x="288" y="384"/>
              <a:ext cx="240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</p:grpSp>
      <p:sp>
        <p:nvSpPr>
          <p:cNvPr id="641" name="Line 92"/>
          <p:cNvSpPr>
            <a:spLocks noChangeShapeType="1"/>
          </p:cNvSpPr>
          <p:nvPr/>
        </p:nvSpPr>
        <p:spPr bwMode="auto">
          <a:xfrm>
            <a:off x="1066800" y="2209800"/>
            <a:ext cx="9906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42" name="Oval 93"/>
          <p:cNvSpPr>
            <a:spLocks noChangeArrowheads="1"/>
          </p:cNvSpPr>
          <p:nvPr/>
        </p:nvSpPr>
        <p:spPr bwMode="auto">
          <a:xfrm>
            <a:off x="2014538" y="2171700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43" name="Line 94"/>
          <p:cNvSpPr>
            <a:spLocks noChangeShapeType="1"/>
          </p:cNvSpPr>
          <p:nvPr/>
        </p:nvSpPr>
        <p:spPr bwMode="auto">
          <a:xfrm>
            <a:off x="1219200" y="2438400"/>
            <a:ext cx="9906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44" name="Oval 95"/>
          <p:cNvSpPr>
            <a:spLocks noChangeArrowheads="1"/>
          </p:cNvSpPr>
          <p:nvPr/>
        </p:nvSpPr>
        <p:spPr bwMode="auto">
          <a:xfrm>
            <a:off x="2171700" y="2405063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45" name="Line 96"/>
          <p:cNvSpPr>
            <a:spLocks noChangeShapeType="1"/>
          </p:cNvSpPr>
          <p:nvPr/>
        </p:nvSpPr>
        <p:spPr bwMode="auto">
          <a:xfrm>
            <a:off x="1066800" y="2667000"/>
            <a:ext cx="6858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46" name="Line 97"/>
          <p:cNvSpPr>
            <a:spLocks noChangeShapeType="1"/>
          </p:cNvSpPr>
          <p:nvPr/>
        </p:nvSpPr>
        <p:spPr bwMode="auto">
          <a:xfrm>
            <a:off x="1219200" y="2895600"/>
            <a:ext cx="6858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47" name="Oval 98"/>
          <p:cNvSpPr>
            <a:spLocks noChangeArrowheads="1"/>
          </p:cNvSpPr>
          <p:nvPr/>
        </p:nvSpPr>
        <p:spPr bwMode="auto">
          <a:xfrm>
            <a:off x="1709738" y="2624138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48" name="Oval 99"/>
          <p:cNvSpPr>
            <a:spLocks noChangeArrowheads="1"/>
          </p:cNvSpPr>
          <p:nvPr/>
        </p:nvSpPr>
        <p:spPr bwMode="auto">
          <a:xfrm>
            <a:off x="1866900" y="2852738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49" name="Line 100"/>
          <p:cNvSpPr>
            <a:spLocks noChangeShapeType="1"/>
          </p:cNvSpPr>
          <p:nvPr/>
        </p:nvSpPr>
        <p:spPr bwMode="auto">
          <a:xfrm>
            <a:off x="1066800" y="3124200"/>
            <a:ext cx="14478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50" name="Line 101"/>
          <p:cNvSpPr>
            <a:spLocks noChangeShapeType="1"/>
          </p:cNvSpPr>
          <p:nvPr/>
        </p:nvSpPr>
        <p:spPr bwMode="auto">
          <a:xfrm>
            <a:off x="1219200" y="3352800"/>
            <a:ext cx="14478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51" name="Oval 102"/>
          <p:cNvSpPr>
            <a:spLocks noChangeArrowheads="1"/>
          </p:cNvSpPr>
          <p:nvPr/>
        </p:nvSpPr>
        <p:spPr bwMode="auto">
          <a:xfrm>
            <a:off x="2476500" y="3081338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52" name="Oval 103"/>
          <p:cNvSpPr>
            <a:spLocks noChangeArrowheads="1"/>
          </p:cNvSpPr>
          <p:nvPr/>
        </p:nvSpPr>
        <p:spPr bwMode="auto">
          <a:xfrm>
            <a:off x="2628900" y="3319463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53" name="Line 104"/>
          <p:cNvSpPr>
            <a:spLocks noChangeShapeType="1"/>
          </p:cNvSpPr>
          <p:nvPr/>
        </p:nvSpPr>
        <p:spPr bwMode="auto">
          <a:xfrm>
            <a:off x="1066800" y="3581400"/>
            <a:ext cx="21336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54" name="Line 105"/>
          <p:cNvSpPr>
            <a:spLocks noChangeShapeType="1"/>
          </p:cNvSpPr>
          <p:nvPr/>
        </p:nvSpPr>
        <p:spPr bwMode="auto">
          <a:xfrm>
            <a:off x="1219200" y="3810000"/>
            <a:ext cx="21336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55" name="Oval 106"/>
          <p:cNvSpPr>
            <a:spLocks noChangeArrowheads="1"/>
          </p:cNvSpPr>
          <p:nvPr/>
        </p:nvSpPr>
        <p:spPr bwMode="auto">
          <a:xfrm>
            <a:off x="3157538" y="3543300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56" name="Oval 107"/>
          <p:cNvSpPr>
            <a:spLocks noChangeArrowheads="1"/>
          </p:cNvSpPr>
          <p:nvPr/>
        </p:nvSpPr>
        <p:spPr bwMode="auto">
          <a:xfrm>
            <a:off x="3314700" y="3776663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57" name="Line 108"/>
          <p:cNvSpPr>
            <a:spLocks noChangeShapeType="1"/>
          </p:cNvSpPr>
          <p:nvPr/>
        </p:nvSpPr>
        <p:spPr bwMode="auto">
          <a:xfrm>
            <a:off x="3505200" y="3124200"/>
            <a:ext cx="4267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58" name="Line 109"/>
          <p:cNvSpPr>
            <a:spLocks noChangeShapeType="1"/>
          </p:cNvSpPr>
          <p:nvPr/>
        </p:nvSpPr>
        <p:spPr bwMode="auto">
          <a:xfrm>
            <a:off x="3657600" y="3352800"/>
            <a:ext cx="39624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59" name="Oval 110"/>
          <p:cNvSpPr>
            <a:spLocks noChangeArrowheads="1"/>
          </p:cNvSpPr>
          <p:nvPr/>
        </p:nvSpPr>
        <p:spPr bwMode="auto">
          <a:xfrm>
            <a:off x="3467100" y="3086100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60" name="Oval 111"/>
          <p:cNvSpPr>
            <a:spLocks noChangeArrowheads="1"/>
          </p:cNvSpPr>
          <p:nvPr/>
        </p:nvSpPr>
        <p:spPr bwMode="auto">
          <a:xfrm>
            <a:off x="3619500" y="3314700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61" name="Line 112"/>
          <p:cNvSpPr>
            <a:spLocks noChangeShapeType="1"/>
          </p:cNvSpPr>
          <p:nvPr/>
        </p:nvSpPr>
        <p:spPr bwMode="auto">
          <a:xfrm>
            <a:off x="3962400" y="3581400"/>
            <a:ext cx="38100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62" name="Line 113"/>
          <p:cNvSpPr>
            <a:spLocks noChangeShapeType="1"/>
          </p:cNvSpPr>
          <p:nvPr/>
        </p:nvSpPr>
        <p:spPr bwMode="auto">
          <a:xfrm>
            <a:off x="4114800" y="3810000"/>
            <a:ext cx="3505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63" name="Oval 114"/>
          <p:cNvSpPr>
            <a:spLocks noChangeArrowheads="1"/>
          </p:cNvSpPr>
          <p:nvPr/>
        </p:nvSpPr>
        <p:spPr bwMode="auto">
          <a:xfrm>
            <a:off x="3919538" y="3538538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64" name="Oval 115"/>
          <p:cNvSpPr>
            <a:spLocks noChangeArrowheads="1"/>
          </p:cNvSpPr>
          <p:nvPr/>
        </p:nvSpPr>
        <p:spPr bwMode="auto">
          <a:xfrm>
            <a:off x="4081463" y="3771900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65" name="Line 116"/>
          <p:cNvSpPr>
            <a:spLocks noChangeShapeType="1"/>
          </p:cNvSpPr>
          <p:nvPr/>
        </p:nvSpPr>
        <p:spPr bwMode="auto">
          <a:xfrm flipH="1">
            <a:off x="533400" y="4114800"/>
            <a:ext cx="67818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66" name="Line 117"/>
          <p:cNvSpPr>
            <a:spLocks noChangeShapeType="1"/>
          </p:cNvSpPr>
          <p:nvPr/>
        </p:nvSpPr>
        <p:spPr bwMode="auto">
          <a:xfrm flipH="1">
            <a:off x="533400" y="4343400"/>
            <a:ext cx="67818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67" name="Line 118"/>
          <p:cNvSpPr>
            <a:spLocks noChangeShapeType="1"/>
          </p:cNvSpPr>
          <p:nvPr/>
        </p:nvSpPr>
        <p:spPr bwMode="auto">
          <a:xfrm flipH="1">
            <a:off x="533400" y="4572000"/>
            <a:ext cx="67818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grpSp>
        <p:nvGrpSpPr>
          <p:cNvPr id="668" name="Group 119"/>
          <p:cNvGrpSpPr>
            <a:grpSpLocks/>
          </p:cNvGrpSpPr>
          <p:nvPr/>
        </p:nvGrpSpPr>
        <p:grpSpPr bwMode="auto">
          <a:xfrm flipH="1">
            <a:off x="7543800" y="2133600"/>
            <a:ext cx="762000" cy="381000"/>
            <a:chOff x="288" y="240"/>
            <a:chExt cx="480" cy="336"/>
          </a:xfrm>
        </p:grpSpPr>
        <p:grpSp>
          <p:nvGrpSpPr>
            <p:cNvPr id="669" name="Group 120"/>
            <p:cNvGrpSpPr>
              <a:grpSpLocks/>
            </p:cNvGrpSpPr>
            <p:nvPr/>
          </p:nvGrpSpPr>
          <p:grpSpPr bwMode="auto">
            <a:xfrm>
              <a:off x="528" y="240"/>
              <a:ext cx="240" cy="336"/>
              <a:chOff x="912" y="1968"/>
              <a:chExt cx="240" cy="336"/>
            </a:xfrm>
          </p:grpSpPr>
          <p:sp>
            <p:nvSpPr>
              <p:cNvPr id="671" name="AutoShape 121"/>
              <p:cNvSpPr>
                <a:spLocks noChangeArrowheads="1"/>
              </p:cNvSpPr>
              <p:nvPr/>
            </p:nvSpPr>
            <p:spPr bwMode="auto">
              <a:xfrm rot="5400000">
                <a:off x="864" y="2016"/>
                <a:ext cx="336" cy="240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33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672" name="Oval 122"/>
              <p:cNvSpPr>
                <a:spLocks noChangeArrowheads="1"/>
              </p:cNvSpPr>
              <p:nvPr/>
            </p:nvSpPr>
            <p:spPr bwMode="auto">
              <a:xfrm>
                <a:off x="1008" y="2208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670" name="Line 123"/>
            <p:cNvSpPr>
              <a:spLocks noChangeShapeType="1"/>
            </p:cNvSpPr>
            <p:nvPr/>
          </p:nvSpPr>
          <p:spPr bwMode="auto">
            <a:xfrm>
              <a:off x="288" y="384"/>
              <a:ext cx="240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673" name="Group 124"/>
          <p:cNvGrpSpPr>
            <a:grpSpLocks/>
          </p:cNvGrpSpPr>
          <p:nvPr/>
        </p:nvGrpSpPr>
        <p:grpSpPr bwMode="auto">
          <a:xfrm flipH="1">
            <a:off x="7543800" y="2590800"/>
            <a:ext cx="762000" cy="381000"/>
            <a:chOff x="288" y="240"/>
            <a:chExt cx="480" cy="336"/>
          </a:xfrm>
        </p:grpSpPr>
        <p:grpSp>
          <p:nvGrpSpPr>
            <p:cNvPr id="674" name="Group 125"/>
            <p:cNvGrpSpPr>
              <a:grpSpLocks/>
            </p:cNvGrpSpPr>
            <p:nvPr/>
          </p:nvGrpSpPr>
          <p:grpSpPr bwMode="auto">
            <a:xfrm>
              <a:off x="528" y="240"/>
              <a:ext cx="240" cy="336"/>
              <a:chOff x="912" y="1968"/>
              <a:chExt cx="240" cy="336"/>
            </a:xfrm>
          </p:grpSpPr>
          <p:sp>
            <p:nvSpPr>
              <p:cNvPr id="676" name="AutoShape 126"/>
              <p:cNvSpPr>
                <a:spLocks noChangeArrowheads="1"/>
              </p:cNvSpPr>
              <p:nvPr/>
            </p:nvSpPr>
            <p:spPr bwMode="auto">
              <a:xfrm rot="5400000">
                <a:off x="864" y="2016"/>
                <a:ext cx="336" cy="240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33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677" name="Oval 127"/>
              <p:cNvSpPr>
                <a:spLocks noChangeArrowheads="1"/>
              </p:cNvSpPr>
              <p:nvPr/>
            </p:nvSpPr>
            <p:spPr bwMode="auto">
              <a:xfrm>
                <a:off x="1008" y="2208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675" name="Line 128"/>
            <p:cNvSpPr>
              <a:spLocks noChangeShapeType="1"/>
            </p:cNvSpPr>
            <p:nvPr/>
          </p:nvSpPr>
          <p:spPr bwMode="auto">
            <a:xfrm>
              <a:off x="288" y="384"/>
              <a:ext cx="240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itchFamily="18" charset="0"/>
                <a:ea typeface="+mn-ea"/>
              </a:endParaRPr>
            </a:p>
          </p:txBody>
        </p:sp>
      </p:grpSp>
      <p:sp>
        <p:nvSpPr>
          <p:cNvPr id="678" name="Line 129"/>
          <p:cNvSpPr>
            <a:spLocks noChangeShapeType="1"/>
          </p:cNvSpPr>
          <p:nvPr/>
        </p:nvSpPr>
        <p:spPr bwMode="auto">
          <a:xfrm>
            <a:off x="5791200" y="2209800"/>
            <a:ext cx="19812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79" name="Line 130"/>
          <p:cNvSpPr>
            <a:spLocks noChangeShapeType="1"/>
          </p:cNvSpPr>
          <p:nvPr/>
        </p:nvSpPr>
        <p:spPr bwMode="auto">
          <a:xfrm>
            <a:off x="5943600" y="2438400"/>
            <a:ext cx="16764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80" name="Line 131"/>
          <p:cNvSpPr>
            <a:spLocks noChangeShapeType="1"/>
          </p:cNvSpPr>
          <p:nvPr/>
        </p:nvSpPr>
        <p:spPr bwMode="auto">
          <a:xfrm>
            <a:off x="6096000" y="2667000"/>
            <a:ext cx="16764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81" name="Line 132"/>
          <p:cNvSpPr>
            <a:spLocks noChangeShapeType="1"/>
          </p:cNvSpPr>
          <p:nvPr/>
        </p:nvSpPr>
        <p:spPr bwMode="auto">
          <a:xfrm>
            <a:off x="6248400" y="2895600"/>
            <a:ext cx="13716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82" name="Oval 133"/>
          <p:cNvSpPr>
            <a:spLocks noChangeArrowheads="1"/>
          </p:cNvSpPr>
          <p:nvPr/>
        </p:nvSpPr>
        <p:spPr bwMode="auto">
          <a:xfrm>
            <a:off x="5748338" y="2162175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83" name="Oval 134"/>
          <p:cNvSpPr>
            <a:spLocks noChangeArrowheads="1"/>
          </p:cNvSpPr>
          <p:nvPr/>
        </p:nvSpPr>
        <p:spPr bwMode="auto">
          <a:xfrm>
            <a:off x="5900738" y="2390775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84" name="Oval 135"/>
          <p:cNvSpPr>
            <a:spLocks noChangeArrowheads="1"/>
          </p:cNvSpPr>
          <p:nvPr/>
        </p:nvSpPr>
        <p:spPr bwMode="auto">
          <a:xfrm>
            <a:off x="6057900" y="2633663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85" name="Oval 136"/>
          <p:cNvSpPr>
            <a:spLocks noChangeArrowheads="1"/>
          </p:cNvSpPr>
          <p:nvPr/>
        </p:nvSpPr>
        <p:spPr bwMode="auto">
          <a:xfrm>
            <a:off x="6210300" y="2862263"/>
            <a:ext cx="76200" cy="76200"/>
          </a:xfrm>
          <a:prstGeom prst="ellipse">
            <a:avLst/>
          </a:prstGeom>
          <a:solidFill>
            <a:srgbClr val="003399"/>
          </a:solidFill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86" name="Line 137"/>
          <p:cNvSpPr>
            <a:spLocks noChangeShapeType="1"/>
          </p:cNvSpPr>
          <p:nvPr/>
        </p:nvSpPr>
        <p:spPr bwMode="auto">
          <a:xfrm>
            <a:off x="8453438" y="4471988"/>
            <a:ext cx="533400" cy="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sp>
        <p:nvSpPr>
          <p:cNvPr id="687" name="Text Box 138"/>
          <p:cNvSpPr txBox="1">
            <a:spLocks noChangeArrowheads="1"/>
          </p:cNvSpPr>
          <p:nvPr/>
        </p:nvSpPr>
        <p:spPr bwMode="auto">
          <a:xfrm>
            <a:off x="228600" y="1981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A</a:t>
            </a:r>
          </a:p>
        </p:txBody>
      </p:sp>
      <p:sp>
        <p:nvSpPr>
          <p:cNvPr id="688" name="Text Box 139"/>
          <p:cNvSpPr txBox="1">
            <a:spLocks noChangeArrowheads="1"/>
          </p:cNvSpPr>
          <p:nvPr/>
        </p:nvSpPr>
        <p:spPr bwMode="auto">
          <a:xfrm>
            <a:off x="228600" y="2438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B</a:t>
            </a:r>
          </a:p>
        </p:txBody>
      </p:sp>
      <p:sp>
        <p:nvSpPr>
          <p:cNvPr id="689" name="Text Box 140"/>
          <p:cNvSpPr txBox="1">
            <a:spLocks noChangeArrowheads="1"/>
          </p:cNvSpPr>
          <p:nvPr/>
        </p:nvSpPr>
        <p:spPr bwMode="auto">
          <a:xfrm>
            <a:off x="228600" y="2895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C</a:t>
            </a:r>
          </a:p>
        </p:txBody>
      </p:sp>
      <p:sp>
        <p:nvSpPr>
          <p:cNvPr id="690" name="Text Box 141"/>
          <p:cNvSpPr txBox="1">
            <a:spLocks noChangeArrowheads="1"/>
          </p:cNvSpPr>
          <p:nvPr/>
        </p:nvSpPr>
        <p:spPr bwMode="auto">
          <a:xfrm>
            <a:off x="228600" y="3352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D</a:t>
            </a:r>
          </a:p>
        </p:txBody>
      </p:sp>
      <p:sp>
        <p:nvSpPr>
          <p:cNvPr id="691" name="Text Box 142"/>
          <p:cNvSpPr txBox="1">
            <a:spLocks noChangeArrowheads="1"/>
          </p:cNvSpPr>
          <p:nvPr/>
        </p:nvSpPr>
        <p:spPr bwMode="auto">
          <a:xfrm>
            <a:off x="8305800" y="1981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G</a:t>
            </a:r>
          </a:p>
        </p:txBody>
      </p:sp>
      <p:sp>
        <p:nvSpPr>
          <p:cNvPr id="692" name="Text Box 143"/>
          <p:cNvSpPr txBox="1">
            <a:spLocks noChangeArrowheads="1"/>
          </p:cNvSpPr>
          <p:nvPr/>
        </p:nvSpPr>
        <p:spPr bwMode="auto">
          <a:xfrm>
            <a:off x="8305800" y="2438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H</a:t>
            </a:r>
          </a:p>
        </p:txBody>
      </p:sp>
      <p:sp>
        <p:nvSpPr>
          <p:cNvPr id="693" name="Text Box 144"/>
          <p:cNvSpPr txBox="1">
            <a:spLocks noChangeArrowheads="1"/>
          </p:cNvSpPr>
          <p:nvPr/>
        </p:nvSpPr>
        <p:spPr bwMode="auto">
          <a:xfrm>
            <a:off x="8305800" y="2895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I</a:t>
            </a:r>
          </a:p>
        </p:txBody>
      </p:sp>
      <p:sp>
        <p:nvSpPr>
          <p:cNvPr id="694" name="Text Box 145"/>
          <p:cNvSpPr txBox="1">
            <a:spLocks noChangeArrowheads="1"/>
          </p:cNvSpPr>
          <p:nvPr/>
        </p:nvSpPr>
        <p:spPr bwMode="auto">
          <a:xfrm>
            <a:off x="8305800" y="3352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J</a:t>
            </a:r>
          </a:p>
        </p:txBody>
      </p:sp>
      <p:sp>
        <p:nvSpPr>
          <p:cNvPr id="695" name="Text Box 146"/>
          <p:cNvSpPr txBox="1">
            <a:spLocks noChangeArrowheads="1"/>
          </p:cNvSpPr>
          <p:nvPr/>
        </p:nvSpPr>
        <p:spPr bwMode="auto">
          <a:xfrm>
            <a:off x="8534400" y="40386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3399"/>
                </a:solidFill>
                <a:latin typeface="Times New Roman" pitchFamily="18" charset="0"/>
                <a:ea typeface="+mn-ea"/>
              </a:rPr>
              <a:t>P</a:t>
            </a:r>
          </a:p>
        </p:txBody>
      </p:sp>
      <p:sp>
        <p:nvSpPr>
          <p:cNvPr id="696" name="Line 147"/>
          <p:cNvSpPr>
            <a:spLocks noChangeShapeType="1"/>
          </p:cNvSpPr>
          <p:nvPr/>
        </p:nvSpPr>
        <p:spPr bwMode="auto">
          <a:xfrm flipH="1">
            <a:off x="533400" y="4800600"/>
            <a:ext cx="6781800" cy="0"/>
          </a:xfrm>
          <a:prstGeom prst="line">
            <a:avLst/>
          </a:prstGeom>
          <a:noFill/>
          <a:ln w="9525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itchFamily="18" charset="0"/>
              <a:ea typeface="+mn-ea"/>
            </a:endParaRPr>
          </a:p>
        </p:txBody>
      </p:sp>
      <p:grpSp>
        <p:nvGrpSpPr>
          <p:cNvPr id="697" name="Group 148"/>
          <p:cNvGrpSpPr>
            <a:grpSpLocks/>
          </p:cNvGrpSpPr>
          <p:nvPr/>
        </p:nvGrpSpPr>
        <p:grpSpPr bwMode="auto">
          <a:xfrm>
            <a:off x="2133600" y="3962400"/>
            <a:ext cx="152400" cy="228600"/>
            <a:chOff x="1776" y="3504"/>
            <a:chExt cx="96" cy="144"/>
          </a:xfrm>
        </p:grpSpPr>
        <p:sp>
          <p:nvSpPr>
            <p:cNvPr id="698" name="Line 149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699" name="Line 150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sp>
        <p:nvSpPr>
          <p:cNvPr id="700" name="Text Box 151"/>
          <p:cNvSpPr txBox="1">
            <a:spLocks noChangeArrowheads="1"/>
          </p:cNvSpPr>
          <p:nvPr/>
        </p:nvSpPr>
        <p:spPr bwMode="auto">
          <a:xfrm>
            <a:off x="1295400" y="5334000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3399"/>
                </a:solidFill>
                <a:latin typeface="Times New Roman" pitchFamily="18" charset="0"/>
                <a:ea typeface="+mn-ea"/>
              </a:rPr>
              <a:t>P’ = </a:t>
            </a:r>
            <a:r>
              <a:rPr lang="en-US" altLang="en-US" b="1">
                <a:solidFill>
                  <a:srgbClr val="FF3300"/>
                </a:solidFill>
                <a:latin typeface="Times New Roman" pitchFamily="18" charset="0"/>
                <a:ea typeface="+mn-ea"/>
              </a:rPr>
              <a:t>A’BGH’</a:t>
            </a:r>
            <a:r>
              <a:rPr lang="en-US" altLang="en-US" b="1">
                <a:solidFill>
                  <a:srgbClr val="003399"/>
                </a:solidFill>
                <a:latin typeface="Times New Roman" pitchFamily="18" charset="0"/>
                <a:ea typeface="+mn-ea"/>
              </a:rPr>
              <a:t>  + </a:t>
            </a:r>
            <a:r>
              <a:rPr lang="en-US" altLang="en-US" b="1">
                <a:solidFill>
                  <a:srgbClr val="3333FF"/>
                </a:solidFill>
                <a:latin typeface="Times New Roman" pitchFamily="18" charset="0"/>
                <a:ea typeface="+mn-ea"/>
              </a:rPr>
              <a:t> CD’ </a:t>
            </a:r>
            <a:r>
              <a:rPr lang="en-US" altLang="en-US" b="1">
                <a:solidFill>
                  <a:srgbClr val="003399"/>
                </a:solidFill>
                <a:latin typeface="Times New Roman" pitchFamily="18" charset="0"/>
                <a:ea typeface="+mn-ea"/>
              </a:rPr>
              <a:t> +  </a:t>
            </a:r>
            <a:r>
              <a:rPr lang="en-US" altLang="en-US" b="1">
                <a:solidFill>
                  <a:srgbClr val="339933"/>
                </a:solidFill>
                <a:latin typeface="Times New Roman" pitchFamily="18" charset="0"/>
                <a:ea typeface="+mn-ea"/>
              </a:rPr>
              <a:t>HIJ</a:t>
            </a:r>
            <a:r>
              <a:rPr lang="en-US" altLang="en-US" b="1">
                <a:solidFill>
                  <a:srgbClr val="003399"/>
                </a:solidFill>
                <a:latin typeface="Times New Roman" pitchFamily="18" charset="0"/>
                <a:ea typeface="+mn-ea"/>
              </a:rPr>
              <a:t> + </a:t>
            </a:r>
            <a:r>
              <a:rPr lang="en-US" altLang="en-US" b="1">
                <a:solidFill>
                  <a:srgbClr val="996633"/>
                </a:solidFill>
                <a:latin typeface="Times New Roman" pitchFamily="18" charset="0"/>
                <a:ea typeface="+mn-ea"/>
              </a:rPr>
              <a:t>BG’H</a:t>
            </a:r>
            <a:endParaRPr lang="en-US" altLang="en-US" b="1">
              <a:solidFill>
                <a:srgbClr val="003399"/>
              </a:solidFill>
              <a:latin typeface="Times New Roman" pitchFamily="18" charset="0"/>
              <a:ea typeface="+mn-ea"/>
            </a:endParaRPr>
          </a:p>
        </p:txBody>
      </p:sp>
      <p:grpSp>
        <p:nvGrpSpPr>
          <p:cNvPr id="701" name="Group 152"/>
          <p:cNvGrpSpPr>
            <a:grpSpLocks/>
          </p:cNvGrpSpPr>
          <p:nvPr/>
        </p:nvGrpSpPr>
        <p:grpSpPr bwMode="auto">
          <a:xfrm>
            <a:off x="1676400" y="3962400"/>
            <a:ext cx="152400" cy="228600"/>
            <a:chOff x="1776" y="3504"/>
            <a:chExt cx="96" cy="144"/>
          </a:xfrm>
        </p:grpSpPr>
        <p:sp>
          <p:nvSpPr>
            <p:cNvPr id="702" name="Line 153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03" name="Line 154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704" name="Group 155"/>
          <p:cNvGrpSpPr>
            <a:grpSpLocks/>
          </p:cNvGrpSpPr>
          <p:nvPr/>
        </p:nvGrpSpPr>
        <p:grpSpPr bwMode="auto">
          <a:xfrm>
            <a:off x="5715000" y="3962400"/>
            <a:ext cx="152400" cy="228600"/>
            <a:chOff x="1776" y="3504"/>
            <a:chExt cx="96" cy="144"/>
          </a:xfrm>
        </p:grpSpPr>
        <p:sp>
          <p:nvSpPr>
            <p:cNvPr id="705" name="Line 156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06" name="Line 157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707" name="Group 158"/>
          <p:cNvGrpSpPr>
            <a:grpSpLocks/>
          </p:cNvGrpSpPr>
          <p:nvPr/>
        </p:nvGrpSpPr>
        <p:grpSpPr bwMode="auto">
          <a:xfrm>
            <a:off x="6172200" y="3962400"/>
            <a:ext cx="152400" cy="228600"/>
            <a:chOff x="1776" y="3504"/>
            <a:chExt cx="96" cy="144"/>
          </a:xfrm>
        </p:grpSpPr>
        <p:sp>
          <p:nvSpPr>
            <p:cNvPr id="708" name="Line 159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09" name="Line 160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710" name="Group 161"/>
          <p:cNvGrpSpPr>
            <a:grpSpLocks/>
          </p:cNvGrpSpPr>
          <p:nvPr/>
        </p:nvGrpSpPr>
        <p:grpSpPr bwMode="auto">
          <a:xfrm>
            <a:off x="2438400" y="4191000"/>
            <a:ext cx="152400" cy="228600"/>
            <a:chOff x="1776" y="3504"/>
            <a:chExt cx="96" cy="144"/>
          </a:xfrm>
        </p:grpSpPr>
        <p:sp>
          <p:nvSpPr>
            <p:cNvPr id="711" name="Line 162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12" name="Line 163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713" name="Group 164"/>
          <p:cNvGrpSpPr>
            <a:grpSpLocks/>
          </p:cNvGrpSpPr>
          <p:nvPr/>
        </p:nvGrpSpPr>
        <p:grpSpPr bwMode="auto">
          <a:xfrm>
            <a:off x="3276600" y="4191000"/>
            <a:ext cx="152400" cy="228600"/>
            <a:chOff x="1776" y="3504"/>
            <a:chExt cx="96" cy="144"/>
          </a:xfrm>
        </p:grpSpPr>
        <p:sp>
          <p:nvSpPr>
            <p:cNvPr id="714" name="Line 165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15" name="Line 166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716" name="Group 167"/>
          <p:cNvGrpSpPr>
            <a:grpSpLocks/>
          </p:cNvGrpSpPr>
          <p:nvPr/>
        </p:nvGrpSpPr>
        <p:grpSpPr bwMode="auto">
          <a:xfrm>
            <a:off x="6019800" y="4419600"/>
            <a:ext cx="152400" cy="228600"/>
            <a:chOff x="1776" y="3504"/>
            <a:chExt cx="96" cy="144"/>
          </a:xfrm>
        </p:grpSpPr>
        <p:sp>
          <p:nvSpPr>
            <p:cNvPr id="717" name="Line 168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18" name="Line 169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719" name="Group 170"/>
          <p:cNvGrpSpPr>
            <a:grpSpLocks/>
          </p:cNvGrpSpPr>
          <p:nvPr/>
        </p:nvGrpSpPr>
        <p:grpSpPr bwMode="auto">
          <a:xfrm>
            <a:off x="3429000" y="4419600"/>
            <a:ext cx="152400" cy="228600"/>
            <a:chOff x="1776" y="3504"/>
            <a:chExt cx="96" cy="144"/>
          </a:xfrm>
        </p:grpSpPr>
        <p:sp>
          <p:nvSpPr>
            <p:cNvPr id="720" name="Line 171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21" name="Line 172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722" name="Group 173"/>
          <p:cNvGrpSpPr>
            <a:grpSpLocks/>
          </p:cNvGrpSpPr>
          <p:nvPr/>
        </p:nvGrpSpPr>
        <p:grpSpPr bwMode="auto">
          <a:xfrm>
            <a:off x="3886200" y="4419600"/>
            <a:ext cx="152400" cy="228600"/>
            <a:chOff x="1776" y="3504"/>
            <a:chExt cx="96" cy="144"/>
          </a:xfrm>
        </p:grpSpPr>
        <p:sp>
          <p:nvSpPr>
            <p:cNvPr id="723" name="Line 174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24" name="Line 175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725" name="Group 176"/>
          <p:cNvGrpSpPr>
            <a:grpSpLocks/>
          </p:cNvGrpSpPr>
          <p:nvPr/>
        </p:nvGrpSpPr>
        <p:grpSpPr bwMode="auto">
          <a:xfrm>
            <a:off x="1676400" y="4648200"/>
            <a:ext cx="152400" cy="228600"/>
            <a:chOff x="1776" y="3504"/>
            <a:chExt cx="96" cy="144"/>
          </a:xfrm>
        </p:grpSpPr>
        <p:sp>
          <p:nvSpPr>
            <p:cNvPr id="726" name="Line 177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27" name="Line 178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728" name="Group 179"/>
          <p:cNvGrpSpPr>
            <a:grpSpLocks/>
          </p:cNvGrpSpPr>
          <p:nvPr/>
        </p:nvGrpSpPr>
        <p:grpSpPr bwMode="auto">
          <a:xfrm>
            <a:off x="5867400" y="4648200"/>
            <a:ext cx="152400" cy="228600"/>
            <a:chOff x="1776" y="3504"/>
            <a:chExt cx="96" cy="144"/>
          </a:xfrm>
        </p:grpSpPr>
        <p:sp>
          <p:nvSpPr>
            <p:cNvPr id="729" name="Line 180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30" name="Line 181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  <p:grpSp>
        <p:nvGrpSpPr>
          <p:cNvPr id="731" name="Group 182"/>
          <p:cNvGrpSpPr>
            <a:grpSpLocks/>
          </p:cNvGrpSpPr>
          <p:nvPr/>
        </p:nvGrpSpPr>
        <p:grpSpPr bwMode="auto">
          <a:xfrm>
            <a:off x="6019800" y="4648200"/>
            <a:ext cx="152400" cy="228600"/>
            <a:chOff x="1776" y="3504"/>
            <a:chExt cx="96" cy="144"/>
          </a:xfrm>
        </p:grpSpPr>
        <p:sp>
          <p:nvSpPr>
            <p:cNvPr id="732" name="Line 183"/>
            <p:cNvSpPr>
              <a:spLocks noChangeShapeType="1"/>
            </p:cNvSpPr>
            <p:nvPr/>
          </p:nvSpPr>
          <p:spPr bwMode="auto">
            <a:xfrm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733" name="Line 184"/>
            <p:cNvSpPr>
              <a:spLocks noChangeShapeType="1"/>
            </p:cNvSpPr>
            <p:nvPr/>
          </p:nvSpPr>
          <p:spPr bwMode="auto">
            <a:xfrm flipV="1">
              <a:off x="1776" y="3504"/>
              <a:ext cx="96" cy="144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3399"/>
                </a:solidFill>
                <a:latin typeface="Times New Roman" pitchFamily="18" charset="0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799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1990725"/>
            <a:ext cx="7772400" cy="1362075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CPLD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4540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CPLD</a:t>
            </a:r>
            <a:endParaRPr lang="en-US" dirty="0"/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PALs and GALs are available only in small sizes</a:t>
            </a:r>
          </a:p>
          <a:p>
            <a:pPr lvl="1"/>
            <a:r>
              <a:rPr lang="en-US" altLang="en-US" sz="2000" dirty="0"/>
              <a:t>equivalent to a few hundred logic gates</a:t>
            </a:r>
          </a:p>
          <a:p>
            <a:r>
              <a:rPr lang="en-US" altLang="en-US" sz="2400" dirty="0"/>
              <a:t>For bigger logic circuits, complex PLDs or CPLDs can be used. </a:t>
            </a:r>
          </a:p>
          <a:p>
            <a:r>
              <a:rPr lang="en-US" altLang="en-US" sz="2400" dirty="0"/>
              <a:t>CPLDs contain the equivalent of several PALs/GALs </a:t>
            </a:r>
          </a:p>
          <a:p>
            <a:pPr lvl="1"/>
            <a:r>
              <a:rPr lang="en-US" altLang="en-US" sz="2000" dirty="0"/>
              <a:t>linked by programmable interconnections</a:t>
            </a:r>
          </a:p>
          <a:p>
            <a:pPr lvl="1"/>
            <a:r>
              <a:rPr lang="en-US" altLang="en-US" sz="2000" dirty="0"/>
              <a:t>all in one integrated circuit (IC)</a:t>
            </a:r>
          </a:p>
          <a:p>
            <a:r>
              <a:rPr lang="en-US" altLang="en-US" sz="2400" dirty="0"/>
              <a:t>CPLDs can replace thousands, or even hundreds of thousands, of individual logic gates </a:t>
            </a:r>
          </a:p>
          <a:p>
            <a:pPr lvl="1"/>
            <a:r>
              <a:rPr lang="en-US" altLang="en-US" sz="2000" dirty="0"/>
              <a:t>increased integration density</a:t>
            </a:r>
            <a:endParaRPr lang="en-US" sz="2000" dirty="0"/>
          </a:p>
          <a:p>
            <a:endParaRPr lang="en-US" sz="24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86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CPLD</a:t>
            </a:r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812204"/>
            <a:ext cx="4800600" cy="4452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CPL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2" y="1295401"/>
            <a:ext cx="4457974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ight Arrow 1"/>
          <p:cNvSpPr/>
          <p:nvPr/>
        </p:nvSpPr>
        <p:spPr bwMode="auto">
          <a:xfrm rot="860953">
            <a:off x="2932658" y="4580945"/>
            <a:ext cx="1948384" cy="685800"/>
          </a:xfrm>
          <a:prstGeom prst="rightArrow">
            <a:avLst>
              <a:gd name="adj1" fmla="val 36459"/>
              <a:gd name="adj2" fmla="val 5000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-6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2708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sz="4000" dirty="0"/>
              <a:t>Programmable Interconnect Array</a:t>
            </a:r>
            <a:endParaRPr lang="en-US" sz="4000" dirty="0"/>
          </a:p>
        </p:txBody>
      </p:sp>
      <p:sp>
        <p:nvSpPr>
          <p:cNvPr id="3075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648200"/>
          </a:xfrm>
        </p:spPr>
        <p:txBody>
          <a:bodyPr/>
          <a:lstStyle/>
          <a:p>
            <a:r>
              <a:rPr lang="en-US" altLang="en-US" sz="2800" dirty="0"/>
              <a:t>Consists of connectors that run throughout the CPLD to connect the </a:t>
            </a:r>
            <a:r>
              <a:rPr lang="en-US" altLang="en-US" sz="2800" dirty="0" err="1"/>
              <a:t>macrocells</a:t>
            </a:r>
            <a:r>
              <a:rPr lang="en-US" altLang="en-US" sz="2800" dirty="0"/>
              <a:t> in each LAB</a:t>
            </a:r>
          </a:p>
          <a:p>
            <a:r>
              <a:rPr lang="en-US" altLang="en-US" sz="2800" dirty="0"/>
              <a:t>The PIA also connects the AND gate and other elements of the </a:t>
            </a:r>
            <a:r>
              <a:rPr lang="en-US" altLang="en-US" sz="2800" dirty="0" err="1"/>
              <a:t>macrocells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Mahdi Aminian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6" name="Picture 5" descr="05-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581400"/>
            <a:ext cx="5486400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2708535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14216</TotalTime>
  <Words>1467</Words>
  <Application>Microsoft Macintosh PowerPoint</Application>
  <PresentationFormat>On-screen Show (4:3)</PresentationFormat>
  <Paragraphs>405</Paragraphs>
  <Slides>36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CommonBullets</vt:lpstr>
      <vt:lpstr>Helv</vt:lpstr>
      <vt:lpstr>Helvetica</vt:lpstr>
      <vt:lpstr>System</vt:lpstr>
      <vt:lpstr>Times New Roman</vt:lpstr>
      <vt:lpstr>Times-Roman</vt:lpstr>
      <vt:lpstr>Blank Presentation</vt:lpstr>
      <vt:lpstr>Artwork</vt:lpstr>
      <vt:lpstr>Equation</vt:lpstr>
      <vt:lpstr>Computer-Aided Design    تراشه های منطقی برنامه پذیر</vt:lpstr>
      <vt:lpstr>Digital Circuits</vt:lpstr>
      <vt:lpstr>Full Custom</vt:lpstr>
      <vt:lpstr>ASIC (Application Specific IC)</vt:lpstr>
      <vt:lpstr>سلول های استاندارد</vt:lpstr>
      <vt:lpstr>Mixed </vt:lpstr>
      <vt:lpstr>Gate Array (Uncommitted)</vt:lpstr>
      <vt:lpstr>Gate Array (Committed)</vt:lpstr>
      <vt:lpstr>Programmable Logic Device</vt:lpstr>
      <vt:lpstr>Digital Technology Tradeoffs</vt:lpstr>
      <vt:lpstr>“Programmable”</vt:lpstr>
      <vt:lpstr>“Programmable”?</vt:lpstr>
      <vt:lpstr>Antifuse</vt:lpstr>
      <vt:lpstr>Antifuse</vt:lpstr>
      <vt:lpstr>Programmable ROM (PROM)</vt:lpstr>
      <vt:lpstr>UV EPROM</vt:lpstr>
      <vt:lpstr>EEPROM</vt:lpstr>
      <vt:lpstr>EPROM/EEPROM/Flash</vt:lpstr>
      <vt:lpstr>SRAM</vt:lpstr>
      <vt:lpstr>SRAM</vt:lpstr>
      <vt:lpstr>Programmable Logic Device (PLD)</vt:lpstr>
      <vt:lpstr>Three FPLD Types</vt:lpstr>
      <vt:lpstr>SPLD</vt:lpstr>
      <vt:lpstr>Simple PLD (SPLD)</vt:lpstr>
      <vt:lpstr>PLA &amp; PAL</vt:lpstr>
      <vt:lpstr>SPLD - PLA</vt:lpstr>
      <vt:lpstr>SPLD - PAL</vt:lpstr>
      <vt:lpstr>SPLD - PAL</vt:lpstr>
      <vt:lpstr>SPLD - PAL</vt:lpstr>
      <vt:lpstr>PAL Outputs</vt:lpstr>
      <vt:lpstr>PAL Product Terms</vt:lpstr>
      <vt:lpstr>PAL Example</vt:lpstr>
      <vt:lpstr>CPLD</vt:lpstr>
      <vt:lpstr>CPLD</vt:lpstr>
      <vt:lpstr>CPLD</vt:lpstr>
      <vt:lpstr>Programmable Interconnect Array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Microsoft Office User</cp:lastModifiedBy>
  <cp:revision>663</cp:revision>
  <cp:lastPrinted>2019-09-23T19:13:06Z</cp:lastPrinted>
  <dcterms:created xsi:type="dcterms:W3CDTF">2009-11-03T19:03:43Z</dcterms:created>
  <dcterms:modified xsi:type="dcterms:W3CDTF">2020-09-28T07:31:14Z</dcterms:modified>
</cp:coreProperties>
</file>