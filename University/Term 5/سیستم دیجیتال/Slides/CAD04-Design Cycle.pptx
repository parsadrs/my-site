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8" r:id="rId2"/>
    <p:sldId id="524" r:id="rId3"/>
    <p:sldId id="516" r:id="rId4"/>
    <p:sldId id="574" r:id="rId5"/>
    <p:sldId id="575" r:id="rId6"/>
    <p:sldId id="535" r:id="rId7"/>
    <p:sldId id="540" r:id="rId8"/>
    <p:sldId id="541" r:id="rId9"/>
    <p:sldId id="542" r:id="rId10"/>
    <p:sldId id="543" r:id="rId11"/>
    <p:sldId id="544" r:id="rId12"/>
    <p:sldId id="567" r:id="rId13"/>
    <p:sldId id="576" r:id="rId14"/>
    <p:sldId id="577" r:id="rId15"/>
    <p:sldId id="578" r:id="rId16"/>
    <p:sldId id="579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76" autoAdjust="0"/>
    <p:restoredTop sz="96441" autoAdjust="0"/>
  </p:normalViewPr>
  <p:slideViewPr>
    <p:cSldViewPr>
      <p:cViewPr>
        <p:scale>
          <a:sx n="70" d="100"/>
          <a:sy n="70" d="100"/>
        </p:scale>
        <p:origin x="-1320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-266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1F03B7-E3BF-40F2-ADDC-6E1D7F1CA8D5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3AD05-09B9-40E3-AE39-E644A0E36E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95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fld id="{00AFF51F-A535-4BB3-9A7D-F6E9C3D0AB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667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363DD2-35CD-4EE1-8D23-F5E51EE2026C}" type="slidenum">
              <a:rPr lang="en-US" smtClean="0">
                <a:ea typeface="ＭＳ Ｐゴシック" pitchFamily="34" charset="-128"/>
              </a:rPr>
              <a:pPr/>
              <a:t>1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3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4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13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14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15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16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457200"/>
          </a:xfrm>
          <a:ln/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8" name="Line 7"/>
          <p:cNvSpPr>
            <a:spLocks noChangeShapeType="1"/>
          </p:cNvSpPr>
          <p:nvPr userDrawn="1"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pitchFamily="-64" charset="-128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848600" y="6248400"/>
            <a:ext cx="6096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Rectangle 5"/>
          <p:cNvSpPr txBox="1">
            <a:spLocks noChangeArrowheads="1"/>
          </p:cNvSpPr>
          <p:nvPr userDrawn="1"/>
        </p:nvSpPr>
        <p:spPr bwMode="auto">
          <a:xfrm>
            <a:off x="76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ＭＳ Ｐゴシック" pitchFamily="-6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r>
              <a:rPr lang="en-US" dirty="0" smtClean="0"/>
              <a:t>CAD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6B078-E125-4DAE-82C9-FB5092426F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1AE13A-4373-4A10-BF50-1216A6DA4B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773B77-06D6-496A-AF15-B301F6359E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7CDAC-F5ED-4CF5-A040-46BD3FD9F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71EB1-DEE5-4D2D-8A66-35542A031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6BF3FD-ABE3-474C-887C-A20A0AC880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D3FA32-19A7-4689-86E1-488491BC67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5F6F7-0353-42FD-B0B9-3AA415C0A8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096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096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CE2495-6C37-4148-B092-2BA900427C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/>
              <a:t>November 12, 2010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fld id="{141EC098-193F-4E7D-8F63-132E3FF025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xilinx.com/training/free-video-courses.htm#ASIC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986307"/>
            <a:ext cx="8934450" cy="5033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143000"/>
            <a:ext cx="9144000" cy="3733800"/>
          </a:xfrm>
        </p:spPr>
        <p:txBody>
          <a:bodyPr/>
          <a:lstStyle/>
          <a:p>
            <a:pPr lvl="1" eaLnBrk="1" hangingPunct="1"/>
            <a:r>
              <a:rPr lang="en-US" sz="4800" b="1" dirty="0" smtClean="0">
                <a:solidFill>
                  <a:schemeClr val="bg1"/>
                </a:solidFill>
                <a:cs typeface="Times New Roman" pitchFamily="18" charset="0"/>
              </a:rPr>
              <a:t>Computer-Aided Design</a:t>
            </a:r>
            <a:br>
              <a:rPr lang="en-US" sz="4800" b="1" dirty="0" smtClean="0">
                <a:solidFill>
                  <a:schemeClr val="bg1"/>
                </a:solidFill>
                <a:cs typeface="Times New Roman" pitchFamily="18" charset="0"/>
              </a:rPr>
            </a:br>
            <a:r>
              <a:rPr lang="fa-IR" sz="4800" b="1" dirty="0" smtClean="0">
                <a:solidFill>
                  <a:schemeClr val="bg1"/>
                </a:solidFill>
                <a:cs typeface="Times New Roman" pitchFamily="18" charset="0"/>
              </a:rPr>
              <a:t/>
            </a:r>
            <a:br>
              <a:rPr lang="fa-IR" sz="4800" b="1" dirty="0" smtClean="0">
                <a:solidFill>
                  <a:schemeClr val="bg1"/>
                </a:solidFill>
                <a:cs typeface="Times New Roman" pitchFamily="18" charset="0"/>
              </a:rPr>
            </a:br>
            <a: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  <a:t/>
            </a:r>
            <a:b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</a:br>
            <a: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  <a:t/>
            </a:r>
            <a:b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</a:br>
            <a:r>
              <a:rPr lang="en-US" sz="4800" b="1" dirty="0" smtClean="0">
                <a:solidFill>
                  <a:schemeClr val="bg1"/>
                </a:solidFill>
                <a:cs typeface="B Mitra" panose="00000400000000000000" pitchFamily="2" charset="-78"/>
              </a:rPr>
              <a:t>Design Cycle</a:t>
            </a:r>
          </a:p>
        </p:txBody>
      </p:sp>
      <p:pic>
        <p:nvPicPr>
          <p:cNvPr id="10" name="Picture 9" descr="https://www.guilan.ac.ir/images/fa2.jp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51691"/>
            <a:ext cx="3200400" cy="80630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78630" y="5562600"/>
            <a:ext cx="8177213" cy="60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 smtClean="0">
                <a:solidFill>
                  <a:schemeClr val="bg1"/>
                </a:solidFill>
                <a:cs typeface="Times New Roman" pitchFamily="18" charset="0"/>
              </a:rPr>
              <a:t>Mahdi Aminian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6135469"/>
            <a:ext cx="4343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Some slides courtesy of:</a:t>
            </a:r>
          </a:p>
          <a:p>
            <a:pPr marL="285750" indent="-285750">
              <a:buFontTx/>
              <a:buChar char="-"/>
            </a:pPr>
            <a:r>
              <a:rPr lang="en-US" sz="1400" dirty="0" smtClean="0"/>
              <a:t>CAD slides from Dr. </a:t>
            </a:r>
            <a:r>
              <a:rPr lang="en-US" sz="1400" dirty="0" err="1" smtClean="0"/>
              <a:t>Saheb</a:t>
            </a:r>
            <a:r>
              <a:rPr lang="en-US" sz="1400" dirty="0" smtClean="0"/>
              <a:t> </a:t>
            </a:r>
            <a:r>
              <a:rPr lang="en-US" sz="1400" dirty="0" err="1" smtClean="0"/>
              <a:t>Zamani</a:t>
            </a:r>
            <a:endParaRPr lang="en-US" sz="1400" dirty="0" smtClean="0"/>
          </a:p>
          <a:p>
            <a:pPr marL="285750" indent="-285750">
              <a:buFontTx/>
              <a:buChar char="-"/>
            </a:pPr>
            <a:r>
              <a:rPr lang="en-US" sz="1400" dirty="0" smtClean="0"/>
              <a:t>Xilinx &amp; Altera products documentations</a:t>
            </a:r>
            <a:endParaRPr lang="en-US" sz="14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FPGA vs. ASIC Design Flow</a:t>
            </a:r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2</a:t>
            </a:fld>
            <a:endParaRPr lang="en-US" dirty="0" smtClean="0"/>
          </a:p>
        </p:txBody>
      </p:sp>
      <p:pic>
        <p:nvPicPr>
          <p:cNvPr id="5122" name="Picture 2" descr="http://www.xilinx.com/images/fpgavsasic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41408"/>
            <a:ext cx="6934200" cy="5585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0777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dirty="0">
                <a:cs typeface="B Mitra" panose="00000400000000000000" pitchFamily="2" charset="-78"/>
              </a:rPr>
              <a:t>چرخه </a:t>
            </a:r>
            <a:r>
              <a:rPr lang="fa-IR" altLang="en-US" dirty="0" smtClean="0">
                <a:cs typeface="B Mitra" panose="00000400000000000000" pitchFamily="2" charset="-78"/>
              </a:rPr>
              <a:t>ي طراحي براي </a:t>
            </a:r>
            <a:r>
              <a:rPr lang="en-US" altLang="en-US" dirty="0">
                <a:cs typeface="B Mitra" panose="00000400000000000000" pitchFamily="2" charset="-78"/>
              </a:rPr>
              <a:t>FPLD</a:t>
            </a:r>
            <a:r>
              <a:rPr lang="fa-IR" altLang="en-US" dirty="0">
                <a:cs typeface="B Mitra" panose="00000400000000000000" pitchFamily="2" charset="-78"/>
              </a:rPr>
              <a:t>ها</a:t>
            </a:r>
            <a:endParaRPr lang="en-US" dirty="0" smtClean="0">
              <a:cs typeface="B Mitra" panose="00000400000000000000" pitchFamily="2" charset="-78"/>
            </a:endParaRPr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cs typeface="B Mitra" panose="00000400000000000000" pitchFamily="2" charset="-78"/>
              </a:rPr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>
                <a:cs typeface="B Mitra" panose="00000400000000000000" pitchFamily="2" charset="-78"/>
              </a:rPr>
              <a:pPr/>
              <a:t>3</a:t>
            </a:fld>
            <a:endParaRPr lang="en-US" dirty="0" smtClean="0">
              <a:cs typeface="B Mitra" panose="00000400000000000000" pitchFamily="2" charset="-78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6248400" y="1868488"/>
            <a:ext cx="2743200" cy="2170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5750" indent="-285750" algn="l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476250" algn="l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800" dirty="0">
                <a:cs typeface="Lotus" pitchFamily="2" charset="-78"/>
              </a:rPr>
              <a:t>Design Entry</a:t>
            </a:r>
            <a:endParaRPr lang="fa-IR" altLang="en-US" sz="2800" dirty="0">
              <a:cs typeface="Lotus" pitchFamily="2" charset="-78"/>
            </a:endParaRPr>
          </a:p>
          <a:p>
            <a:pPr lvl="1">
              <a:spcBef>
                <a:spcPct val="50000"/>
              </a:spcBef>
              <a:buFontTx/>
              <a:buChar char="•"/>
            </a:pPr>
            <a:r>
              <a:rPr lang="fa-IR" altLang="en-US" sz="1800" dirty="0">
                <a:cs typeface="Lotus" pitchFamily="2" charset="-78"/>
              </a:rPr>
              <a:t> </a:t>
            </a:r>
            <a:r>
              <a:rPr lang="en-US" altLang="en-US" sz="1800" dirty="0">
                <a:cs typeface="Lotus" pitchFamily="2" charset="-78"/>
              </a:rPr>
              <a:t>Schematic </a:t>
            </a:r>
            <a:r>
              <a:rPr lang="en-US" altLang="en-US" sz="1800" dirty="0" err="1">
                <a:cs typeface="Lotus" pitchFamily="2" charset="-78"/>
              </a:rPr>
              <a:t>Netlist</a:t>
            </a:r>
            <a:endParaRPr lang="en-US" altLang="en-US" sz="1800" dirty="0">
              <a:cs typeface="Lotus" pitchFamily="2" charset="-78"/>
            </a:endParaRPr>
          </a:p>
          <a:p>
            <a:pPr lvl="1">
              <a:spcBef>
                <a:spcPct val="50000"/>
              </a:spcBef>
              <a:buFontTx/>
              <a:buChar char="•"/>
            </a:pPr>
            <a:r>
              <a:rPr lang="en-US" altLang="en-US" sz="1800" dirty="0">
                <a:cs typeface="Lotus" pitchFamily="2" charset="-78"/>
              </a:rPr>
              <a:t> HDL </a:t>
            </a:r>
          </a:p>
          <a:p>
            <a:pPr lvl="1">
              <a:spcBef>
                <a:spcPct val="50000"/>
              </a:spcBef>
              <a:buFontTx/>
              <a:buChar char="•"/>
            </a:pPr>
            <a:r>
              <a:rPr lang="en-US" altLang="en-US" sz="1800" dirty="0">
                <a:cs typeface="Lotus" pitchFamily="2" charset="-78"/>
              </a:rPr>
              <a:t> Waveform </a:t>
            </a:r>
          </a:p>
          <a:p>
            <a:pPr lvl="1">
              <a:spcBef>
                <a:spcPct val="50000"/>
              </a:spcBef>
              <a:buFontTx/>
              <a:buChar char="•"/>
            </a:pPr>
            <a:r>
              <a:rPr lang="fa-IR" altLang="en-US" sz="1800" dirty="0">
                <a:cs typeface="Lotus" pitchFamily="2" charset="-78"/>
              </a:rPr>
              <a:t> </a:t>
            </a:r>
            <a:r>
              <a:rPr lang="en-US" altLang="en-US" sz="1800" dirty="0">
                <a:cs typeface="Lotus" pitchFamily="2" charset="-78"/>
              </a:rPr>
              <a:t>State Diagram</a:t>
            </a:r>
          </a:p>
        </p:txBody>
      </p:sp>
      <p:pic>
        <p:nvPicPr>
          <p:cNvPr id="7" name="Picture 7" descr="design_cyc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1774825"/>
            <a:ext cx="3184525" cy="409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1219200"/>
            <a:ext cx="283845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6141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dirty="0" smtClean="0">
                <a:cs typeface="B Mitra" panose="00000400000000000000" pitchFamily="2" charset="-78"/>
              </a:rPr>
              <a:t>چرخه ي طراحي براي </a:t>
            </a:r>
            <a:r>
              <a:rPr lang="en-US" altLang="en-US" dirty="0" smtClean="0">
                <a:cs typeface="B Mitra" panose="00000400000000000000" pitchFamily="2" charset="-78"/>
              </a:rPr>
              <a:t>FPLD</a:t>
            </a:r>
            <a:r>
              <a:rPr lang="fa-IR" altLang="en-US" dirty="0" smtClean="0">
                <a:cs typeface="B Mitra" panose="00000400000000000000" pitchFamily="2" charset="-78"/>
              </a:rPr>
              <a:t>ها</a:t>
            </a:r>
            <a:endParaRPr lang="en-US" dirty="0" smtClean="0">
              <a:cs typeface="B Mitra" panose="00000400000000000000" pitchFamily="2" charset="-78"/>
            </a:endParaRPr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cs typeface="B Mitra" panose="00000400000000000000" pitchFamily="2" charset="-78"/>
              </a:rPr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>
                <a:cs typeface="B Mitra" panose="00000400000000000000" pitchFamily="2" charset="-78"/>
              </a:rPr>
              <a:pPr/>
              <a:t>4</a:t>
            </a:fld>
            <a:endParaRPr lang="en-US" dirty="0" smtClean="0">
              <a:cs typeface="B Mitra" panose="00000400000000000000" pitchFamily="2" charset="-78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600200" y="1219200"/>
            <a:ext cx="670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rtl="1">
              <a:spcBef>
                <a:spcPct val="50000"/>
              </a:spcBef>
              <a:buFontTx/>
              <a:buChar char="•"/>
            </a:pPr>
            <a:r>
              <a:rPr lang="fa-IR" altLang="en-US" sz="1800">
                <a:cs typeface="B Mitra" panose="00000400000000000000" pitchFamily="2" charset="-78"/>
              </a:rPr>
              <a:t> مزايا: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600200" y="1143000"/>
            <a:ext cx="67056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rtl="1">
              <a:spcBef>
                <a:spcPct val="50000"/>
              </a:spcBef>
            </a:pPr>
            <a:endParaRPr lang="fa-IR" altLang="en-US" sz="1800" dirty="0">
              <a:cs typeface="B Mitra" panose="00000400000000000000" pitchFamily="2" charset="-78"/>
            </a:endParaRPr>
          </a:p>
          <a:p>
            <a:pPr lvl="1" algn="r" rtl="1">
              <a:spcBef>
                <a:spcPct val="50000"/>
              </a:spcBef>
              <a:buFontTx/>
              <a:buChar char="•"/>
            </a:pPr>
            <a:r>
              <a:rPr lang="fa-IR" altLang="en-US" sz="1800" dirty="0">
                <a:cs typeface="B Mitra" panose="00000400000000000000" pitchFamily="2" charset="-78"/>
              </a:rPr>
              <a:t> کوتاه شدن پروسه ي طراحي.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85800" y="1931988"/>
            <a:ext cx="7162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rtl="1">
              <a:spcBef>
                <a:spcPct val="50000"/>
              </a:spcBef>
              <a:buFontTx/>
              <a:buChar char="•"/>
            </a:pPr>
            <a:r>
              <a:rPr lang="fa-IR" altLang="en-US" sz="1800" dirty="0">
                <a:cs typeface="B Mitra" panose="00000400000000000000" pitchFamily="2" charset="-78"/>
              </a:rPr>
              <a:t> نوآوري بيشتر (پروسه ي طراحي به مراحل بالاتر رفتاري منتقل مي شود) (تشابه با زبانهاي سطح بالا)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724400" y="2497138"/>
            <a:ext cx="312420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rtl="1">
              <a:spcBef>
                <a:spcPct val="50000"/>
              </a:spcBef>
              <a:buFontTx/>
              <a:buChar char="•"/>
            </a:pPr>
            <a:r>
              <a:rPr lang="fa-IR" altLang="en-US" sz="1800">
                <a:cs typeface="B Mitra" panose="00000400000000000000" pitchFamily="2" charset="-78"/>
              </a:rPr>
              <a:t> </a:t>
            </a:r>
            <a:r>
              <a:rPr lang="en-US" altLang="en-US" sz="1800">
                <a:cs typeface="B Mitra" panose="00000400000000000000" pitchFamily="2" charset="-78"/>
              </a:rPr>
              <a:t>Debug</a:t>
            </a:r>
            <a:r>
              <a:rPr lang="fa-IR" altLang="en-US" sz="1800">
                <a:cs typeface="B Mitra" panose="00000400000000000000" pitchFamily="2" charset="-78"/>
              </a:rPr>
              <a:t> طرح بسيار آسانتر و سريعتر.</a:t>
            </a:r>
          </a:p>
          <a:p>
            <a:pPr lvl="1" algn="r" rtl="1">
              <a:spcBef>
                <a:spcPct val="50000"/>
              </a:spcBef>
              <a:buFontTx/>
              <a:buChar char="•"/>
            </a:pPr>
            <a:r>
              <a:rPr lang="fa-IR" altLang="en-US" sz="1800">
                <a:cs typeface="B Mitra" panose="00000400000000000000" pitchFamily="2" charset="-78"/>
              </a:rPr>
              <a:t> مانند سيکل برنامه نويسي: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143000" y="5181600"/>
            <a:ext cx="6705600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rtl="1">
              <a:spcBef>
                <a:spcPct val="50000"/>
              </a:spcBef>
              <a:buFontTx/>
              <a:buChar char="•"/>
            </a:pPr>
            <a:r>
              <a:rPr lang="fa-IR" altLang="en-US" sz="1800">
                <a:cs typeface="B Mitra" panose="00000400000000000000" pitchFamily="2" charset="-78"/>
              </a:rPr>
              <a:t> تغييرات در طرح بسيار آسانتر.</a:t>
            </a:r>
          </a:p>
          <a:p>
            <a:pPr lvl="1" algn="r" rtl="1">
              <a:spcBef>
                <a:spcPct val="50000"/>
              </a:spcBef>
              <a:buFontTx/>
              <a:buChar char="•"/>
            </a:pPr>
            <a:r>
              <a:rPr lang="fa-IR" altLang="en-US" sz="1800">
                <a:cs typeface="B Mitra" panose="00000400000000000000" pitchFamily="2" charset="-78"/>
              </a:rPr>
              <a:t> بعضي شرکتها نسخه هاي جديد سخت افزار خود را روي </a:t>
            </a:r>
            <a:r>
              <a:rPr lang="en-US" altLang="en-US" sz="1800">
                <a:cs typeface="B Mitra" panose="00000400000000000000" pitchFamily="2" charset="-78"/>
              </a:rPr>
              <a:t>CD</a:t>
            </a:r>
            <a:r>
              <a:rPr lang="fa-IR" altLang="en-US" sz="1800">
                <a:cs typeface="B Mitra" panose="00000400000000000000" pitchFamily="2" charset="-78"/>
              </a:rPr>
              <a:t> يا از طريق اینترنت در اختيار مشتري خود قرار مي دهند تا </a:t>
            </a:r>
            <a:r>
              <a:rPr lang="en-US" altLang="en-US" sz="1800">
                <a:cs typeface="B Mitra" panose="00000400000000000000" pitchFamily="2" charset="-78"/>
              </a:rPr>
              <a:t>EPROM </a:t>
            </a:r>
            <a:r>
              <a:rPr lang="fa-IR" altLang="en-US" sz="1800">
                <a:cs typeface="B Mitra" panose="00000400000000000000" pitchFamily="2" charset="-78"/>
              </a:rPr>
              <a:t> را مجددا برنامه ريزي کند.</a:t>
            </a:r>
            <a:endParaRPr lang="en-US" altLang="en-US" sz="1800">
              <a:cs typeface="B Mitra" panose="00000400000000000000" pitchFamily="2" charset="-78"/>
            </a:endParaRPr>
          </a:p>
        </p:txBody>
      </p:sp>
      <p:grpSp>
        <p:nvGrpSpPr>
          <p:cNvPr id="10" name="Group 39"/>
          <p:cNvGrpSpPr>
            <a:grpSpLocks/>
          </p:cNvGrpSpPr>
          <p:nvPr/>
        </p:nvGrpSpPr>
        <p:grpSpPr bwMode="auto">
          <a:xfrm>
            <a:off x="838200" y="2819400"/>
            <a:ext cx="4191000" cy="990600"/>
            <a:chOff x="96" y="2544"/>
            <a:chExt cx="2640" cy="624"/>
          </a:xfrm>
        </p:grpSpPr>
        <p:grpSp>
          <p:nvGrpSpPr>
            <p:cNvPr id="11" name="Group 20"/>
            <p:cNvGrpSpPr>
              <a:grpSpLocks/>
            </p:cNvGrpSpPr>
            <p:nvPr/>
          </p:nvGrpSpPr>
          <p:grpSpPr bwMode="auto">
            <a:xfrm>
              <a:off x="96" y="2640"/>
              <a:ext cx="2528" cy="519"/>
              <a:chOff x="96" y="2640"/>
              <a:chExt cx="2528" cy="519"/>
            </a:xfrm>
          </p:grpSpPr>
          <p:sp>
            <p:nvSpPr>
              <p:cNvPr id="13" name="Text Box 11"/>
              <p:cNvSpPr txBox="1">
                <a:spLocks noChangeArrowheads="1"/>
              </p:cNvSpPr>
              <p:nvPr/>
            </p:nvSpPr>
            <p:spPr bwMode="auto">
              <a:xfrm>
                <a:off x="1296" y="2640"/>
                <a:ext cx="52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 rtl="1">
                  <a:spcBef>
                    <a:spcPct val="50000"/>
                  </a:spcBef>
                </a:pPr>
                <a:r>
                  <a:rPr lang="fa-IR" altLang="en-US" sz="1800">
                    <a:solidFill>
                      <a:srgbClr val="0000CC"/>
                    </a:solidFill>
                    <a:cs typeface="B Mitra" panose="00000400000000000000" pitchFamily="2" charset="-78"/>
                  </a:rPr>
                  <a:t>کامپايل</a:t>
                </a:r>
                <a:endParaRPr lang="en-US" altLang="en-US" sz="1800">
                  <a:solidFill>
                    <a:srgbClr val="0000CC"/>
                  </a:solidFill>
                  <a:cs typeface="B Mitra" panose="00000400000000000000" pitchFamily="2" charset="-78"/>
                </a:endParaRPr>
              </a:p>
            </p:txBody>
          </p:sp>
          <p:sp>
            <p:nvSpPr>
              <p:cNvPr id="14" name="Text Box 12"/>
              <p:cNvSpPr txBox="1">
                <a:spLocks noChangeArrowheads="1"/>
              </p:cNvSpPr>
              <p:nvPr/>
            </p:nvSpPr>
            <p:spPr bwMode="auto">
              <a:xfrm>
                <a:off x="1872" y="2640"/>
                <a:ext cx="52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 rtl="1">
                  <a:spcBef>
                    <a:spcPct val="50000"/>
                  </a:spcBef>
                </a:pPr>
                <a:r>
                  <a:rPr lang="fa-IR" altLang="en-US" sz="1800">
                    <a:solidFill>
                      <a:srgbClr val="0000CC"/>
                    </a:solidFill>
                    <a:cs typeface="B Mitra" panose="00000400000000000000" pitchFamily="2" charset="-78"/>
                  </a:rPr>
                  <a:t>اجرا</a:t>
                </a:r>
                <a:endParaRPr lang="en-US" altLang="en-US" sz="1800">
                  <a:solidFill>
                    <a:srgbClr val="0000CC"/>
                  </a:solidFill>
                  <a:cs typeface="B Mitra" panose="00000400000000000000" pitchFamily="2" charset="-78"/>
                </a:endParaRPr>
              </a:p>
            </p:txBody>
          </p:sp>
          <p:sp>
            <p:nvSpPr>
              <p:cNvPr id="15" name="Text Box 13"/>
              <p:cNvSpPr txBox="1">
                <a:spLocks noChangeArrowheads="1"/>
              </p:cNvSpPr>
              <p:nvPr/>
            </p:nvSpPr>
            <p:spPr bwMode="auto">
              <a:xfrm>
                <a:off x="96" y="2640"/>
                <a:ext cx="96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 rtl="1">
                  <a:spcBef>
                    <a:spcPct val="50000"/>
                  </a:spcBef>
                </a:pPr>
                <a:r>
                  <a:rPr lang="fa-IR" altLang="en-US" sz="1800">
                    <a:solidFill>
                      <a:srgbClr val="0000CC"/>
                    </a:solidFill>
                    <a:cs typeface="B Mitra" panose="00000400000000000000" pitchFamily="2" charset="-78"/>
                  </a:rPr>
                  <a:t>برنامه نويسي</a:t>
                </a:r>
                <a:endParaRPr lang="en-US" altLang="en-US" sz="1800">
                  <a:solidFill>
                    <a:srgbClr val="0000CC"/>
                  </a:solidFill>
                  <a:cs typeface="B Mitra" panose="00000400000000000000" pitchFamily="2" charset="-78"/>
                </a:endParaRPr>
              </a:p>
            </p:txBody>
          </p:sp>
          <p:sp>
            <p:nvSpPr>
              <p:cNvPr id="16" name="Text Box 14"/>
              <p:cNvSpPr txBox="1">
                <a:spLocks noChangeArrowheads="1"/>
              </p:cNvSpPr>
              <p:nvPr/>
            </p:nvSpPr>
            <p:spPr bwMode="auto">
              <a:xfrm>
                <a:off x="1584" y="2928"/>
                <a:ext cx="52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 rtl="1">
                  <a:spcBef>
                    <a:spcPct val="50000"/>
                  </a:spcBef>
                </a:pPr>
                <a:r>
                  <a:rPr lang="fa-IR" altLang="en-US" sz="1800">
                    <a:solidFill>
                      <a:srgbClr val="0000CC"/>
                    </a:solidFill>
                    <a:cs typeface="B Mitra" panose="00000400000000000000" pitchFamily="2" charset="-78"/>
                  </a:rPr>
                  <a:t>ويرايش</a:t>
                </a:r>
                <a:endParaRPr lang="en-US" altLang="en-US" sz="1800">
                  <a:solidFill>
                    <a:srgbClr val="0000CC"/>
                  </a:solidFill>
                  <a:cs typeface="B Mitra" panose="00000400000000000000" pitchFamily="2" charset="-78"/>
                </a:endParaRPr>
              </a:p>
            </p:txBody>
          </p:sp>
          <p:sp>
            <p:nvSpPr>
              <p:cNvPr id="17" name="Line 15"/>
              <p:cNvSpPr>
                <a:spLocks noChangeShapeType="1"/>
              </p:cNvSpPr>
              <p:nvPr/>
            </p:nvSpPr>
            <p:spPr bwMode="auto">
              <a:xfrm>
                <a:off x="1056" y="2736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cs typeface="B Mitra" panose="00000400000000000000" pitchFamily="2" charset="-78"/>
                </a:endParaRPr>
              </a:p>
            </p:txBody>
          </p:sp>
          <p:sp>
            <p:nvSpPr>
              <p:cNvPr id="18" name="Line 16"/>
              <p:cNvSpPr>
                <a:spLocks noChangeShapeType="1"/>
              </p:cNvSpPr>
              <p:nvPr/>
            </p:nvSpPr>
            <p:spPr bwMode="auto">
              <a:xfrm>
                <a:off x="1824" y="2736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cs typeface="B Mitra" panose="00000400000000000000" pitchFamily="2" charset="-78"/>
                </a:endParaRPr>
              </a:p>
            </p:txBody>
          </p:sp>
          <p:sp>
            <p:nvSpPr>
              <p:cNvPr id="19" name="Freeform 18"/>
              <p:cNvSpPr>
                <a:spLocks/>
              </p:cNvSpPr>
              <p:nvPr/>
            </p:nvSpPr>
            <p:spPr bwMode="auto">
              <a:xfrm>
                <a:off x="2160" y="2784"/>
                <a:ext cx="464" cy="288"/>
              </a:xfrm>
              <a:custGeom>
                <a:avLst/>
                <a:gdLst>
                  <a:gd name="T0" fmla="*/ 192 w 464"/>
                  <a:gd name="T1" fmla="*/ 0 h 288"/>
                  <a:gd name="T2" fmla="*/ 432 w 464"/>
                  <a:gd name="T3" fmla="*/ 192 h 288"/>
                  <a:gd name="T4" fmla="*/ 0 w 464"/>
                  <a:gd name="T5" fmla="*/ 288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4" h="288">
                    <a:moveTo>
                      <a:pt x="192" y="0"/>
                    </a:moveTo>
                    <a:cubicBezTo>
                      <a:pt x="328" y="72"/>
                      <a:pt x="464" y="144"/>
                      <a:pt x="432" y="192"/>
                    </a:cubicBezTo>
                    <a:cubicBezTo>
                      <a:pt x="400" y="240"/>
                      <a:pt x="72" y="272"/>
                      <a:pt x="0" y="288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cs typeface="B Mitra" panose="00000400000000000000" pitchFamily="2" charset="-78"/>
                </a:endParaRPr>
              </a:p>
            </p:txBody>
          </p:sp>
          <p:sp>
            <p:nvSpPr>
              <p:cNvPr id="20" name="Freeform 19"/>
              <p:cNvSpPr>
                <a:spLocks/>
              </p:cNvSpPr>
              <p:nvPr/>
            </p:nvSpPr>
            <p:spPr bwMode="auto">
              <a:xfrm>
                <a:off x="1200" y="2832"/>
                <a:ext cx="480" cy="240"/>
              </a:xfrm>
              <a:custGeom>
                <a:avLst/>
                <a:gdLst>
                  <a:gd name="T0" fmla="*/ 480 w 480"/>
                  <a:gd name="T1" fmla="*/ 240 h 240"/>
                  <a:gd name="T2" fmla="*/ 48 w 480"/>
                  <a:gd name="T3" fmla="*/ 192 h 240"/>
                  <a:gd name="T4" fmla="*/ 192 w 480"/>
                  <a:gd name="T5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80" h="240">
                    <a:moveTo>
                      <a:pt x="480" y="240"/>
                    </a:moveTo>
                    <a:cubicBezTo>
                      <a:pt x="288" y="236"/>
                      <a:pt x="96" y="232"/>
                      <a:pt x="48" y="192"/>
                    </a:cubicBezTo>
                    <a:cubicBezTo>
                      <a:pt x="0" y="152"/>
                      <a:pt x="96" y="76"/>
                      <a:pt x="192" y="0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cs typeface="B Mitra" panose="00000400000000000000" pitchFamily="2" charset="-78"/>
                </a:endParaRPr>
              </a:p>
            </p:txBody>
          </p:sp>
        </p:grpSp>
        <p:sp>
          <p:nvSpPr>
            <p:cNvPr id="12" name="Rectangle 36"/>
            <p:cNvSpPr>
              <a:spLocks noChangeArrowheads="1"/>
            </p:cNvSpPr>
            <p:nvPr/>
          </p:nvSpPr>
          <p:spPr bwMode="auto">
            <a:xfrm>
              <a:off x="336" y="2544"/>
              <a:ext cx="2400" cy="624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cs typeface="B Mitra" panose="00000400000000000000" pitchFamily="2" charset="-78"/>
              </a:endParaRPr>
            </a:p>
          </p:txBody>
        </p:sp>
      </p:grpSp>
      <p:grpSp>
        <p:nvGrpSpPr>
          <p:cNvPr id="21" name="Group 38"/>
          <p:cNvGrpSpPr>
            <a:grpSpLocks/>
          </p:cNvGrpSpPr>
          <p:nvPr/>
        </p:nvGrpSpPr>
        <p:grpSpPr bwMode="auto">
          <a:xfrm>
            <a:off x="762000" y="3886200"/>
            <a:ext cx="7696200" cy="1143000"/>
            <a:chOff x="96" y="3312"/>
            <a:chExt cx="4848" cy="720"/>
          </a:xfrm>
        </p:grpSpPr>
        <p:sp>
          <p:nvSpPr>
            <p:cNvPr id="22" name="Text Box 21"/>
            <p:cNvSpPr txBox="1">
              <a:spLocks noChangeArrowheads="1"/>
            </p:cNvSpPr>
            <p:nvPr/>
          </p:nvSpPr>
          <p:spPr bwMode="auto">
            <a:xfrm>
              <a:off x="1296" y="3369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fa-IR" altLang="en-US" sz="1800">
                  <a:solidFill>
                    <a:srgbClr val="0000CC"/>
                  </a:solidFill>
                  <a:cs typeface="B Mitra" panose="00000400000000000000" pitchFamily="2" charset="-78"/>
                </a:rPr>
                <a:t>کامپايل</a:t>
              </a:r>
              <a:endParaRPr lang="en-US" altLang="en-US" sz="1800">
                <a:solidFill>
                  <a:srgbClr val="0000CC"/>
                </a:solidFill>
                <a:cs typeface="B Mitra" panose="00000400000000000000" pitchFamily="2" charset="-78"/>
              </a:endParaRPr>
            </a:p>
          </p:txBody>
        </p:sp>
        <p:sp>
          <p:nvSpPr>
            <p:cNvPr id="23" name="Text Box 22"/>
            <p:cNvSpPr txBox="1">
              <a:spLocks noChangeArrowheads="1"/>
            </p:cNvSpPr>
            <p:nvPr/>
          </p:nvSpPr>
          <p:spPr bwMode="auto">
            <a:xfrm>
              <a:off x="1872" y="3369"/>
              <a:ext cx="9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fa-IR" altLang="en-US" sz="1800">
                  <a:solidFill>
                    <a:srgbClr val="0000CC"/>
                  </a:solidFill>
                  <a:cs typeface="B Mitra" panose="00000400000000000000" pitchFamily="2" charset="-78"/>
                </a:rPr>
                <a:t>شبيه سازي</a:t>
              </a:r>
              <a:endParaRPr lang="en-US" altLang="en-US" sz="1800">
                <a:solidFill>
                  <a:srgbClr val="0000CC"/>
                </a:solidFill>
                <a:cs typeface="B Mitra" panose="00000400000000000000" pitchFamily="2" charset="-78"/>
              </a:endParaRPr>
            </a:p>
          </p:txBody>
        </p:sp>
        <p:sp>
          <p:nvSpPr>
            <p:cNvPr id="24" name="Text Box 23"/>
            <p:cNvSpPr txBox="1">
              <a:spLocks noChangeArrowheads="1"/>
            </p:cNvSpPr>
            <p:nvPr/>
          </p:nvSpPr>
          <p:spPr bwMode="auto">
            <a:xfrm>
              <a:off x="96" y="3369"/>
              <a:ext cx="9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fa-IR" altLang="en-US" sz="1800">
                  <a:solidFill>
                    <a:srgbClr val="0000CC"/>
                  </a:solidFill>
                  <a:cs typeface="B Mitra" panose="00000400000000000000" pitchFamily="2" charset="-78"/>
                </a:rPr>
                <a:t>ورود طرح</a:t>
              </a:r>
              <a:endParaRPr lang="en-US" altLang="en-US" sz="1800">
                <a:solidFill>
                  <a:srgbClr val="0000CC"/>
                </a:solidFill>
                <a:cs typeface="B Mitra" panose="00000400000000000000" pitchFamily="2" charset="-78"/>
              </a:endParaRPr>
            </a:p>
          </p:txBody>
        </p:sp>
        <p:sp>
          <p:nvSpPr>
            <p:cNvPr id="25" name="Text Box 24"/>
            <p:cNvSpPr txBox="1">
              <a:spLocks noChangeArrowheads="1"/>
            </p:cNvSpPr>
            <p:nvPr/>
          </p:nvSpPr>
          <p:spPr bwMode="auto">
            <a:xfrm>
              <a:off x="1680" y="3705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fa-IR" altLang="en-US" sz="1800">
                  <a:solidFill>
                    <a:srgbClr val="0000CC"/>
                  </a:solidFill>
                  <a:cs typeface="B Mitra" panose="00000400000000000000" pitchFamily="2" charset="-78"/>
                </a:rPr>
                <a:t>ويرايش</a:t>
              </a:r>
              <a:endParaRPr lang="en-US" altLang="en-US" sz="1800">
                <a:solidFill>
                  <a:srgbClr val="0000CC"/>
                </a:solidFill>
                <a:cs typeface="B Mitra" panose="00000400000000000000" pitchFamily="2" charset="-78"/>
              </a:endParaRPr>
            </a:p>
          </p:txBody>
        </p:sp>
        <p:sp>
          <p:nvSpPr>
            <p:cNvPr id="26" name="Line 25"/>
            <p:cNvSpPr>
              <a:spLocks noChangeShapeType="1"/>
            </p:cNvSpPr>
            <p:nvPr/>
          </p:nvSpPr>
          <p:spPr bwMode="auto">
            <a:xfrm>
              <a:off x="1056" y="3465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cs typeface="B Mitra" panose="00000400000000000000" pitchFamily="2" charset="-78"/>
              </a:endParaRPr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>
              <a:off x="1824" y="3465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cs typeface="B Mitra" panose="00000400000000000000" pitchFamily="2" charset="-78"/>
              </a:endParaRPr>
            </a:p>
          </p:txBody>
        </p:sp>
        <p:sp>
          <p:nvSpPr>
            <p:cNvPr id="28" name="Freeform 27"/>
            <p:cNvSpPr>
              <a:spLocks/>
            </p:cNvSpPr>
            <p:nvPr/>
          </p:nvSpPr>
          <p:spPr bwMode="auto">
            <a:xfrm>
              <a:off x="2220" y="3513"/>
              <a:ext cx="898" cy="279"/>
            </a:xfrm>
            <a:custGeom>
              <a:avLst/>
              <a:gdLst>
                <a:gd name="T0" fmla="*/ 564 w 898"/>
                <a:gd name="T1" fmla="*/ 0 h 279"/>
                <a:gd name="T2" fmla="*/ 804 w 898"/>
                <a:gd name="T3" fmla="*/ 192 h 279"/>
                <a:gd name="T4" fmla="*/ 0 w 898"/>
                <a:gd name="T5" fmla="*/ 279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8" h="279">
                  <a:moveTo>
                    <a:pt x="564" y="0"/>
                  </a:moveTo>
                  <a:cubicBezTo>
                    <a:pt x="700" y="72"/>
                    <a:pt x="898" y="146"/>
                    <a:pt x="804" y="192"/>
                  </a:cubicBezTo>
                  <a:cubicBezTo>
                    <a:pt x="710" y="238"/>
                    <a:pt x="168" y="261"/>
                    <a:pt x="0" y="279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cs typeface="B Mitra" panose="00000400000000000000" pitchFamily="2" charset="-78"/>
              </a:endParaRPr>
            </a:p>
          </p:txBody>
        </p:sp>
        <p:sp>
          <p:nvSpPr>
            <p:cNvPr id="29" name="Freeform 28"/>
            <p:cNvSpPr>
              <a:spLocks/>
            </p:cNvSpPr>
            <p:nvPr/>
          </p:nvSpPr>
          <p:spPr bwMode="auto">
            <a:xfrm>
              <a:off x="1200" y="3561"/>
              <a:ext cx="480" cy="240"/>
            </a:xfrm>
            <a:custGeom>
              <a:avLst/>
              <a:gdLst>
                <a:gd name="T0" fmla="*/ 480 w 480"/>
                <a:gd name="T1" fmla="*/ 240 h 240"/>
                <a:gd name="T2" fmla="*/ 48 w 480"/>
                <a:gd name="T3" fmla="*/ 192 h 240"/>
                <a:gd name="T4" fmla="*/ 192 w 480"/>
                <a:gd name="T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0" h="240">
                  <a:moveTo>
                    <a:pt x="480" y="240"/>
                  </a:moveTo>
                  <a:cubicBezTo>
                    <a:pt x="288" y="236"/>
                    <a:pt x="96" y="232"/>
                    <a:pt x="48" y="192"/>
                  </a:cubicBezTo>
                  <a:cubicBezTo>
                    <a:pt x="0" y="152"/>
                    <a:pt x="96" y="76"/>
                    <a:pt x="192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cs typeface="B Mitra" panose="00000400000000000000" pitchFamily="2" charset="-78"/>
              </a:endParaRPr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>
              <a:off x="2880" y="3504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cs typeface="B Mitra" panose="00000400000000000000" pitchFamily="2" charset="-78"/>
              </a:endParaRPr>
            </a:p>
          </p:txBody>
        </p:sp>
        <p:sp>
          <p:nvSpPr>
            <p:cNvPr id="31" name="Text Box 30"/>
            <p:cNvSpPr txBox="1">
              <a:spLocks noChangeArrowheads="1"/>
            </p:cNvSpPr>
            <p:nvPr/>
          </p:nvSpPr>
          <p:spPr bwMode="auto">
            <a:xfrm>
              <a:off x="3072" y="3369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fa-IR" altLang="en-US" sz="1800">
                  <a:solidFill>
                    <a:srgbClr val="0000CC"/>
                  </a:solidFill>
                  <a:cs typeface="B Mitra" panose="00000400000000000000" pitchFamily="2" charset="-78"/>
                </a:rPr>
                <a:t>سنتز</a:t>
              </a:r>
              <a:endParaRPr lang="en-US" altLang="en-US" sz="1800">
                <a:solidFill>
                  <a:srgbClr val="0000CC"/>
                </a:solidFill>
                <a:cs typeface="B Mitra" panose="00000400000000000000" pitchFamily="2" charset="-78"/>
              </a:endParaRPr>
            </a:p>
          </p:txBody>
        </p:sp>
        <p:sp>
          <p:nvSpPr>
            <p:cNvPr id="32" name="Text Box 31"/>
            <p:cNvSpPr txBox="1">
              <a:spLocks noChangeArrowheads="1"/>
            </p:cNvSpPr>
            <p:nvPr/>
          </p:nvSpPr>
          <p:spPr bwMode="auto">
            <a:xfrm>
              <a:off x="3552" y="3369"/>
              <a:ext cx="9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fa-IR" altLang="en-US" sz="1800">
                  <a:solidFill>
                    <a:srgbClr val="0000CC"/>
                  </a:solidFill>
                  <a:cs typeface="B Mitra" panose="00000400000000000000" pitchFamily="2" charset="-78"/>
                </a:rPr>
                <a:t>شبيه سازي</a:t>
              </a:r>
              <a:endParaRPr lang="en-US" altLang="en-US" sz="1800">
                <a:solidFill>
                  <a:srgbClr val="0000CC"/>
                </a:solidFill>
                <a:cs typeface="B Mitra" panose="00000400000000000000" pitchFamily="2" charset="-78"/>
              </a:endParaRPr>
            </a:p>
          </p:txBody>
        </p:sp>
        <p:sp>
          <p:nvSpPr>
            <p:cNvPr id="33" name="Line 32"/>
            <p:cNvSpPr>
              <a:spLocks noChangeShapeType="1"/>
            </p:cNvSpPr>
            <p:nvPr/>
          </p:nvSpPr>
          <p:spPr bwMode="auto">
            <a:xfrm>
              <a:off x="3552" y="3504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cs typeface="B Mitra" panose="00000400000000000000" pitchFamily="2" charset="-78"/>
              </a:endParaRPr>
            </a:p>
          </p:txBody>
        </p:sp>
        <p:sp>
          <p:nvSpPr>
            <p:cNvPr id="34" name="Freeform 33"/>
            <p:cNvSpPr>
              <a:spLocks/>
            </p:cNvSpPr>
            <p:nvPr/>
          </p:nvSpPr>
          <p:spPr bwMode="auto">
            <a:xfrm>
              <a:off x="3984" y="3504"/>
              <a:ext cx="898" cy="432"/>
            </a:xfrm>
            <a:custGeom>
              <a:avLst/>
              <a:gdLst>
                <a:gd name="T0" fmla="*/ 564 w 898"/>
                <a:gd name="T1" fmla="*/ 0 h 279"/>
                <a:gd name="T2" fmla="*/ 804 w 898"/>
                <a:gd name="T3" fmla="*/ 192 h 279"/>
                <a:gd name="T4" fmla="*/ 0 w 898"/>
                <a:gd name="T5" fmla="*/ 279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8" h="279">
                  <a:moveTo>
                    <a:pt x="564" y="0"/>
                  </a:moveTo>
                  <a:cubicBezTo>
                    <a:pt x="700" y="72"/>
                    <a:pt x="898" y="146"/>
                    <a:pt x="804" y="192"/>
                  </a:cubicBezTo>
                  <a:cubicBezTo>
                    <a:pt x="710" y="238"/>
                    <a:pt x="168" y="261"/>
                    <a:pt x="0" y="279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cs typeface="B Mitra" panose="00000400000000000000" pitchFamily="2" charset="-78"/>
              </a:endParaRPr>
            </a:p>
          </p:txBody>
        </p:sp>
        <p:sp>
          <p:nvSpPr>
            <p:cNvPr id="35" name="Text Box 34"/>
            <p:cNvSpPr txBox="1">
              <a:spLocks noChangeArrowheads="1"/>
            </p:cNvSpPr>
            <p:nvPr/>
          </p:nvSpPr>
          <p:spPr bwMode="auto">
            <a:xfrm>
              <a:off x="3456" y="3801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fa-IR" altLang="en-US" sz="1800">
                  <a:solidFill>
                    <a:srgbClr val="0000CC"/>
                  </a:solidFill>
                  <a:cs typeface="B Mitra" panose="00000400000000000000" pitchFamily="2" charset="-78"/>
                </a:rPr>
                <a:t>ويرايش</a:t>
              </a:r>
              <a:endParaRPr lang="en-US" altLang="en-US" sz="1800">
                <a:solidFill>
                  <a:srgbClr val="0000CC"/>
                </a:solidFill>
                <a:cs typeface="B Mitra" panose="00000400000000000000" pitchFamily="2" charset="-78"/>
              </a:endParaRPr>
            </a:p>
          </p:txBody>
        </p:sp>
        <p:sp>
          <p:nvSpPr>
            <p:cNvPr id="36" name="Freeform 35"/>
            <p:cNvSpPr>
              <a:spLocks/>
            </p:cNvSpPr>
            <p:nvPr/>
          </p:nvSpPr>
          <p:spPr bwMode="auto">
            <a:xfrm>
              <a:off x="536" y="3600"/>
              <a:ext cx="2920" cy="392"/>
            </a:xfrm>
            <a:custGeom>
              <a:avLst/>
              <a:gdLst>
                <a:gd name="T0" fmla="*/ 2920 w 2920"/>
                <a:gd name="T1" fmla="*/ 336 h 392"/>
                <a:gd name="T2" fmla="*/ 376 w 2920"/>
                <a:gd name="T3" fmla="*/ 336 h 392"/>
                <a:gd name="T4" fmla="*/ 664 w 2920"/>
                <a:gd name="T5" fmla="*/ 0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20" h="392">
                  <a:moveTo>
                    <a:pt x="2920" y="336"/>
                  </a:moveTo>
                  <a:cubicBezTo>
                    <a:pt x="1836" y="364"/>
                    <a:pt x="752" y="392"/>
                    <a:pt x="376" y="336"/>
                  </a:cubicBezTo>
                  <a:cubicBezTo>
                    <a:pt x="0" y="280"/>
                    <a:pt x="332" y="140"/>
                    <a:pt x="664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cs typeface="B Mitra" panose="00000400000000000000" pitchFamily="2" charset="-78"/>
              </a:endParaRPr>
            </a:p>
          </p:txBody>
        </p:sp>
        <p:sp>
          <p:nvSpPr>
            <p:cNvPr id="37" name="Rectangle 37"/>
            <p:cNvSpPr>
              <a:spLocks noChangeArrowheads="1"/>
            </p:cNvSpPr>
            <p:nvPr/>
          </p:nvSpPr>
          <p:spPr bwMode="auto">
            <a:xfrm>
              <a:off x="384" y="3312"/>
              <a:ext cx="4560" cy="720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cs typeface="B Mitra" panose="00000400000000000000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3217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 autoUpdateAnimBg="0"/>
      <p:bldP spid="7" grpId="0" build="p" bldLvl="2" autoUpdateAnimBg="0"/>
      <p:bldP spid="8" grpId="0" build="p" bldLvl="2" autoUpdateAnimBg="0"/>
      <p:bldP spid="9" grpId="0" build="p" bldLvl="2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FPGA and Embedded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610600" cy="4648200"/>
          </a:xfrm>
        </p:spPr>
        <p:txBody>
          <a:bodyPr/>
          <a:lstStyle/>
          <a:p>
            <a:r>
              <a:rPr lang="en-US" sz="2400" dirty="0" smtClean="0">
                <a:hlinkClick r:id="rId2"/>
              </a:rPr>
              <a:t>http://www.xilinx.com/training/free-video-courses.htm#ASIC</a:t>
            </a:r>
            <a:endParaRPr lang="en-US" sz="2400" dirty="0" smtClean="0"/>
          </a:p>
          <a:p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035BB-E83D-4AE3-B588-6367177E4C62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2175" y="2057400"/>
            <a:ext cx="4619625" cy="397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2004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/>
          <p:cNvSpPr txBox="1">
            <a:spLocks noChangeArrowheads="1"/>
          </p:cNvSpPr>
          <p:nvPr/>
        </p:nvSpPr>
        <p:spPr bwMode="auto">
          <a:xfrm>
            <a:off x="381000" y="1447800"/>
            <a:ext cx="8382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400" dirty="0" smtClean="0"/>
              <a:t>HDL </a:t>
            </a:r>
            <a:r>
              <a:rPr lang="en-US" sz="2400" dirty="0"/>
              <a:t>allows us to describe the functionality of a logic circuit in a language that is: </a:t>
            </a:r>
            <a:endParaRPr lang="en-US" sz="2400" dirty="0" smtClean="0"/>
          </a:p>
          <a:p>
            <a:pPr lvl="1"/>
            <a:r>
              <a:rPr lang="en-US" sz="2000" dirty="0" smtClean="0"/>
              <a:t>Easy to understand</a:t>
            </a:r>
          </a:p>
          <a:p>
            <a:pPr lvl="1"/>
            <a:r>
              <a:rPr lang="en-US" sz="2000" dirty="0" smtClean="0"/>
              <a:t>Easy to share</a:t>
            </a:r>
          </a:p>
          <a:p>
            <a:pPr lvl="1"/>
            <a:r>
              <a:rPr lang="en-US" sz="2000" dirty="0" smtClean="0"/>
              <a:t>Hide complicated implementation details</a:t>
            </a:r>
          </a:p>
          <a:p>
            <a:endParaRPr lang="en-US" sz="2400" dirty="0" smtClean="0"/>
          </a:p>
          <a:p>
            <a:r>
              <a:rPr lang="en-US" sz="2400" dirty="0" smtClean="0"/>
              <a:t>Designer </a:t>
            </a:r>
            <a:r>
              <a:rPr lang="en-US" sz="2400" dirty="0"/>
              <a:t>more concerned about the design functionality than the detailed circuit design </a:t>
            </a:r>
          </a:p>
          <a:p>
            <a:endParaRPr lang="en-US" sz="2800" dirty="0"/>
          </a:p>
          <a:p>
            <a:pPr lvl="1"/>
            <a:endParaRPr lang="en-US" sz="2000" dirty="0"/>
          </a:p>
          <a:p>
            <a:endParaRPr lang="en-US" sz="2400" kern="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Entry – HDL Coding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28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/>
          <p:cNvSpPr txBox="1">
            <a:spLocks noChangeArrowheads="1"/>
          </p:cNvSpPr>
          <p:nvPr/>
        </p:nvSpPr>
        <p:spPr bwMode="auto">
          <a:xfrm>
            <a:off x="381000" y="1447800"/>
            <a:ext cx="8382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sz="2400" dirty="0" smtClean="0"/>
          </a:p>
          <a:p>
            <a:r>
              <a:rPr lang="en-US" sz="2400" dirty="0" smtClean="0"/>
              <a:t>After </a:t>
            </a:r>
            <a:r>
              <a:rPr lang="en-US" sz="2400" dirty="0"/>
              <a:t>HDL coding, the code has to be tested using </a:t>
            </a:r>
            <a:r>
              <a:rPr lang="en-US" sz="2400" dirty="0" smtClean="0"/>
              <a:t>“</a:t>
            </a:r>
            <a:r>
              <a:rPr lang="en-US" sz="2400" dirty="0" err="1" smtClean="0"/>
              <a:t>Testbenches</a:t>
            </a:r>
            <a:r>
              <a:rPr lang="en-US" sz="2400" dirty="0"/>
              <a:t>” (Verification) 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Simulation Tools</a:t>
            </a:r>
            <a:endParaRPr lang="en-US" sz="2400" dirty="0"/>
          </a:p>
          <a:p>
            <a:pPr lvl="1"/>
            <a:r>
              <a:rPr lang="en-US" sz="2000" dirty="0" err="1" smtClean="0"/>
              <a:t>Modelsim</a:t>
            </a:r>
            <a:r>
              <a:rPr lang="en-US" sz="2000" dirty="0" smtClean="0"/>
              <a:t> (Mentor Graphics)</a:t>
            </a:r>
          </a:p>
          <a:p>
            <a:pPr lvl="1"/>
            <a:r>
              <a:rPr lang="en-US" sz="2000" dirty="0" smtClean="0"/>
              <a:t>Simulators of Synthesis Tools</a:t>
            </a:r>
          </a:p>
          <a:p>
            <a:endParaRPr lang="en-US" sz="2800" dirty="0"/>
          </a:p>
          <a:p>
            <a:pPr lvl="1"/>
            <a:endParaRPr lang="en-US" sz="2000" dirty="0"/>
          </a:p>
          <a:p>
            <a:endParaRPr lang="en-US" sz="2400" kern="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 by </a:t>
            </a:r>
            <a:r>
              <a:rPr lang="en-US" dirty="0" err="1" smtClean="0"/>
              <a:t>Testbenches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82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/>
          <p:cNvSpPr txBox="1">
            <a:spLocks noChangeArrowheads="1"/>
          </p:cNvSpPr>
          <p:nvPr/>
        </p:nvSpPr>
        <p:spPr bwMode="auto">
          <a:xfrm>
            <a:off x="381000" y="1447800"/>
            <a:ext cx="8382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400" dirty="0" smtClean="0"/>
              <a:t>Synthesis Tool:</a:t>
            </a:r>
          </a:p>
          <a:p>
            <a:pPr lvl="1"/>
            <a:r>
              <a:rPr lang="en-US" sz="2000" dirty="0" smtClean="0"/>
              <a:t>Analyzes </a:t>
            </a:r>
            <a:r>
              <a:rPr lang="en-US" sz="2000" dirty="0"/>
              <a:t>a piece of </a:t>
            </a:r>
            <a:r>
              <a:rPr lang="en-US" sz="2000" dirty="0" smtClean="0"/>
              <a:t>HDL </a:t>
            </a:r>
            <a:r>
              <a:rPr lang="en-US" sz="2000" dirty="0"/>
              <a:t>code and converts it into optimized logic gates </a:t>
            </a:r>
            <a:endParaRPr lang="en-US" sz="2000" dirty="0" smtClean="0"/>
          </a:p>
          <a:p>
            <a:pPr lvl="1"/>
            <a:r>
              <a:rPr lang="en-US" sz="2000" dirty="0" smtClean="0"/>
              <a:t>This </a:t>
            </a:r>
            <a:r>
              <a:rPr lang="en-US" sz="2000" dirty="0"/>
              <a:t>conversion is done according to the </a:t>
            </a:r>
            <a:r>
              <a:rPr lang="en-US" sz="2000" b="1" dirty="0"/>
              <a:t>“language semantics” </a:t>
            </a:r>
            <a:endParaRPr lang="en-US" sz="2000" dirty="0"/>
          </a:p>
          <a:p>
            <a:pPr marL="0" indent="0">
              <a:buNone/>
            </a:pPr>
            <a:r>
              <a:rPr lang="en-US" b="1" dirty="0" smtClean="0"/>
              <a:t>→</a:t>
            </a:r>
            <a:r>
              <a:rPr lang="en-US" dirty="0"/>
              <a:t> </a:t>
            </a:r>
            <a:r>
              <a:rPr lang="en-US" sz="2000" dirty="0" smtClean="0"/>
              <a:t>We have to learn these language semantics, i.e., VHDL code </a:t>
            </a:r>
          </a:p>
          <a:p>
            <a:r>
              <a:rPr lang="en-US" sz="2400" dirty="0" smtClean="0"/>
              <a:t>Why </a:t>
            </a:r>
            <a:r>
              <a:rPr lang="en-US" sz="2400" dirty="0"/>
              <a:t>using synthesis tools? </a:t>
            </a:r>
            <a:endParaRPr lang="en-US" sz="2400" dirty="0" smtClean="0"/>
          </a:p>
          <a:p>
            <a:pPr lvl="1"/>
            <a:r>
              <a:rPr lang="en-US" sz="2000" dirty="0" smtClean="0"/>
              <a:t>It </a:t>
            </a:r>
            <a:r>
              <a:rPr lang="en-US" sz="2000" dirty="0"/>
              <a:t>is an important tool to improve designers’ productivity to meet today’s design complexity </a:t>
            </a:r>
          </a:p>
          <a:p>
            <a:pPr lvl="1"/>
            <a:r>
              <a:rPr lang="en-US" sz="2000" dirty="0" smtClean="0"/>
              <a:t>If </a:t>
            </a:r>
            <a:r>
              <a:rPr lang="en-US" sz="2000" dirty="0"/>
              <a:t>a designer can design 150 gates a day, it will take 6666 man’s day to design a 10-million gate design, or almost 20 years for 10 designers! This is assuming a linear grow of complexity when design gets bigger </a:t>
            </a:r>
          </a:p>
          <a:p>
            <a:pPr lvl="1"/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endParaRPr lang="en-US" sz="2800" dirty="0"/>
          </a:p>
          <a:p>
            <a:pPr lvl="1"/>
            <a:endParaRPr lang="en-US" sz="2000" dirty="0"/>
          </a:p>
          <a:p>
            <a:endParaRPr lang="en-US" sz="2400" kern="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Synthesis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02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/>
          <p:cNvSpPr txBox="1">
            <a:spLocks noChangeArrowheads="1"/>
          </p:cNvSpPr>
          <p:nvPr/>
        </p:nvSpPr>
        <p:spPr bwMode="auto">
          <a:xfrm>
            <a:off x="228600" y="1447800"/>
            <a:ext cx="44958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400" kern="0" dirty="0" smtClean="0"/>
              <a:t>Input</a:t>
            </a:r>
          </a:p>
          <a:p>
            <a:pPr lvl="1"/>
            <a:r>
              <a:rPr lang="en-US" sz="2000" kern="0" dirty="0" smtClean="0"/>
              <a:t>HDL Code</a:t>
            </a:r>
          </a:p>
          <a:p>
            <a:pPr lvl="1"/>
            <a:r>
              <a:rPr lang="en-US" sz="2000" kern="0" dirty="0" smtClean="0"/>
              <a:t>“Technology Library” file</a:t>
            </a:r>
          </a:p>
          <a:p>
            <a:pPr lvl="1"/>
            <a:r>
              <a:rPr lang="en-US" sz="2000" kern="0" dirty="0" smtClean="0"/>
              <a:t>Constraint file (Timing, area, power, loading requirement, optimization Alg.)</a:t>
            </a:r>
          </a:p>
          <a:p>
            <a:r>
              <a:rPr lang="en-US" sz="2400" kern="0" dirty="0" smtClean="0"/>
              <a:t>Output</a:t>
            </a:r>
          </a:p>
          <a:p>
            <a:pPr lvl="1"/>
            <a:r>
              <a:rPr lang="en-US" sz="2000" kern="0" dirty="0" smtClean="0"/>
              <a:t>A gate-level “</a:t>
            </a:r>
            <a:r>
              <a:rPr lang="en-US" sz="2000" kern="0" dirty="0" err="1" smtClean="0"/>
              <a:t>Netlist</a:t>
            </a:r>
            <a:r>
              <a:rPr lang="en-US" sz="2000" kern="0" dirty="0" smtClean="0"/>
              <a:t>” of the design</a:t>
            </a:r>
          </a:p>
          <a:p>
            <a:pPr lvl="1"/>
            <a:r>
              <a:rPr lang="en-US" sz="2000" kern="0" dirty="0" smtClean="0"/>
              <a:t>Timing files (.</a:t>
            </a:r>
            <a:r>
              <a:rPr lang="en-US" sz="2000" kern="0" dirty="0" err="1" smtClean="0"/>
              <a:t>sdf</a:t>
            </a:r>
            <a:r>
              <a:rPr lang="en-US" sz="2000" kern="0" dirty="0" smtClean="0"/>
              <a:t>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Synthesis Tools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749" y="3124200"/>
            <a:ext cx="4612197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0588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kern="0" dirty="0" smtClean="0"/>
              <a:t>A 2-to-1 Multiplexer (2x1 Mux)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Synthesis Example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790825"/>
            <a:ext cx="1676400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990849"/>
            <a:ext cx="1952625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2285999"/>
            <a:ext cx="2134491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266950"/>
            <a:ext cx="3209925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9347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/>
          <p:cNvSpPr txBox="1">
            <a:spLocks noChangeArrowheads="1"/>
          </p:cNvSpPr>
          <p:nvPr/>
        </p:nvSpPr>
        <p:spPr bwMode="auto">
          <a:xfrm>
            <a:off x="381000" y="1219200"/>
            <a:ext cx="8534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000" dirty="0" smtClean="0"/>
              <a:t>Infer </a:t>
            </a:r>
            <a:r>
              <a:rPr lang="en-US" sz="2000" dirty="0"/>
              <a:t>logic and state elements </a:t>
            </a:r>
          </a:p>
          <a:p>
            <a:r>
              <a:rPr lang="en-US" sz="2000" dirty="0" smtClean="0"/>
              <a:t>Perform </a:t>
            </a:r>
            <a:r>
              <a:rPr lang="en-US" sz="2000" dirty="0"/>
              <a:t>technology-independent optimizations </a:t>
            </a:r>
          </a:p>
          <a:p>
            <a:pPr lvl="1"/>
            <a:r>
              <a:rPr lang="en-US" sz="1800" dirty="0" smtClean="0"/>
              <a:t>e.g</a:t>
            </a:r>
            <a:r>
              <a:rPr lang="en-US" sz="1800" dirty="0"/>
              <a:t>., logic simplification, state assignment </a:t>
            </a:r>
          </a:p>
          <a:p>
            <a:r>
              <a:rPr lang="en-US" sz="2000" dirty="0" smtClean="0"/>
              <a:t>Map </a:t>
            </a:r>
            <a:r>
              <a:rPr lang="en-US" sz="2000" dirty="0"/>
              <a:t>elements to the target technology </a:t>
            </a:r>
          </a:p>
          <a:p>
            <a:r>
              <a:rPr lang="en-US" sz="2000" dirty="0" smtClean="0"/>
              <a:t>Perform </a:t>
            </a:r>
            <a:r>
              <a:rPr lang="en-US" sz="2000" dirty="0"/>
              <a:t>technology-dependent optimizations </a:t>
            </a:r>
          </a:p>
          <a:p>
            <a:pPr lvl="1"/>
            <a:r>
              <a:rPr lang="en-US" sz="1800" dirty="0" smtClean="0"/>
              <a:t>Multi-level </a:t>
            </a:r>
            <a:r>
              <a:rPr lang="en-US" sz="1800" dirty="0"/>
              <a:t>logic optimization </a:t>
            </a:r>
          </a:p>
          <a:p>
            <a:pPr lvl="1"/>
            <a:r>
              <a:rPr lang="en-US" sz="1800" dirty="0" smtClean="0"/>
              <a:t>Choose </a:t>
            </a:r>
            <a:r>
              <a:rPr lang="en-US" sz="1800" dirty="0"/>
              <a:t>gate strengths to achieve speed goals </a:t>
            </a:r>
          </a:p>
          <a:p>
            <a:endParaRPr lang="en-US" sz="2000" kern="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Synthesis Tool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3676650"/>
            <a:ext cx="8858250" cy="31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9347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for FPGA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99" y="1247721"/>
            <a:ext cx="7924801" cy="5534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0581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cs typeface="B Mitra" panose="00000400000000000000" pitchFamily="2" charset="-78"/>
              </a:rPr>
              <a:t>Application of HDLs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13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pic>
        <p:nvPicPr>
          <p:cNvPr id="6" name="Picture 4" descr="t_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600200"/>
            <a:ext cx="6513513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838200" y="4800600"/>
            <a:ext cx="7620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buFontTx/>
              <a:buChar char="•"/>
            </a:pPr>
            <a:r>
              <a:rPr lang="en-US" altLang="en-US" dirty="0">
                <a:cs typeface="B Mitra" panose="00000400000000000000" pitchFamily="2" charset="-78"/>
              </a:rPr>
              <a:t>VHDL</a:t>
            </a:r>
            <a:r>
              <a:rPr lang="ar-SA" altLang="en-US" dirty="0">
                <a:cs typeface="B Mitra" panose="00000400000000000000" pitchFamily="2" charset="-78"/>
              </a:rPr>
              <a:t> به عنوان زبان مستندسازي (توصيف فرمال و بدون ابهام).</a:t>
            </a:r>
          </a:p>
          <a:p>
            <a:pPr algn="r" rtl="1" eaLnBrk="1" hangingPunct="1">
              <a:buFontTx/>
              <a:buChar char="•"/>
            </a:pPr>
            <a:r>
              <a:rPr lang="ar-SA" altLang="en-US" dirty="0">
                <a:cs typeface="B Mitra" panose="00000400000000000000" pitchFamily="2" charset="-78"/>
              </a:rPr>
              <a:t>سنتز: تبديل (اتوماتيك يا دستي) يك توصيف به توصيفي با جز</a:t>
            </a:r>
            <a:r>
              <a:rPr lang="fa-IR" altLang="en-US" dirty="0">
                <a:cs typeface="B Mitra" panose="00000400000000000000" pitchFamily="2" charset="-78"/>
              </a:rPr>
              <a:t>ئ</a:t>
            </a:r>
            <a:r>
              <a:rPr lang="ar-SA" altLang="en-US" dirty="0">
                <a:cs typeface="B Mitra" panose="00000400000000000000" pitchFamily="2" charset="-78"/>
              </a:rPr>
              <a:t>يات بيشتر</a:t>
            </a:r>
            <a:endParaRPr lang="fa-IR" altLang="en-US" baseline="-25000" dirty="0"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52289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Concepts of </a:t>
            </a:r>
            <a:r>
              <a:rPr lang="en-US" altLang="en-US" dirty="0" smtClean="0"/>
              <a:t>HDL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14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pic>
        <p:nvPicPr>
          <p:cNvPr id="6" name="Picture 3" descr="t8_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4275" y="2181225"/>
            <a:ext cx="2676525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9"/>
          <p:cNvSpPr txBox="1">
            <a:spLocks noChangeArrowheads="1"/>
          </p:cNvSpPr>
          <p:nvPr/>
        </p:nvSpPr>
        <p:spPr bwMode="auto">
          <a:xfrm>
            <a:off x="981075" y="1662112"/>
            <a:ext cx="37338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altLang="en-US" dirty="0"/>
              <a:t> Execution of </a:t>
            </a:r>
            <a:r>
              <a:rPr lang="en-US" altLang="en-US" dirty="0" smtClean="0"/>
              <a:t>Statements:</a:t>
            </a:r>
            <a:endParaRPr lang="en-US" altLang="en-US" dirty="0"/>
          </a:p>
          <a:p>
            <a:pPr lvl="1" algn="l" rtl="0" eaLnBrk="1" hangingPunct="1">
              <a:buFontTx/>
              <a:buChar char="•"/>
            </a:pPr>
            <a:r>
              <a:rPr lang="en-US" altLang="en-US" dirty="0"/>
              <a:t> Sequential</a:t>
            </a:r>
          </a:p>
          <a:p>
            <a:pPr lvl="1" algn="l" rtl="0" eaLnBrk="1" hangingPunct="1">
              <a:buFontTx/>
              <a:buChar char="•"/>
            </a:pPr>
            <a:r>
              <a:rPr lang="en-US" altLang="en-US" dirty="0"/>
              <a:t> Concurrent</a:t>
            </a:r>
          </a:p>
        </p:txBody>
      </p:sp>
      <p:sp>
        <p:nvSpPr>
          <p:cNvPr id="9" name="Text Box 19"/>
          <p:cNvSpPr txBox="1">
            <a:spLocks noChangeArrowheads="1"/>
          </p:cNvSpPr>
          <p:nvPr/>
        </p:nvSpPr>
        <p:spPr bwMode="auto">
          <a:xfrm>
            <a:off x="5181600" y="1676400"/>
            <a:ext cx="3733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buFontTx/>
              <a:buChar char="•"/>
            </a:pPr>
            <a:r>
              <a:rPr lang="en-US" altLang="en-US" dirty="0" smtClean="0">
                <a:cs typeface="B Mitra" panose="00000400000000000000" pitchFamily="2" charset="-78"/>
              </a:rPr>
              <a:t> </a:t>
            </a:r>
            <a:r>
              <a:rPr lang="fa-IR" altLang="en-US" dirty="0" smtClean="0">
                <a:cs typeface="B Mitra" panose="00000400000000000000" pitchFamily="2" charset="-78"/>
              </a:rPr>
              <a:t>اجرای دستورات:</a:t>
            </a:r>
            <a:endParaRPr lang="en-US" altLang="en-US" dirty="0" smtClean="0">
              <a:cs typeface="B Mitra" panose="00000400000000000000" pitchFamily="2" charset="-78"/>
            </a:endParaRPr>
          </a:p>
          <a:p>
            <a:pPr lvl="1" algn="r" rtl="1" eaLnBrk="1" hangingPunct="1">
              <a:buFontTx/>
              <a:buChar char="•"/>
            </a:pPr>
            <a:r>
              <a:rPr lang="fa-IR" altLang="en-US" dirty="0" smtClean="0">
                <a:cs typeface="B Mitra" panose="00000400000000000000" pitchFamily="2" charset="-78"/>
              </a:rPr>
              <a:t>ترتیبی </a:t>
            </a:r>
            <a:endParaRPr lang="en-US" altLang="en-US" dirty="0" smtClean="0">
              <a:cs typeface="B Mitra" panose="00000400000000000000" pitchFamily="2" charset="-78"/>
            </a:endParaRPr>
          </a:p>
          <a:p>
            <a:pPr lvl="1" algn="r" rtl="1" eaLnBrk="1" hangingPunct="1">
              <a:buFontTx/>
              <a:buChar char="•"/>
            </a:pPr>
            <a:r>
              <a:rPr lang="fa-IR" altLang="en-US" dirty="0" smtClean="0">
                <a:cs typeface="B Mitra" panose="00000400000000000000" pitchFamily="2" charset="-78"/>
              </a:rPr>
              <a:t>همزمان (موازی)</a:t>
            </a:r>
            <a:endParaRPr lang="en-US" altLang="en-US" dirty="0"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25055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Concepts of </a:t>
            </a:r>
            <a:r>
              <a:rPr lang="en-US" altLang="en-US" dirty="0" smtClean="0"/>
              <a:t>HDL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15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381000" y="1371600"/>
            <a:ext cx="8686800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lvl="1" algn="r" rtl="1" eaLnBrk="1" hangingPunct="1">
              <a:buFontTx/>
              <a:buChar char="•"/>
            </a:pPr>
            <a:r>
              <a:rPr lang="ar-SA" altLang="en-US" dirty="0">
                <a:cs typeface="B Mitra" panose="00000400000000000000" pitchFamily="2" charset="-78"/>
              </a:rPr>
              <a:t>  </a:t>
            </a:r>
            <a:r>
              <a:rPr lang="en-US" altLang="en-US" dirty="0">
                <a:cs typeface="B Mitra" panose="00000400000000000000" pitchFamily="2" charset="-78"/>
              </a:rPr>
              <a:t>Abstraction</a:t>
            </a:r>
            <a:r>
              <a:rPr lang="ar-SA" altLang="en-US" dirty="0">
                <a:cs typeface="B Mitra" panose="00000400000000000000" pitchFamily="2" charset="-78"/>
              </a:rPr>
              <a:t>: طرح را مي توان در سطوح مختلفي از جزئيات توصيف كرد:</a:t>
            </a:r>
          </a:p>
          <a:p>
            <a:pPr lvl="3" algn="r" rtl="1" eaLnBrk="1" hangingPunct="1">
              <a:buFontTx/>
              <a:buChar char="•"/>
            </a:pPr>
            <a:r>
              <a:rPr lang="ar-SA" altLang="en-US" dirty="0">
                <a:cs typeface="B Mitra" panose="00000400000000000000" pitchFamily="2" charset="-78"/>
              </a:rPr>
              <a:t>  براي مدلسازي</a:t>
            </a:r>
            <a:r>
              <a:rPr lang="fa-IR" altLang="en-US" dirty="0">
                <a:cs typeface="B Mitra" panose="00000400000000000000" pitchFamily="2" charset="-78"/>
              </a:rPr>
              <a:t>،</a:t>
            </a:r>
            <a:r>
              <a:rPr lang="ar-SA" altLang="en-US" dirty="0">
                <a:cs typeface="B Mitra" panose="00000400000000000000" pitchFamily="2" charset="-78"/>
              </a:rPr>
              <a:t> سطوح بالا كافي است.</a:t>
            </a:r>
          </a:p>
          <a:p>
            <a:pPr lvl="3" algn="r" rtl="1" eaLnBrk="1" hangingPunct="1">
              <a:buFontTx/>
              <a:buChar char="•"/>
            </a:pPr>
            <a:r>
              <a:rPr lang="ar-SA" altLang="en-US" dirty="0">
                <a:cs typeface="B Mitra" panose="00000400000000000000" pitchFamily="2" charset="-78"/>
              </a:rPr>
              <a:t>  براي سنتز</a:t>
            </a:r>
            <a:r>
              <a:rPr lang="fa-IR" altLang="en-US" dirty="0">
                <a:cs typeface="B Mitra" panose="00000400000000000000" pitchFamily="2" charset="-78"/>
              </a:rPr>
              <a:t>،</a:t>
            </a:r>
            <a:r>
              <a:rPr lang="ar-SA" altLang="en-US" dirty="0">
                <a:cs typeface="B Mitra" panose="00000400000000000000" pitchFamily="2" charset="-78"/>
              </a:rPr>
              <a:t> ممكن است جزئيات بيشتري لازم باشد.</a:t>
            </a:r>
          </a:p>
          <a:p>
            <a:pPr lvl="1" algn="r" rtl="1" eaLnBrk="1" hangingPunct="1">
              <a:buFontTx/>
              <a:buChar char="•"/>
            </a:pPr>
            <a:endParaRPr lang="en-US" altLang="en-US" sz="2000" dirty="0">
              <a:cs typeface="B Mitra" panose="00000400000000000000" pitchFamily="2" charset="-78"/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381000" y="2706231"/>
            <a:ext cx="868680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lvl="1" algn="r" rtl="1" eaLnBrk="1" hangingPunct="1">
              <a:buFontTx/>
              <a:buChar char="•"/>
            </a:pPr>
            <a:r>
              <a:rPr lang="en-US" altLang="en-US" dirty="0">
                <a:cs typeface="B Mitra" panose="00000400000000000000" pitchFamily="2" charset="-78"/>
              </a:rPr>
              <a:t>Modularity</a:t>
            </a:r>
            <a:r>
              <a:rPr lang="ar-SA" altLang="en-US" dirty="0">
                <a:cs typeface="B Mitra" panose="00000400000000000000" pitchFamily="2" charset="-78"/>
              </a:rPr>
              <a:t>: مي توان بلوك بزرگ پيچيده را به بلوكهاي كوچكتر تقسيم كرد و براي هر بخش يك مدل نوشت.</a:t>
            </a:r>
          </a:p>
          <a:p>
            <a:pPr lvl="1" algn="r" rtl="1" eaLnBrk="1" hangingPunct="1">
              <a:buFontTx/>
              <a:buChar char="•"/>
            </a:pPr>
            <a:r>
              <a:rPr lang="ar-SA" altLang="en-US" dirty="0">
                <a:cs typeface="B Mitra" panose="00000400000000000000" pitchFamily="2" charset="-78"/>
              </a:rPr>
              <a:t>  </a:t>
            </a:r>
            <a:r>
              <a:rPr lang="en-US" altLang="en-US" dirty="0">
                <a:cs typeface="B Mitra" panose="00000400000000000000" pitchFamily="2" charset="-78"/>
              </a:rPr>
              <a:t>Hierarchy</a:t>
            </a:r>
            <a:r>
              <a:rPr lang="ar-SA" altLang="en-US" dirty="0">
                <a:cs typeface="B Mitra" panose="00000400000000000000" pitchFamily="2" charset="-78"/>
              </a:rPr>
              <a:t>: تشكيل يك درخت  سلسله مراتبي</a:t>
            </a:r>
          </a:p>
          <a:p>
            <a:pPr lvl="3" algn="r" rtl="1" eaLnBrk="1" hangingPunct="1">
              <a:buFontTx/>
              <a:buChar char="•"/>
            </a:pPr>
            <a:r>
              <a:rPr lang="ar-SA" altLang="en-US" dirty="0">
                <a:cs typeface="B Mitra" panose="00000400000000000000" pitchFamily="2" charset="-78"/>
              </a:rPr>
              <a:t>  هر كدام از نودها ممكن است در سطح متفاوتي از </a:t>
            </a:r>
            <a:r>
              <a:rPr lang="en-US" altLang="en-US" dirty="0">
                <a:cs typeface="B Mitra" panose="00000400000000000000" pitchFamily="2" charset="-78"/>
              </a:rPr>
              <a:t>abstraction</a:t>
            </a:r>
            <a:r>
              <a:rPr lang="ar-SA" altLang="en-US" dirty="0">
                <a:cs typeface="B Mitra" panose="00000400000000000000" pitchFamily="2" charset="-78"/>
              </a:rPr>
              <a:t> توصيف شده باشد.</a:t>
            </a:r>
            <a:endParaRPr lang="en-US" altLang="en-US" dirty="0">
              <a:cs typeface="B Mitra" panose="00000400000000000000" pitchFamily="2" charset="-78"/>
            </a:endParaRPr>
          </a:p>
          <a:p>
            <a:pPr lvl="1" algn="r" rtl="1" eaLnBrk="1" hangingPunct="1">
              <a:buFontTx/>
              <a:buChar char="•"/>
            </a:pPr>
            <a:endParaRPr lang="en-US" altLang="en-US" sz="2000" dirty="0">
              <a:cs typeface="B Mitra" panose="00000400000000000000" pitchFamily="2" charset="-78"/>
            </a:endParaRPr>
          </a:p>
        </p:txBody>
      </p:sp>
      <p:pic>
        <p:nvPicPr>
          <p:cNvPr id="11" name="Picture 7" descr="t8_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0" y="4419600"/>
            <a:ext cx="3276600" cy="1850454"/>
          </a:xfrm>
          <a:noFill/>
        </p:spPr>
      </p:pic>
    </p:spTree>
    <p:extLst>
      <p:ext uri="{BB962C8B-B14F-4D97-AF65-F5344CB8AC3E}">
        <p14:creationId xmlns:p14="http://schemas.microsoft.com/office/powerpoint/2010/main" val="4248284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0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en-US" dirty="0"/>
              <a:t>Modeling Capability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16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pic>
        <p:nvPicPr>
          <p:cNvPr id="8" name="Picture 3" descr="E:\SZAMANI\vhdl\Slides\Navabi\Modified\vhdl_verilog_capability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0200"/>
            <a:ext cx="7315200" cy="4565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8058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12652</TotalTime>
  <Words>613</Words>
  <Application>Microsoft Office PowerPoint</Application>
  <PresentationFormat>On-screen Show (4:3)</PresentationFormat>
  <Paragraphs>136</Paragraphs>
  <Slides>16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Blank Presentation</vt:lpstr>
      <vt:lpstr>Computer-Aided Design    Design Cycle</vt:lpstr>
      <vt:lpstr>FPGA vs. ASIC Design Flow</vt:lpstr>
      <vt:lpstr>چرخه ي طراحي براي FPLDها</vt:lpstr>
      <vt:lpstr>چرخه ي طراحي براي FPLDها</vt:lpstr>
      <vt:lpstr>FPGA and Embedded Design</vt:lpstr>
      <vt:lpstr>Entry – HDL Coding</vt:lpstr>
      <vt:lpstr>Simulation by Testbenches</vt:lpstr>
      <vt:lpstr>Synthesis</vt:lpstr>
      <vt:lpstr>Synthesis Tools</vt:lpstr>
      <vt:lpstr>Synthesis Example</vt:lpstr>
      <vt:lpstr>Synthesis Tool</vt:lpstr>
      <vt:lpstr>Implementation for FPGA</vt:lpstr>
      <vt:lpstr>Application of HDLs</vt:lpstr>
      <vt:lpstr>Concepts of HDL</vt:lpstr>
      <vt:lpstr>Concepts of HDL</vt:lpstr>
      <vt:lpstr>Modeling Capability</vt:lpstr>
    </vt:vector>
  </TitlesOfParts>
  <Company>EPFL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MEGAFRAME Chip</dc:title>
  <dc:creator>Mahdi</dc:creator>
  <cp:lastModifiedBy>asus</cp:lastModifiedBy>
  <cp:revision>650</cp:revision>
  <cp:lastPrinted>2019-02-24T20:57:32Z</cp:lastPrinted>
  <dcterms:created xsi:type="dcterms:W3CDTF">2009-11-03T19:03:43Z</dcterms:created>
  <dcterms:modified xsi:type="dcterms:W3CDTF">2019-02-25T12:53:57Z</dcterms:modified>
</cp:coreProperties>
</file>