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37"/>
  </p:notesMasterIdLst>
  <p:handoutMasterIdLst>
    <p:handoutMasterId r:id="rId38"/>
  </p:handoutMasterIdLst>
  <p:sldIdLst>
    <p:sldId id="258" r:id="rId2"/>
    <p:sldId id="633" r:id="rId3"/>
    <p:sldId id="634" r:id="rId4"/>
    <p:sldId id="588" r:id="rId5"/>
    <p:sldId id="596" r:id="rId6"/>
    <p:sldId id="597" r:id="rId7"/>
    <p:sldId id="589" r:id="rId8"/>
    <p:sldId id="626" r:id="rId9"/>
    <p:sldId id="627" r:id="rId10"/>
    <p:sldId id="625" r:id="rId11"/>
    <p:sldId id="590" r:id="rId12"/>
    <p:sldId id="603" r:id="rId13"/>
    <p:sldId id="623" r:id="rId14"/>
    <p:sldId id="624" r:id="rId15"/>
    <p:sldId id="628" r:id="rId16"/>
    <p:sldId id="635" r:id="rId17"/>
    <p:sldId id="602" r:id="rId18"/>
    <p:sldId id="593" r:id="rId19"/>
    <p:sldId id="629" r:id="rId20"/>
    <p:sldId id="631" r:id="rId21"/>
    <p:sldId id="592" r:id="rId22"/>
    <p:sldId id="594" r:id="rId23"/>
    <p:sldId id="630" r:id="rId24"/>
    <p:sldId id="632" r:id="rId25"/>
    <p:sldId id="595" r:id="rId26"/>
    <p:sldId id="599" r:id="rId27"/>
    <p:sldId id="598" r:id="rId28"/>
    <p:sldId id="604" r:id="rId29"/>
    <p:sldId id="600" r:id="rId30"/>
    <p:sldId id="608" r:id="rId31"/>
    <p:sldId id="609" r:id="rId32"/>
    <p:sldId id="621" r:id="rId33"/>
    <p:sldId id="610" r:id="rId34"/>
    <p:sldId id="619" r:id="rId35"/>
    <p:sldId id="620" r:id="rId3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65" autoAdjust="0"/>
    <p:restoredTop sz="96405" autoAdjust="0"/>
  </p:normalViewPr>
  <p:slideViewPr>
    <p:cSldViewPr>
      <p:cViewPr varScale="1">
        <p:scale>
          <a:sx n="80" d="100"/>
          <a:sy n="80" d="100"/>
        </p:scale>
        <p:origin x="146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99" d="100"/>
          <a:sy n="99" d="100"/>
        </p:scale>
        <p:origin x="-2664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1F03B7-E3BF-40F2-ADDC-6E1D7F1CA8D5}" type="datetimeFigureOut">
              <a:rPr lang="en-US" smtClean="0"/>
              <a:pPr/>
              <a:t>10/22/2024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D3AD05-09B9-40E3-AE39-E644A0E36E7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3958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-6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-6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-6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-64" charset="-128"/>
              </a:defRPr>
            </a:lvl1pPr>
          </a:lstStyle>
          <a:p>
            <a:pPr>
              <a:defRPr/>
            </a:pPr>
            <a:fld id="{00AFF51F-A535-4BB3-9A7D-F6E9C3D0AB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6667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6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6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6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6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6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363DD2-35CD-4EE1-8D23-F5E51EE2026C}" type="slidenum">
              <a:rPr lang="en-US" smtClean="0">
                <a:ea typeface="ＭＳ Ｐゴシック" pitchFamily="34" charset="-128"/>
              </a:rPr>
              <a:pPr/>
              <a:t>1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2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3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3339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9706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4577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6967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2651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228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7533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564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655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9871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4730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3019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7296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2563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1574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6785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2925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505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035BB-E83D-4AE3-B588-6367177E4C6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447800"/>
            <a:ext cx="77724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400800"/>
            <a:ext cx="2895600" cy="457200"/>
          </a:xfrm>
          <a:ln/>
        </p:spPr>
        <p:txBody>
          <a:bodyPr anchor="ctr"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8" name="Line 7"/>
          <p:cNvSpPr>
            <a:spLocks noChangeShapeType="1"/>
          </p:cNvSpPr>
          <p:nvPr userDrawn="1"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pitchFamily="-64" charset="-128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848600" y="6248400"/>
            <a:ext cx="60960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035BB-E83D-4AE3-B588-6367177E4C6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" name="Rectangle 5"/>
          <p:cNvSpPr txBox="1">
            <a:spLocks noChangeArrowheads="1"/>
          </p:cNvSpPr>
          <p:nvPr userDrawn="1"/>
        </p:nvSpPr>
        <p:spPr bwMode="auto">
          <a:xfrm>
            <a:off x="76200" y="64008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ＭＳ Ｐゴシック" pitchFamily="-6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9pPr>
          </a:lstStyle>
          <a:p>
            <a:pPr>
              <a:defRPr/>
            </a:pPr>
            <a:r>
              <a:rPr lang="en-US" dirty="0"/>
              <a:t>CAD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C6B078-E125-4DAE-82C9-FB5092426F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1AE13A-4373-4A10-BF50-1216A6DA4B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773B77-06D6-496A-AF15-B301F6359E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B7CDAC-F5ED-4CF5-A040-46BD3FD9F2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971EB1-DEE5-4D2D-8A66-35542A031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6BF3FD-ABE3-474C-887C-A20A0AC880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D3FA32-19A7-4689-86E1-488491BC67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B5F6F7-0353-42FD-B0B9-3AA415C0A8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0"/>
            <a:ext cx="194310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0"/>
            <a:ext cx="567690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CE2495-6C37-4148-B092-2BA900427C3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ＭＳ Ｐゴシック" pitchFamily="-64" charset="-128"/>
              </a:defRPr>
            </a:lvl1pPr>
          </a:lstStyle>
          <a:p>
            <a:pPr>
              <a:defRPr/>
            </a:pPr>
            <a:r>
              <a:rPr lang="en-US"/>
              <a:t>November 12, 2010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ＭＳ Ｐゴシック" pitchFamily="-64" charset="-128"/>
              </a:defRPr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ＭＳ Ｐゴシック" pitchFamily="-64" charset="-128"/>
              </a:defRPr>
            </a:lvl1pPr>
          </a:lstStyle>
          <a:p>
            <a:pPr>
              <a:defRPr/>
            </a:pPr>
            <a:fld id="{141EC098-193F-4E7D-8F63-132E3FF025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D:\Documents\Courses\BSc_Hardware Modeling (BS)\Slides\Photos\processor-2217771_960_72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004887"/>
            <a:ext cx="8915400" cy="5014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143000"/>
            <a:ext cx="9144000" cy="3733800"/>
          </a:xfrm>
        </p:spPr>
        <p:txBody>
          <a:bodyPr/>
          <a:lstStyle/>
          <a:p>
            <a:pPr lvl="1" eaLnBrk="1" hangingPunct="1"/>
            <a:r>
              <a:rPr lang="en-US" sz="4800" b="1" dirty="0">
                <a:solidFill>
                  <a:schemeClr val="bg1"/>
                </a:solidFill>
                <a:cs typeface="Times New Roman" pitchFamily="18" charset="0"/>
              </a:rPr>
              <a:t>Computer-Aided Design</a:t>
            </a:r>
            <a:br>
              <a:rPr lang="en-US" sz="4800" b="1" dirty="0">
                <a:solidFill>
                  <a:schemeClr val="bg1"/>
                </a:solidFill>
                <a:cs typeface="Times New Roman" pitchFamily="18" charset="0"/>
              </a:rPr>
            </a:br>
            <a:br>
              <a:rPr lang="fa-IR" sz="4800" b="1" dirty="0">
                <a:solidFill>
                  <a:schemeClr val="bg1"/>
                </a:solidFill>
                <a:cs typeface="Times New Roman" pitchFamily="18" charset="0"/>
              </a:rPr>
            </a:br>
            <a:br>
              <a:rPr lang="fa-IR" sz="4800" b="1" dirty="0">
                <a:solidFill>
                  <a:schemeClr val="bg1"/>
                </a:solidFill>
                <a:cs typeface="Times New Roman" pitchFamily="18" charset="0"/>
              </a:rPr>
            </a:br>
            <a:br>
              <a:rPr lang="en-US" sz="4800" b="1" dirty="0">
                <a:solidFill>
                  <a:schemeClr val="bg1"/>
                </a:solidFill>
                <a:cs typeface="Times New Roman" pitchFamily="18" charset="0"/>
              </a:rPr>
            </a:br>
            <a:r>
              <a:rPr lang="en-US" sz="4800" b="1" dirty="0">
                <a:solidFill>
                  <a:schemeClr val="bg1"/>
                </a:solidFill>
                <a:cs typeface="Times New Roman" pitchFamily="18" charset="0"/>
              </a:rPr>
              <a:t>VHDL Syntax</a:t>
            </a:r>
            <a:endParaRPr lang="en-US" sz="4800" b="1" dirty="0">
              <a:solidFill>
                <a:schemeClr val="bg1"/>
              </a:solidFill>
              <a:cs typeface="B Mitra" panose="00000400000000000000" pitchFamily="2" charset="-78"/>
            </a:endParaRPr>
          </a:p>
        </p:txBody>
      </p:sp>
      <p:pic>
        <p:nvPicPr>
          <p:cNvPr id="10" name="Picture 9" descr="https://www.guilan.ac.ir/images/fa2.jpg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51691"/>
            <a:ext cx="3200400" cy="80630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78630" y="5562600"/>
            <a:ext cx="8177213" cy="609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b="1" dirty="0">
                <a:solidFill>
                  <a:schemeClr val="bg1"/>
                </a:solidFill>
                <a:cs typeface="Times New Roman" pitchFamily="18" charset="0"/>
              </a:rPr>
              <a:t>Mahdi Aminian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6019800"/>
            <a:ext cx="4800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Some slides courtesy of: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“Hardware Systems Modeling”, A. </a:t>
            </a:r>
            <a:r>
              <a:rPr lang="en-US" sz="1400" dirty="0" err="1"/>
              <a:t>Vachoux</a:t>
            </a:r>
            <a:r>
              <a:rPr lang="en-US" sz="1400" dirty="0"/>
              <a:t>, EPFL 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“VHDL”, Dan </a:t>
            </a:r>
            <a:r>
              <a:rPr lang="en-US" sz="1400" dirty="0" err="1"/>
              <a:t>Solarek</a:t>
            </a:r>
            <a:r>
              <a:rPr lang="en-US" sz="1400" dirty="0"/>
              <a:t>, University of Toledo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CAD slides from Dr. </a:t>
            </a:r>
            <a:r>
              <a:rPr lang="en-US" sz="1400" dirty="0" err="1"/>
              <a:t>Saheb</a:t>
            </a:r>
            <a:r>
              <a:rPr lang="en-US" sz="1400" dirty="0"/>
              <a:t> </a:t>
            </a:r>
            <a:r>
              <a:rPr lang="en-US" sz="1400" dirty="0" err="1"/>
              <a:t>Zamani</a:t>
            </a:r>
            <a:endParaRPr lang="en-US" sz="1400" dirty="0"/>
          </a:p>
        </p:txBody>
      </p:sp>
    </p:spTree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VHDL - Overview</a:t>
            </a:r>
            <a:endParaRPr lang="en-US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/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457200" y="1219200"/>
            <a:ext cx="7924800" cy="2046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233363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indent="350838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>
              <a:buFontTx/>
              <a:buChar char="•"/>
            </a:pPr>
            <a:r>
              <a:rPr lang="en-US" altLang="en-US" sz="2000" b="0" dirty="0"/>
              <a:t>Very High Speed Integrated Circuit Hardware Description Language </a:t>
            </a:r>
          </a:p>
          <a:p>
            <a:pPr lvl="1" algn="l" rtl="0" eaLnBrk="1" hangingPunct="1">
              <a:buFontTx/>
              <a:buChar char="•"/>
            </a:pPr>
            <a:r>
              <a:rPr lang="en-US" altLang="en-US" sz="2000" b="0" dirty="0"/>
              <a:t>Modeling of digital systems </a:t>
            </a:r>
          </a:p>
          <a:p>
            <a:pPr lvl="1" algn="l" rtl="0" eaLnBrk="1" hangingPunct="1">
              <a:buFontTx/>
              <a:buChar char="•"/>
            </a:pPr>
            <a:r>
              <a:rPr lang="en-US" altLang="en-US" sz="2000" b="0" dirty="0"/>
              <a:t>Concurrent and sequential statements </a:t>
            </a:r>
          </a:p>
          <a:p>
            <a:pPr algn="l" rtl="0" eaLnBrk="1" hangingPunct="1">
              <a:buFontTx/>
              <a:buChar char="•"/>
            </a:pPr>
            <a:r>
              <a:rPr lang="en-US" altLang="en-US" sz="2000" b="0" dirty="0"/>
              <a:t>International Standards </a:t>
            </a:r>
          </a:p>
          <a:p>
            <a:pPr lvl="1" algn="l" rtl="0" eaLnBrk="1" hangingPunct="1">
              <a:buFontTx/>
              <a:buChar char="•"/>
            </a:pPr>
            <a:r>
              <a:rPr lang="en-US" altLang="en-US" sz="2000" b="0" dirty="0"/>
              <a:t>IEEE </a:t>
            </a:r>
            <a:r>
              <a:rPr lang="en-US" altLang="en-US" sz="2000" b="0" dirty="0" err="1"/>
              <a:t>Std</a:t>
            </a:r>
            <a:r>
              <a:rPr lang="en-US" altLang="en-US" sz="2000" b="0" dirty="0"/>
              <a:t> 1076-1987 </a:t>
            </a:r>
          </a:p>
          <a:p>
            <a:pPr lvl="1" algn="l" rtl="0" eaLnBrk="1" hangingPunct="1">
              <a:buFontTx/>
              <a:buChar char="•"/>
            </a:pPr>
            <a:r>
              <a:rPr lang="en-US" altLang="en-US" sz="2000" b="0" dirty="0"/>
              <a:t>IEEE </a:t>
            </a:r>
            <a:r>
              <a:rPr lang="en-US" altLang="en-US" sz="2000" b="0" dirty="0" err="1"/>
              <a:t>Std</a:t>
            </a:r>
            <a:r>
              <a:rPr lang="en-US" altLang="en-US" sz="2000" b="0" dirty="0"/>
              <a:t> 1076-1993, 2000, 2002, …</a:t>
            </a:r>
          </a:p>
          <a:p>
            <a:pPr algn="l" rtl="0" eaLnBrk="1" hangingPunct="1"/>
            <a:endParaRPr lang="en-US" altLang="en-US" sz="700" b="0" dirty="0"/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228600" y="3352800"/>
            <a:ext cx="8305800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914400" indent="-4572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371600" indent="-4572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r" rtl="1" eaLnBrk="1" hangingPunct="1">
              <a:buFontTx/>
              <a:buChar char="•"/>
            </a:pPr>
            <a:r>
              <a:rPr lang="ar-SA" altLang="en-US" dirty="0">
                <a:cs typeface="B Mitra" panose="00000400000000000000" pitchFamily="2" charset="-78"/>
              </a:rPr>
              <a:t>علاوه بر استانداردهاي خالص, تلاشهايي براي استاندارد كردن عوامل مربوط به </a:t>
            </a:r>
            <a:r>
              <a:rPr lang="en-US" altLang="en-US" dirty="0">
                <a:cs typeface="B Mitra" panose="00000400000000000000" pitchFamily="2" charset="-78"/>
              </a:rPr>
              <a:t>VHDL</a:t>
            </a:r>
            <a:r>
              <a:rPr lang="ar-SA" altLang="en-US" dirty="0">
                <a:cs typeface="B Mitra" panose="00000400000000000000" pitchFamily="2" charset="-78"/>
              </a:rPr>
              <a:t> انجام گرفته است:</a:t>
            </a:r>
          </a:p>
          <a:p>
            <a:pPr lvl="1" algn="r" rtl="1" eaLnBrk="1" hangingPunct="1">
              <a:buFontTx/>
              <a:buChar char="•"/>
            </a:pPr>
            <a:r>
              <a:rPr lang="fa-IR" altLang="en-US" dirty="0">
                <a:cs typeface="B Mitra" panose="00000400000000000000" pitchFamily="2" charset="-78"/>
              </a:rPr>
              <a:t>پكيج هاي </a:t>
            </a:r>
          </a:p>
          <a:p>
            <a:pPr lvl="2" algn="r" rtl="1" eaLnBrk="1" hangingPunct="1">
              <a:buFontTx/>
              <a:buChar char="•"/>
            </a:pPr>
            <a:r>
              <a:rPr lang="en-US" altLang="en-US" sz="2000" dirty="0">
                <a:cs typeface="B Mitra" panose="00000400000000000000" pitchFamily="2" charset="-78"/>
              </a:rPr>
              <a:t>Std_logic_1164</a:t>
            </a:r>
          </a:p>
          <a:p>
            <a:pPr lvl="2" algn="r" rtl="1" eaLnBrk="1" hangingPunct="1">
              <a:buFontTx/>
              <a:buChar char="•"/>
            </a:pPr>
            <a:r>
              <a:rPr lang="en-US" altLang="en-US" sz="2000" dirty="0" err="1">
                <a:cs typeface="B Mitra" panose="00000400000000000000" pitchFamily="2" charset="-78"/>
              </a:rPr>
              <a:t>Numeric_bit</a:t>
            </a:r>
            <a:endParaRPr lang="en-US" altLang="en-US" sz="2000" dirty="0">
              <a:cs typeface="B Mitra" panose="00000400000000000000" pitchFamily="2" charset="-78"/>
            </a:endParaRPr>
          </a:p>
          <a:p>
            <a:pPr lvl="2" algn="r" rtl="1" eaLnBrk="1" hangingPunct="1">
              <a:buFontTx/>
              <a:buChar char="•"/>
            </a:pPr>
            <a:r>
              <a:rPr lang="en-US" altLang="en-US" sz="2000" dirty="0" err="1">
                <a:cs typeface="B Mitra" panose="00000400000000000000" pitchFamily="2" charset="-78"/>
              </a:rPr>
              <a:t>Numeric_std</a:t>
            </a:r>
            <a:endParaRPr lang="en-US" altLang="en-US" sz="2000" dirty="0">
              <a:cs typeface="B Mitra" panose="00000400000000000000" pitchFamily="2" charset="-78"/>
            </a:endParaRPr>
          </a:p>
          <a:p>
            <a:pPr lvl="1" algn="r" rtl="1" eaLnBrk="1" hangingPunct="1">
              <a:buFontTx/>
              <a:buChar char="•"/>
            </a:pPr>
            <a:r>
              <a:rPr lang="ar-SA" altLang="en-US" dirty="0">
                <a:cs typeface="B Mitra" panose="00000400000000000000" pitchFamily="2" charset="-78"/>
              </a:rPr>
              <a:t>زيرمجموعة قابل سنتز</a:t>
            </a:r>
            <a:r>
              <a:rPr lang="fa-IR" altLang="en-US" dirty="0">
                <a:cs typeface="B Mitra" panose="00000400000000000000" pitchFamily="2" charset="-78"/>
              </a:rPr>
              <a:t>: استاندارد</a:t>
            </a:r>
            <a:r>
              <a:rPr lang="ar-SA" altLang="en-US" dirty="0">
                <a:cs typeface="B Mitra" panose="00000400000000000000" pitchFamily="2" charset="-78"/>
              </a:rPr>
              <a:t> </a:t>
            </a:r>
            <a:r>
              <a:rPr lang="en-US" altLang="en-US" dirty="0">
                <a:cs typeface="B Mitra" panose="00000400000000000000" pitchFamily="2" charset="-78"/>
              </a:rPr>
              <a:t>1076.6</a:t>
            </a:r>
          </a:p>
          <a:p>
            <a:pPr lvl="1" algn="r" rtl="1" eaLnBrk="1" hangingPunct="1">
              <a:buFontTx/>
              <a:buChar char="•"/>
            </a:pPr>
            <a:r>
              <a:rPr lang="en-US" altLang="en-US" sz="2000" dirty="0">
                <a:cs typeface="B Mitra" panose="00000400000000000000" pitchFamily="2" charset="-78"/>
              </a:rPr>
              <a:t>VHDL-AMS 1076.1</a:t>
            </a:r>
            <a:endParaRPr lang="fa-IR" altLang="en-US" sz="2000" dirty="0">
              <a:cs typeface="B Mitra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80887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altLang="en-US" dirty="0">
                <a:cs typeface="B Mitra" panose="00000400000000000000" pitchFamily="2" charset="-78"/>
              </a:rPr>
              <a:t>Abstraction Levels in IC Design</a:t>
            </a:r>
            <a:endParaRPr lang="en-US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/>
          </a:p>
        </p:txBody>
      </p:sp>
      <p:pic>
        <p:nvPicPr>
          <p:cNvPr id="6" name="Picture 4" descr="t_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457325"/>
            <a:ext cx="7038975" cy="334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2238375" y="5394325"/>
            <a:ext cx="5486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lvl="1" algn="r" rtl="1" eaLnBrk="1" hangingPunct="1">
              <a:buFontTx/>
              <a:buChar char="•"/>
            </a:pPr>
            <a:r>
              <a:rPr lang="ar-SA" altLang="en-US" sz="2000" dirty="0">
                <a:cs typeface="B Mitra" panose="00000400000000000000" pitchFamily="2" charset="-78"/>
              </a:rPr>
              <a:t>  </a:t>
            </a:r>
            <a:r>
              <a:rPr lang="en-US" altLang="en-US" sz="2000" dirty="0">
                <a:cs typeface="B Mitra" panose="00000400000000000000" pitchFamily="2" charset="-78"/>
              </a:rPr>
              <a:t>VHDL </a:t>
            </a:r>
            <a:r>
              <a:rPr lang="ar-SA" altLang="en-US" sz="2000" dirty="0">
                <a:cs typeface="B Mitra" panose="00000400000000000000" pitchFamily="2" charset="-78"/>
              </a:rPr>
              <a:t>براي سطح  </a:t>
            </a:r>
            <a:r>
              <a:rPr lang="en-US" altLang="en-US" sz="2000" dirty="0">
                <a:cs typeface="B Mitra" panose="00000400000000000000" pitchFamily="2" charset="-78"/>
              </a:rPr>
              <a:t> layout</a:t>
            </a:r>
            <a:r>
              <a:rPr lang="ar-SA" altLang="en-US" sz="2000" dirty="0">
                <a:cs typeface="B Mitra" panose="00000400000000000000" pitchFamily="2" charset="-78"/>
              </a:rPr>
              <a:t>مناسب نيست.</a:t>
            </a:r>
            <a:endParaRPr lang="en-US" altLang="en-US" sz="2000" dirty="0">
              <a:cs typeface="B Mitra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811760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VHDL Structural Elements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609600" y="1600200"/>
            <a:ext cx="7848600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90500" indent="-1905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>
              <a:lnSpc>
                <a:spcPct val="150000"/>
              </a:lnSpc>
              <a:buFontTx/>
              <a:buChar char="•"/>
            </a:pPr>
            <a:r>
              <a:rPr lang="en-US" dirty="0">
                <a:cs typeface="Times New Roman" panose="02020603050405020304" pitchFamily="18" charset="0"/>
              </a:rPr>
              <a:t>Entity</a:t>
            </a:r>
            <a:r>
              <a:rPr lang="en-US" b="0" dirty="0">
                <a:cs typeface="Times New Roman" panose="02020603050405020304" pitchFamily="18" charset="0"/>
              </a:rPr>
              <a:t>: Interface </a:t>
            </a:r>
          </a:p>
          <a:p>
            <a:pPr algn="l" rtl="0" eaLnBrk="1" hangingPunct="1">
              <a:lnSpc>
                <a:spcPct val="150000"/>
              </a:lnSpc>
              <a:buFontTx/>
              <a:buChar char="•"/>
            </a:pPr>
            <a:r>
              <a:rPr lang="en-US" dirty="0">
                <a:cs typeface="Times New Roman" panose="02020603050405020304" pitchFamily="18" charset="0"/>
              </a:rPr>
              <a:t>Architecture</a:t>
            </a:r>
            <a:r>
              <a:rPr lang="en-US" b="0" dirty="0">
                <a:cs typeface="Times New Roman" panose="02020603050405020304" pitchFamily="18" charset="0"/>
              </a:rPr>
              <a:t>: Implementation, behavior</a:t>
            </a:r>
          </a:p>
          <a:p>
            <a:pPr algn="l" rtl="0" eaLnBrk="1" hangingPunct="1">
              <a:lnSpc>
                <a:spcPct val="150000"/>
              </a:lnSpc>
              <a:buFontTx/>
              <a:buChar char="•"/>
            </a:pPr>
            <a:r>
              <a:rPr lang="en-US" dirty="0">
                <a:cs typeface="Times New Roman" panose="02020603050405020304" pitchFamily="18" charset="0"/>
              </a:rPr>
              <a:t>Configuration</a:t>
            </a:r>
            <a:r>
              <a:rPr lang="en-US" b="0" dirty="0">
                <a:cs typeface="Times New Roman" panose="02020603050405020304" pitchFamily="18" charset="0"/>
              </a:rPr>
              <a:t>: Structure, hierarchy </a:t>
            </a:r>
          </a:p>
          <a:p>
            <a:pPr algn="l" rtl="0" eaLnBrk="1" hangingPunct="1">
              <a:lnSpc>
                <a:spcPct val="150000"/>
              </a:lnSpc>
              <a:buFontTx/>
              <a:buChar char="•"/>
            </a:pPr>
            <a:r>
              <a:rPr lang="en-US" dirty="0">
                <a:cs typeface="Times New Roman" panose="02020603050405020304" pitchFamily="18" charset="0"/>
              </a:rPr>
              <a:t>Process</a:t>
            </a:r>
            <a:r>
              <a:rPr lang="en-US" b="0" dirty="0">
                <a:cs typeface="Times New Roman" panose="02020603050405020304" pitchFamily="18" charset="0"/>
              </a:rPr>
              <a:t>: 	Sequential Execution</a:t>
            </a:r>
          </a:p>
          <a:p>
            <a:pPr algn="l" rtl="0" eaLnBrk="1" hangingPunct="1">
              <a:lnSpc>
                <a:spcPct val="150000"/>
              </a:lnSpc>
              <a:buFontTx/>
              <a:buChar char="•"/>
            </a:pPr>
            <a:r>
              <a:rPr lang="en-US" dirty="0">
                <a:cs typeface="Times New Roman" panose="02020603050405020304" pitchFamily="18" charset="0"/>
              </a:rPr>
              <a:t>Package</a:t>
            </a:r>
            <a:r>
              <a:rPr lang="en-US" b="0" dirty="0">
                <a:cs typeface="Times New Roman" panose="02020603050405020304" pitchFamily="18" charset="0"/>
              </a:rPr>
              <a:t>: 	Components (Modular design), Utilities (data 		types, constants, subprograms)</a:t>
            </a:r>
          </a:p>
          <a:p>
            <a:pPr algn="l" rtl="0" eaLnBrk="1" hangingPunct="1">
              <a:lnSpc>
                <a:spcPct val="150000"/>
              </a:lnSpc>
              <a:buFontTx/>
              <a:buChar char="•"/>
            </a:pPr>
            <a:r>
              <a:rPr lang="en-US" dirty="0">
                <a:cs typeface="Times New Roman" panose="02020603050405020304" pitchFamily="18" charset="0"/>
              </a:rPr>
              <a:t>Library</a:t>
            </a:r>
            <a:r>
              <a:rPr lang="en-US" b="0" dirty="0">
                <a:cs typeface="Times New Roman" panose="02020603050405020304" pitchFamily="18" charset="0"/>
              </a:rPr>
              <a:t>: 	Group of compiled units, object code </a:t>
            </a:r>
          </a:p>
          <a:p>
            <a:pPr algn="l" rtl="0" eaLnBrk="1" hangingPunct="1">
              <a:lnSpc>
                <a:spcPct val="150000"/>
              </a:lnSpc>
            </a:pPr>
            <a:endParaRPr lang="en-US" b="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1323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Library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371600"/>
            <a:ext cx="8029092" cy="433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69619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File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424" y="1981200"/>
            <a:ext cx="8507976" cy="247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3558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VHDL Key Idea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17" name="Rectangle 16"/>
          <p:cNvSpPr>
            <a:spLocks noGrp="1" noChangeArrowheads="1"/>
          </p:cNvSpPr>
          <p:nvPr/>
        </p:nvSpPr>
        <p:spPr bwMode="auto">
          <a:xfrm>
            <a:off x="381000" y="1295400"/>
            <a:ext cx="8458200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CommonBullets" pitchFamily="34" charset="2"/>
              <a:buBlip>
                <a:blip r:embed="rId3"/>
              </a:buBlip>
              <a:defRPr kumimoji="1" sz="32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3"/>
              </a:buClr>
              <a:buSzPct val="85000"/>
              <a:buFont typeface="CommonBullets" pitchFamily="34" charset="2"/>
              <a:buBlip>
                <a:blip r:embed="rId4"/>
              </a:buBlip>
              <a:defRPr kumimoji="1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60000"/>
              <a:buFont typeface="CommonBullets" pitchFamily="34" charset="2"/>
              <a:buBlip>
                <a:blip r:embed="rId5"/>
              </a:buBlip>
              <a:defRPr kumimoji="1" sz="2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CommonBullets" pitchFamily="34" charset="2"/>
              <a:buBlip>
                <a:blip r:embed="rId3"/>
              </a:buBlip>
              <a:tabLst/>
              <a:defRPr/>
            </a:pPr>
            <a:r>
              <a:rPr kumimoji="1" lang="en-US" altLang="en-US" sz="2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+mn-ea"/>
                <a:cs typeface="+mn-cs"/>
              </a:rPr>
              <a:t>A key idea in VHDL is to define the interface of a hardware module while hiding its internal details.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3"/>
              </a:buClr>
              <a:buSzPct val="85000"/>
              <a:buFont typeface="CommonBullets" pitchFamily="34" charset="2"/>
              <a:buBlip>
                <a:blip r:embed="rId4"/>
              </a:buBlip>
              <a:tabLst/>
              <a:defRPr/>
            </a:pPr>
            <a:r>
              <a:rPr kumimoji="1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</a:rPr>
              <a:t>A VHDL </a:t>
            </a:r>
            <a:r>
              <a:rPr kumimoji="1" lang="en-US" altLang="en-US" sz="2400" b="1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</a:rPr>
              <a:t>entity</a:t>
            </a:r>
            <a:r>
              <a:rPr kumimoji="1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</a:rPr>
              <a:t> is simply a declaration of a module’s inputs and outputs, i.e., its external interface signals or ports.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3"/>
              </a:buClr>
              <a:buSzPct val="85000"/>
              <a:buFont typeface="CommonBullets" pitchFamily="34" charset="2"/>
              <a:buBlip>
                <a:blip r:embed="rId4"/>
              </a:buBlip>
              <a:tabLst/>
              <a:defRPr/>
            </a:pPr>
            <a:r>
              <a:rPr kumimoji="1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</a:rPr>
              <a:t>A VHDL </a:t>
            </a:r>
            <a:r>
              <a:rPr kumimoji="1" lang="en-US" altLang="en-US" sz="2400" b="1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</a:rPr>
              <a:t>architecture</a:t>
            </a:r>
            <a:r>
              <a:rPr kumimoji="1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</a:rPr>
              <a:t> is a detailed description of the module’s internal structure or behavior.</a:t>
            </a:r>
          </a:p>
        </p:txBody>
      </p:sp>
      <p:grpSp>
        <p:nvGrpSpPr>
          <p:cNvPr id="18" name="Group 17"/>
          <p:cNvGrpSpPr>
            <a:grpSpLocks/>
          </p:cNvGrpSpPr>
          <p:nvPr/>
        </p:nvGrpSpPr>
        <p:grpSpPr bwMode="auto">
          <a:xfrm>
            <a:off x="304800" y="4038600"/>
            <a:ext cx="8181975" cy="1981200"/>
            <a:chOff x="288" y="2688"/>
            <a:chExt cx="5154" cy="1248"/>
          </a:xfrm>
        </p:grpSpPr>
        <p:grpSp>
          <p:nvGrpSpPr>
            <p:cNvPr id="19" name="Group 18"/>
            <p:cNvGrpSpPr>
              <a:grpSpLocks/>
            </p:cNvGrpSpPr>
            <p:nvPr/>
          </p:nvGrpSpPr>
          <p:grpSpPr bwMode="auto">
            <a:xfrm>
              <a:off x="1776" y="2688"/>
              <a:ext cx="2304" cy="1248"/>
              <a:chOff x="2544" y="2880"/>
              <a:chExt cx="2304" cy="1248"/>
            </a:xfrm>
          </p:grpSpPr>
          <p:sp>
            <p:nvSpPr>
              <p:cNvPr id="24" name="Rectangle 23"/>
              <p:cNvSpPr>
                <a:spLocks noChangeArrowheads="1"/>
              </p:cNvSpPr>
              <p:nvPr/>
            </p:nvSpPr>
            <p:spPr bwMode="auto">
              <a:xfrm>
                <a:off x="2544" y="2880"/>
                <a:ext cx="2304" cy="1248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+mn-ea"/>
                    <a:cs typeface="+mn-cs"/>
                  </a:defRPr>
                </a:lvl1pPr>
                <a:lvl2pPr marL="4572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+mn-ea"/>
                    <a:cs typeface="+mn-cs"/>
                  </a:defRPr>
                </a:lvl2pPr>
                <a:lvl3pPr marL="9144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+mn-ea"/>
                    <a:cs typeface="+mn-cs"/>
                  </a:defRPr>
                </a:lvl3pPr>
                <a:lvl4pPr marL="13716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+mn-ea"/>
                    <a:cs typeface="+mn-cs"/>
                  </a:defRPr>
                </a:lvl4pPr>
                <a:lvl5pPr marL="18288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25" name="Rectangle 24"/>
              <p:cNvSpPr>
                <a:spLocks noChangeArrowheads="1"/>
              </p:cNvSpPr>
              <p:nvPr/>
            </p:nvSpPr>
            <p:spPr bwMode="auto">
              <a:xfrm>
                <a:off x="2928" y="3216"/>
                <a:ext cx="1536" cy="576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+mn-ea"/>
                    <a:cs typeface="+mn-cs"/>
                  </a:defRPr>
                </a:lvl1pPr>
                <a:lvl2pPr marL="4572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+mn-ea"/>
                    <a:cs typeface="+mn-cs"/>
                  </a:defRPr>
                </a:lvl2pPr>
                <a:lvl3pPr marL="9144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+mn-ea"/>
                    <a:cs typeface="+mn-cs"/>
                  </a:defRPr>
                </a:lvl3pPr>
                <a:lvl4pPr marL="13716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+mn-ea"/>
                    <a:cs typeface="+mn-cs"/>
                  </a:defRPr>
                </a:lvl4pPr>
                <a:lvl5pPr marL="18288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26" name="Text Box 7"/>
              <p:cNvSpPr txBox="1">
                <a:spLocks noChangeArrowheads="1"/>
              </p:cNvSpPr>
              <p:nvPr/>
            </p:nvSpPr>
            <p:spPr bwMode="auto">
              <a:xfrm>
                <a:off x="2568" y="2904"/>
                <a:ext cx="76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76200">
                    <a:solidFill>
                      <a:srgbClr val="FFFF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+mn-ea"/>
                    <a:cs typeface="+mn-cs"/>
                  </a:defRPr>
                </a:lvl1pPr>
                <a:lvl2pPr marL="4572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+mn-ea"/>
                    <a:cs typeface="+mn-cs"/>
                  </a:defRPr>
                </a:lvl2pPr>
                <a:lvl3pPr marL="9144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+mn-ea"/>
                    <a:cs typeface="+mn-cs"/>
                  </a:defRPr>
                </a:lvl3pPr>
                <a:lvl4pPr marL="13716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+mn-ea"/>
                    <a:cs typeface="+mn-cs"/>
                  </a:defRPr>
                </a:lvl4pPr>
                <a:lvl5pPr marL="18288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3399"/>
                    </a:solidFill>
                    <a:effectLst/>
                    <a:uLnTx/>
                    <a:uFillTx/>
                    <a:latin typeface="Times New Roman" pitchFamily="18" charset="0"/>
                    <a:ea typeface="+mn-ea"/>
                    <a:cs typeface="+mn-cs"/>
                  </a:rPr>
                  <a:t>entity</a:t>
                </a:r>
              </a:p>
            </p:txBody>
          </p:sp>
          <p:sp>
            <p:nvSpPr>
              <p:cNvPr id="27" name="Text Box 8"/>
              <p:cNvSpPr txBox="1">
                <a:spLocks noChangeArrowheads="1"/>
              </p:cNvSpPr>
              <p:nvPr/>
            </p:nvSpPr>
            <p:spPr bwMode="auto">
              <a:xfrm>
                <a:off x="2946" y="3360"/>
                <a:ext cx="14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76200">
                    <a:solidFill>
                      <a:srgbClr val="FFFF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+mn-ea"/>
                    <a:cs typeface="+mn-cs"/>
                  </a:defRPr>
                </a:lvl1pPr>
                <a:lvl2pPr marL="4572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+mn-ea"/>
                    <a:cs typeface="+mn-cs"/>
                  </a:defRPr>
                </a:lvl2pPr>
                <a:lvl3pPr marL="9144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+mn-ea"/>
                    <a:cs typeface="+mn-cs"/>
                  </a:defRPr>
                </a:lvl3pPr>
                <a:lvl4pPr marL="13716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+mn-ea"/>
                    <a:cs typeface="+mn-cs"/>
                  </a:defRPr>
                </a:lvl4pPr>
                <a:lvl5pPr marL="18288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3399"/>
                    </a:solidFill>
                    <a:effectLst/>
                    <a:uLnTx/>
                    <a:uFillTx/>
                    <a:latin typeface="Times New Roman" pitchFamily="18" charset="0"/>
                    <a:ea typeface="+mn-ea"/>
                    <a:cs typeface="+mn-cs"/>
                  </a:rPr>
                  <a:t>architecture</a:t>
                </a:r>
              </a:p>
            </p:txBody>
          </p:sp>
        </p:grpSp>
        <p:sp>
          <p:nvSpPr>
            <p:cNvPr id="20" name="Line 10"/>
            <p:cNvSpPr>
              <a:spLocks noChangeShapeType="1"/>
            </p:cNvSpPr>
            <p:nvPr/>
          </p:nvSpPr>
          <p:spPr bwMode="auto">
            <a:xfrm>
              <a:off x="1104" y="3260"/>
              <a:ext cx="672" cy="0"/>
            </a:xfrm>
            <a:prstGeom prst="line">
              <a:avLst/>
            </a:prstGeom>
            <a:noFill/>
            <a:ln w="76200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21" name="Line 11"/>
            <p:cNvSpPr>
              <a:spLocks noChangeShapeType="1"/>
            </p:cNvSpPr>
            <p:nvPr/>
          </p:nvSpPr>
          <p:spPr bwMode="auto">
            <a:xfrm flipH="1">
              <a:off x="4080" y="3212"/>
              <a:ext cx="576" cy="0"/>
            </a:xfrm>
            <a:prstGeom prst="line">
              <a:avLst/>
            </a:prstGeom>
            <a:noFill/>
            <a:ln w="76200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22" name="Text Box 12"/>
            <p:cNvSpPr txBox="1">
              <a:spLocks noChangeArrowheads="1"/>
            </p:cNvSpPr>
            <p:nvPr/>
          </p:nvSpPr>
          <p:spPr bwMode="auto">
            <a:xfrm>
              <a:off x="288" y="3110"/>
              <a:ext cx="86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76200">
                  <a:solidFill>
                    <a:srgbClr val="FF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interface</a:t>
              </a:r>
            </a:p>
          </p:txBody>
        </p:sp>
        <p:sp>
          <p:nvSpPr>
            <p:cNvPr id="23" name="Text Box 13"/>
            <p:cNvSpPr txBox="1">
              <a:spLocks noChangeArrowheads="1"/>
            </p:cNvSpPr>
            <p:nvPr/>
          </p:nvSpPr>
          <p:spPr bwMode="auto">
            <a:xfrm>
              <a:off x="4578" y="3068"/>
              <a:ext cx="86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76200">
                  <a:solidFill>
                    <a:srgbClr val="FF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interface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813237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VHDL Interface - Ports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41" name="Rectangle 40"/>
          <p:cNvSpPr>
            <a:spLocks noGrp="1" noChangeArrowheads="1"/>
          </p:cNvSpPr>
          <p:nvPr/>
        </p:nvSpPr>
        <p:spPr bwMode="auto">
          <a:xfrm>
            <a:off x="342900" y="1600200"/>
            <a:ext cx="8458200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CommonBullets" pitchFamily="34" charset="2"/>
              <a:buBlip>
                <a:blip r:embed="rId3"/>
              </a:buBlip>
              <a:defRPr kumimoji="1" sz="32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3"/>
              </a:buClr>
              <a:buSzPct val="85000"/>
              <a:buFont typeface="CommonBullets" pitchFamily="34" charset="2"/>
              <a:buBlip>
                <a:blip r:embed="rId4"/>
              </a:buBlip>
              <a:defRPr kumimoji="1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60000"/>
              <a:buFont typeface="CommonBullets" pitchFamily="34" charset="2"/>
              <a:buBlip>
                <a:blip r:embed="rId5"/>
              </a:buBlip>
              <a:defRPr kumimoji="1" sz="2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CommonBullets" pitchFamily="34" charset="2"/>
              <a:buBlip>
                <a:blip r:embed="rId3"/>
              </a:buBlip>
              <a:tabLst/>
              <a:defRPr/>
            </a:pPr>
            <a:r>
              <a:rPr kumimoji="1" lang="en-US" altLang="en-US" sz="2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+mn-ea"/>
                <a:cs typeface="+mn-cs"/>
              </a:rPr>
              <a:t>You can think of the entity as a “wrapper” for the architecture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3"/>
              </a:buClr>
              <a:buSzPct val="85000"/>
              <a:buFont typeface="CommonBullets" pitchFamily="34" charset="2"/>
              <a:buBlip>
                <a:blip r:embed="rId4"/>
              </a:buBlip>
              <a:tabLst/>
              <a:defRPr/>
            </a:pPr>
            <a:r>
              <a:rPr kumimoji="1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</a:rPr>
              <a:t>hiding the details of what’s inside 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3"/>
              </a:buClr>
              <a:buSzPct val="85000"/>
              <a:buFont typeface="CommonBullets" pitchFamily="34" charset="2"/>
              <a:buBlip>
                <a:blip r:embed="rId4"/>
              </a:buBlip>
              <a:tabLst/>
              <a:defRPr/>
            </a:pPr>
            <a:r>
              <a:rPr kumimoji="1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</a:rPr>
              <a:t>providing “ports” to other modules</a:t>
            </a:r>
          </a:p>
        </p:txBody>
      </p:sp>
      <p:grpSp>
        <p:nvGrpSpPr>
          <p:cNvPr id="42" name="Group 41"/>
          <p:cNvGrpSpPr>
            <a:grpSpLocks/>
          </p:cNvGrpSpPr>
          <p:nvPr/>
        </p:nvGrpSpPr>
        <p:grpSpPr bwMode="auto">
          <a:xfrm>
            <a:off x="1181100" y="3733800"/>
            <a:ext cx="7543800" cy="1981200"/>
            <a:chOff x="864" y="2304"/>
            <a:chExt cx="4752" cy="1248"/>
          </a:xfrm>
        </p:grpSpPr>
        <p:grpSp>
          <p:nvGrpSpPr>
            <p:cNvPr id="43" name="Group 42"/>
            <p:cNvGrpSpPr>
              <a:grpSpLocks/>
            </p:cNvGrpSpPr>
            <p:nvPr/>
          </p:nvGrpSpPr>
          <p:grpSpPr bwMode="auto">
            <a:xfrm>
              <a:off x="1680" y="2304"/>
              <a:ext cx="2304" cy="1248"/>
              <a:chOff x="2544" y="2880"/>
              <a:chExt cx="2304" cy="1248"/>
            </a:xfrm>
          </p:grpSpPr>
          <p:sp>
            <p:nvSpPr>
              <p:cNvPr id="51" name="Rectangle 50"/>
              <p:cNvSpPr>
                <a:spLocks noChangeArrowheads="1"/>
              </p:cNvSpPr>
              <p:nvPr/>
            </p:nvSpPr>
            <p:spPr bwMode="auto">
              <a:xfrm>
                <a:off x="2544" y="2880"/>
                <a:ext cx="2304" cy="1248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+mn-ea"/>
                    <a:cs typeface="+mn-cs"/>
                  </a:defRPr>
                </a:lvl1pPr>
                <a:lvl2pPr marL="4572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+mn-ea"/>
                    <a:cs typeface="+mn-cs"/>
                  </a:defRPr>
                </a:lvl2pPr>
                <a:lvl3pPr marL="9144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+mn-ea"/>
                    <a:cs typeface="+mn-cs"/>
                  </a:defRPr>
                </a:lvl3pPr>
                <a:lvl4pPr marL="13716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+mn-ea"/>
                    <a:cs typeface="+mn-cs"/>
                  </a:defRPr>
                </a:lvl4pPr>
                <a:lvl5pPr marL="18288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52" name="Rectangle 51"/>
              <p:cNvSpPr>
                <a:spLocks noChangeArrowheads="1"/>
              </p:cNvSpPr>
              <p:nvPr/>
            </p:nvSpPr>
            <p:spPr bwMode="auto">
              <a:xfrm>
                <a:off x="2928" y="3216"/>
                <a:ext cx="1536" cy="576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+mn-ea"/>
                    <a:cs typeface="+mn-cs"/>
                  </a:defRPr>
                </a:lvl1pPr>
                <a:lvl2pPr marL="4572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+mn-ea"/>
                    <a:cs typeface="+mn-cs"/>
                  </a:defRPr>
                </a:lvl2pPr>
                <a:lvl3pPr marL="9144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+mn-ea"/>
                    <a:cs typeface="+mn-cs"/>
                  </a:defRPr>
                </a:lvl3pPr>
                <a:lvl4pPr marL="13716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+mn-ea"/>
                    <a:cs typeface="+mn-cs"/>
                  </a:defRPr>
                </a:lvl4pPr>
                <a:lvl5pPr marL="18288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53" name="Text Box 7"/>
              <p:cNvSpPr txBox="1">
                <a:spLocks noChangeArrowheads="1"/>
              </p:cNvSpPr>
              <p:nvPr/>
            </p:nvSpPr>
            <p:spPr bwMode="auto">
              <a:xfrm>
                <a:off x="2568" y="2904"/>
                <a:ext cx="76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76200">
                    <a:solidFill>
                      <a:srgbClr val="FFFF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+mn-ea"/>
                    <a:cs typeface="+mn-cs"/>
                  </a:defRPr>
                </a:lvl1pPr>
                <a:lvl2pPr marL="4572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+mn-ea"/>
                    <a:cs typeface="+mn-cs"/>
                  </a:defRPr>
                </a:lvl2pPr>
                <a:lvl3pPr marL="9144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+mn-ea"/>
                    <a:cs typeface="+mn-cs"/>
                  </a:defRPr>
                </a:lvl3pPr>
                <a:lvl4pPr marL="13716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+mn-ea"/>
                    <a:cs typeface="+mn-cs"/>
                  </a:defRPr>
                </a:lvl4pPr>
                <a:lvl5pPr marL="18288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3399"/>
                    </a:solidFill>
                    <a:effectLst/>
                    <a:uLnTx/>
                    <a:uFillTx/>
                    <a:latin typeface="Times New Roman" pitchFamily="18" charset="0"/>
                    <a:ea typeface="+mn-ea"/>
                    <a:cs typeface="+mn-cs"/>
                  </a:rPr>
                  <a:t>entity</a:t>
                </a:r>
              </a:p>
            </p:txBody>
          </p:sp>
          <p:sp>
            <p:nvSpPr>
              <p:cNvPr id="54" name="Text Box 8"/>
              <p:cNvSpPr txBox="1">
                <a:spLocks noChangeArrowheads="1"/>
              </p:cNvSpPr>
              <p:nvPr/>
            </p:nvSpPr>
            <p:spPr bwMode="auto">
              <a:xfrm>
                <a:off x="2946" y="3360"/>
                <a:ext cx="14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76200">
                    <a:solidFill>
                      <a:srgbClr val="FFFF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+mn-ea"/>
                    <a:cs typeface="+mn-cs"/>
                  </a:defRPr>
                </a:lvl1pPr>
                <a:lvl2pPr marL="4572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+mn-ea"/>
                    <a:cs typeface="+mn-cs"/>
                  </a:defRPr>
                </a:lvl2pPr>
                <a:lvl3pPr marL="9144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+mn-ea"/>
                    <a:cs typeface="+mn-cs"/>
                  </a:defRPr>
                </a:lvl3pPr>
                <a:lvl4pPr marL="13716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+mn-ea"/>
                    <a:cs typeface="+mn-cs"/>
                  </a:defRPr>
                </a:lvl4pPr>
                <a:lvl5pPr marL="18288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itchFamily="18" charset="0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3399"/>
                    </a:solidFill>
                    <a:effectLst/>
                    <a:uLnTx/>
                    <a:uFillTx/>
                    <a:latin typeface="Times New Roman" pitchFamily="18" charset="0"/>
                    <a:ea typeface="+mn-ea"/>
                    <a:cs typeface="+mn-cs"/>
                  </a:rPr>
                  <a:t>architecture</a:t>
                </a:r>
              </a:p>
            </p:txBody>
          </p:sp>
        </p:grpSp>
        <p:sp>
          <p:nvSpPr>
            <p:cNvPr id="44" name="Line 9"/>
            <p:cNvSpPr>
              <a:spLocks noChangeShapeType="1"/>
            </p:cNvSpPr>
            <p:nvPr/>
          </p:nvSpPr>
          <p:spPr bwMode="auto">
            <a:xfrm>
              <a:off x="864" y="2640"/>
              <a:ext cx="81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45" name="Line 10"/>
            <p:cNvSpPr>
              <a:spLocks noChangeShapeType="1"/>
            </p:cNvSpPr>
            <p:nvPr/>
          </p:nvSpPr>
          <p:spPr bwMode="auto">
            <a:xfrm>
              <a:off x="3984" y="2640"/>
              <a:ext cx="81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46" name="Line 11"/>
            <p:cNvSpPr>
              <a:spLocks noChangeShapeType="1"/>
            </p:cNvSpPr>
            <p:nvPr/>
          </p:nvSpPr>
          <p:spPr bwMode="auto">
            <a:xfrm>
              <a:off x="3984" y="3120"/>
              <a:ext cx="81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47" name="Line 13"/>
            <p:cNvSpPr>
              <a:spLocks noChangeShapeType="1"/>
            </p:cNvSpPr>
            <p:nvPr/>
          </p:nvSpPr>
          <p:spPr bwMode="auto">
            <a:xfrm>
              <a:off x="864" y="3120"/>
              <a:ext cx="81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48" name="Text Box 15"/>
            <p:cNvSpPr txBox="1">
              <a:spLocks noChangeArrowheads="1"/>
            </p:cNvSpPr>
            <p:nvPr/>
          </p:nvSpPr>
          <p:spPr bwMode="auto">
            <a:xfrm>
              <a:off x="4416" y="2736"/>
              <a:ext cx="12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76200">
                  <a:solidFill>
                    <a:srgbClr val="FF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rPr>
                <a:t>output port</a:t>
              </a:r>
            </a:p>
          </p:txBody>
        </p:sp>
        <p:sp>
          <p:nvSpPr>
            <p:cNvPr id="49" name="Text Box 16"/>
            <p:cNvSpPr txBox="1">
              <a:spLocks noChangeArrowheads="1"/>
            </p:cNvSpPr>
            <p:nvPr/>
          </p:nvSpPr>
          <p:spPr bwMode="auto">
            <a:xfrm>
              <a:off x="1392" y="2688"/>
              <a:ext cx="144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76200">
                  <a:solidFill>
                    <a:srgbClr val="FF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600" b="1" i="0" u="none" strike="noStrike" kern="120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rPr>
                <a:t>.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600" b="1" i="0" u="none" strike="noStrike" kern="120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rPr>
                <a:t>.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600" b="1" i="0" u="none" strike="noStrike" kern="120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rPr>
                <a:t>.</a:t>
              </a:r>
            </a:p>
          </p:txBody>
        </p:sp>
        <p:sp>
          <p:nvSpPr>
            <p:cNvPr id="50" name="Text Box 17"/>
            <p:cNvSpPr txBox="1">
              <a:spLocks noChangeArrowheads="1"/>
            </p:cNvSpPr>
            <p:nvPr/>
          </p:nvSpPr>
          <p:spPr bwMode="auto">
            <a:xfrm>
              <a:off x="4080" y="2688"/>
              <a:ext cx="144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76200">
                  <a:solidFill>
                    <a:srgbClr val="FF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600" b="1" i="0" u="none" strike="noStrike" kern="120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rPr>
                <a:t>.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600" b="1" i="0" u="none" strike="noStrike" kern="120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rPr>
                <a:t>.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600" b="1" i="0" u="none" strike="noStrike" kern="120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8688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VHDL Conceptual Model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26" name="Rectangle 25"/>
          <p:cNvSpPr>
            <a:spLocks noGrp="1" noChangeArrowheads="1"/>
          </p:cNvSpPr>
          <p:nvPr/>
        </p:nvSpPr>
        <p:spPr bwMode="auto">
          <a:xfrm>
            <a:off x="533400" y="1295400"/>
            <a:ext cx="45720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CommonBullets" pitchFamily="34" charset="2"/>
              <a:buBlip>
                <a:blip r:embed="rId3"/>
              </a:buBlip>
              <a:defRPr kumimoji="1" sz="32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3"/>
              </a:buClr>
              <a:buSzPct val="85000"/>
              <a:buFont typeface="CommonBullets" pitchFamily="34" charset="2"/>
              <a:buBlip>
                <a:blip r:embed="rId4"/>
              </a:buBlip>
              <a:defRPr kumimoji="1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60000"/>
              <a:buFont typeface="CommonBullets" pitchFamily="34" charset="2"/>
              <a:buBlip>
                <a:blip r:embed="rId5"/>
              </a:buBlip>
              <a:defRPr kumimoji="1" sz="2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CommonBullets" pitchFamily="34" charset="2"/>
              <a:buBlip>
                <a:blip r:embed="rId3"/>
              </a:buBlip>
              <a:tabLst/>
              <a:defRPr/>
            </a:pPr>
            <a:r>
              <a:rPr kumimoji="1" lang="en-US" altLang="en-US" sz="2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+mn-ea"/>
                <a:cs typeface="+mn-cs"/>
              </a:rPr>
              <a:t>VHDL actually allows you to define multiple architectures for a single entity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CommonBullets" pitchFamily="34" charset="2"/>
              <a:buBlip>
                <a:blip r:embed="rId3"/>
              </a:buBlip>
              <a:tabLst/>
              <a:defRPr/>
            </a:pPr>
            <a:r>
              <a:rPr kumimoji="1" lang="en-US" altLang="en-US" sz="2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+mn-ea"/>
                <a:cs typeface="+mn-cs"/>
              </a:rPr>
              <a:t>it also provides a configuration management facility that allows you to specify which architecture  to use during a particular synthesis run</a:t>
            </a:r>
          </a:p>
        </p:txBody>
      </p:sp>
      <p:grpSp>
        <p:nvGrpSpPr>
          <p:cNvPr id="27" name="Group 26"/>
          <p:cNvGrpSpPr>
            <a:grpSpLocks/>
          </p:cNvGrpSpPr>
          <p:nvPr/>
        </p:nvGrpSpPr>
        <p:grpSpPr bwMode="auto">
          <a:xfrm>
            <a:off x="5029200" y="1524000"/>
            <a:ext cx="3657600" cy="4343400"/>
            <a:chOff x="3168" y="1104"/>
            <a:chExt cx="2304" cy="2736"/>
          </a:xfrm>
        </p:grpSpPr>
        <p:sp>
          <p:nvSpPr>
            <p:cNvPr id="28" name="Rectangle 27"/>
            <p:cNvSpPr>
              <a:spLocks noChangeArrowheads="1"/>
            </p:cNvSpPr>
            <p:nvPr/>
          </p:nvSpPr>
          <p:spPr bwMode="auto">
            <a:xfrm>
              <a:off x="3168" y="1104"/>
              <a:ext cx="2304" cy="273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29" name="Rectangle 28"/>
            <p:cNvSpPr>
              <a:spLocks noChangeArrowheads="1"/>
            </p:cNvSpPr>
            <p:nvPr/>
          </p:nvSpPr>
          <p:spPr bwMode="auto">
            <a:xfrm>
              <a:off x="3552" y="1440"/>
              <a:ext cx="1536" cy="57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30" name="Text Box 7"/>
            <p:cNvSpPr txBox="1">
              <a:spLocks noChangeArrowheads="1"/>
            </p:cNvSpPr>
            <p:nvPr/>
          </p:nvSpPr>
          <p:spPr bwMode="auto">
            <a:xfrm>
              <a:off x="3192" y="1128"/>
              <a:ext cx="7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76200">
                  <a:solidFill>
                    <a:srgbClr val="FF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rPr>
                <a:t>entity</a:t>
              </a:r>
            </a:p>
          </p:txBody>
        </p:sp>
        <p:sp>
          <p:nvSpPr>
            <p:cNvPr id="31" name="Text Box 8"/>
            <p:cNvSpPr txBox="1">
              <a:spLocks noChangeArrowheads="1"/>
            </p:cNvSpPr>
            <p:nvPr/>
          </p:nvSpPr>
          <p:spPr bwMode="auto">
            <a:xfrm>
              <a:off x="3570" y="1584"/>
              <a:ext cx="14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76200">
                  <a:solidFill>
                    <a:srgbClr val="FF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rPr>
                <a:t>architecture 1</a:t>
              </a:r>
            </a:p>
          </p:txBody>
        </p:sp>
        <p:sp>
          <p:nvSpPr>
            <p:cNvPr id="32" name="Rectangle 31"/>
            <p:cNvSpPr>
              <a:spLocks noChangeArrowheads="1"/>
            </p:cNvSpPr>
            <p:nvPr/>
          </p:nvSpPr>
          <p:spPr bwMode="auto">
            <a:xfrm>
              <a:off x="3552" y="2238"/>
              <a:ext cx="1536" cy="57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33" name="Text Box 10"/>
            <p:cNvSpPr txBox="1">
              <a:spLocks noChangeArrowheads="1"/>
            </p:cNvSpPr>
            <p:nvPr/>
          </p:nvSpPr>
          <p:spPr bwMode="auto">
            <a:xfrm>
              <a:off x="3570" y="2382"/>
              <a:ext cx="14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76200">
                  <a:solidFill>
                    <a:srgbClr val="FF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rPr>
                <a:t>architecture 2</a:t>
              </a:r>
            </a:p>
          </p:txBody>
        </p:sp>
        <p:sp>
          <p:nvSpPr>
            <p:cNvPr id="34" name="Rectangle 33"/>
            <p:cNvSpPr>
              <a:spLocks noChangeArrowheads="1"/>
            </p:cNvSpPr>
            <p:nvPr/>
          </p:nvSpPr>
          <p:spPr bwMode="auto">
            <a:xfrm>
              <a:off x="3552" y="3072"/>
              <a:ext cx="1536" cy="57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35" name="Text Box 12"/>
            <p:cNvSpPr txBox="1">
              <a:spLocks noChangeArrowheads="1"/>
            </p:cNvSpPr>
            <p:nvPr/>
          </p:nvSpPr>
          <p:spPr bwMode="auto">
            <a:xfrm>
              <a:off x="3570" y="3216"/>
              <a:ext cx="14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76200">
                  <a:solidFill>
                    <a:srgbClr val="FF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rPr>
                <a:t>configuration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62552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VHDL Design Units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352550"/>
            <a:ext cx="7239000" cy="512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92065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Entity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304800" y="1600200"/>
            <a:ext cx="4191000" cy="1587500"/>
          </a:xfrm>
          <a:prstGeom prst="rect">
            <a:avLst/>
          </a:prstGeom>
          <a:noFill/>
          <a:ln w="28575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/>
            <a:r>
              <a:rPr lang="en-US" sz="1600">
                <a:solidFill>
                  <a:srgbClr val="0000CC"/>
                </a:solidFill>
                <a:latin typeface="Helvetica" pitchFamily="34" charset="0"/>
              </a:rPr>
              <a:t>entity</a:t>
            </a:r>
            <a:r>
              <a:rPr lang="en-US" sz="1600" b="0">
                <a:solidFill>
                  <a:srgbClr val="0000CC"/>
                </a:solidFill>
                <a:latin typeface="Helvetica" pitchFamily="34" charset="0"/>
              </a:rPr>
              <a:t> HALFADDER </a:t>
            </a:r>
            <a:r>
              <a:rPr lang="en-US" sz="1600">
                <a:solidFill>
                  <a:srgbClr val="0000CC"/>
                </a:solidFill>
                <a:latin typeface="Helvetica" pitchFamily="34" charset="0"/>
              </a:rPr>
              <a:t>is</a:t>
            </a:r>
            <a:br>
              <a:rPr lang="en-US" sz="160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600" b="0">
                <a:solidFill>
                  <a:srgbClr val="0000CC"/>
                </a:solidFill>
              </a:rPr>
              <a:t>   </a:t>
            </a:r>
            <a:r>
              <a:rPr lang="en-US" sz="1600" b="0">
                <a:solidFill>
                  <a:srgbClr val="0000CC"/>
                </a:solidFill>
                <a:latin typeface="Helvetica" pitchFamily="34" charset="0"/>
              </a:rPr>
              <a:t>port(</a:t>
            </a:r>
            <a:br>
              <a:rPr lang="en-US" sz="16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600" b="0">
                <a:solidFill>
                  <a:srgbClr val="0000CC"/>
                </a:solidFill>
              </a:rPr>
              <a:t>      </a:t>
            </a:r>
            <a:r>
              <a:rPr lang="en-US" sz="1600" b="0">
                <a:solidFill>
                  <a:srgbClr val="0000CC"/>
                </a:solidFill>
                <a:latin typeface="Helvetica" pitchFamily="34" charset="0"/>
              </a:rPr>
              <a:t>A, B:</a:t>
            </a:r>
            <a:r>
              <a:rPr lang="en-US" sz="1600" b="0">
                <a:solidFill>
                  <a:srgbClr val="0000CC"/>
                </a:solidFill>
              </a:rPr>
              <a:t>                   </a:t>
            </a:r>
            <a:r>
              <a:rPr lang="en-US" sz="1600" b="0">
                <a:solidFill>
                  <a:srgbClr val="0000CC"/>
                </a:solidFill>
                <a:latin typeface="Helvetica" pitchFamily="34" charset="0"/>
              </a:rPr>
              <a:t>in</a:t>
            </a:r>
            <a:r>
              <a:rPr lang="en-US" sz="1600" b="0">
                <a:solidFill>
                  <a:srgbClr val="0000CC"/>
                </a:solidFill>
              </a:rPr>
              <a:t>   </a:t>
            </a:r>
            <a:r>
              <a:rPr lang="en-US" sz="1600" b="0">
                <a:solidFill>
                  <a:srgbClr val="0000CC"/>
                </a:solidFill>
                <a:latin typeface="Helvetica" pitchFamily="34" charset="0"/>
              </a:rPr>
              <a:t>bit;</a:t>
            </a:r>
            <a:br>
              <a:rPr lang="en-US" sz="16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600" b="0">
                <a:solidFill>
                  <a:srgbClr val="0000CC"/>
                </a:solidFill>
              </a:rPr>
              <a:t>      </a:t>
            </a:r>
            <a:r>
              <a:rPr lang="en-US" sz="1600" b="0">
                <a:solidFill>
                  <a:srgbClr val="0000CC"/>
                </a:solidFill>
                <a:latin typeface="Helvetica" pitchFamily="34" charset="0"/>
              </a:rPr>
              <a:t>SUM, CARRY: out bit);</a:t>
            </a:r>
            <a:br>
              <a:rPr lang="en-US" sz="16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600">
                <a:solidFill>
                  <a:srgbClr val="0000CC"/>
                </a:solidFill>
                <a:latin typeface="Helvetica" pitchFamily="34" charset="0"/>
              </a:rPr>
              <a:t>end</a:t>
            </a:r>
            <a:r>
              <a:rPr lang="en-US" sz="1600" b="0">
                <a:solidFill>
                  <a:srgbClr val="0000CC"/>
                </a:solidFill>
                <a:latin typeface="Helvetica" pitchFamily="34" charset="0"/>
              </a:rPr>
              <a:t> </a:t>
            </a:r>
            <a:r>
              <a:rPr lang="en-US" sz="1600">
                <a:solidFill>
                  <a:srgbClr val="0000CC"/>
                </a:solidFill>
                <a:latin typeface="Helvetica" pitchFamily="34" charset="0"/>
              </a:rPr>
              <a:t>entity </a:t>
            </a:r>
            <a:r>
              <a:rPr lang="en-US" sz="1600" b="0">
                <a:solidFill>
                  <a:srgbClr val="0000CC"/>
                </a:solidFill>
                <a:latin typeface="Helvetica" pitchFamily="34" charset="0"/>
              </a:rPr>
              <a:t>HALFADDER;</a:t>
            </a:r>
            <a:br>
              <a:rPr lang="en-US" sz="1600" b="0">
                <a:solidFill>
                  <a:srgbClr val="0000CC"/>
                </a:solidFill>
                <a:latin typeface="Helvetica" pitchFamily="34" charset="0"/>
              </a:rPr>
            </a:br>
            <a:endParaRPr lang="en-US" sz="1600" b="0">
              <a:solidFill>
                <a:srgbClr val="0000CC"/>
              </a:solidFill>
              <a:latin typeface="Helvetica" pitchFamily="34" charset="0"/>
            </a:endParaRPr>
          </a:p>
        </p:txBody>
      </p:sp>
      <p:pic>
        <p:nvPicPr>
          <p:cNvPr id="7" name="Picture 12" descr="t_2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0775" y="2743200"/>
            <a:ext cx="2765425" cy="94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13"/>
          <p:cNvSpPr txBox="1">
            <a:spLocks noChangeArrowheads="1"/>
          </p:cNvSpPr>
          <p:nvPr/>
        </p:nvSpPr>
        <p:spPr bwMode="auto">
          <a:xfrm>
            <a:off x="4572000" y="1600200"/>
            <a:ext cx="4267200" cy="115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>
              <a:buFontTx/>
              <a:buChar char="•"/>
            </a:pPr>
            <a:r>
              <a:rPr lang="en-US" sz="2000"/>
              <a:t>Interface description </a:t>
            </a:r>
          </a:p>
          <a:p>
            <a:pPr algn="l" rtl="0" eaLnBrk="1" hangingPunct="1">
              <a:buFontTx/>
              <a:buChar char="•"/>
            </a:pPr>
            <a:r>
              <a:rPr lang="en-US" sz="2000"/>
              <a:t>No behavior/implementation definition </a:t>
            </a:r>
          </a:p>
        </p:txBody>
      </p:sp>
      <p:sp>
        <p:nvSpPr>
          <p:cNvPr id="9" name="Text Box 14"/>
          <p:cNvSpPr txBox="1">
            <a:spLocks noChangeArrowheads="1"/>
          </p:cNvSpPr>
          <p:nvPr/>
        </p:nvSpPr>
        <p:spPr bwMode="auto">
          <a:xfrm>
            <a:off x="228600" y="3532188"/>
            <a:ext cx="4495800" cy="1954212"/>
          </a:xfrm>
          <a:prstGeom prst="rect">
            <a:avLst/>
          </a:prstGeom>
          <a:noFill/>
          <a:ln w="28575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/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entity ADDER is</a:t>
            </a:r>
            <a:b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600" b="0" dirty="0">
                <a:solidFill>
                  <a:srgbClr val="0000CC"/>
                </a:solidFill>
              </a:rPr>
              <a:t>   </a:t>
            </a:r>
            <a:r>
              <a:rPr lang="en-US" sz="1600" dirty="0">
                <a:solidFill>
                  <a:srgbClr val="0000CC"/>
                </a:solidFill>
                <a:latin typeface="Helvetica" pitchFamily="34" charset="0"/>
              </a:rPr>
              <a:t> port(</a:t>
            </a:r>
            <a:br>
              <a:rPr lang="en-US" sz="160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600" b="0" dirty="0">
                <a:solidFill>
                  <a:srgbClr val="0000CC"/>
                </a:solidFill>
              </a:rPr>
              <a:t>      </a:t>
            </a: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A, B:</a:t>
            </a:r>
            <a:r>
              <a:rPr lang="en-US" sz="1600" b="0" dirty="0">
                <a:solidFill>
                  <a:srgbClr val="0000CC"/>
                </a:solidFill>
              </a:rPr>
              <a:t>                </a:t>
            </a:r>
            <a:r>
              <a:rPr lang="en-US" sz="1600" dirty="0">
                <a:solidFill>
                  <a:srgbClr val="0000CC"/>
                </a:solidFill>
                <a:latin typeface="Helvetica" pitchFamily="34" charset="0"/>
              </a:rPr>
              <a:t> in</a:t>
            </a: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 </a:t>
            </a:r>
            <a:r>
              <a:rPr lang="en-US" sz="1600" b="0" dirty="0">
                <a:solidFill>
                  <a:srgbClr val="0000CC"/>
                </a:solidFill>
              </a:rPr>
              <a:t>    </a:t>
            </a: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integer range 15 to 0;</a:t>
            </a:r>
            <a:b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600" b="0" dirty="0">
                <a:solidFill>
                  <a:srgbClr val="0000CC"/>
                </a:solidFill>
              </a:rPr>
              <a:t>      </a:t>
            </a: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SUM:</a:t>
            </a:r>
            <a:r>
              <a:rPr lang="en-US" sz="1600" b="0" dirty="0">
                <a:solidFill>
                  <a:srgbClr val="0000CC"/>
                </a:solidFill>
              </a:rPr>
              <a:t>               </a:t>
            </a:r>
            <a:r>
              <a:rPr lang="en-US" sz="1600" dirty="0">
                <a:solidFill>
                  <a:srgbClr val="0000CC"/>
                </a:solidFill>
                <a:latin typeface="Helvetica" pitchFamily="34" charset="0"/>
              </a:rPr>
              <a:t>out   </a:t>
            </a: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integer range 15 to 0;</a:t>
            </a:r>
            <a:b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600" b="0" dirty="0">
                <a:solidFill>
                  <a:srgbClr val="0000CC"/>
                </a:solidFill>
              </a:rPr>
              <a:t>      </a:t>
            </a: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CARRY: </a:t>
            </a:r>
            <a:r>
              <a:rPr lang="en-US" sz="1600" b="0" dirty="0">
                <a:solidFill>
                  <a:srgbClr val="0000CC"/>
                </a:solidFill>
              </a:rPr>
              <a:t>          </a:t>
            </a:r>
            <a:r>
              <a:rPr lang="en-US" sz="1600" dirty="0">
                <a:solidFill>
                  <a:srgbClr val="0000CC"/>
                </a:solidFill>
                <a:latin typeface="Helvetica" pitchFamily="34" charset="0"/>
              </a:rPr>
              <a:t>out </a:t>
            </a: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 bit</a:t>
            </a:r>
            <a:r>
              <a:rPr lang="en-US" sz="1600" dirty="0">
                <a:solidFill>
                  <a:srgbClr val="0000CC"/>
                </a:solidFill>
                <a:latin typeface="Helvetica" pitchFamily="34" charset="0"/>
              </a:rPr>
              <a:t> );</a:t>
            </a:r>
            <a:br>
              <a:rPr lang="en-US" sz="160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end ADDER;</a:t>
            </a:r>
          </a:p>
          <a:p>
            <a:pPr algn="l" rtl="0" eaLnBrk="1" hangingPunct="1"/>
            <a:endParaRPr lang="en-US" sz="1600" b="0" dirty="0">
              <a:solidFill>
                <a:srgbClr val="0000CC"/>
              </a:solidFill>
              <a:latin typeface="Helvetica" pitchFamily="34" charset="0"/>
            </a:endParaRPr>
          </a:p>
        </p:txBody>
      </p:sp>
      <p:sp>
        <p:nvSpPr>
          <p:cNvPr id="10" name="Text Box 15"/>
          <p:cNvSpPr txBox="1">
            <a:spLocks noChangeArrowheads="1"/>
          </p:cNvSpPr>
          <p:nvPr/>
        </p:nvSpPr>
        <p:spPr bwMode="auto">
          <a:xfrm>
            <a:off x="4648200" y="4419600"/>
            <a:ext cx="4267200" cy="176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914400" indent="-4572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>
              <a:buFontTx/>
              <a:buChar char="•"/>
            </a:pPr>
            <a:r>
              <a:rPr lang="en-US" sz="2000"/>
              <a:t>Linking via port signals </a:t>
            </a:r>
          </a:p>
          <a:p>
            <a:pPr lvl="1" algn="l" rtl="0" eaLnBrk="1" hangingPunct="1">
              <a:buFontTx/>
              <a:buChar char="•"/>
            </a:pPr>
            <a:r>
              <a:rPr lang="en-US" sz="2000" b="0"/>
              <a:t>data types </a:t>
            </a:r>
          </a:p>
          <a:p>
            <a:pPr lvl="1" algn="l" rtl="0" eaLnBrk="1" hangingPunct="1">
              <a:buFontTx/>
              <a:buChar char="•"/>
            </a:pPr>
            <a:r>
              <a:rPr lang="en-US" sz="2000" b="0"/>
              <a:t>signal width </a:t>
            </a:r>
          </a:p>
          <a:p>
            <a:pPr lvl="1" algn="l" rtl="0" eaLnBrk="1" hangingPunct="1">
              <a:buFontTx/>
              <a:buChar char="•"/>
            </a:pPr>
            <a:r>
              <a:rPr lang="en-US" sz="2000" b="0"/>
              <a:t>signal direction </a:t>
            </a:r>
          </a:p>
        </p:txBody>
      </p:sp>
      <p:sp>
        <p:nvSpPr>
          <p:cNvPr id="11" name="Text Box 14"/>
          <p:cNvSpPr txBox="1">
            <a:spLocks noChangeArrowheads="1"/>
          </p:cNvSpPr>
          <p:nvPr/>
        </p:nvSpPr>
        <p:spPr bwMode="auto">
          <a:xfrm>
            <a:off x="2057400" y="3591580"/>
            <a:ext cx="2971800" cy="523220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/>
            <a:r>
              <a:rPr lang="en-US" sz="1400" b="0" dirty="0">
                <a:solidFill>
                  <a:schemeClr val="accent1">
                    <a:lumMod val="75000"/>
                  </a:schemeClr>
                </a:solidFill>
              </a:rPr>
              <a:t>          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Helvetica" pitchFamily="34" charset="0"/>
              </a:rPr>
              <a:t> in</a:t>
            </a:r>
            <a:r>
              <a:rPr lang="en-US" sz="1400" b="0" dirty="0">
                <a:solidFill>
                  <a:schemeClr val="accent1">
                    <a:lumMod val="75000"/>
                  </a:schemeClr>
                </a:solidFill>
                <a:latin typeface="Helvetica" pitchFamily="34" charset="0"/>
              </a:rPr>
              <a:t> </a:t>
            </a:r>
            <a:r>
              <a:rPr lang="en-US" sz="1400" b="0" dirty="0">
                <a:solidFill>
                  <a:schemeClr val="accent1">
                    <a:lumMod val="75000"/>
                  </a:schemeClr>
                </a:solidFill>
              </a:rPr>
              <a:t>    </a:t>
            </a:r>
            <a:r>
              <a:rPr lang="en-US" sz="1400" b="0" dirty="0" err="1">
                <a:solidFill>
                  <a:schemeClr val="accent1">
                    <a:lumMod val="75000"/>
                  </a:schemeClr>
                </a:solidFill>
                <a:latin typeface="Helvetica" pitchFamily="34" charset="0"/>
              </a:rPr>
              <a:t>bit_vector</a:t>
            </a:r>
            <a:r>
              <a:rPr lang="en-US" sz="1400" b="0" dirty="0">
                <a:solidFill>
                  <a:schemeClr val="accent1">
                    <a:lumMod val="75000"/>
                  </a:schemeClr>
                </a:solidFill>
                <a:latin typeface="Helvetica" pitchFamily="34" charset="0"/>
              </a:rPr>
              <a:t> (3 </a:t>
            </a:r>
            <a:r>
              <a:rPr lang="en-US" sz="1400" b="0" dirty="0" err="1">
                <a:solidFill>
                  <a:schemeClr val="accent1">
                    <a:lumMod val="75000"/>
                  </a:schemeClr>
                </a:solidFill>
                <a:latin typeface="Helvetica" pitchFamily="34" charset="0"/>
              </a:rPr>
              <a:t>downto</a:t>
            </a:r>
            <a:r>
              <a:rPr lang="en-US" sz="1400" b="0" dirty="0">
                <a:solidFill>
                  <a:schemeClr val="accent1">
                    <a:lumMod val="75000"/>
                  </a:schemeClr>
                </a:solidFill>
                <a:latin typeface="Helvetica" pitchFamily="34" charset="0"/>
              </a:rPr>
              <a:t> 0);</a:t>
            </a:r>
            <a:br>
              <a:rPr lang="en-US" sz="1400" b="0" dirty="0">
                <a:solidFill>
                  <a:schemeClr val="accent1">
                    <a:lumMod val="75000"/>
                  </a:schemeClr>
                </a:solidFill>
                <a:latin typeface="Helvetica" pitchFamily="34" charset="0"/>
              </a:rPr>
            </a:br>
            <a:r>
              <a:rPr lang="en-US" sz="1400" b="0" dirty="0">
                <a:solidFill>
                  <a:schemeClr val="accent1">
                    <a:lumMod val="75000"/>
                  </a:schemeClr>
                </a:solidFill>
              </a:rPr>
              <a:t>           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Helvetica" pitchFamily="34" charset="0"/>
              </a:rPr>
              <a:t>out   </a:t>
            </a:r>
            <a:r>
              <a:rPr lang="en-US" sz="1400" b="0" dirty="0" err="1">
                <a:solidFill>
                  <a:schemeClr val="accent1">
                    <a:lumMod val="75000"/>
                  </a:schemeClr>
                </a:solidFill>
                <a:latin typeface="Helvetica" pitchFamily="34" charset="0"/>
              </a:rPr>
              <a:t>bit_vector</a:t>
            </a:r>
            <a:r>
              <a:rPr lang="en-US" sz="1400" b="0" dirty="0">
                <a:solidFill>
                  <a:schemeClr val="accent1">
                    <a:lumMod val="75000"/>
                  </a:schemeClr>
                </a:solidFill>
                <a:latin typeface="Helvetica" pitchFamily="34" charset="0"/>
              </a:rPr>
              <a:t> (3 </a:t>
            </a:r>
            <a:r>
              <a:rPr lang="en-US" sz="1400" b="0" dirty="0" err="1">
                <a:solidFill>
                  <a:schemeClr val="accent1">
                    <a:lumMod val="75000"/>
                  </a:schemeClr>
                </a:solidFill>
                <a:latin typeface="Helvetica" pitchFamily="34" charset="0"/>
              </a:rPr>
              <a:t>downto</a:t>
            </a:r>
            <a:r>
              <a:rPr lang="en-US" sz="1400" b="0" dirty="0">
                <a:solidFill>
                  <a:schemeClr val="accent1">
                    <a:lumMod val="75000"/>
                  </a:schemeClr>
                </a:solidFill>
                <a:latin typeface="Helvetica" pitchFamily="34" charset="0"/>
              </a:rPr>
              <a:t> 0);</a:t>
            </a:r>
          </a:p>
        </p:txBody>
      </p:sp>
    </p:spTree>
    <p:extLst>
      <p:ext uri="{BB962C8B-B14F-4D97-AF65-F5344CB8AC3E}">
        <p14:creationId xmlns:p14="http://schemas.microsoft.com/office/powerpoint/2010/main" val="3705491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bldLvl="3" autoUpdateAnimBg="0"/>
      <p:bldP spid="9" grpId="0" animBg="1" autoUpdateAnimBg="0"/>
      <p:bldP spid="10" grpId="0" build="p" bldLvl="3" autoUpdateAnimBg="0"/>
      <p:bldP spid="11" grpId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Entity Port Modes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4343400" y="1853148"/>
            <a:ext cx="4572000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914400" indent="-4572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>
              <a:spcBef>
                <a:spcPct val="10000"/>
              </a:spcBef>
              <a:buFontTx/>
              <a:buChar char="•"/>
            </a:pPr>
            <a:r>
              <a:rPr lang="en-US" sz="2000" dirty="0"/>
              <a:t>in: </a:t>
            </a:r>
          </a:p>
          <a:p>
            <a:pPr lvl="1" algn="l" rtl="0" eaLnBrk="1" hangingPunct="1">
              <a:spcBef>
                <a:spcPct val="10000"/>
              </a:spcBef>
              <a:buFontTx/>
              <a:buChar char="•"/>
            </a:pPr>
            <a:r>
              <a:rPr lang="en-US" sz="2000" b="0" dirty="0"/>
              <a:t>signal values are read-only </a:t>
            </a:r>
          </a:p>
          <a:p>
            <a:pPr algn="l" rtl="0" eaLnBrk="1" hangingPunct="1">
              <a:spcBef>
                <a:spcPct val="10000"/>
              </a:spcBef>
              <a:buFontTx/>
              <a:buChar char="•"/>
            </a:pPr>
            <a:r>
              <a:rPr lang="en-US" sz="2000" dirty="0"/>
              <a:t>out: </a:t>
            </a:r>
          </a:p>
          <a:p>
            <a:pPr lvl="1" algn="l" rtl="0" eaLnBrk="1" hangingPunct="1">
              <a:spcBef>
                <a:spcPct val="10000"/>
              </a:spcBef>
              <a:buFontTx/>
              <a:buChar char="•"/>
            </a:pPr>
            <a:r>
              <a:rPr lang="en-US" sz="2000" b="0" dirty="0"/>
              <a:t>signal values are write-only </a:t>
            </a:r>
          </a:p>
          <a:p>
            <a:pPr lvl="1" algn="l" rtl="0" eaLnBrk="1" hangingPunct="1">
              <a:spcBef>
                <a:spcPct val="10000"/>
              </a:spcBef>
              <a:buFontTx/>
              <a:buChar char="•"/>
            </a:pPr>
            <a:r>
              <a:rPr lang="en-US" sz="2000" b="0" dirty="0"/>
              <a:t>multiple drivers </a:t>
            </a:r>
          </a:p>
          <a:p>
            <a:pPr algn="l" rtl="0" eaLnBrk="1" hangingPunct="1">
              <a:spcBef>
                <a:spcPct val="10000"/>
              </a:spcBef>
              <a:buFontTx/>
              <a:buChar char="•"/>
            </a:pPr>
            <a:r>
              <a:rPr lang="en-US" sz="2000" dirty="0"/>
              <a:t>buffer: </a:t>
            </a:r>
          </a:p>
          <a:p>
            <a:pPr lvl="1" algn="l" rtl="0" eaLnBrk="1" hangingPunct="1">
              <a:spcBef>
                <a:spcPct val="10000"/>
              </a:spcBef>
              <a:buFontTx/>
              <a:buChar char="•"/>
            </a:pPr>
            <a:r>
              <a:rPr lang="en-US" sz="2000" b="0" dirty="0"/>
              <a:t>similar to out </a:t>
            </a:r>
          </a:p>
          <a:p>
            <a:pPr lvl="1" algn="l" rtl="0" eaLnBrk="1" hangingPunct="1">
              <a:spcBef>
                <a:spcPct val="10000"/>
              </a:spcBef>
              <a:buFontTx/>
              <a:buChar char="•"/>
            </a:pPr>
            <a:r>
              <a:rPr lang="en-US" sz="2000" b="0" dirty="0"/>
              <a:t>signal values may be read, as well </a:t>
            </a:r>
          </a:p>
          <a:p>
            <a:pPr lvl="1" algn="l" rtl="0" eaLnBrk="1" hangingPunct="1">
              <a:spcBef>
                <a:spcPct val="10000"/>
              </a:spcBef>
              <a:buFontTx/>
              <a:buChar char="•"/>
            </a:pPr>
            <a:r>
              <a:rPr lang="en-US" sz="2000" b="0" dirty="0"/>
              <a:t>only 1 driver </a:t>
            </a:r>
          </a:p>
          <a:p>
            <a:pPr algn="l" rtl="0" eaLnBrk="1" hangingPunct="1">
              <a:spcBef>
                <a:spcPct val="10000"/>
              </a:spcBef>
              <a:buFontTx/>
              <a:buChar char="•"/>
            </a:pPr>
            <a:r>
              <a:rPr lang="en-US" sz="2000" dirty="0" err="1"/>
              <a:t>inout</a:t>
            </a:r>
            <a:r>
              <a:rPr lang="en-US" sz="2000" dirty="0"/>
              <a:t>: </a:t>
            </a:r>
          </a:p>
          <a:p>
            <a:pPr lvl="1" algn="l" rtl="0" eaLnBrk="1" hangingPunct="1">
              <a:spcBef>
                <a:spcPct val="10000"/>
              </a:spcBef>
              <a:buFontTx/>
              <a:buChar char="•"/>
            </a:pPr>
            <a:r>
              <a:rPr lang="en-US" sz="2000" b="0" dirty="0"/>
              <a:t>bidirectional port </a:t>
            </a:r>
          </a:p>
        </p:txBody>
      </p:sp>
      <p:pic>
        <p:nvPicPr>
          <p:cNvPr id="7" name="Picture 6" descr="t_2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987550"/>
            <a:ext cx="3200400" cy="101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 descr="t_2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206750"/>
            <a:ext cx="32766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 descr="t_2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4425950"/>
            <a:ext cx="3657600" cy="115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96665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1143000" y="1246187"/>
            <a:ext cx="6858000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/>
            <a:r>
              <a:rPr lang="en-US" sz="1800" b="0" dirty="0">
                <a:latin typeface="Helvetica" pitchFamily="34" charset="0"/>
              </a:rPr>
              <a:t>        ----------------------------------</a:t>
            </a:r>
            <a:br>
              <a:rPr lang="en-US" sz="1800" b="0" dirty="0">
                <a:latin typeface="Helvetica" pitchFamily="34" charset="0"/>
              </a:rPr>
            </a:br>
            <a:r>
              <a:rPr lang="en-US" sz="1800" b="0" dirty="0">
                <a:latin typeface="Helvetica" pitchFamily="34" charset="0"/>
              </a:rPr>
              <a:t>-- Example VHDL Code --</a:t>
            </a:r>
            <a:br>
              <a:rPr lang="en-US" sz="1800" b="0" dirty="0">
                <a:latin typeface="Helvetica" pitchFamily="34" charset="0"/>
              </a:rPr>
            </a:br>
            <a:r>
              <a:rPr lang="en-US" sz="1800" b="0" dirty="0">
                <a:latin typeface="Helvetica" pitchFamily="34" charset="0"/>
              </a:rPr>
              <a:t>----------------------------------</a:t>
            </a:r>
            <a:br>
              <a:rPr lang="en-US" sz="1800" b="0" dirty="0">
                <a:latin typeface="Helvetica" pitchFamily="34" charset="0"/>
              </a:rPr>
            </a:br>
            <a:r>
              <a:rPr lang="en-US" sz="1800" b="0" dirty="0">
                <a:latin typeface="Helvetica" pitchFamily="34" charset="0"/>
              </a:rPr>
              <a:t>signal </a:t>
            </a:r>
            <a:r>
              <a:rPr lang="en-US" sz="1800" b="0" dirty="0" err="1">
                <a:latin typeface="Helvetica" pitchFamily="34" charset="0"/>
              </a:rPr>
              <a:t>mySignal</a:t>
            </a:r>
            <a:r>
              <a:rPr lang="en-US" sz="1800" b="0" dirty="0">
                <a:latin typeface="Helvetica" pitchFamily="34" charset="0"/>
              </a:rPr>
              <a:t>: bit;</a:t>
            </a:r>
            <a:r>
              <a:rPr lang="en-US" sz="1800" b="0" dirty="0"/>
              <a:t>        </a:t>
            </a:r>
            <a:r>
              <a:rPr lang="en-US" sz="1800" b="0" dirty="0">
                <a:latin typeface="Helvetica" pitchFamily="34" charset="0"/>
              </a:rPr>
              <a:t>-- an example signal</a:t>
            </a:r>
            <a:br>
              <a:rPr lang="en-US" sz="1800" b="0" dirty="0">
                <a:latin typeface="Helvetica" pitchFamily="34" charset="0"/>
              </a:rPr>
            </a:br>
            <a:r>
              <a:rPr lang="en-US" sz="1800" b="0" dirty="0" err="1">
                <a:latin typeface="Helvetica" pitchFamily="34" charset="0"/>
              </a:rPr>
              <a:t>MYsignal</a:t>
            </a:r>
            <a:r>
              <a:rPr lang="en-US" sz="1800" b="0" dirty="0">
                <a:latin typeface="Helvetica" pitchFamily="34" charset="0"/>
              </a:rPr>
              <a:t> &lt;= '0',</a:t>
            </a:r>
            <a:r>
              <a:rPr lang="en-US" sz="1800" b="0" dirty="0"/>
              <a:t>                           </a:t>
            </a:r>
            <a:r>
              <a:rPr lang="en-US" sz="1800" b="0" dirty="0">
                <a:latin typeface="Helvetica" pitchFamily="34" charset="0"/>
              </a:rPr>
              <a:t>-- start with '0'</a:t>
            </a:r>
            <a:br>
              <a:rPr lang="en-US" sz="1800" b="0" dirty="0">
                <a:latin typeface="Helvetica" pitchFamily="34" charset="0"/>
              </a:rPr>
            </a:br>
            <a:r>
              <a:rPr lang="en-US" sz="1800" b="0" dirty="0"/>
              <a:t>                     </a:t>
            </a:r>
            <a:r>
              <a:rPr lang="en-US" sz="1800" b="0" dirty="0">
                <a:latin typeface="Helvetica" pitchFamily="34" charset="0"/>
              </a:rPr>
              <a:t>'1' AFTER 10 ns,</a:t>
            </a:r>
            <a:r>
              <a:rPr lang="en-US" sz="1800" b="0" dirty="0"/>
              <a:t>     </a:t>
            </a:r>
            <a:r>
              <a:rPr lang="en-US" sz="1800" b="0" dirty="0">
                <a:latin typeface="Helvetica" pitchFamily="34" charset="0"/>
              </a:rPr>
              <a:t>-- and toggle after</a:t>
            </a:r>
            <a:br>
              <a:rPr lang="en-US" sz="1800" b="0" dirty="0">
                <a:latin typeface="Helvetica" pitchFamily="34" charset="0"/>
              </a:rPr>
            </a:br>
            <a:r>
              <a:rPr lang="en-US" sz="1800" b="0" dirty="0"/>
              <a:t>                     </a:t>
            </a:r>
            <a:r>
              <a:rPr lang="en-US" sz="1800" b="0" dirty="0">
                <a:latin typeface="Helvetica" pitchFamily="34" charset="0"/>
              </a:rPr>
              <a:t>'0' after 20 ns,</a:t>
            </a:r>
            <a:r>
              <a:rPr lang="en-US" sz="1800" b="0" dirty="0"/>
              <a:t>         </a:t>
            </a:r>
            <a:r>
              <a:rPr lang="en-US" sz="1800" b="0" dirty="0">
                <a:latin typeface="Helvetica" pitchFamily="34" charset="0"/>
              </a:rPr>
              <a:t>-- every 10 ns</a:t>
            </a:r>
            <a:br>
              <a:rPr lang="en-US" sz="1800" b="0" dirty="0">
                <a:latin typeface="Helvetica" pitchFamily="34" charset="0"/>
              </a:rPr>
            </a:br>
            <a:r>
              <a:rPr lang="en-US" sz="1800" b="0" dirty="0"/>
              <a:t>                     </a:t>
            </a:r>
            <a:r>
              <a:rPr lang="en-US" sz="1800" b="0" dirty="0">
                <a:latin typeface="Helvetica" pitchFamily="34" charset="0"/>
              </a:rPr>
              <a:t>'1' </a:t>
            </a:r>
            <a:r>
              <a:rPr lang="en-US" sz="1800" b="0" dirty="0" err="1">
                <a:latin typeface="Helvetica" pitchFamily="34" charset="0"/>
              </a:rPr>
              <a:t>afTer</a:t>
            </a:r>
            <a:r>
              <a:rPr lang="en-US" sz="1800" b="0" dirty="0">
                <a:latin typeface="Helvetica" pitchFamily="34" charset="0"/>
              </a:rPr>
              <a:t> 30 ns;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685800" y="3886200"/>
            <a:ext cx="6781800" cy="2585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914400" indent="-4572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>
              <a:buFontTx/>
              <a:buChar char="•"/>
            </a:pPr>
            <a:r>
              <a:rPr lang="en-US" sz="1800" dirty="0"/>
              <a:t>Statements are terminated by ';'</a:t>
            </a:r>
            <a:br>
              <a:rPr lang="en-US" sz="1800" dirty="0"/>
            </a:br>
            <a:r>
              <a:rPr lang="en-US" sz="1800" dirty="0"/>
              <a:t>(may span multiple lines) </a:t>
            </a:r>
          </a:p>
          <a:p>
            <a:pPr algn="l" rtl="0" eaLnBrk="1" hangingPunct="1">
              <a:buFontTx/>
              <a:buChar char="•"/>
            </a:pPr>
            <a:r>
              <a:rPr lang="en-US" sz="1800" dirty="0"/>
              <a:t>List delimiter: ',' </a:t>
            </a:r>
          </a:p>
          <a:p>
            <a:pPr algn="l" rtl="0" eaLnBrk="1" hangingPunct="1">
              <a:buFontTx/>
              <a:buChar char="•"/>
            </a:pPr>
            <a:r>
              <a:rPr lang="en-US" sz="1800" dirty="0"/>
              <a:t>Signal assignment: '&lt;=' </a:t>
            </a:r>
          </a:p>
          <a:p>
            <a:pPr algn="l" rtl="0" eaLnBrk="1" hangingPunct="1">
              <a:buFontTx/>
              <a:buChar char="•"/>
            </a:pPr>
            <a:r>
              <a:rPr lang="en-US" sz="1800" dirty="0"/>
              <a:t>User defined names: </a:t>
            </a:r>
          </a:p>
          <a:p>
            <a:pPr lvl="1" algn="l" rtl="0" eaLnBrk="1" hangingPunct="1">
              <a:buFontTx/>
              <a:buChar char="•"/>
            </a:pPr>
            <a:r>
              <a:rPr lang="en-US" sz="1800" b="0" dirty="0"/>
              <a:t>letters, numbers, underscores </a:t>
            </a:r>
          </a:p>
          <a:p>
            <a:pPr lvl="1" algn="l" rtl="0" eaLnBrk="1" hangingPunct="1">
              <a:buFontTx/>
              <a:buChar char="•"/>
            </a:pPr>
            <a:r>
              <a:rPr lang="en-US" sz="1800" b="0" dirty="0"/>
              <a:t>start with a letter </a:t>
            </a:r>
          </a:p>
          <a:p>
            <a:pPr algn="l" rtl="0" eaLnBrk="1" hangingPunct="1">
              <a:buFontTx/>
              <a:buChar char="•"/>
            </a:pPr>
            <a:r>
              <a:rPr lang="en-US" sz="1800" dirty="0"/>
              <a:t>Comments: '--' until end of line </a:t>
            </a:r>
          </a:p>
          <a:p>
            <a:pPr algn="l" rtl="0" eaLnBrk="1" hangingPunct="1">
              <a:buFontTx/>
              <a:buChar char="•"/>
            </a:pPr>
            <a:endParaRPr lang="fa-IR" sz="1800" b="0" dirty="0"/>
          </a:p>
        </p:txBody>
      </p:sp>
    </p:spTree>
    <p:extLst>
      <p:ext uri="{BB962C8B-B14F-4D97-AF65-F5344CB8AC3E}">
        <p14:creationId xmlns:p14="http://schemas.microsoft.com/office/powerpoint/2010/main" val="1295959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VHDL Identifiers (Names)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18" name="Rectangle 17"/>
          <p:cNvSpPr>
            <a:spLocks noGrp="1" noChangeArrowheads="1"/>
          </p:cNvSpPr>
          <p:nvPr/>
        </p:nvSpPr>
        <p:spPr bwMode="auto">
          <a:xfrm>
            <a:off x="685800" y="1371600"/>
            <a:ext cx="77724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CommonBullets" pitchFamily="34" charset="2"/>
              <a:buBlip>
                <a:blip r:embed="rId3"/>
              </a:buBlip>
              <a:defRPr kumimoji="1" sz="32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3"/>
              </a:buClr>
              <a:buSzPct val="85000"/>
              <a:buFont typeface="CommonBullets" pitchFamily="34" charset="2"/>
              <a:buBlip>
                <a:blip r:embed="rId4"/>
              </a:buBlip>
              <a:defRPr kumimoji="1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60000"/>
              <a:buFont typeface="CommonBullets" pitchFamily="34" charset="2"/>
              <a:buBlip>
                <a:blip r:embed="rId5"/>
              </a:buBlip>
              <a:defRPr kumimoji="1" sz="2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CommonBullets" pitchFamily="34" charset="2"/>
              <a:buBlip>
                <a:blip r:embed="rId3"/>
              </a:buBlip>
              <a:tabLst/>
              <a:defRPr/>
            </a:pPr>
            <a:r>
              <a:rPr kumimoji="1" lang="en-US" altLang="en-US" sz="2400" b="1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+mn-ea"/>
                <a:cs typeface="+mn-cs"/>
              </a:rPr>
              <a:t>Basic identifier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3"/>
              </a:buClr>
              <a:buSzPct val="85000"/>
              <a:buFont typeface="CommonBullets" pitchFamily="34" charset="2"/>
              <a:buBlip>
                <a:blip r:embed="rId4"/>
              </a:buBlip>
              <a:tabLst/>
              <a:defRPr/>
            </a:pPr>
            <a:r>
              <a:rPr kumimoji="1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</a:rPr>
              <a:t>starts with a letter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3"/>
              </a:buClr>
              <a:buSzPct val="85000"/>
              <a:buFont typeface="CommonBullets" pitchFamily="34" charset="2"/>
              <a:buBlip>
                <a:blip r:embed="rId4"/>
              </a:buBlip>
              <a:tabLst/>
              <a:defRPr/>
            </a:pPr>
            <a:r>
              <a:rPr kumimoji="1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</a:rPr>
              <a:t>made up of letters, numbers, and underscore “_” character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3"/>
              </a:buClr>
              <a:buSzPct val="85000"/>
              <a:buFont typeface="CommonBullets" pitchFamily="34" charset="2"/>
              <a:buBlip>
                <a:blip r:embed="rId4"/>
              </a:buBlip>
              <a:tabLst/>
              <a:defRPr/>
            </a:pPr>
            <a:r>
              <a:rPr kumimoji="1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</a:rPr>
              <a:t>cannot end with an underscore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3"/>
              </a:buClr>
              <a:buSzPct val="85000"/>
              <a:buFont typeface="CommonBullets" pitchFamily="34" charset="2"/>
              <a:buBlip>
                <a:blip r:embed="rId4"/>
              </a:buBlip>
              <a:tabLst/>
              <a:defRPr/>
            </a:pPr>
            <a:r>
              <a:rPr kumimoji="1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</a:rPr>
              <a:t>case-insensitive:  </a:t>
            </a:r>
            <a:r>
              <a:rPr kumimoji="1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cs typeface="Courier New" pitchFamily="49" charset="0"/>
              </a:rPr>
              <a:t>MY_Signal_Name</a:t>
            </a:r>
            <a:r>
              <a:rPr kumimoji="1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</a:rPr>
              <a:t>  =  </a:t>
            </a:r>
            <a:r>
              <a:rPr kumimoji="1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cs typeface="Courier New" pitchFamily="49" charset="0"/>
              </a:rPr>
              <a:t>my_signal_name</a:t>
            </a:r>
            <a:br>
              <a:rPr kumimoji="1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</a:rPr>
            </a:br>
            <a:endParaRPr kumimoji="1" lang="en-US" altLang="en-US" sz="2000" b="0" i="0" u="none" strike="noStrike" kern="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CommonBullets" pitchFamily="34" charset="2"/>
              <a:buBlip>
                <a:blip r:embed="rId3"/>
              </a:buBlip>
              <a:tabLst/>
              <a:defRPr/>
            </a:pPr>
            <a:r>
              <a:rPr kumimoji="1" lang="en-US" altLang="en-US" sz="2400" b="1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+mn-ea"/>
                <a:cs typeface="+mn-cs"/>
              </a:rPr>
              <a:t>Extended Identifier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3"/>
              </a:buClr>
              <a:buSzPct val="85000"/>
              <a:buFont typeface="CommonBullets" pitchFamily="34" charset="2"/>
              <a:buBlip>
                <a:blip r:embed="rId4"/>
              </a:buBlip>
              <a:tabLst/>
              <a:defRPr/>
            </a:pPr>
            <a:r>
              <a:rPr kumimoji="1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</a:rPr>
              <a:t>any text within 2 backslashes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3"/>
              </a:buClr>
              <a:buSzPct val="85000"/>
              <a:buFont typeface="CommonBullets" pitchFamily="34" charset="2"/>
              <a:buBlip>
                <a:blip r:embed="rId4"/>
              </a:buBlip>
              <a:tabLst/>
              <a:defRPr/>
            </a:pPr>
            <a:r>
              <a:rPr kumimoji="1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</a:rPr>
              <a:t>e.g., </a:t>
            </a:r>
            <a:r>
              <a:rPr kumimoji="1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</a:rPr>
              <a:t>\2FOR$\  \-23signal\</a:t>
            </a:r>
            <a:r>
              <a:rPr kumimoji="1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</a:rPr>
              <a:t>   etc.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3"/>
              </a:buClr>
              <a:buSzPct val="85000"/>
              <a:buFont typeface="CommonBullets" pitchFamily="34" charset="2"/>
              <a:buBlip>
                <a:blip r:embed="rId4"/>
              </a:buBlip>
              <a:tabLst/>
              <a:defRPr/>
            </a:pPr>
            <a:r>
              <a:rPr kumimoji="1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</a:rPr>
              <a:t>case is significant:   </a:t>
            </a:r>
            <a:r>
              <a:rPr kumimoji="1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</a:rPr>
              <a:t>\COUNT\</a:t>
            </a:r>
            <a:r>
              <a:rPr kumimoji="1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</a:rPr>
              <a:t>  not equal to </a:t>
            </a:r>
            <a:r>
              <a:rPr kumimoji="1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</a:rPr>
              <a:t>\count\</a:t>
            </a:r>
            <a:r>
              <a:rPr kumimoji="1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</a:rPr>
              <a:t>, and</a:t>
            </a:r>
            <a:br>
              <a:rPr kumimoji="1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</a:rPr>
            </a:br>
            <a:r>
              <a:rPr kumimoji="1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</a:rPr>
              <a:t>\FRAMUS\</a:t>
            </a:r>
            <a:r>
              <a:rPr kumimoji="1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</a:rPr>
              <a:t>  not equal to basic identifier </a:t>
            </a:r>
            <a:r>
              <a:rPr kumimoji="1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</a:rPr>
              <a:t>FRAMUS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3"/>
              </a:buClr>
              <a:buSzPct val="85000"/>
              <a:buFont typeface="CommonBullets" pitchFamily="34" charset="2"/>
              <a:buBlip>
                <a:blip r:embed="rId4"/>
              </a:buBlip>
              <a:tabLst/>
              <a:defRPr/>
            </a:pPr>
            <a:r>
              <a:rPr kumimoji="1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</a:rPr>
              <a:t>Not often used – </a:t>
            </a:r>
            <a:r>
              <a:rPr kumimoji="1" lang="en-US" altLang="en-US" sz="2000" b="1" i="1" u="sng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</a:rPr>
              <a:t>not necessarily supported in synthesis !!</a:t>
            </a:r>
          </a:p>
        </p:txBody>
      </p:sp>
      <p:grpSp>
        <p:nvGrpSpPr>
          <p:cNvPr id="19" name="Group 18"/>
          <p:cNvGrpSpPr>
            <a:grpSpLocks/>
          </p:cNvGrpSpPr>
          <p:nvPr/>
        </p:nvGrpSpPr>
        <p:grpSpPr bwMode="auto">
          <a:xfrm>
            <a:off x="3810000" y="3617912"/>
            <a:ext cx="3429000" cy="396875"/>
            <a:chOff x="2976" y="2352"/>
            <a:chExt cx="2160" cy="250"/>
          </a:xfrm>
        </p:grpSpPr>
        <p:sp>
          <p:nvSpPr>
            <p:cNvPr id="20" name="Text Box 4"/>
            <p:cNvSpPr txBox="1">
              <a:spLocks noChangeArrowheads="1"/>
            </p:cNvSpPr>
            <p:nvPr/>
          </p:nvSpPr>
          <p:spPr bwMode="auto">
            <a:xfrm>
              <a:off x="3504" y="2352"/>
              <a:ext cx="16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76200">
                  <a:solidFill>
                    <a:srgbClr val="FF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not recommended</a:t>
              </a:r>
            </a:p>
          </p:txBody>
        </p:sp>
        <p:sp>
          <p:nvSpPr>
            <p:cNvPr id="21" name="Line 5"/>
            <p:cNvSpPr>
              <a:spLocks noChangeShapeType="1"/>
            </p:cNvSpPr>
            <p:nvPr/>
          </p:nvSpPr>
          <p:spPr bwMode="auto">
            <a:xfrm flipH="1">
              <a:off x="2976" y="2496"/>
              <a:ext cx="624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69624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Identifiers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0" y="1301750"/>
            <a:ext cx="5334000" cy="201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/>
            <a:r>
              <a:rPr lang="en-US" sz="1800" b="0" dirty="0">
                <a:latin typeface="Helvetica" pitchFamily="34" charset="0"/>
              </a:rPr>
              <a:t>	mySignal_23</a:t>
            </a:r>
            <a:r>
              <a:rPr lang="en-US" sz="1800" b="0" dirty="0"/>
              <a:t>      </a:t>
            </a:r>
            <a:r>
              <a:rPr lang="en-US" sz="1800" b="0" dirty="0">
                <a:latin typeface="Helvetica" pitchFamily="34" charset="0"/>
              </a:rPr>
              <a:t>--</a:t>
            </a:r>
            <a:r>
              <a:rPr lang="en-US" sz="1800" b="0" dirty="0"/>
              <a:t> </a:t>
            </a:r>
            <a:r>
              <a:rPr lang="en-US" sz="1800" b="0" dirty="0">
                <a:latin typeface="Helvetica" pitchFamily="34" charset="0"/>
              </a:rPr>
              <a:t>normal identifier</a:t>
            </a:r>
            <a:br>
              <a:rPr lang="en-US" sz="1800" b="0" dirty="0">
                <a:latin typeface="Helvetica" pitchFamily="34" charset="0"/>
              </a:rPr>
            </a:br>
            <a:r>
              <a:rPr lang="en-US" sz="1800" b="0" dirty="0" err="1">
                <a:latin typeface="Helvetica" pitchFamily="34" charset="0"/>
              </a:rPr>
              <a:t>rdy</a:t>
            </a:r>
            <a:r>
              <a:rPr lang="en-US" sz="1800" b="0" dirty="0">
                <a:latin typeface="Helvetica" pitchFamily="34" charset="0"/>
              </a:rPr>
              <a:t>, RDY, </a:t>
            </a:r>
            <a:r>
              <a:rPr lang="en-US" sz="1800" b="0" dirty="0" err="1">
                <a:latin typeface="Helvetica" pitchFamily="34" charset="0"/>
              </a:rPr>
              <a:t>Rdy</a:t>
            </a:r>
            <a:r>
              <a:rPr lang="en-US" sz="1800" b="0" dirty="0"/>
              <a:t>    </a:t>
            </a:r>
            <a:r>
              <a:rPr lang="en-US" sz="1800" b="0" dirty="0">
                <a:latin typeface="Helvetica" pitchFamily="34" charset="0"/>
              </a:rPr>
              <a:t>--</a:t>
            </a:r>
            <a:r>
              <a:rPr lang="en-US" sz="1800" b="0" dirty="0"/>
              <a:t> </a:t>
            </a:r>
            <a:r>
              <a:rPr lang="en-US" sz="1800" b="0" dirty="0">
                <a:latin typeface="Helvetica" pitchFamily="34" charset="0"/>
              </a:rPr>
              <a:t>identical identifiers</a:t>
            </a:r>
            <a:br>
              <a:rPr lang="en-US" sz="1800" b="0" dirty="0">
                <a:latin typeface="Helvetica" pitchFamily="34" charset="0"/>
              </a:rPr>
            </a:br>
            <a:r>
              <a:rPr lang="en-US" sz="1800" b="0" dirty="0" err="1">
                <a:latin typeface="Helvetica" pitchFamily="34" charset="0"/>
              </a:rPr>
              <a:t>vector_&amp;_vector</a:t>
            </a:r>
            <a:r>
              <a:rPr lang="en-US" sz="1800" b="0" dirty="0"/>
              <a:t>  </a:t>
            </a:r>
            <a:r>
              <a:rPr lang="en-US" sz="1800" b="0" dirty="0">
                <a:latin typeface="Helvetica" pitchFamily="34" charset="0"/>
              </a:rPr>
              <a:t>--</a:t>
            </a:r>
            <a:r>
              <a:rPr lang="en-US" sz="1800" b="0" dirty="0"/>
              <a:t> </a:t>
            </a:r>
            <a:r>
              <a:rPr lang="en-US" sz="1800" dirty="0">
                <a:latin typeface="Helvetica" pitchFamily="34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Helvetica" pitchFamily="34" charset="0"/>
              </a:rPr>
              <a:t>X</a:t>
            </a:r>
            <a:r>
              <a:rPr lang="en-US" sz="1800" b="0" dirty="0">
                <a:latin typeface="Helvetica" pitchFamily="34" charset="0"/>
              </a:rPr>
              <a:t> : special character</a:t>
            </a:r>
            <a:br>
              <a:rPr lang="en-US" sz="1800" b="0" dirty="0">
                <a:latin typeface="Helvetica" pitchFamily="34" charset="0"/>
              </a:rPr>
            </a:br>
            <a:r>
              <a:rPr lang="en-US" sz="1800" b="0" dirty="0">
                <a:latin typeface="Helvetica" pitchFamily="34" charset="0"/>
              </a:rPr>
              <a:t>last of </a:t>
            </a:r>
            <a:r>
              <a:rPr lang="en-US" sz="1800" b="0" dirty="0" err="1">
                <a:latin typeface="Helvetica" pitchFamily="34" charset="0"/>
              </a:rPr>
              <a:t>Zout</a:t>
            </a:r>
            <a:r>
              <a:rPr lang="en-US" sz="1800" b="0" dirty="0"/>
              <a:t>     </a:t>
            </a:r>
            <a:r>
              <a:rPr lang="en-US" sz="1800" b="0" dirty="0">
                <a:latin typeface="Helvetica" pitchFamily="34" charset="0"/>
              </a:rPr>
              <a:t>--</a:t>
            </a:r>
            <a:r>
              <a:rPr lang="en-US" sz="1800" b="0" dirty="0"/>
              <a:t> </a:t>
            </a:r>
            <a:r>
              <a:rPr lang="en-US" sz="1800" dirty="0">
                <a:latin typeface="Helvetica" pitchFamily="34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Helvetica" pitchFamily="34" charset="0"/>
              </a:rPr>
              <a:t>X</a:t>
            </a:r>
            <a:r>
              <a:rPr lang="en-US" sz="1800" b="0" dirty="0">
                <a:latin typeface="Helvetica" pitchFamily="34" charset="0"/>
              </a:rPr>
              <a:t> : white spaces</a:t>
            </a:r>
            <a:br>
              <a:rPr lang="en-US" sz="1800" b="0" dirty="0">
                <a:latin typeface="Helvetica" pitchFamily="34" charset="0"/>
              </a:rPr>
            </a:br>
            <a:r>
              <a:rPr lang="en-US" sz="1800" b="0" dirty="0" err="1">
                <a:latin typeface="Helvetica" pitchFamily="34" charset="0"/>
              </a:rPr>
              <a:t>idle__state</a:t>
            </a:r>
            <a:r>
              <a:rPr lang="en-US" sz="1800" b="0" dirty="0"/>
              <a:t>      </a:t>
            </a:r>
            <a:r>
              <a:rPr lang="en-US" sz="1800" b="0" dirty="0">
                <a:latin typeface="Helvetica" pitchFamily="34" charset="0"/>
              </a:rPr>
              <a:t>--</a:t>
            </a:r>
            <a:r>
              <a:rPr lang="en-US" sz="1800" b="0" dirty="0"/>
              <a:t> </a:t>
            </a:r>
            <a:r>
              <a:rPr lang="en-US" sz="1800" dirty="0">
                <a:latin typeface="Helvetica" pitchFamily="34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Helvetica" pitchFamily="34" charset="0"/>
              </a:rPr>
              <a:t>X</a:t>
            </a:r>
            <a:r>
              <a:rPr lang="en-US" sz="1800" b="0" dirty="0">
                <a:latin typeface="Helvetica" pitchFamily="34" charset="0"/>
              </a:rPr>
              <a:t> : consecutive underscores</a:t>
            </a:r>
            <a:br>
              <a:rPr lang="en-US" sz="1800" b="0" dirty="0">
                <a:latin typeface="Helvetica" pitchFamily="34" charset="0"/>
              </a:rPr>
            </a:br>
            <a:r>
              <a:rPr lang="en-US" sz="1800" b="0" dirty="0">
                <a:latin typeface="Helvetica" pitchFamily="34" charset="0"/>
              </a:rPr>
              <a:t>24th_signal</a:t>
            </a:r>
            <a:r>
              <a:rPr lang="en-US" sz="1800" b="0" dirty="0"/>
              <a:t>      </a:t>
            </a:r>
            <a:r>
              <a:rPr lang="en-US" sz="1800" b="0" dirty="0">
                <a:latin typeface="Helvetica" pitchFamily="34" charset="0"/>
              </a:rPr>
              <a:t>--</a:t>
            </a:r>
            <a:r>
              <a:rPr lang="en-US" sz="1800" b="0" dirty="0"/>
              <a:t> </a:t>
            </a:r>
            <a:r>
              <a:rPr lang="en-US" sz="1800" dirty="0">
                <a:latin typeface="Helvetica" pitchFamily="34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Helvetica" pitchFamily="34" charset="0"/>
              </a:rPr>
              <a:t>X</a:t>
            </a:r>
            <a:r>
              <a:rPr lang="en-US" sz="1800" b="0" dirty="0">
                <a:latin typeface="Helvetica" pitchFamily="34" charset="0"/>
              </a:rPr>
              <a:t> : begins with a numeral</a:t>
            </a:r>
            <a:br>
              <a:rPr lang="en-US" sz="1800" b="0" dirty="0">
                <a:latin typeface="Helvetica" pitchFamily="34" charset="0"/>
              </a:rPr>
            </a:br>
            <a:r>
              <a:rPr lang="en-US" sz="1800" b="0" dirty="0">
                <a:latin typeface="Helvetica" pitchFamily="34" charset="0"/>
              </a:rPr>
              <a:t>open, register</a:t>
            </a:r>
            <a:r>
              <a:rPr lang="en-US" sz="1800" b="0" dirty="0"/>
              <a:t>   </a:t>
            </a:r>
            <a:r>
              <a:rPr lang="en-US" sz="1800" b="0" dirty="0">
                <a:latin typeface="Helvetica" pitchFamily="34" charset="0"/>
              </a:rPr>
              <a:t>--</a:t>
            </a:r>
            <a:r>
              <a:rPr lang="en-US" sz="1800" b="0" dirty="0"/>
              <a:t> </a:t>
            </a:r>
            <a:r>
              <a:rPr lang="en-US" sz="1800" dirty="0">
                <a:latin typeface="Helvetica" pitchFamily="34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Helvetica" pitchFamily="34" charset="0"/>
              </a:rPr>
              <a:t>X</a:t>
            </a:r>
            <a:r>
              <a:rPr lang="en-US" sz="1800" b="0" dirty="0">
                <a:latin typeface="Helvetica" pitchFamily="34" charset="0"/>
              </a:rPr>
              <a:t> : VHDL keywords</a:t>
            </a: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5181600" y="1618540"/>
            <a:ext cx="4267200" cy="77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914400" indent="-4572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>
              <a:buFontTx/>
              <a:buChar char="•"/>
            </a:pPr>
            <a:r>
              <a:rPr lang="en-US" sz="1800" dirty="0"/>
              <a:t>(Normal) Identifier </a:t>
            </a:r>
          </a:p>
          <a:p>
            <a:pPr lvl="1" algn="l" rtl="0" eaLnBrk="1" hangingPunct="1">
              <a:buFontTx/>
              <a:buChar char="•"/>
            </a:pPr>
            <a:r>
              <a:rPr lang="en-US" sz="1800" b="0" dirty="0"/>
              <a:t>Letters, numerals, underscores </a:t>
            </a: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457200" y="1295400"/>
            <a:ext cx="4724400" cy="205740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152400" y="3811587"/>
            <a:ext cx="5562600" cy="201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/>
            <a:r>
              <a:rPr lang="en-US" sz="1800" b="0" dirty="0">
                <a:latin typeface="Helvetica" pitchFamily="34" charset="0"/>
              </a:rPr>
              <a:t>	\mySignal_23\</a:t>
            </a:r>
            <a:r>
              <a:rPr lang="en-US" sz="1800" b="0" dirty="0"/>
              <a:t>        </a:t>
            </a:r>
            <a:r>
              <a:rPr lang="en-US" sz="1800" b="0" dirty="0">
                <a:latin typeface="Helvetica" pitchFamily="34" charset="0"/>
              </a:rPr>
              <a:t>--</a:t>
            </a:r>
            <a:r>
              <a:rPr lang="en-US" sz="1800" b="0" dirty="0"/>
              <a:t> </a:t>
            </a:r>
            <a:r>
              <a:rPr lang="en-US" sz="1800" b="0" dirty="0">
                <a:latin typeface="Helvetica" pitchFamily="34" charset="0"/>
              </a:rPr>
              <a:t>extended identifier</a:t>
            </a:r>
            <a:br>
              <a:rPr lang="en-US" sz="1800" b="0" dirty="0">
                <a:latin typeface="Helvetica" pitchFamily="34" charset="0"/>
              </a:rPr>
            </a:br>
            <a:r>
              <a:rPr lang="en-US" sz="1800" b="0" dirty="0">
                <a:latin typeface="Helvetica" pitchFamily="34" charset="0"/>
              </a:rPr>
              <a:t>\</a:t>
            </a:r>
            <a:r>
              <a:rPr lang="en-US" sz="1800" b="0" dirty="0" err="1">
                <a:latin typeface="Helvetica" pitchFamily="34" charset="0"/>
              </a:rPr>
              <a:t>rdy</a:t>
            </a:r>
            <a:r>
              <a:rPr lang="en-US" sz="1800" b="0" dirty="0">
                <a:latin typeface="Helvetica" pitchFamily="34" charset="0"/>
              </a:rPr>
              <a:t>\, \RDY\, \</a:t>
            </a:r>
            <a:r>
              <a:rPr lang="en-US" sz="1800" b="0" dirty="0" err="1">
                <a:latin typeface="Helvetica" pitchFamily="34" charset="0"/>
              </a:rPr>
              <a:t>Rdy</a:t>
            </a:r>
            <a:r>
              <a:rPr lang="en-US" sz="1800" b="0" dirty="0">
                <a:latin typeface="Helvetica" pitchFamily="34" charset="0"/>
              </a:rPr>
              <a:t>\</a:t>
            </a:r>
            <a:r>
              <a:rPr lang="en-US" sz="1800" b="0" dirty="0"/>
              <a:t>  </a:t>
            </a:r>
            <a:r>
              <a:rPr lang="en-US" sz="1800" b="0" dirty="0">
                <a:latin typeface="Helvetica" pitchFamily="34" charset="0"/>
              </a:rPr>
              <a:t>--</a:t>
            </a:r>
            <a:r>
              <a:rPr lang="en-US" sz="1800" b="0" dirty="0"/>
              <a:t> </a:t>
            </a:r>
            <a:r>
              <a:rPr lang="en-US" sz="1800" b="0" dirty="0">
                <a:latin typeface="Helvetica" pitchFamily="34" charset="0"/>
              </a:rPr>
              <a:t>different identifiers</a:t>
            </a:r>
            <a:br>
              <a:rPr lang="en-US" sz="1800" b="0" dirty="0">
                <a:latin typeface="Helvetica" pitchFamily="34" charset="0"/>
              </a:rPr>
            </a:br>
            <a:r>
              <a:rPr lang="en-US" sz="1800" b="0" dirty="0">
                <a:latin typeface="Helvetica" pitchFamily="34" charset="0"/>
              </a:rPr>
              <a:t>\</a:t>
            </a:r>
            <a:r>
              <a:rPr lang="en-US" sz="1800" b="0" dirty="0" err="1">
                <a:latin typeface="Helvetica" pitchFamily="34" charset="0"/>
              </a:rPr>
              <a:t>vector_&amp;_vector</a:t>
            </a:r>
            <a:r>
              <a:rPr lang="en-US" sz="1800" b="0" dirty="0">
                <a:latin typeface="Helvetica" pitchFamily="34" charset="0"/>
              </a:rPr>
              <a:t>\</a:t>
            </a:r>
            <a:r>
              <a:rPr lang="en-US" sz="1800" b="0" dirty="0"/>
              <a:t>    </a:t>
            </a:r>
            <a:r>
              <a:rPr lang="en-US" sz="1800" b="0" dirty="0">
                <a:latin typeface="Helvetica" pitchFamily="34" charset="0"/>
              </a:rPr>
              <a:t>--</a:t>
            </a:r>
            <a:r>
              <a:rPr lang="en-US" sz="1800" b="0" dirty="0"/>
              <a:t> </a:t>
            </a:r>
            <a:r>
              <a:rPr lang="en-US" sz="1800" b="0" dirty="0">
                <a:latin typeface="Helvetica" pitchFamily="34" charset="0"/>
              </a:rPr>
              <a:t>legal</a:t>
            </a:r>
            <a:br>
              <a:rPr lang="en-US" sz="1800" b="0" dirty="0">
                <a:latin typeface="Helvetica" pitchFamily="34" charset="0"/>
              </a:rPr>
            </a:br>
            <a:r>
              <a:rPr lang="en-US" sz="1800" b="0" dirty="0">
                <a:latin typeface="Helvetica" pitchFamily="34" charset="0"/>
              </a:rPr>
              <a:t>\last of </a:t>
            </a:r>
            <a:r>
              <a:rPr lang="en-US" sz="1800" b="0" dirty="0" err="1">
                <a:latin typeface="Helvetica" pitchFamily="34" charset="0"/>
              </a:rPr>
              <a:t>Zout</a:t>
            </a:r>
            <a:r>
              <a:rPr lang="en-US" sz="1800" b="0" dirty="0">
                <a:latin typeface="Helvetica" pitchFamily="34" charset="0"/>
              </a:rPr>
              <a:t>\</a:t>
            </a:r>
            <a:r>
              <a:rPr lang="en-US" sz="1800" b="0" dirty="0"/>
              <a:t>       </a:t>
            </a:r>
            <a:r>
              <a:rPr lang="en-US" sz="1800" b="0" dirty="0">
                <a:latin typeface="Helvetica" pitchFamily="34" charset="0"/>
              </a:rPr>
              <a:t>--</a:t>
            </a:r>
            <a:r>
              <a:rPr lang="en-US" sz="1800" b="0" dirty="0"/>
              <a:t> </a:t>
            </a:r>
            <a:r>
              <a:rPr lang="en-US" sz="1800" b="0" dirty="0">
                <a:latin typeface="Helvetica" pitchFamily="34" charset="0"/>
              </a:rPr>
              <a:t>legal</a:t>
            </a:r>
            <a:br>
              <a:rPr lang="en-US" sz="1800" b="0" dirty="0">
                <a:latin typeface="Helvetica" pitchFamily="34" charset="0"/>
              </a:rPr>
            </a:br>
            <a:r>
              <a:rPr lang="en-US" sz="1800" b="0" dirty="0">
                <a:latin typeface="Helvetica" pitchFamily="34" charset="0"/>
              </a:rPr>
              <a:t>\</a:t>
            </a:r>
            <a:r>
              <a:rPr lang="en-US" sz="1800" b="0" dirty="0" err="1">
                <a:latin typeface="Helvetica" pitchFamily="34" charset="0"/>
              </a:rPr>
              <a:t>idle__state</a:t>
            </a:r>
            <a:r>
              <a:rPr lang="en-US" sz="1800" b="0" dirty="0">
                <a:latin typeface="Helvetica" pitchFamily="34" charset="0"/>
              </a:rPr>
              <a:t>\</a:t>
            </a:r>
            <a:r>
              <a:rPr lang="en-US" sz="1800" b="0" dirty="0"/>
              <a:t>        </a:t>
            </a:r>
            <a:r>
              <a:rPr lang="en-US" sz="1800" b="0" dirty="0">
                <a:latin typeface="Helvetica" pitchFamily="34" charset="0"/>
              </a:rPr>
              <a:t>--</a:t>
            </a:r>
            <a:r>
              <a:rPr lang="en-US" sz="1800" b="0" dirty="0"/>
              <a:t> </a:t>
            </a:r>
            <a:r>
              <a:rPr lang="en-US" sz="1800" b="0" dirty="0">
                <a:latin typeface="Helvetica" pitchFamily="34" charset="0"/>
              </a:rPr>
              <a:t>legal</a:t>
            </a:r>
            <a:br>
              <a:rPr lang="en-US" sz="1800" b="0" dirty="0">
                <a:latin typeface="Helvetica" pitchFamily="34" charset="0"/>
              </a:rPr>
            </a:br>
            <a:r>
              <a:rPr lang="en-US" sz="1800" b="0" dirty="0">
                <a:latin typeface="Helvetica" pitchFamily="34" charset="0"/>
              </a:rPr>
              <a:t>\24th_signal\</a:t>
            </a:r>
            <a:r>
              <a:rPr lang="en-US" sz="1800" b="0" dirty="0"/>
              <a:t>        </a:t>
            </a:r>
            <a:r>
              <a:rPr lang="en-US" sz="1800" b="0" dirty="0">
                <a:latin typeface="Helvetica" pitchFamily="34" charset="0"/>
              </a:rPr>
              <a:t>--</a:t>
            </a:r>
            <a:r>
              <a:rPr lang="en-US" sz="1800" b="0" dirty="0"/>
              <a:t> </a:t>
            </a:r>
            <a:r>
              <a:rPr lang="en-US" sz="1800" b="0" dirty="0">
                <a:latin typeface="Helvetica" pitchFamily="34" charset="0"/>
              </a:rPr>
              <a:t>legal</a:t>
            </a:r>
            <a:br>
              <a:rPr lang="en-US" sz="1800" b="0" dirty="0">
                <a:latin typeface="Helvetica" pitchFamily="34" charset="0"/>
              </a:rPr>
            </a:br>
            <a:r>
              <a:rPr lang="en-US" sz="1800" b="0" dirty="0">
                <a:latin typeface="Helvetica" pitchFamily="34" charset="0"/>
              </a:rPr>
              <a:t>\open\, \register\</a:t>
            </a:r>
            <a:r>
              <a:rPr lang="en-US" sz="1800" b="0" dirty="0"/>
              <a:t>   </a:t>
            </a:r>
            <a:r>
              <a:rPr lang="en-US" sz="1800" b="0" dirty="0">
                <a:latin typeface="Helvetica" pitchFamily="34" charset="0"/>
              </a:rPr>
              <a:t>--</a:t>
            </a:r>
            <a:r>
              <a:rPr lang="en-US" sz="1800" b="0" dirty="0"/>
              <a:t> </a:t>
            </a:r>
            <a:r>
              <a:rPr lang="en-US" sz="1800" b="0" dirty="0">
                <a:latin typeface="Helvetica" pitchFamily="34" charset="0"/>
              </a:rPr>
              <a:t>legal</a:t>
            </a: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4920018" y="3795712"/>
            <a:ext cx="4267200" cy="2376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914400" indent="-4572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>
              <a:buFontTx/>
              <a:buChar char="•"/>
            </a:pPr>
            <a:r>
              <a:rPr lang="en-US" sz="2000" dirty="0"/>
              <a:t>Extended Identifier:</a:t>
            </a:r>
          </a:p>
          <a:p>
            <a:pPr lvl="1" algn="l" rtl="0" eaLnBrk="1" hangingPunct="1">
              <a:spcBef>
                <a:spcPct val="10000"/>
              </a:spcBef>
              <a:buFontTx/>
              <a:buChar char="•"/>
            </a:pPr>
            <a:r>
              <a:rPr lang="en-US" sz="2000" b="0" dirty="0"/>
              <a:t>Enclosed in back slashes </a:t>
            </a:r>
          </a:p>
          <a:p>
            <a:pPr lvl="1" algn="l" rtl="0" eaLnBrk="1" hangingPunct="1">
              <a:spcBef>
                <a:spcPct val="10000"/>
              </a:spcBef>
              <a:buFontTx/>
              <a:buChar char="•"/>
            </a:pPr>
            <a:r>
              <a:rPr lang="en-US" sz="2000" b="0" dirty="0"/>
              <a:t>Case sensitive </a:t>
            </a:r>
          </a:p>
          <a:p>
            <a:pPr lvl="1" algn="l" rtl="0" eaLnBrk="1" hangingPunct="1">
              <a:spcBef>
                <a:spcPct val="10000"/>
              </a:spcBef>
              <a:buFontTx/>
              <a:buChar char="•"/>
            </a:pPr>
            <a:r>
              <a:rPr lang="en-US" sz="2000" b="0" dirty="0"/>
              <a:t>Graphical characters allowed </a:t>
            </a:r>
          </a:p>
          <a:p>
            <a:pPr lvl="1" algn="l" rtl="0" eaLnBrk="1" hangingPunct="1">
              <a:spcBef>
                <a:spcPct val="10000"/>
              </a:spcBef>
              <a:buFontTx/>
              <a:buChar char="•"/>
            </a:pPr>
            <a:r>
              <a:rPr lang="en-US" sz="2000" b="0" dirty="0"/>
              <a:t>May contain spaces and</a:t>
            </a:r>
            <a:br>
              <a:rPr lang="en-US" sz="2000" b="0" dirty="0"/>
            </a:br>
            <a:r>
              <a:rPr lang="en-US" sz="2000" b="0" dirty="0"/>
              <a:t>consecutive underscores </a:t>
            </a:r>
          </a:p>
          <a:p>
            <a:pPr lvl="1" algn="l" rtl="0" eaLnBrk="1" hangingPunct="1">
              <a:spcBef>
                <a:spcPct val="10000"/>
              </a:spcBef>
              <a:buFontTx/>
              <a:buChar char="•"/>
            </a:pPr>
            <a:r>
              <a:rPr lang="en-US" sz="2000" b="0" dirty="0"/>
              <a:t>VHDL keywords allowed </a:t>
            </a:r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457200" y="3811587"/>
            <a:ext cx="4343400" cy="205740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1930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533400" y="1517650"/>
            <a:ext cx="3810000" cy="2809875"/>
          </a:xfrm>
          <a:prstGeom prst="rect">
            <a:avLst/>
          </a:prstGeom>
          <a:noFill/>
          <a:ln w="28575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/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entity HALFADDER is</a:t>
            </a:r>
            <a:b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600" b="0" dirty="0">
                <a:solidFill>
                  <a:srgbClr val="0000CC"/>
                </a:solidFill>
              </a:rPr>
              <a:t>   </a:t>
            </a: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port(</a:t>
            </a:r>
            <a:b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600" b="0" dirty="0">
                <a:solidFill>
                  <a:srgbClr val="0000CC"/>
                </a:solidFill>
              </a:rPr>
              <a:t>      </a:t>
            </a: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A, B:</a:t>
            </a:r>
            <a:r>
              <a:rPr lang="en-US" sz="1600" b="0" dirty="0">
                <a:solidFill>
                  <a:srgbClr val="0000CC"/>
                </a:solidFill>
              </a:rPr>
              <a:t>                </a:t>
            </a: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in</a:t>
            </a:r>
            <a:r>
              <a:rPr lang="en-US" sz="1600" b="0" dirty="0">
                <a:solidFill>
                  <a:srgbClr val="0000CC"/>
                </a:solidFill>
              </a:rPr>
              <a:t>   </a:t>
            </a: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bit;</a:t>
            </a:r>
            <a:b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600" b="0" dirty="0">
                <a:solidFill>
                  <a:srgbClr val="0000CC"/>
                </a:solidFill>
              </a:rPr>
              <a:t>      </a:t>
            </a: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SUM, CARRY: out bit);</a:t>
            </a:r>
            <a:b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end HALFADDER;</a:t>
            </a:r>
            <a:b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</a:br>
            <a:b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600" dirty="0">
                <a:solidFill>
                  <a:srgbClr val="0000CC"/>
                </a:solidFill>
                <a:latin typeface="Helvetica" pitchFamily="34" charset="0"/>
              </a:rPr>
              <a:t>architecture</a:t>
            </a: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 RTL </a:t>
            </a:r>
            <a:r>
              <a:rPr lang="en-US" sz="1600" dirty="0">
                <a:solidFill>
                  <a:srgbClr val="0000CC"/>
                </a:solidFill>
                <a:latin typeface="Helvetica" pitchFamily="34" charset="0"/>
              </a:rPr>
              <a:t>of</a:t>
            </a: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 HALFADDER </a:t>
            </a:r>
            <a:r>
              <a:rPr lang="en-US" sz="1600" dirty="0">
                <a:solidFill>
                  <a:srgbClr val="0000CC"/>
                </a:solidFill>
                <a:latin typeface="Helvetica" pitchFamily="34" charset="0"/>
              </a:rPr>
              <a:t>is</a:t>
            </a:r>
            <a:br>
              <a:rPr lang="en-US" sz="160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600" dirty="0">
                <a:solidFill>
                  <a:srgbClr val="0000CC"/>
                </a:solidFill>
                <a:latin typeface="Helvetica" pitchFamily="34" charset="0"/>
              </a:rPr>
              <a:t>begin</a:t>
            </a:r>
            <a:br>
              <a:rPr lang="en-US" sz="160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600" b="0" dirty="0">
                <a:solidFill>
                  <a:srgbClr val="0000CC"/>
                </a:solidFill>
              </a:rPr>
              <a:t>   </a:t>
            </a: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SUM </a:t>
            </a:r>
            <a:r>
              <a:rPr lang="en-US" sz="1600" b="0" dirty="0">
                <a:solidFill>
                  <a:srgbClr val="0000CC"/>
                </a:solidFill>
              </a:rPr>
              <a:t>     </a:t>
            </a: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&lt;= A </a:t>
            </a:r>
            <a:r>
              <a:rPr lang="en-US" sz="1600" b="0" dirty="0" err="1">
                <a:solidFill>
                  <a:srgbClr val="0000CC"/>
                </a:solidFill>
                <a:latin typeface="Helvetica" pitchFamily="34" charset="0"/>
              </a:rPr>
              <a:t>xor</a:t>
            </a: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 B;</a:t>
            </a:r>
            <a:b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600" b="0" dirty="0">
                <a:solidFill>
                  <a:srgbClr val="0000CC"/>
                </a:solidFill>
              </a:rPr>
              <a:t>   </a:t>
            </a: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CARRY &lt;= A and B;</a:t>
            </a:r>
            <a:b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600" dirty="0">
                <a:solidFill>
                  <a:srgbClr val="0000CC"/>
                </a:solidFill>
                <a:latin typeface="Helvetica" pitchFamily="34" charset="0"/>
              </a:rPr>
              <a:t>end</a:t>
            </a: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 </a:t>
            </a:r>
            <a:r>
              <a:rPr lang="en-US" sz="1600" dirty="0">
                <a:solidFill>
                  <a:srgbClr val="0000CC"/>
                </a:solidFill>
                <a:latin typeface="Helvetica" pitchFamily="34" charset="0"/>
              </a:rPr>
              <a:t>architecture</a:t>
            </a: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 RTL;</a:t>
            </a: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4343400" y="2057400"/>
            <a:ext cx="4267200" cy="31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90500" indent="-1905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868363" indent="-1905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>
              <a:buFontTx/>
              <a:buChar char="•"/>
            </a:pPr>
            <a:r>
              <a:rPr lang="en-US" sz="2000"/>
              <a:t>Implementation of the design </a:t>
            </a:r>
          </a:p>
          <a:p>
            <a:pPr algn="l" rtl="0" eaLnBrk="1" hangingPunct="1">
              <a:buFontTx/>
              <a:buChar char="•"/>
            </a:pPr>
            <a:r>
              <a:rPr lang="en-US" sz="2000"/>
              <a:t>Always connected with a specific entity </a:t>
            </a:r>
          </a:p>
          <a:p>
            <a:pPr lvl="1" algn="l" rtl="0" eaLnBrk="1" hangingPunct="1">
              <a:buFontTx/>
              <a:buChar char="•"/>
            </a:pPr>
            <a:r>
              <a:rPr lang="en-US" sz="2000" b="0"/>
              <a:t>one entity can have several architectures </a:t>
            </a:r>
          </a:p>
          <a:p>
            <a:pPr lvl="1" algn="l" rtl="0" eaLnBrk="1" hangingPunct="1">
              <a:buFontTx/>
              <a:buChar char="•"/>
            </a:pPr>
            <a:r>
              <a:rPr lang="en-US" sz="2000" b="0"/>
              <a:t>entity ports are available as signals within the architecture </a:t>
            </a:r>
          </a:p>
          <a:p>
            <a:pPr algn="l" rtl="0" eaLnBrk="1" hangingPunct="1">
              <a:buFontTx/>
              <a:buChar char="•"/>
            </a:pPr>
            <a:r>
              <a:rPr lang="en-US" sz="2000"/>
              <a:t>Contains concurrent statements </a:t>
            </a:r>
          </a:p>
        </p:txBody>
      </p:sp>
      <p:pic>
        <p:nvPicPr>
          <p:cNvPr id="8" name="Picture 15" descr="t_2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4827588"/>
            <a:ext cx="2822575" cy="1039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590349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Structure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457200" y="1433513"/>
            <a:ext cx="4648200" cy="3176587"/>
          </a:xfrm>
          <a:prstGeom prst="rect">
            <a:avLst/>
          </a:prstGeom>
          <a:noFill/>
          <a:ln w="28575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/>
            <a:r>
              <a:rPr lang="en-US" sz="1600">
                <a:solidFill>
                  <a:srgbClr val="0000CC"/>
                </a:solidFill>
                <a:latin typeface="Helvetica" pitchFamily="34" charset="0"/>
              </a:rPr>
              <a:t>architecture</a:t>
            </a:r>
            <a:r>
              <a:rPr lang="en-US" sz="1600" b="0">
                <a:solidFill>
                  <a:srgbClr val="0000CC"/>
                </a:solidFill>
                <a:latin typeface="Helvetica" pitchFamily="34" charset="0"/>
              </a:rPr>
              <a:t> </a:t>
            </a:r>
            <a:r>
              <a:rPr lang="en-US" sz="1600" b="0">
                <a:solidFill>
                  <a:srgbClr val="0000CC"/>
                </a:solidFill>
              </a:rPr>
              <a:t> </a:t>
            </a:r>
            <a:r>
              <a:rPr lang="en-US" sz="1600" b="0">
                <a:solidFill>
                  <a:srgbClr val="0000CC"/>
                </a:solidFill>
                <a:latin typeface="Helvetica" pitchFamily="34" charset="0"/>
              </a:rPr>
              <a:t>EXAMPLE</a:t>
            </a:r>
            <a:r>
              <a:rPr lang="en-US" sz="1600" b="0">
                <a:solidFill>
                  <a:srgbClr val="0000CC"/>
                </a:solidFill>
              </a:rPr>
              <a:t> </a:t>
            </a:r>
            <a:r>
              <a:rPr lang="en-US" sz="1600">
                <a:solidFill>
                  <a:srgbClr val="0000CC"/>
                </a:solidFill>
                <a:latin typeface="Helvetica" pitchFamily="34" charset="0"/>
              </a:rPr>
              <a:t> of</a:t>
            </a:r>
            <a:r>
              <a:rPr lang="en-US" sz="1600" b="0">
                <a:solidFill>
                  <a:srgbClr val="0000CC"/>
                </a:solidFill>
                <a:latin typeface="Helvetica" pitchFamily="34" charset="0"/>
              </a:rPr>
              <a:t> </a:t>
            </a:r>
            <a:r>
              <a:rPr lang="en-US" sz="1600" b="0">
                <a:solidFill>
                  <a:srgbClr val="0000CC"/>
                </a:solidFill>
              </a:rPr>
              <a:t> </a:t>
            </a:r>
            <a:r>
              <a:rPr lang="en-US" sz="1600" b="0">
                <a:solidFill>
                  <a:srgbClr val="0000CC"/>
                </a:solidFill>
                <a:latin typeface="Helvetica" pitchFamily="34" charset="0"/>
              </a:rPr>
              <a:t>STRUCTURE</a:t>
            </a:r>
            <a:r>
              <a:rPr lang="en-US" sz="1600" b="0">
                <a:solidFill>
                  <a:srgbClr val="0000CC"/>
                </a:solidFill>
              </a:rPr>
              <a:t> </a:t>
            </a:r>
            <a:r>
              <a:rPr lang="en-US" sz="1600">
                <a:solidFill>
                  <a:srgbClr val="0000CC"/>
                </a:solidFill>
                <a:latin typeface="Helvetica" pitchFamily="34" charset="0"/>
              </a:rPr>
              <a:t> is</a:t>
            </a:r>
            <a:br>
              <a:rPr lang="en-US" sz="160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600" b="0">
                <a:solidFill>
                  <a:srgbClr val="0000CC"/>
                </a:solidFill>
              </a:rPr>
              <a:t>   </a:t>
            </a:r>
            <a:r>
              <a:rPr lang="en-US" sz="1600" b="0">
                <a:solidFill>
                  <a:srgbClr val="0000CC"/>
                </a:solidFill>
                <a:latin typeface="Helvetica" pitchFamily="34" charset="0"/>
              </a:rPr>
              <a:t>subtype DIGIT is integer range 0 to 9;</a:t>
            </a:r>
            <a:br>
              <a:rPr lang="en-US" sz="16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600" b="0">
                <a:solidFill>
                  <a:srgbClr val="0000CC"/>
                </a:solidFill>
              </a:rPr>
              <a:t>   </a:t>
            </a:r>
            <a:r>
              <a:rPr lang="en-US" sz="1600" b="0">
                <a:solidFill>
                  <a:srgbClr val="0000CC"/>
                </a:solidFill>
                <a:latin typeface="Helvetica" pitchFamily="34" charset="0"/>
              </a:rPr>
              <a:t>constant BASE: integer := 10;</a:t>
            </a:r>
            <a:br>
              <a:rPr lang="en-US" sz="16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600" b="0">
                <a:solidFill>
                  <a:srgbClr val="0000CC"/>
                </a:solidFill>
              </a:rPr>
              <a:t>   </a:t>
            </a:r>
            <a:r>
              <a:rPr lang="en-US" sz="1600" b="0">
                <a:solidFill>
                  <a:srgbClr val="0000CC"/>
                </a:solidFill>
                <a:latin typeface="Helvetica" pitchFamily="34" charset="0"/>
              </a:rPr>
              <a:t>signal DIGIT_A, DIGIT_B: DIGIT;</a:t>
            </a:r>
            <a:br>
              <a:rPr lang="en-US" sz="16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600" b="0">
                <a:solidFill>
                  <a:srgbClr val="0000CC"/>
                </a:solidFill>
              </a:rPr>
              <a:t>   </a:t>
            </a:r>
            <a:r>
              <a:rPr lang="en-US" sz="1600" b="0">
                <a:solidFill>
                  <a:srgbClr val="0000CC"/>
                </a:solidFill>
                <a:latin typeface="Helvetica" pitchFamily="34" charset="0"/>
              </a:rPr>
              <a:t>signal CARRY:</a:t>
            </a:r>
            <a:r>
              <a:rPr lang="en-US" sz="1600" b="0">
                <a:solidFill>
                  <a:srgbClr val="0000CC"/>
                </a:solidFill>
              </a:rPr>
              <a:t>                </a:t>
            </a:r>
            <a:r>
              <a:rPr lang="en-US" sz="1600" b="0">
                <a:solidFill>
                  <a:srgbClr val="0000CC"/>
                </a:solidFill>
                <a:latin typeface="Helvetica" pitchFamily="34" charset="0"/>
              </a:rPr>
              <a:t>DIGIT;</a:t>
            </a:r>
          </a:p>
          <a:p>
            <a:pPr algn="l" rtl="0" eaLnBrk="1" hangingPunct="1"/>
            <a:r>
              <a:rPr lang="en-US" sz="1600">
                <a:solidFill>
                  <a:srgbClr val="0000CC"/>
                </a:solidFill>
                <a:latin typeface="Helvetica" pitchFamily="34" charset="0"/>
              </a:rPr>
              <a:t>begin</a:t>
            </a:r>
            <a:br>
              <a:rPr lang="en-US" sz="16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600" b="0">
                <a:solidFill>
                  <a:srgbClr val="0000CC"/>
                </a:solidFill>
              </a:rPr>
              <a:t>   </a:t>
            </a:r>
            <a:r>
              <a:rPr lang="en-US" sz="1600" b="0">
                <a:solidFill>
                  <a:srgbClr val="0000CC"/>
                </a:solidFill>
                <a:latin typeface="Helvetica" pitchFamily="34" charset="0"/>
              </a:rPr>
              <a:t>DIGIT_A &lt;= 3;</a:t>
            </a:r>
            <a:br>
              <a:rPr lang="en-US" sz="16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600" b="0">
                <a:solidFill>
                  <a:srgbClr val="0000CC"/>
                </a:solidFill>
              </a:rPr>
              <a:t>   </a:t>
            </a:r>
            <a:r>
              <a:rPr lang="en-US" sz="1600" b="0">
                <a:solidFill>
                  <a:srgbClr val="0000CC"/>
                </a:solidFill>
                <a:latin typeface="Helvetica" pitchFamily="34" charset="0"/>
              </a:rPr>
              <a:t>SUM &lt;= DIGIT_A + DIGIT_B;</a:t>
            </a:r>
            <a:br>
              <a:rPr lang="en-US" sz="16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600" b="0">
                <a:solidFill>
                  <a:srgbClr val="0000CC"/>
                </a:solidFill>
              </a:rPr>
              <a:t>   </a:t>
            </a:r>
            <a:r>
              <a:rPr lang="en-US" sz="1600" b="0">
                <a:solidFill>
                  <a:srgbClr val="0000CC"/>
                </a:solidFill>
                <a:latin typeface="Helvetica" pitchFamily="34" charset="0"/>
              </a:rPr>
              <a:t>DIGIT_B &lt;= 7;</a:t>
            </a:r>
            <a:br>
              <a:rPr lang="en-US" sz="16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600" b="0">
                <a:solidFill>
                  <a:srgbClr val="0000CC"/>
                </a:solidFill>
              </a:rPr>
              <a:t>   </a:t>
            </a:r>
            <a:r>
              <a:rPr lang="en-US" sz="1600" b="0">
                <a:solidFill>
                  <a:srgbClr val="0000CC"/>
                </a:solidFill>
                <a:latin typeface="Helvetica" pitchFamily="34" charset="0"/>
              </a:rPr>
              <a:t>CARRY &lt;= 0 when SUM &lt; BASE else</a:t>
            </a:r>
            <a:br>
              <a:rPr lang="en-US" sz="16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600" b="0">
                <a:solidFill>
                  <a:srgbClr val="0000CC"/>
                </a:solidFill>
              </a:rPr>
              <a:t>                   </a:t>
            </a:r>
            <a:r>
              <a:rPr lang="en-US" sz="1600" b="0">
                <a:solidFill>
                  <a:srgbClr val="0000CC"/>
                </a:solidFill>
                <a:latin typeface="Helvetica" pitchFamily="34" charset="0"/>
              </a:rPr>
              <a:t>1;</a:t>
            </a:r>
            <a:br>
              <a:rPr lang="en-US" sz="16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600">
                <a:solidFill>
                  <a:srgbClr val="0000CC"/>
                </a:solidFill>
                <a:latin typeface="Helvetica" pitchFamily="34" charset="0"/>
              </a:rPr>
              <a:t>end</a:t>
            </a:r>
            <a:r>
              <a:rPr lang="en-US" sz="1600" b="0">
                <a:solidFill>
                  <a:srgbClr val="0000CC"/>
                </a:solidFill>
                <a:latin typeface="Helvetica" pitchFamily="34" charset="0"/>
              </a:rPr>
              <a:t> EXAMPLE</a:t>
            </a:r>
            <a:r>
              <a:rPr lang="en-US" sz="1600">
                <a:solidFill>
                  <a:srgbClr val="0000CC"/>
                </a:solidFill>
                <a:latin typeface="Helvetica" pitchFamily="34" charset="0"/>
              </a:rPr>
              <a:t> ;</a:t>
            </a:r>
            <a:endParaRPr lang="en-US" sz="1600" b="0">
              <a:solidFill>
                <a:srgbClr val="0000CC"/>
              </a:solidFill>
              <a:latin typeface="Helvetica" pitchFamily="34" charset="0"/>
            </a:endParaRPr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5029200" y="1371600"/>
            <a:ext cx="3810000" cy="4462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90500" indent="-1905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571500" indent="-1905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>
              <a:spcBef>
                <a:spcPct val="15000"/>
              </a:spcBef>
              <a:buFontTx/>
              <a:buChar char="•"/>
            </a:pPr>
            <a:r>
              <a:rPr lang="en-US" sz="1800" dirty="0"/>
              <a:t>Declarative part: </a:t>
            </a:r>
          </a:p>
          <a:p>
            <a:pPr lvl="1" algn="l" rtl="0" eaLnBrk="1" hangingPunct="1">
              <a:spcBef>
                <a:spcPct val="15000"/>
              </a:spcBef>
              <a:buFontTx/>
              <a:buChar char="•"/>
            </a:pPr>
            <a:r>
              <a:rPr lang="en-US" sz="1800" b="0" dirty="0"/>
              <a:t>data types </a:t>
            </a:r>
          </a:p>
          <a:p>
            <a:pPr lvl="1" algn="l" rtl="0" eaLnBrk="1" hangingPunct="1">
              <a:spcBef>
                <a:spcPct val="15000"/>
              </a:spcBef>
              <a:buFontTx/>
              <a:buChar char="•"/>
            </a:pPr>
            <a:r>
              <a:rPr lang="en-US" sz="1800" b="0" dirty="0"/>
              <a:t>constants </a:t>
            </a:r>
          </a:p>
          <a:p>
            <a:pPr lvl="1" algn="l" rtl="0" eaLnBrk="1" hangingPunct="1">
              <a:spcBef>
                <a:spcPct val="15000"/>
              </a:spcBef>
              <a:buFontTx/>
              <a:buChar char="•"/>
            </a:pPr>
            <a:r>
              <a:rPr lang="en-US" sz="1800" b="0" dirty="0"/>
              <a:t>intermediate signals</a:t>
            </a:r>
          </a:p>
          <a:p>
            <a:pPr lvl="1" algn="l" rtl="0" eaLnBrk="1" hangingPunct="1">
              <a:spcBef>
                <a:spcPct val="15000"/>
              </a:spcBef>
              <a:buFontTx/>
              <a:buChar char="•"/>
            </a:pPr>
            <a:r>
              <a:rPr lang="en-US" sz="1800" b="0" dirty="0"/>
              <a:t>component declarations </a:t>
            </a:r>
          </a:p>
          <a:p>
            <a:pPr lvl="1" algn="l" rtl="0" eaLnBrk="1" hangingPunct="1">
              <a:spcBef>
                <a:spcPct val="15000"/>
              </a:spcBef>
              <a:buFontTx/>
              <a:buChar char="•"/>
            </a:pPr>
            <a:r>
              <a:rPr lang="en-US" sz="1800" b="0" dirty="0"/>
              <a:t>... </a:t>
            </a:r>
          </a:p>
          <a:p>
            <a:pPr algn="l" rtl="0" eaLnBrk="1" hangingPunct="1">
              <a:spcBef>
                <a:spcPct val="15000"/>
              </a:spcBef>
              <a:buFontTx/>
              <a:buChar char="•"/>
            </a:pPr>
            <a:r>
              <a:rPr lang="en-US" sz="1800" dirty="0"/>
              <a:t>Statement part (after 'begin'):</a:t>
            </a:r>
            <a:r>
              <a:rPr lang="en-US" sz="2000" dirty="0"/>
              <a:t> </a:t>
            </a:r>
          </a:p>
          <a:p>
            <a:pPr lvl="1" algn="l" rtl="0" eaLnBrk="1" hangingPunct="1">
              <a:spcBef>
                <a:spcPct val="15000"/>
              </a:spcBef>
              <a:buFontTx/>
              <a:buChar char="•"/>
            </a:pPr>
            <a:r>
              <a:rPr lang="en-US" sz="1800" b="0" dirty="0"/>
              <a:t>signal assignments </a:t>
            </a:r>
          </a:p>
          <a:p>
            <a:pPr lvl="1" algn="l" rtl="0" eaLnBrk="1" hangingPunct="1">
              <a:spcBef>
                <a:spcPct val="15000"/>
              </a:spcBef>
              <a:buFontTx/>
              <a:buChar char="•"/>
            </a:pPr>
            <a:r>
              <a:rPr lang="en-US" sz="1800" b="0" dirty="0"/>
              <a:t>processes </a:t>
            </a:r>
          </a:p>
          <a:p>
            <a:pPr lvl="1" algn="l" rtl="0" eaLnBrk="1" hangingPunct="1">
              <a:spcBef>
                <a:spcPct val="15000"/>
              </a:spcBef>
              <a:buFontTx/>
              <a:buChar char="•"/>
            </a:pPr>
            <a:r>
              <a:rPr lang="en-US" sz="1800" b="0" dirty="0"/>
              <a:t>component instantiations </a:t>
            </a:r>
          </a:p>
          <a:p>
            <a:pPr lvl="1" algn="l" rtl="0" eaLnBrk="1" hangingPunct="1">
              <a:spcBef>
                <a:spcPct val="15000"/>
              </a:spcBef>
              <a:buFontTx/>
              <a:buChar char="•"/>
            </a:pPr>
            <a:r>
              <a:rPr lang="en-US" sz="1800" b="0" dirty="0"/>
              <a:t>concurrent statements:</a:t>
            </a:r>
            <a:br>
              <a:rPr lang="en-US" sz="1800" b="0" dirty="0"/>
            </a:br>
            <a:r>
              <a:rPr lang="en-US" sz="1800" b="0" dirty="0"/>
              <a:t>order not important </a:t>
            </a:r>
          </a:p>
          <a:p>
            <a:pPr lvl="1" algn="l" rtl="0" eaLnBrk="1" hangingPunct="1">
              <a:spcBef>
                <a:spcPct val="15000"/>
              </a:spcBef>
            </a:pPr>
            <a:r>
              <a:rPr lang="en-US" sz="1800" b="0" dirty="0"/>
              <a:t>   </a:t>
            </a:r>
            <a:r>
              <a:rPr lang="en-US" sz="1800" b="0" dirty="0">
                <a:sym typeface="Wingdings" pitchFamily="2" charset="2"/>
              </a:rPr>
              <a:t> Simulator recalculates </a:t>
            </a:r>
            <a:r>
              <a:rPr lang="en-US" sz="1800" dirty="0">
                <a:sym typeface="Wingdings" pitchFamily="2" charset="2"/>
              </a:rPr>
              <a:t>sum</a:t>
            </a:r>
            <a:r>
              <a:rPr lang="en-US" sz="1800" b="0" dirty="0">
                <a:sym typeface="Wingdings" pitchFamily="2" charset="2"/>
              </a:rPr>
              <a:t>  any time an operand changes</a:t>
            </a:r>
            <a:endParaRPr lang="en-US" sz="1800" b="0" dirty="0"/>
          </a:p>
        </p:txBody>
      </p:sp>
      <p:sp>
        <p:nvSpPr>
          <p:cNvPr id="11" name="Text Box 19"/>
          <p:cNvSpPr txBox="1">
            <a:spLocks noChangeArrowheads="1"/>
          </p:cNvSpPr>
          <p:nvPr/>
        </p:nvSpPr>
        <p:spPr bwMode="auto">
          <a:xfrm>
            <a:off x="914400" y="5705475"/>
            <a:ext cx="426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>
              <a:buFontTx/>
              <a:buChar char="•"/>
            </a:pPr>
            <a:r>
              <a:rPr lang="en-US" sz="2000"/>
              <a:t>Port is a kind of signal. </a:t>
            </a:r>
          </a:p>
        </p:txBody>
      </p:sp>
    </p:spTree>
    <p:extLst>
      <p:ext uri="{BB962C8B-B14F-4D97-AF65-F5344CB8AC3E}">
        <p14:creationId xmlns:p14="http://schemas.microsoft.com/office/powerpoint/2010/main" val="1962542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 bldLvl="3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Four Classes of Data Objects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sp>
        <p:nvSpPr>
          <p:cNvPr id="10" name="Rectangle 9"/>
          <p:cNvSpPr>
            <a:spLocks noGrp="1" noChangeArrowheads="1"/>
          </p:cNvSpPr>
          <p:nvPr/>
        </p:nvSpPr>
        <p:spPr bwMode="auto">
          <a:xfrm>
            <a:off x="419100" y="1270000"/>
            <a:ext cx="8305800" cy="505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CommonBullets" pitchFamily="34" charset="2"/>
              <a:buBlip>
                <a:blip r:embed="rId3"/>
              </a:buBlip>
              <a:defRPr kumimoji="1" sz="32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3"/>
              </a:buClr>
              <a:buSzPct val="85000"/>
              <a:buFont typeface="CommonBullets" pitchFamily="34" charset="2"/>
              <a:buBlip>
                <a:blip r:embed="rId4"/>
              </a:buBlip>
              <a:defRPr kumimoji="1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60000"/>
              <a:buFont typeface="CommonBullets" pitchFamily="34" charset="2"/>
              <a:buBlip>
                <a:blip r:embed="rId5"/>
              </a:buBlip>
              <a:defRPr kumimoji="1" sz="2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CommonBullets" pitchFamily="34" charset="2"/>
              <a:buBlip>
                <a:blip r:embed="rId3"/>
              </a:buBlip>
              <a:tabLst/>
              <a:defRPr/>
            </a:pPr>
            <a:r>
              <a:rPr kumimoji="1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+mn-ea"/>
                <a:cs typeface="+mn-cs"/>
              </a:rPr>
              <a:t>Constant</a:t>
            </a: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10000"/>
              </a:spcBef>
              <a:spcAft>
                <a:spcPct val="0"/>
              </a:spcAft>
              <a:buClr>
                <a:srgbClr val="000063"/>
              </a:buClr>
              <a:buSzPct val="85000"/>
              <a:buFont typeface="CommonBullets" pitchFamily="34" charset="2"/>
              <a:buBlip>
                <a:blip r:embed="rId4"/>
              </a:buBlip>
              <a:tabLst/>
              <a:defRPr/>
            </a:pPr>
            <a:r>
              <a:rPr kumimoji="1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</a:rPr>
              <a:t>Holds a single value of a given type – cannot change.</a:t>
            </a:r>
          </a:p>
          <a:p>
            <a:pPr lvl="0">
              <a:lnSpc>
                <a:spcPct val="90000"/>
              </a:lnSpc>
              <a:spcBef>
                <a:spcPct val="10000"/>
              </a:spcBef>
              <a:defRPr/>
            </a:pPr>
            <a:r>
              <a:rPr lang="en-US" altLang="en-US" sz="2400" b="1" kern="0" dirty="0">
                <a:solidFill>
                  <a:srgbClr val="003399"/>
                </a:solidFill>
                <a:latin typeface="Times New Roman"/>
              </a:rPr>
              <a:t>Signal</a:t>
            </a:r>
            <a:endParaRPr lang="en-US" altLang="en-US" sz="2000" kern="0" dirty="0">
              <a:solidFill>
                <a:srgbClr val="003399"/>
              </a:solidFill>
              <a:latin typeface="Arial" charset="0"/>
            </a:endParaRPr>
          </a:p>
          <a:p>
            <a:pPr lvl="1">
              <a:lnSpc>
                <a:spcPct val="90000"/>
              </a:lnSpc>
              <a:spcBef>
                <a:spcPct val="10000"/>
              </a:spcBef>
              <a:defRPr/>
            </a:pPr>
            <a:r>
              <a:rPr lang="en-US" altLang="en-US" sz="2000" kern="0" dirty="0">
                <a:solidFill>
                  <a:srgbClr val="003399"/>
                </a:solidFill>
                <a:latin typeface="Times New Roman"/>
              </a:rPr>
              <a:t>Holds a LIST of values of a given type.</a:t>
            </a:r>
          </a:p>
          <a:p>
            <a:pPr lvl="1">
              <a:lnSpc>
                <a:spcPct val="90000"/>
              </a:lnSpc>
              <a:spcBef>
                <a:spcPct val="10000"/>
              </a:spcBef>
              <a:defRPr/>
            </a:pPr>
            <a:r>
              <a:rPr lang="en-US" altLang="en-US" sz="2000" kern="0" dirty="0">
                <a:solidFill>
                  <a:srgbClr val="003399"/>
                </a:solidFill>
                <a:latin typeface="Times New Roman"/>
              </a:rPr>
              <a:t>Present value + a set of possible future values</a:t>
            </a:r>
          </a:p>
          <a:p>
            <a:pPr lvl="1">
              <a:lnSpc>
                <a:spcPct val="90000"/>
              </a:lnSpc>
              <a:spcBef>
                <a:spcPct val="10000"/>
              </a:spcBef>
              <a:defRPr/>
            </a:pPr>
            <a:r>
              <a:rPr lang="en-US" altLang="en-US" sz="2000" kern="0" dirty="0">
                <a:solidFill>
                  <a:srgbClr val="003399"/>
                </a:solidFill>
                <a:latin typeface="Times New Roman"/>
              </a:rPr>
              <a:t>New values can be assigned </a:t>
            </a:r>
            <a:r>
              <a:rPr lang="en-US" altLang="en-US" sz="2000" b="1" kern="0" dirty="0">
                <a:solidFill>
                  <a:srgbClr val="003399"/>
                </a:solidFill>
                <a:latin typeface="Times New Roman"/>
              </a:rPr>
              <a:t>at some future time – not now!</a:t>
            </a:r>
          </a:p>
          <a:p>
            <a:pPr lvl="1">
              <a:lnSpc>
                <a:spcPct val="90000"/>
              </a:lnSpc>
              <a:spcBef>
                <a:spcPct val="10000"/>
              </a:spcBef>
              <a:defRPr/>
            </a:pPr>
            <a:r>
              <a:rPr lang="en-US" altLang="en-US" sz="2000" kern="0" dirty="0">
                <a:solidFill>
                  <a:srgbClr val="003399"/>
                </a:solidFill>
                <a:latin typeface="Times New Roman"/>
              </a:rPr>
              <a:t>Signals have ATTRIBUTES:    [</a:t>
            </a:r>
            <a:r>
              <a:rPr lang="en-US" altLang="en-US" sz="2000" kern="0" dirty="0" err="1">
                <a:solidFill>
                  <a:srgbClr val="003399"/>
                </a:solidFill>
                <a:latin typeface="Times New Roman"/>
              </a:rPr>
              <a:t>signal’attribute</a:t>
            </a:r>
            <a:r>
              <a:rPr lang="en-US" altLang="en-US" sz="2000" kern="0" dirty="0">
                <a:solidFill>
                  <a:srgbClr val="003399"/>
                </a:solidFill>
                <a:latin typeface="Times New Roman"/>
              </a:rPr>
              <a:t>]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CommonBullets" pitchFamily="34" charset="2"/>
              <a:buBlip>
                <a:blip r:embed="rId3"/>
              </a:buBlip>
              <a:tabLst/>
              <a:defRPr/>
            </a:pPr>
            <a:r>
              <a:rPr kumimoji="1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+mn-ea"/>
                <a:cs typeface="+mn-cs"/>
              </a:rPr>
              <a:t>Variable</a:t>
            </a: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10000"/>
              </a:spcBef>
              <a:spcAft>
                <a:spcPct val="0"/>
              </a:spcAft>
              <a:buClr>
                <a:srgbClr val="000063"/>
              </a:buClr>
              <a:buSzPct val="85000"/>
              <a:buFont typeface="CommonBullets" pitchFamily="34" charset="2"/>
              <a:buBlip>
                <a:blip r:embed="rId4"/>
              </a:buBlip>
              <a:tabLst/>
              <a:defRPr/>
            </a:pPr>
            <a:r>
              <a:rPr kumimoji="1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</a:rPr>
              <a:t>Holds a single value of a given type.</a:t>
            </a: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10000"/>
              </a:spcBef>
              <a:spcAft>
                <a:spcPct val="0"/>
              </a:spcAft>
              <a:buClr>
                <a:srgbClr val="000063"/>
              </a:buClr>
              <a:buSzPct val="85000"/>
              <a:buFont typeface="CommonBullets" pitchFamily="34" charset="2"/>
              <a:buBlip>
                <a:blip r:embed="rId4"/>
              </a:buBlip>
              <a:tabLst/>
              <a:defRPr/>
            </a:pPr>
            <a:r>
              <a:rPr kumimoji="1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</a:rPr>
              <a:t>New value of same type can be “assigned” – (instantly)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1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CommonBullets" pitchFamily="34" charset="2"/>
              <a:buBlip>
                <a:blip r:embed="rId3"/>
              </a:buBlip>
              <a:tabLst/>
              <a:defRPr/>
            </a:pPr>
            <a:r>
              <a:rPr kumimoji="1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+mn-ea"/>
                <a:cs typeface="+mn-cs"/>
              </a:rPr>
              <a:t>File</a:t>
            </a:r>
            <a:r>
              <a:rPr kumimoji="1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+mn-ea"/>
                <a:cs typeface="+mn-cs"/>
              </a:rPr>
              <a:t>	</a:t>
            </a: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10000"/>
              </a:spcBef>
              <a:spcAft>
                <a:spcPct val="0"/>
              </a:spcAft>
              <a:buClr>
                <a:srgbClr val="000063"/>
              </a:buClr>
              <a:buSzPct val="85000"/>
              <a:buFont typeface="CommonBullets" pitchFamily="34" charset="2"/>
              <a:buBlip>
                <a:blip r:embed="rId4"/>
              </a:buBlip>
              <a:tabLst/>
              <a:defRPr/>
            </a:pPr>
            <a:r>
              <a:rPr kumimoji="1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</a:rPr>
              <a:t>Contains a sequence of values of one or more types.</a:t>
            </a: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10000"/>
              </a:spcBef>
              <a:spcAft>
                <a:spcPct val="0"/>
              </a:spcAft>
              <a:buClr>
                <a:srgbClr val="000063"/>
              </a:buClr>
              <a:buSzPct val="85000"/>
              <a:buFont typeface="CommonBullets" pitchFamily="34" charset="2"/>
              <a:buBlip>
                <a:blip r:embed="rId4"/>
              </a:buBlip>
              <a:tabLst/>
              <a:defRPr/>
            </a:pPr>
            <a:r>
              <a:rPr kumimoji="1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</a:rPr>
              <a:t>Usually read or written to using procedures</a:t>
            </a: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10000"/>
              </a:spcBef>
              <a:spcAft>
                <a:spcPct val="0"/>
              </a:spcAft>
              <a:buClr>
                <a:srgbClr val="000063"/>
              </a:buClr>
              <a:buSzPct val="85000"/>
              <a:buFont typeface="CommonBullets" pitchFamily="34" charset="2"/>
              <a:buBlip>
                <a:blip r:embed="rId4"/>
              </a:buBlip>
              <a:tabLst/>
              <a:defRPr/>
            </a:pPr>
            <a:r>
              <a:rPr kumimoji="1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</a:rPr>
              <a:t>For simulation – not synthesis</a:t>
            </a:r>
          </a:p>
        </p:txBody>
      </p:sp>
      <p:grpSp>
        <p:nvGrpSpPr>
          <p:cNvPr id="11" name="Group 10"/>
          <p:cNvGrpSpPr>
            <a:grpSpLocks/>
          </p:cNvGrpSpPr>
          <p:nvPr/>
        </p:nvGrpSpPr>
        <p:grpSpPr bwMode="auto">
          <a:xfrm>
            <a:off x="1981200" y="1965325"/>
            <a:ext cx="4572000" cy="396875"/>
            <a:chOff x="1200" y="1976"/>
            <a:chExt cx="2880" cy="250"/>
          </a:xfrm>
        </p:grpSpPr>
        <p:sp>
          <p:nvSpPr>
            <p:cNvPr id="12" name="Text Box 4"/>
            <p:cNvSpPr txBox="1">
              <a:spLocks noChangeArrowheads="1"/>
            </p:cNvSpPr>
            <p:nvPr/>
          </p:nvSpPr>
          <p:spPr bwMode="auto">
            <a:xfrm>
              <a:off x="2112" y="1976"/>
              <a:ext cx="196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76200">
                  <a:solidFill>
                    <a:srgbClr val="FF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charset="0"/>
                  <a:ea typeface="+mn-ea"/>
                  <a:cs typeface="+mn-cs"/>
                  <a:sym typeface="Wingdings" pitchFamily="2" charset="2"/>
                </a:rPr>
                <a:t>analogous to a “wire”</a:t>
              </a:r>
            </a:p>
          </p:txBody>
        </p:sp>
        <p:sp>
          <p:nvSpPr>
            <p:cNvPr id="13" name="Line 5"/>
            <p:cNvSpPr>
              <a:spLocks noChangeShapeType="1"/>
            </p:cNvSpPr>
            <p:nvPr/>
          </p:nvSpPr>
          <p:spPr bwMode="auto">
            <a:xfrm flipH="1">
              <a:off x="1200" y="2112"/>
              <a:ext cx="1104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47974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Data Types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/>
        </p:nvSpPr>
        <p:spPr bwMode="auto">
          <a:xfrm>
            <a:off x="685800" y="1447800"/>
            <a:ext cx="77724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CommonBullets" pitchFamily="34" charset="2"/>
              <a:buBlip>
                <a:blip r:embed="rId3"/>
              </a:buBlip>
              <a:defRPr kumimoji="1" sz="32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3"/>
              </a:buClr>
              <a:buSzPct val="85000"/>
              <a:buFont typeface="CommonBullets" pitchFamily="34" charset="2"/>
              <a:buBlip>
                <a:blip r:embed="rId4"/>
              </a:buBlip>
              <a:defRPr kumimoji="1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60000"/>
              <a:buFont typeface="CommonBullets" pitchFamily="34" charset="2"/>
              <a:buBlip>
                <a:blip r:embed="rId5"/>
              </a:buBlip>
              <a:defRPr kumimoji="1" sz="2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95000"/>
              </a:lnSpc>
              <a:spcBef>
                <a:spcPct val="1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CommonBullets" pitchFamily="34" charset="2"/>
              <a:buBlip>
                <a:blip r:embed="rId3"/>
              </a:buBlip>
              <a:tabLst/>
              <a:defRPr/>
            </a:pPr>
            <a:r>
              <a:rPr kumimoji="1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+mn-ea"/>
                <a:cs typeface="+mn-cs"/>
              </a:rPr>
              <a:t>Scalar Types</a:t>
            </a:r>
          </a:p>
          <a:p>
            <a:pPr marL="742950" marR="0" lvl="1" indent="-285750" algn="l" defTabSz="914400" rtl="0" eaLnBrk="0" fontAlgn="base" latinLnBrk="0" hangingPunct="0">
              <a:lnSpc>
                <a:spcPct val="95000"/>
              </a:lnSpc>
              <a:spcBef>
                <a:spcPct val="10000"/>
              </a:spcBef>
              <a:spcAft>
                <a:spcPct val="0"/>
              </a:spcAft>
              <a:buClr>
                <a:srgbClr val="000063"/>
              </a:buClr>
              <a:buSzPct val="85000"/>
              <a:buFont typeface="CommonBullets" pitchFamily="34" charset="2"/>
              <a:buBlip>
                <a:blip r:embed="rId4"/>
              </a:buBlip>
              <a:tabLst/>
              <a:defRPr/>
            </a:pPr>
            <a:r>
              <a:rPr kumimoji="1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</a:rPr>
              <a:t>Enumerated : a list of values</a:t>
            </a:r>
          </a:p>
          <a:p>
            <a:pPr marL="742950" marR="0" lvl="1" indent="-285750" algn="l" defTabSz="914400" rtl="0" eaLnBrk="0" fontAlgn="base" latinLnBrk="0" hangingPunct="0">
              <a:lnSpc>
                <a:spcPct val="95000"/>
              </a:lnSpc>
              <a:spcBef>
                <a:spcPct val="10000"/>
              </a:spcBef>
              <a:spcAft>
                <a:spcPct val="0"/>
              </a:spcAft>
              <a:buClr>
                <a:srgbClr val="000063"/>
              </a:buClr>
              <a:buSzPct val="85000"/>
              <a:buFont typeface="CommonBullets" pitchFamily="34" charset="2"/>
              <a:buBlip>
                <a:blip r:embed="rId4"/>
              </a:buBlip>
              <a:tabLst/>
              <a:defRPr/>
            </a:pPr>
            <a:r>
              <a:rPr kumimoji="1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</a:rPr>
              <a:t>Integer</a:t>
            </a:r>
          </a:p>
          <a:p>
            <a:pPr marL="742950" marR="0" lvl="1" indent="-285750" algn="l" defTabSz="914400" rtl="0" eaLnBrk="0" fontAlgn="base" latinLnBrk="0" hangingPunct="0">
              <a:lnSpc>
                <a:spcPct val="95000"/>
              </a:lnSpc>
              <a:spcBef>
                <a:spcPct val="10000"/>
              </a:spcBef>
              <a:spcAft>
                <a:spcPct val="0"/>
              </a:spcAft>
              <a:buClr>
                <a:srgbClr val="000063"/>
              </a:buClr>
              <a:buSzPct val="85000"/>
              <a:buFont typeface="CommonBullets" pitchFamily="34" charset="2"/>
              <a:buBlip>
                <a:blip r:embed="rId4"/>
              </a:buBlip>
              <a:tabLst/>
              <a:defRPr/>
            </a:pPr>
            <a:r>
              <a:rPr kumimoji="1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</a:rPr>
              <a:t>Floating Point</a:t>
            </a:r>
          </a:p>
          <a:p>
            <a:pPr marL="742950" marR="0" lvl="1" indent="-285750" algn="l" defTabSz="914400" rtl="0" eaLnBrk="0" fontAlgn="base" latinLnBrk="0" hangingPunct="0">
              <a:lnSpc>
                <a:spcPct val="95000"/>
              </a:lnSpc>
              <a:spcBef>
                <a:spcPct val="10000"/>
              </a:spcBef>
              <a:spcAft>
                <a:spcPct val="0"/>
              </a:spcAft>
              <a:buClr>
                <a:srgbClr val="000063"/>
              </a:buClr>
              <a:buSzPct val="85000"/>
              <a:buFont typeface="CommonBullets" pitchFamily="34" charset="2"/>
              <a:buBlip>
                <a:blip r:embed="rId4"/>
              </a:buBlip>
              <a:tabLst/>
              <a:defRPr/>
            </a:pPr>
            <a:r>
              <a:rPr kumimoji="1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</a:rPr>
              <a:t>Physical : with units, for physical quantities</a:t>
            </a:r>
          </a:p>
          <a:p>
            <a:pPr marL="342900" marR="0" lvl="0" indent="-342900" algn="l" defTabSz="914400" rtl="0" eaLnBrk="0" fontAlgn="base" latinLnBrk="0" hangingPunct="0">
              <a:lnSpc>
                <a:spcPct val="95000"/>
              </a:lnSpc>
              <a:spcBef>
                <a:spcPct val="1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CommonBullets" pitchFamily="34" charset="2"/>
              <a:buBlip>
                <a:blip r:embed="rId3"/>
              </a:buBlip>
              <a:tabLst/>
              <a:defRPr/>
            </a:pPr>
            <a:r>
              <a:rPr kumimoji="1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+mn-ea"/>
                <a:cs typeface="+mn-cs"/>
              </a:rPr>
              <a:t>Composite Types</a:t>
            </a:r>
          </a:p>
          <a:p>
            <a:pPr marL="742950" marR="0" lvl="1" indent="-285750" algn="l" defTabSz="914400" rtl="0" eaLnBrk="0" fontAlgn="base" latinLnBrk="0" hangingPunct="0">
              <a:lnSpc>
                <a:spcPct val="95000"/>
              </a:lnSpc>
              <a:spcBef>
                <a:spcPct val="10000"/>
              </a:spcBef>
              <a:spcAft>
                <a:spcPct val="0"/>
              </a:spcAft>
              <a:buClr>
                <a:srgbClr val="000063"/>
              </a:buClr>
              <a:buSzPct val="85000"/>
              <a:buFont typeface="CommonBullets" pitchFamily="34" charset="2"/>
              <a:buBlip>
                <a:blip r:embed="rId4"/>
              </a:buBlip>
              <a:tabLst/>
              <a:defRPr/>
            </a:pPr>
            <a:r>
              <a:rPr kumimoji="1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</a:rPr>
              <a:t>Array (all of same type)</a:t>
            </a:r>
          </a:p>
          <a:p>
            <a:pPr marL="742950" marR="0" lvl="1" indent="-285750" algn="l" defTabSz="914400" rtl="0" eaLnBrk="0" fontAlgn="base" latinLnBrk="0" hangingPunct="0">
              <a:lnSpc>
                <a:spcPct val="95000"/>
              </a:lnSpc>
              <a:spcBef>
                <a:spcPct val="10000"/>
              </a:spcBef>
              <a:spcAft>
                <a:spcPct val="0"/>
              </a:spcAft>
              <a:buClr>
                <a:srgbClr val="000063"/>
              </a:buClr>
              <a:buSzPct val="85000"/>
              <a:buFont typeface="CommonBullets" pitchFamily="34" charset="2"/>
              <a:buBlip>
                <a:blip r:embed="rId4"/>
              </a:buBlip>
              <a:tabLst/>
              <a:defRPr/>
            </a:pPr>
            <a:r>
              <a:rPr kumimoji="1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</a:rPr>
              <a:t>Record (can be different types)</a:t>
            </a:r>
          </a:p>
          <a:p>
            <a:pPr marL="342900" marR="0" lvl="0" indent="-342900" algn="l" defTabSz="914400" rtl="0" eaLnBrk="0" fontAlgn="base" latinLnBrk="0" hangingPunct="0">
              <a:lnSpc>
                <a:spcPct val="95000"/>
              </a:lnSpc>
              <a:spcBef>
                <a:spcPct val="1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CommonBullets" pitchFamily="34" charset="2"/>
              <a:buBlip>
                <a:blip r:embed="rId3"/>
              </a:buBlip>
              <a:tabLst/>
              <a:defRPr/>
            </a:pPr>
            <a:r>
              <a:rPr kumimoji="1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+mn-ea"/>
                <a:cs typeface="+mn-cs"/>
              </a:rPr>
              <a:t>Access Type</a:t>
            </a:r>
          </a:p>
          <a:p>
            <a:pPr marL="342900" marR="0" lvl="0" indent="-342900" algn="l" defTabSz="914400" rtl="0" eaLnBrk="0" fontAlgn="base" latinLnBrk="0" hangingPunct="0">
              <a:lnSpc>
                <a:spcPct val="95000"/>
              </a:lnSpc>
              <a:spcBef>
                <a:spcPct val="1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CommonBullets" pitchFamily="34" charset="2"/>
              <a:buBlip>
                <a:blip r:embed="rId3"/>
              </a:buBlip>
              <a:tabLst/>
              <a:defRPr/>
            </a:pPr>
            <a:r>
              <a:rPr kumimoji="1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+mn-ea"/>
                <a:cs typeface="+mn-cs"/>
              </a:rPr>
              <a:t>File Type</a:t>
            </a:r>
            <a:endParaRPr kumimoji="1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56470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Enumerated Types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  <p:sp>
        <p:nvSpPr>
          <p:cNvPr id="11" name="Rectangle 10"/>
          <p:cNvSpPr>
            <a:spLocks noGrp="1" noChangeArrowheads="1"/>
          </p:cNvSpPr>
          <p:nvPr/>
        </p:nvSpPr>
        <p:spPr bwMode="auto">
          <a:xfrm>
            <a:off x="446088" y="1524000"/>
            <a:ext cx="76200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CommonBullets" pitchFamily="34" charset="2"/>
              <a:buBlip>
                <a:blip r:embed="rId3"/>
              </a:buBlip>
              <a:defRPr kumimoji="1" sz="32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3"/>
              </a:buClr>
              <a:buSzPct val="85000"/>
              <a:buFont typeface="CommonBullets" pitchFamily="34" charset="2"/>
              <a:buBlip>
                <a:blip r:embed="rId4"/>
              </a:buBlip>
              <a:defRPr kumimoji="1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60000"/>
              <a:buFont typeface="CommonBullets" pitchFamily="34" charset="2"/>
              <a:buBlip>
                <a:blip r:embed="rId5"/>
              </a:buBlip>
              <a:defRPr kumimoji="1" sz="2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CommonBullets" pitchFamily="34" charset="2"/>
              <a:buBlip>
                <a:blip r:embed="rId3"/>
              </a:buBlip>
              <a:tabLst/>
              <a:defRPr/>
            </a:pPr>
            <a:r>
              <a:rPr kumimoji="1" lang="en-US" altLang="en-US" sz="2400" b="1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+mn-ea"/>
                <a:cs typeface="+mn-cs"/>
              </a:rPr>
              <a:t>CHARACTER – </a:t>
            </a:r>
            <a:r>
              <a:rPr kumimoji="1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+mn-ea"/>
                <a:cs typeface="+mn-cs"/>
              </a:rPr>
              <a:t>one of the ASCII set</a:t>
            </a:r>
            <a:endParaRPr kumimoji="1" lang="en-US" altLang="en-US" sz="2400" b="1" i="0" u="none" strike="noStrike" kern="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CommonBullets" pitchFamily="34" charset="2"/>
              <a:buBlip>
                <a:blip r:embed="rId3"/>
              </a:buBlip>
              <a:tabLst/>
              <a:defRPr/>
            </a:pPr>
            <a:r>
              <a:rPr kumimoji="1" lang="en-US" altLang="en-US" sz="2400" b="1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+mn-ea"/>
                <a:cs typeface="+mn-cs"/>
              </a:rPr>
              <a:t>BOOLEAN</a:t>
            </a:r>
            <a:r>
              <a:rPr kumimoji="1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+mn-ea"/>
                <a:cs typeface="+mn-cs"/>
              </a:rPr>
              <a:t> – can be FALSE or TRUE </a:t>
            </a:r>
            <a:endParaRPr kumimoji="1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CommonBullets" pitchFamily="34" charset="2"/>
              <a:buBlip>
                <a:blip r:embed="rId3"/>
              </a:buBlip>
              <a:tabLst/>
              <a:defRPr/>
            </a:pPr>
            <a:r>
              <a:rPr kumimoji="1" lang="en-US" altLang="en-US" sz="2400" b="1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+mn-ea"/>
                <a:cs typeface="+mn-cs"/>
              </a:rPr>
              <a:t>BIT</a:t>
            </a:r>
            <a:r>
              <a:rPr kumimoji="1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+mn-ea"/>
                <a:cs typeface="+mn-cs"/>
              </a:rPr>
              <a:t> – can be ‘0’ or ‘1’   (note single quotes)</a:t>
            </a:r>
            <a:endParaRPr kumimoji="1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CommonBullets" pitchFamily="34" charset="2"/>
              <a:buBlip>
                <a:blip r:embed="rId3"/>
              </a:buBlip>
              <a:tabLst/>
              <a:defRPr/>
            </a:pPr>
            <a:r>
              <a:rPr kumimoji="1" lang="en-US" altLang="en-US" sz="2400" b="1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+mn-ea"/>
                <a:cs typeface="+mn-cs"/>
              </a:rPr>
              <a:t>STD_LOGIC</a:t>
            </a:r>
            <a:endParaRPr kumimoji="1" lang="en-US" altLang="en-US" sz="2000" b="1" i="0" u="none" strike="noStrike" kern="0" cap="none" spc="0" normalizeH="0" baseline="0" noProof="0">
              <a:ln>
                <a:noFill/>
              </a:ln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3"/>
              </a:buClr>
              <a:buSzPct val="85000"/>
              <a:buFont typeface="CommonBullets" pitchFamily="34" charset="2"/>
              <a:buBlip>
                <a:blip r:embed="rId4"/>
              </a:buBlip>
              <a:tabLst/>
              <a:defRPr/>
            </a:pPr>
            <a:r>
              <a:rPr kumimoji="1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</a:rPr>
              <a:t>Has NINE legal values: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3"/>
              </a:buClr>
              <a:buSzPct val="85000"/>
              <a:buFont typeface="CommonBullets" pitchFamily="34" charset="2"/>
              <a:buBlip>
                <a:blip r:embed="rId4"/>
              </a:buBlip>
              <a:tabLst/>
              <a:defRPr/>
            </a:pPr>
            <a:r>
              <a:rPr kumimoji="1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</a:rPr>
              <a:t>‘U’, ‘X’, ‘0’, ‘1’, ‘Z’, ‘W’, ‘L’, ‘H’, ‘-’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CommonBullets" pitchFamily="34" charset="2"/>
              <a:buBlip>
                <a:blip r:embed="rId3"/>
              </a:buBlip>
              <a:tabLst/>
              <a:defRPr/>
            </a:pPr>
            <a:r>
              <a:rPr kumimoji="1" lang="en-US" altLang="en-US" sz="2400" b="1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+mn-ea"/>
                <a:cs typeface="+mn-cs"/>
              </a:rPr>
              <a:t>Example Declarations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3"/>
              </a:buClr>
              <a:buSzPct val="85000"/>
              <a:buFont typeface="CommonBullets" pitchFamily="34" charset="2"/>
              <a:buBlip>
                <a:blip r:embed="rId4"/>
              </a:buBlip>
              <a:tabLst/>
              <a:defRPr/>
            </a:pPr>
            <a:r>
              <a:rPr kumimoji="1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</a:rPr>
              <a:t>Type</a:t>
            </a:r>
            <a:r>
              <a:rPr kumimoji="1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</a:rPr>
              <a:t> CAR_STATE </a:t>
            </a:r>
            <a:r>
              <a:rPr kumimoji="1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</a:rPr>
              <a:t>is</a:t>
            </a:r>
            <a:r>
              <a:rPr kumimoji="1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</a:rPr>
              <a:t> (back, stop, slow, medium, fast);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3"/>
              </a:buClr>
              <a:buSzPct val="85000"/>
              <a:buFont typeface="CommonBullets" pitchFamily="34" charset="2"/>
              <a:buBlip>
                <a:blip r:embed="rId4"/>
              </a:buBlip>
              <a:tabLst/>
              <a:defRPr/>
            </a:pPr>
            <a:r>
              <a:rPr kumimoji="1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</a:rPr>
              <a:t>Subtype</a:t>
            </a:r>
            <a:r>
              <a:rPr kumimoji="1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</a:rPr>
              <a:t> GO_KART </a:t>
            </a:r>
            <a:r>
              <a:rPr kumimoji="1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</a:rPr>
              <a:t>is</a:t>
            </a:r>
            <a:r>
              <a:rPr kumimoji="1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</a:rPr>
              <a:t> CAR_STATE </a:t>
            </a:r>
            <a:r>
              <a:rPr kumimoji="1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</a:rPr>
              <a:t>range</a:t>
            </a:r>
            <a:r>
              <a:rPr kumimoji="1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</a:rPr>
              <a:t> stop to medium;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3"/>
              </a:buClr>
              <a:buSzPct val="85000"/>
              <a:buFont typeface="CommonBullets" pitchFamily="34" charset="2"/>
              <a:buBlip>
                <a:blip r:embed="rId4"/>
              </a:buBlip>
              <a:tabLst/>
              <a:defRPr/>
            </a:pPr>
            <a:r>
              <a:rPr kumimoji="1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</a:rPr>
              <a:t>Type</a:t>
            </a:r>
            <a:r>
              <a:rPr kumimoji="1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</a:rPr>
              <a:t> DIGIT </a:t>
            </a:r>
            <a:r>
              <a:rPr kumimoji="1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</a:rPr>
              <a:t>is</a:t>
            </a:r>
            <a:r>
              <a:rPr kumimoji="1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</a:rPr>
              <a:t> (‘0’, ‘1’, ‘2’, ‘3’, ‘4’, ‘5’, ‘6’, ‘7’, ‘8’, ‘9’ );</a:t>
            </a:r>
          </a:p>
        </p:txBody>
      </p:sp>
      <p:grpSp>
        <p:nvGrpSpPr>
          <p:cNvPr id="12" name="Group 11"/>
          <p:cNvGrpSpPr>
            <a:grpSpLocks/>
          </p:cNvGrpSpPr>
          <p:nvPr/>
        </p:nvGrpSpPr>
        <p:grpSpPr bwMode="auto">
          <a:xfrm>
            <a:off x="2732088" y="2209800"/>
            <a:ext cx="5965825" cy="1843088"/>
            <a:chOff x="1776" y="1488"/>
            <a:chExt cx="3758" cy="1161"/>
          </a:xfrm>
        </p:grpSpPr>
        <p:pic>
          <p:nvPicPr>
            <p:cNvPr id="13" name="Picture 12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68" y="1488"/>
              <a:ext cx="1166" cy="11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76200" cap="flat" cmpd="sng">
                  <a:solidFill>
                    <a:srgbClr val="FFFF00"/>
                  </a:solidFill>
                  <a:prstDash val="solid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4" name="Text Box 6"/>
            <p:cNvSpPr txBox="1">
              <a:spLocks noChangeArrowheads="1"/>
            </p:cNvSpPr>
            <p:nvPr/>
          </p:nvSpPr>
          <p:spPr bwMode="auto">
            <a:xfrm>
              <a:off x="2016" y="1920"/>
              <a:ext cx="240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76200">
                  <a:solidFill>
                    <a:srgbClr val="FF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charset="0"/>
                  <a:ea typeface="+mn-ea"/>
                  <a:cs typeface="+mn-cs"/>
                </a:rPr>
                <a:t>IEEE std_logic_1164 package</a:t>
              </a:r>
            </a:p>
          </p:txBody>
        </p:sp>
        <p:sp>
          <p:nvSpPr>
            <p:cNvPr id="15" name="Line 8"/>
            <p:cNvSpPr>
              <a:spLocks noChangeShapeType="1"/>
            </p:cNvSpPr>
            <p:nvPr/>
          </p:nvSpPr>
          <p:spPr bwMode="auto">
            <a:xfrm flipH="1">
              <a:off x="1776" y="2054"/>
              <a:ext cx="336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66007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 Data Representation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6525" y="1219200"/>
            <a:ext cx="379095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714500"/>
            <a:ext cx="7800975" cy="499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054913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Time Representation: Type time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894" y="1447800"/>
            <a:ext cx="8443506" cy="437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479749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Arrays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/>
        </p:nvSpPr>
        <p:spPr bwMode="auto">
          <a:xfrm>
            <a:off x="533400" y="1524000"/>
            <a:ext cx="80772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CommonBullets" pitchFamily="34" charset="2"/>
              <a:buBlip>
                <a:blip r:embed="rId3"/>
              </a:buBlip>
              <a:defRPr kumimoji="1" sz="32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3"/>
              </a:buClr>
              <a:buSzPct val="85000"/>
              <a:buFont typeface="CommonBullets" pitchFamily="34" charset="2"/>
              <a:buBlip>
                <a:blip r:embed="rId4"/>
              </a:buBlip>
              <a:defRPr kumimoji="1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60000"/>
              <a:buFont typeface="CommonBullets" pitchFamily="34" charset="2"/>
              <a:buBlip>
                <a:blip r:embed="rId5"/>
              </a:buBlip>
              <a:defRPr kumimoji="1" sz="2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4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CommonBullets" pitchFamily="34" charset="2"/>
              <a:buBlip>
                <a:blip r:embed="rId3"/>
              </a:buBlip>
              <a:tabLst/>
              <a:defRPr/>
            </a:pPr>
            <a:r>
              <a:rPr kumimoji="1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+mn-ea"/>
                <a:cs typeface="+mn-cs"/>
              </a:rPr>
              <a:t>An Array of type </a:t>
            </a:r>
            <a:r>
              <a:rPr kumimoji="1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BIT</a:t>
            </a:r>
            <a:r>
              <a:rPr kumimoji="1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+mn-ea"/>
                <a:cs typeface="+mn-cs"/>
              </a:rPr>
              <a:t> is called a </a:t>
            </a:r>
            <a:r>
              <a:rPr kumimoji="1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BIT_VECTOR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40000"/>
              </a:spcBef>
              <a:spcAft>
                <a:spcPct val="0"/>
              </a:spcAft>
              <a:buClr>
                <a:srgbClr val="000063"/>
              </a:buClr>
              <a:buSzPct val="85000"/>
              <a:buFont typeface="CommonBullets" pitchFamily="34" charset="2"/>
              <a:buNone/>
              <a:tabLst/>
              <a:defRPr/>
            </a:pPr>
            <a:r>
              <a:rPr kumimoji="1" lang="en-US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signal MYSIG : IN     BIT_VECTOR( 0 to 3);</a:t>
            </a:r>
            <a:r>
              <a:rPr kumimoji="1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4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CommonBullets" pitchFamily="34" charset="2"/>
              <a:buBlip>
                <a:blip r:embed="rId3"/>
              </a:buBlip>
              <a:tabLst/>
              <a:defRPr/>
            </a:pPr>
            <a:r>
              <a:rPr kumimoji="1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+mn-ea"/>
                <a:cs typeface="+mn-cs"/>
              </a:rPr>
              <a:t>An Array of type </a:t>
            </a:r>
            <a:r>
              <a:rPr kumimoji="1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STD_LOGIC</a:t>
            </a:r>
            <a:r>
              <a:rPr kumimoji="1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+mn-ea"/>
                <a:cs typeface="+mn-cs"/>
              </a:rPr>
              <a:t> is called a </a:t>
            </a:r>
            <a:r>
              <a:rPr kumimoji="1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STD_LOGIC_VECTOR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40000"/>
              </a:spcBef>
              <a:spcAft>
                <a:spcPct val="0"/>
              </a:spcAft>
              <a:buClr>
                <a:srgbClr val="000063"/>
              </a:buClr>
              <a:buSzPct val="85000"/>
              <a:buFont typeface="CommonBullets" pitchFamily="34" charset="2"/>
              <a:buNone/>
              <a:tabLst/>
              <a:defRPr/>
            </a:pPr>
            <a:r>
              <a:rPr kumimoji="1" lang="en-US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signal </a:t>
            </a:r>
            <a:r>
              <a:rPr kumimoji="1" lang="en-US" alt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yourSIG</a:t>
            </a:r>
            <a:r>
              <a:rPr kumimoji="1" lang="en-US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: OUT   STD_LOGIC_VECTOR( 31 </a:t>
            </a:r>
            <a:r>
              <a:rPr kumimoji="1" lang="en-US" alt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downto</a:t>
            </a:r>
            <a:r>
              <a:rPr kumimoji="1" lang="en-US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0);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4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CommonBullets" pitchFamily="34" charset="2"/>
              <a:buBlip>
                <a:blip r:embed="rId3"/>
              </a:buBlip>
              <a:tabLst/>
              <a:defRPr/>
            </a:pPr>
            <a:r>
              <a:rPr kumimoji="1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+mn-ea"/>
                <a:cs typeface="+mn-cs"/>
              </a:rPr>
              <a:t>A </a:t>
            </a:r>
            <a:r>
              <a:rPr kumimoji="1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STRING</a:t>
            </a:r>
            <a:r>
              <a:rPr kumimoji="1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+mn-ea"/>
                <a:cs typeface="+mn-cs"/>
              </a:rPr>
              <a:t> is a character array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40000"/>
              </a:spcBef>
              <a:spcAft>
                <a:spcPct val="0"/>
              </a:spcAft>
              <a:buClr>
                <a:srgbClr val="000063"/>
              </a:buClr>
              <a:buSzPct val="85000"/>
              <a:buFont typeface="CommonBullets" pitchFamily="34" charset="2"/>
              <a:buNone/>
              <a:tabLst/>
              <a:defRPr/>
            </a:pPr>
            <a:r>
              <a:rPr kumimoji="1" lang="en-US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constant GREETING: STRING := “Hello!”;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40000"/>
              </a:spcBef>
              <a:spcAft>
                <a:spcPct val="0"/>
              </a:spcAft>
              <a:buClr>
                <a:srgbClr val="FFCC00"/>
              </a:buClr>
              <a:buSzPct val="70000"/>
              <a:buFont typeface="CommonBullets" pitchFamily="34" charset="2"/>
              <a:buBlip>
                <a:blip r:embed="rId3"/>
              </a:buBlip>
              <a:tabLst/>
              <a:defRPr/>
            </a:pPr>
            <a:endParaRPr kumimoji="1" lang="en-US" altLang="en-US" sz="2800" b="0" i="0" u="none" strike="noStrike" kern="0" cap="none" spc="0" normalizeH="0" baseline="0" noProof="0" dirty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69746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Signal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75" y="1276350"/>
            <a:ext cx="7743825" cy="512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268624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Signal Assignment Statement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25" y="1295400"/>
            <a:ext cx="7991475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479749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Statement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3" y="1181100"/>
            <a:ext cx="8639175" cy="186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304800" y="3028950"/>
            <a:ext cx="3276600" cy="3524250"/>
          </a:xfrm>
          <a:prstGeom prst="rect">
            <a:avLst/>
          </a:prstGeom>
          <a:noFill/>
          <a:ln w="28575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/>
            <a:r>
              <a:rPr lang="en-US" sz="1400" b="0">
                <a:solidFill>
                  <a:srgbClr val="0000CC"/>
                </a:solidFill>
                <a:latin typeface="Helvetica" pitchFamily="34" charset="0"/>
              </a:rPr>
              <a:t>entity</a:t>
            </a:r>
            <a:r>
              <a:rPr lang="en-US" sz="1400" b="0">
                <a:solidFill>
                  <a:srgbClr val="0000CC"/>
                </a:solidFill>
              </a:rPr>
              <a:t> </a:t>
            </a:r>
            <a:r>
              <a:rPr lang="en-US" sz="1400" b="0">
                <a:solidFill>
                  <a:srgbClr val="0000CC"/>
                </a:solidFill>
                <a:latin typeface="Helvetica" pitchFamily="34" charset="0"/>
              </a:rPr>
              <a:t>AND_OR_XOR</a:t>
            </a:r>
            <a:r>
              <a:rPr lang="en-US" sz="1400" b="0">
                <a:solidFill>
                  <a:srgbClr val="0000CC"/>
                </a:solidFill>
              </a:rPr>
              <a:t> </a:t>
            </a:r>
            <a:r>
              <a:rPr lang="en-US" sz="1400" b="0">
                <a:solidFill>
                  <a:srgbClr val="0000CC"/>
                </a:solidFill>
                <a:latin typeface="Helvetica" pitchFamily="34" charset="0"/>
              </a:rPr>
              <a:t>is</a:t>
            </a:r>
            <a:br>
              <a:rPr 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400" b="0">
                <a:solidFill>
                  <a:srgbClr val="0000CC"/>
                </a:solidFill>
              </a:rPr>
              <a:t>  </a:t>
            </a:r>
            <a:r>
              <a:rPr lang="en-US" sz="1400" b="0">
                <a:solidFill>
                  <a:srgbClr val="0000CC"/>
                </a:solidFill>
                <a:latin typeface="Helvetica" pitchFamily="34" charset="0"/>
              </a:rPr>
              <a:t>port</a:t>
            </a:r>
            <a:r>
              <a:rPr lang="en-US" sz="1400" b="0">
                <a:solidFill>
                  <a:srgbClr val="0000CC"/>
                </a:solidFill>
              </a:rPr>
              <a:t> </a:t>
            </a:r>
            <a:r>
              <a:rPr lang="en-US" sz="1400" b="0">
                <a:solidFill>
                  <a:srgbClr val="0000CC"/>
                </a:solidFill>
                <a:latin typeface="Helvetica" pitchFamily="34" charset="0"/>
              </a:rPr>
              <a:t>(A,B</a:t>
            </a:r>
            <a:r>
              <a:rPr lang="en-US" sz="1400" b="0">
                <a:solidFill>
                  <a:srgbClr val="0000CC"/>
                </a:solidFill>
              </a:rPr>
              <a:t> </a:t>
            </a:r>
            <a:r>
              <a:rPr lang="en-US" sz="1400" b="0">
                <a:solidFill>
                  <a:srgbClr val="0000CC"/>
                </a:solidFill>
                <a:latin typeface="Helvetica" pitchFamily="34" charset="0"/>
              </a:rPr>
              <a:t>:</a:t>
            </a:r>
            <a:r>
              <a:rPr lang="en-US" sz="1400" b="0">
                <a:solidFill>
                  <a:srgbClr val="0000CC"/>
                </a:solidFill>
              </a:rPr>
              <a:t>    </a:t>
            </a:r>
            <a:r>
              <a:rPr lang="en-US" sz="1400" b="0">
                <a:solidFill>
                  <a:srgbClr val="0000CC"/>
                </a:solidFill>
                <a:latin typeface="Helvetica" pitchFamily="34" charset="0"/>
              </a:rPr>
              <a:t>in</a:t>
            </a:r>
            <a:r>
              <a:rPr lang="en-US" sz="1400" b="0">
                <a:solidFill>
                  <a:srgbClr val="0000CC"/>
                </a:solidFill>
              </a:rPr>
              <a:t>    </a:t>
            </a:r>
            <a:r>
              <a:rPr lang="en-US" sz="1400" b="0">
                <a:solidFill>
                  <a:srgbClr val="0000CC"/>
                </a:solidFill>
                <a:latin typeface="Helvetica" pitchFamily="34" charset="0"/>
              </a:rPr>
              <a:t>bit;</a:t>
            </a:r>
            <a:br>
              <a:rPr 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400" b="0">
                <a:solidFill>
                  <a:srgbClr val="0000CC"/>
                </a:solidFill>
              </a:rPr>
              <a:t>           </a:t>
            </a:r>
            <a:r>
              <a:rPr lang="en-US" sz="1400" b="0">
                <a:solidFill>
                  <a:srgbClr val="0000CC"/>
                </a:solidFill>
                <a:latin typeface="Helvetica" pitchFamily="34" charset="0"/>
              </a:rPr>
              <a:t>Z_OR, Z_AND, Z_XOR</a:t>
            </a:r>
            <a:r>
              <a:rPr lang="en-US" sz="1400" b="0">
                <a:solidFill>
                  <a:srgbClr val="0000CC"/>
                </a:solidFill>
              </a:rPr>
              <a:t> </a:t>
            </a:r>
            <a:r>
              <a:rPr lang="en-US" sz="1400" b="0">
                <a:solidFill>
                  <a:srgbClr val="0000CC"/>
                </a:solidFill>
                <a:latin typeface="Helvetica" pitchFamily="34" charset="0"/>
              </a:rPr>
              <a:t>:</a:t>
            </a:r>
            <a:r>
              <a:rPr lang="en-US" sz="1400" b="0">
                <a:solidFill>
                  <a:srgbClr val="0000CC"/>
                </a:solidFill>
              </a:rPr>
              <a:t> </a:t>
            </a:r>
            <a:r>
              <a:rPr lang="en-US" sz="1400" b="0">
                <a:solidFill>
                  <a:srgbClr val="0000CC"/>
                </a:solidFill>
                <a:latin typeface="Helvetica" pitchFamily="34" charset="0"/>
              </a:rPr>
              <a:t>out</a:t>
            </a:r>
            <a:r>
              <a:rPr lang="en-US" sz="1400" b="0">
                <a:solidFill>
                  <a:srgbClr val="0000CC"/>
                </a:solidFill>
              </a:rPr>
              <a:t> </a:t>
            </a:r>
            <a:r>
              <a:rPr lang="en-US" sz="1400" b="0">
                <a:solidFill>
                  <a:srgbClr val="0000CC"/>
                </a:solidFill>
                <a:latin typeface="Helvetica" pitchFamily="34" charset="0"/>
              </a:rPr>
              <a:t>bit);</a:t>
            </a:r>
            <a:br>
              <a:rPr 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400" b="0">
                <a:solidFill>
                  <a:srgbClr val="0000CC"/>
                </a:solidFill>
                <a:latin typeface="Helvetica" pitchFamily="34" charset="0"/>
              </a:rPr>
              <a:t>end</a:t>
            </a:r>
            <a:r>
              <a:rPr lang="en-US" sz="1400" b="0">
                <a:solidFill>
                  <a:srgbClr val="0000CC"/>
                </a:solidFill>
              </a:rPr>
              <a:t> </a:t>
            </a:r>
            <a:r>
              <a:rPr lang="en-US" sz="1400" b="0">
                <a:solidFill>
                  <a:srgbClr val="0000CC"/>
                </a:solidFill>
                <a:latin typeface="Helvetica" pitchFamily="34" charset="0"/>
              </a:rPr>
              <a:t>AND_OR_XOR;</a:t>
            </a:r>
            <a:br>
              <a:rPr 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400" b="0">
                <a:solidFill>
                  <a:srgbClr val="0000CC"/>
                </a:solidFill>
              </a:rPr>
              <a:t>   </a:t>
            </a:r>
            <a:br>
              <a:rPr 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400" b="0">
                <a:solidFill>
                  <a:srgbClr val="0000CC"/>
                </a:solidFill>
                <a:latin typeface="Helvetica" pitchFamily="34" charset="0"/>
              </a:rPr>
              <a:t>architecture</a:t>
            </a:r>
            <a:r>
              <a:rPr lang="en-US" sz="1400" b="0">
                <a:solidFill>
                  <a:srgbClr val="0000CC"/>
                </a:solidFill>
              </a:rPr>
              <a:t> </a:t>
            </a:r>
            <a:r>
              <a:rPr lang="en-US" sz="1400" b="0">
                <a:solidFill>
                  <a:srgbClr val="0000CC"/>
                </a:solidFill>
                <a:latin typeface="Helvetica" pitchFamily="34" charset="0"/>
              </a:rPr>
              <a:t>RTL</a:t>
            </a:r>
            <a:r>
              <a:rPr lang="en-US" sz="1400" b="0">
                <a:solidFill>
                  <a:srgbClr val="0000CC"/>
                </a:solidFill>
              </a:rPr>
              <a:t> </a:t>
            </a:r>
            <a:r>
              <a:rPr lang="en-US" sz="1400" b="0">
                <a:solidFill>
                  <a:srgbClr val="0000CC"/>
                </a:solidFill>
                <a:latin typeface="Helvetica" pitchFamily="34" charset="0"/>
              </a:rPr>
              <a:t>of</a:t>
            </a:r>
            <a:r>
              <a:rPr lang="en-US" sz="1400" b="0">
                <a:solidFill>
                  <a:srgbClr val="0000CC"/>
                </a:solidFill>
              </a:rPr>
              <a:t> </a:t>
            </a:r>
            <a:r>
              <a:rPr lang="en-US" sz="1400" b="0">
                <a:solidFill>
                  <a:srgbClr val="0000CC"/>
                </a:solidFill>
                <a:latin typeface="Helvetica" pitchFamily="34" charset="0"/>
              </a:rPr>
              <a:t>AND_OR_XOR</a:t>
            </a:r>
            <a:r>
              <a:rPr lang="en-US" sz="1400" b="0">
                <a:solidFill>
                  <a:srgbClr val="0000CC"/>
                </a:solidFill>
              </a:rPr>
              <a:t> </a:t>
            </a:r>
            <a:r>
              <a:rPr lang="en-US" sz="1400" b="0">
                <a:solidFill>
                  <a:srgbClr val="0000CC"/>
                </a:solidFill>
                <a:latin typeface="Helvetica" pitchFamily="34" charset="0"/>
              </a:rPr>
              <a:t>is</a:t>
            </a:r>
            <a:br>
              <a:rPr 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400" b="0">
                <a:solidFill>
                  <a:srgbClr val="0000CC"/>
                </a:solidFill>
                <a:latin typeface="Helvetica" pitchFamily="34" charset="0"/>
              </a:rPr>
              <a:t>begin</a:t>
            </a:r>
            <a:br>
              <a:rPr lang="en-US" sz="1400" b="0">
                <a:solidFill>
                  <a:srgbClr val="0000CC"/>
                </a:solidFill>
                <a:latin typeface="Helvetica" pitchFamily="34" charset="0"/>
              </a:rPr>
            </a:br>
            <a:br>
              <a:rPr 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400" b="0">
                <a:solidFill>
                  <a:srgbClr val="0000CC"/>
                </a:solidFill>
              </a:rPr>
              <a:t>   </a:t>
            </a:r>
            <a:r>
              <a:rPr lang="en-US" sz="1400" b="0">
                <a:solidFill>
                  <a:srgbClr val="0000CC"/>
                </a:solidFill>
                <a:latin typeface="Helvetica" pitchFamily="34" charset="0"/>
              </a:rPr>
              <a:t>A_O_X:</a:t>
            </a:r>
            <a:r>
              <a:rPr lang="en-US" sz="1400" b="0">
                <a:solidFill>
                  <a:srgbClr val="0000CC"/>
                </a:solidFill>
              </a:rPr>
              <a:t> </a:t>
            </a:r>
            <a:r>
              <a:rPr lang="en-US" sz="1400">
                <a:solidFill>
                  <a:srgbClr val="0000CC"/>
                </a:solidFill>
                <a:latin typeface="Helvetica" pitchFamily="34" charset="0"/>
              </a:rPr>
              <a:t> process</a:t>
            </a:r>
            <a:r>
              <a:rPr lang="en-US" sz="1400" b="0">
                <a:solidFill>
                  <a:srgbClr val="0000CC"/>
                </a:solidFill>
                <a:latin typeface="Helvetica" pitchFamily="34" charset="0"/>
              </a:rPr>
              <a:t> </a:t>
            </a:r>
            <a:r>
              <a:rPr lang="en-US" sz="1400" b="0">
                <a:solidFill>
                  <a:srgbClr val="0000CC"/>
                </a:solidFill>
              </a:rPr>
              <a:t> </a:t>
            </a:r>
            <a:r>
              <a:rPr lang="en-US" sz="1400" b="0">
                <a:solidFill>
                  <a:srgbClr val="0000CC"/>
                </a:solidFill>
                <a:latin typeface="Helvetica" pitchFamily="34" charset="0"/>
              </a:rPr>
              <a:t>(A, B)  </a:t>
            </a:r>
            <a:br>
              <a:rPr 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400" b="0">
                <a:solidFill>
                  <a:srgbClr val="0000CC"/>
                </a:solidFill>
              </a:rPr>
              <a:t>   </a:t>
            </a:r>
            <a:r>
              <a:rPr lang="en-US" sz="1400">
                <a:solidFill>
                  <a:srgbClr val="0000CC"/>
                </a:solidFill>
                <a:latin typeface="Helvetica" pitchFamily="34" charset="0"/>
              </a:rPr>
              <a:t> begin</a:t>
            </a:r>
            <a:br>
              <a:rPr lang="en-US" sz="140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400" b="0">
                <a:solidFill>
                  <a:srgbClr val="0000CC"/>
                </a:solidFill>
              </a:rPr>
              <a:t>      </a:t>
            </a:r>
            <a:r>
              <a:rPr lang="en-US" sz="1400" b="0">
                <a:solidFill>
                  <a:srgbClr val="0000CC"/>
                </a:solidFill>
                <a:latin typeface="Helvetica" pitchFamily="34" charset="0"/>
              </a:rPr>
              <a:t>Z_OR</a:t>
            </a:r>
            <a:r>
              <a:rPr lang="en-US" sz="1400" b="0">
                <a:solidFill>
                  <a:srgbClr val="0000CC"/>
                </a:solidFill>
              </a:rPr>
              <a:t>   </a:t>
            </a:r>
            <a:r>
              <a:rPr lang="en-US" sz="1400" b="0">
                <a:solidFill>
                  <a:srgbClr val="0000CC"/>
                </a:solidFill>
                <a:latin typeface="Helvetica" pitchFamily="34" charset="0"/>
              </a:rPr>
              <a:t>&lt;=</a:t>
            </a:r>
            <a:r>
              <a:rPr lang="en-US" sz="1400" b="0">
                <a:solidFill>
                  <a:srgbClr val="0000CC"/>
                </a:solidFill>
              </a:rPr>
              <a:t> </a:t>
            </a:r>
            <a:r>
              <a:rPr lang="en-US" sz="1400" b="0">
                <a:solidFill>
                  <a:srgbClr val="0000CC"/>
                </a:solidFill>
                <a:latin typeface="Helvetica" pitchFamily="34" charset="0"/>
              </a:rPr>
              <a:t>A</a:t>
            </a:r>
            <a:r>
              <a:rPr lang="en-US" sz="1400" b="0">
                <a:solidFill>
                  <a:srgbClr val="0000CC"/>
                </a:solidFill>
              </a:rPr>
              <a:t> </a:t>
            </a:r>
            <a:r>
              <a:rPr lang="en-US" sz="1400" b="0">
                <a:solidFill>
                  <a:srgbClr val="0000CC"/>
                </a:solidFill>
                <a:latin typeface="Helvetica" pitchFamily="34" charset="0"/>
              </a:rPr>
              <a:t>or</a:t>
            </a:r>
            <a:r>
              <a:rPr lang="en-US" sz="1400" b="0">
                <a:solidFill>
                  <a:srgbClr val="0000CC"/>
                </a:solidFill>
              </a:rPr>
              <a:t>    </a:t>
            </a:r>
            <a:r>
              <a:rPr lang="en-US" sz="1400" b="0">
                <a:solidFill>
                  <a:srgbClr val="0000CC"/>
                </a:solidFill>
                <a:latin typeface="Helvetica" pitchFamily="34" charset="0"/>
              </a:rPr>
              <a:t>B;</a:t>
            </a:r>
            <a:br>
              <a:rPr 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400" b="0">
                <a:solidFill>
                  <a:srgbClr val="0000CC"/>
                </a:solidFill>
              </a:rPr>
              <a:t>      </a:t>
            </a:r>
            <a:r>
              <a:rPr lang="en-US" sz="1400" b="0">
                <a:solidFill>
                  <a:srgbClr val="0000CC"/>
                </a:solidFill>
                <a:latin typeface="Helvetica" pitchFamily="34" charset="0"/>
              </a:rPr>
              <a:t>Z_AND</a:t>
            </a:r>
            <a:r>
              <a:rPr lang="en-US" sz="1400" b="0">
                <a:solidFill>
                  <a:srgbClr val="0000CC"/>
                </a:solidFill>
              </a:rPr>
              <a:t> </a:t>
            </a:r>
            <a:r>
              <a:rPr lang="en-US" sz="1400" b="0">
                <a:solidFill>
                  <a:srgbClr val="0000CC"/>
                </a:solidFill>
                <a:latin typeface="Helvetica" pitchFamily="34" charset="0"/>
              </a:rPr>
              <a:t>&lt;=</a:t>
            </a:r>
            <a:r>
              <a:rPr lang="en-US" sz="1400" b="0">
                <a:solidFill>
                  <a:srgbClr val="0000CC"/>
                </a:solidFill>
              </a:rPr>
              <a:t> </a:t>
            </a:r>
            <a:r>
              <a:rPr lang="en-US" sz="1400" b="0">
                <a:solidFill>
                  <a:srgbClr val="0000CC"/>
                </a:solidFill>
                <a:latin typeface="Helvetica" pitchFamily="34" charset="0"/>
              </a:rPr>
              <a:t>A</a:t>
            </a:r>
            <a:r>
              <a:rPr lang="en-US" sz="1400" b="0">
                <a:solidFill>
                  <a:srgbClr val="0000CC"/>
                </a:solidFill>
              </a:rPr>
              <a:t> </a:t>
            </a:r>
            <a:r>
              <a:rPr lang="en-US" sz="1400" b="0">
                <a:solidFill>
                  <a:srgbClr val="0000CC"/>
                </a:solidFill>
                <a:latin typeface="Helvetica" pitchFamily="34" charset="0"/>
              </a:rPr>
              <a:t>and</a:t>
            </a:r>
            <a:r>
              <a:rPr lang="en-US" sz="1400" b="0">
                <a:solidFill>
                  <a:srgbClr val="0000CC"/>
                </a:solidFill>
              </a:rPr>
              <a:t> </a:t>
            </a:r>
            <a:r>
              <a:rPr lang="en-US" sz="1400" b="0">
                <a:solidFill>
                  <a:srgbClr val="0000CC"/>
                </a:solidFill>
                <a:latin typeface="Helvetica" pitchFamily="34" charset="0"/>
              </a:rPr>
              <a:t>B;</a:t>
            </a:r>
            <a:br>
              <a:rPr 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400" b="0">
                <a:solidFill>
                  <a:srgbClr val="0000CC"/>
                </a:solidFill>
              </a:rPr>
              <a:t>      </a:t>
            </a:r>
            <a:r>
              <a:rPr lang="en-US" sz="1400" b="0">
                <a:solidFill>
                  <a:srgbClr val="0000CC"/>
                </a:solidFill>
                <a:latin typeface="Helvetica" pitchFamily="34" charset="0"/>
              </a:rPr>
              <a:t>Z_XOR</a:t>
            </a:r>
            <a:r>
              <a:rPr lang="en-US" sz="1400" b="0">
                <a:solidFill>
                  <a:srgbClr val="0000CC"/>
                </a:solidFill>
              </a:rPr>
              <a:t> </a:t>
            </a:r>
            <a:r>
              <a:rPr lang="en-US" sz="1400" b="0">
                <a:solidFill>
                  <a:srgbClr val="0000CC"/>
                </a:solidFill>
                <a:latin typeface="Helvetica" pitchFamily="34" charset="0"/>
              </a:rPr>
              <a:t>&lt;=</a:t>
            </a:r>
            <a:r>
              <a:rPr lang="en-US" sz="1400" b="0">
                <a:solidFill>
                  <a:srgbClr val="0000CC"/>
                </a:solidFill>
              </a:rPr>
              <a:t> </a:t>
            </a:r>
            <a:r>
              <a:rPr lang="en-US" sz="1400" b="0">
                <a:solidFill>
                  <a:srgbClr val="0000CC"/>
                </a:solidFill>
                <a:latin typeface="Helvetica" pitchFamily="34" charset="0"/>
              </a:rPr>
              <a:t>A</a:t>
            </a:r>
            <a:r>
              <a:rPr lang="en-US" sz="1400" b="0">
                <a:solidFill>
                  <a:srgbClr val="0000CC"/>
                </a:solidFill>
              </a:rPr>
              <a:t> </a:t>
            </a:r>
            <a:r>
              <a:rPr lang="en-US" sz="1400" b="0">
                <a:solidFill>
                  <a:srgbClr val="0000CC"/>
                </a:solidFill>
                <a:latin typeface="Helvetica" pitchFamily="34" charset="0"/>
              </a:rPr>
              <a:t>xor</a:t>
            </a:r>
            <a:r>
              <a:rPr lang="en-US" sz="1400" b="0">
                <a:solidFill>
                  <a:srgbClr val="0000CC"/>
                </a:solidFill>
              </a:rPr>
              <a:t>  </a:t>
            </a:r>
            <a:r>
              <a:rPr lang="en-US" sz="1400" b="0">
                <a:solidFill>
                  <a:srgbClr val="0000CC"/>
                </a:solidFill>
                <a:latin typeface="Helvetica" pitchFamily="34" charset="0"/>
              </a:rPr>
              <a:t>B;</a:t>
            </a:r>
            <a:br>
              <a:rPr 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400" b="0">
                <a:solidFill>
                  <a:srgbClr val="0000CC"/>
                </a:solidFill>
              </a:rPr>
              <a:t>    </a:t>
            </a:r>
            <a:r>
              <a:rPr lang="en-US" sz="1400">
                <a:solidFill>
                  <a:srgbClr val="0000CC"/>
                </a:solidFill>
                <a:latin typeface="Helvetica" pitchFamily="34" charset="0"/>
              </a:rPr>
              <a:t> end</a:t>
            </a:r>
            <a:r>
              <a:rPr lang="en-US" sz="1400">
                <a:solidFill>
                  <a:srgbClr val="0000CC"/>
                </a:solidFill>
              </a:rPr>
              <a:t> </a:t>
            </a:r>
            <a:r>
              <a:rPr lang="en-US" sz="1400">
                <a:solidFill>
                  <a:srgbClr val="0000CC"/>
                </a:solidFill>
                <a:latin typeface="Helvetica" pitchFamily="34" charset="0"/>
              </a:rPr>
              <a:t>process</a:t>
            </a:r>
            <a:r>
              <a:rPr lang="en-US" sz="1400" b="0">
                <a:solidFill>
                  <a:srgbClr val="0000CC"/>
                </a:solidFill>
                <a:latin typeface="Helvetica" pitchFamily="34" charset="0"/>
              </a:rPr>
              <a:t> </a:t>
            </a:r>
            <a:r>
              <a:rPr lang="en-US" sz="1400" b="0">
                <a:solidFill>
                  <a:srgbClr val="0000CC"/>
                </a:solidFill>
              </a:rPr>
              <a:t> </a:t>
            </a:r>
            <a:r>
              <a:rPr lang="en-US" sz="1400" b="0">
                <a:solidFill>
                  <a:srgbClr val="0000CC"/>
                </a:solidFill>
                <a:latin typeface="Helvetica" pitchFamily="34" charset="0"/>
              </a:rPr>
              <a:t>A_O_X</a:t>
            </a:r>
            <a:r>
              <a:rPr lang="en-US" sz="1400">
                <a:solidFill>
                  <a:srgbClr val="0000CC"/>
                </a:solidFill>
                <a:latin typeface="Helvetica" pitchFamily="34" charset="0"/>
              </a:rPr>
              <a:t> ;</a:t>
            </a:r>
            <a:br>
              <a:rPr lang="en-US" sz="140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400" b="0">
                <a:solidFill>
                  <a:srgbClr val="0000CC"/>
                </a:solidFill>
              </a:rPr>
              <a:t> </a:t>
            </a:r>
            <a:br>
              <a:rPr 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400" b="0">
                <a:solidFill>
                  <a:srgbClr val="0000CC"/>
                </a:solidFill>
                <a:latin typeface="Helvetica" pitchFamily="34" charset="0"/>
              </a:rPr>
              <a:t>end</a:t>
            </a:r>
            <a:r>
              <a:rPr lang="en-US" sz="1400" b="0">
                <a:solidFill>
                  <a:srgbClr val="0000CC"/>
                </a:solidFill>
              </a:rPr>
              <a:t> </a:t>
            </a:r>
            <a:r>
              <a:rPr lang="en-US" sz="1400" b="0">
                <a:solidFill>
                  <a:srgbClr val="0000CC"/>
                </a:solidFill>
                <a:latin typeface="Helvetica" pitchFamily="34" charset="0"/>
              </a:rPr>
              <a:t>RTL; </a:t>
            </a: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3657600" y="3192463"/>
            <a:ext cx="4800600" cy="3055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914400" indent="-4572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>
              <a:spcBef>
                <a:spcPct val="10000"/>
              </a:spcBef>
              <a:buFontTx/>
              <a:buChar char="•"/>
            </a:pPr>
            <a:r>
              <a:rPr lang="en-US" sz="1800" dirty="0"/>
              <a:t>Contains sequentially executed statements </a:t>
            </a:r>
          </a:p>
          <a:p>
            <a:pPr algn="l" rtl="0" eaLnBrk="1" hangingPunct="1">
              <a:spcBef>
                <a:spcPct val="10000"/>
              </a:spcBef>
              <a:buFontTx/>
              <a:buChar char="•"/>
            </a:pPr>
            <a:r>
              <a:rPr lang="en-US" sz="1800" dirty="0"/>
              <a:t>Only within an architecture</a:t>
            </a:r>
          </a:p>
          <a:p>
            <a:pPr algn="l" rtl="0" eaLnBrk="1" hangingPunct="1">
              <a:spcBef>
                <a:spcPct val="10000"/>
              </a:spcBef>
              <a:buFontTx/>
              <a:buChar char="•"/>
            </a:pPr>
            <a:r>
              <a:rPr lang="en-US" sz="1800" dirty="0"/>
              <a:t>Several processes run concurrently </a:t>
            </a:r>
          </a:p>
          <a:p>
            <a:pPr algn="l" rtl="0" eaLnBrk="1" hangingPunct="1">
              <a:spcBef>
                <a:spcPct val="10000"/>
              </a:spcBef>
              <a:buFontTx/>
              <a:buChar char="•"/>
            </a:pPr>
            <a:r>
              <a:rPr lang="en-US" sz="1800" dirty="0"/>
              <a:t>Execution is suspended either via </a:t>
            </a:r>
          </a:p>
          <a:p>
            <a:pPr lvl="1" algn="l" rtl="0" eaLnBrk="1" hangingPunct="1">
              <a:spcBef>
                <a:spcPct val="10000"/>
              </a:spcBef>
              <a:buFontTx/>
              <a:buChar char="•"/>
            </a:pPr>
            <a:r>
              <a:rPr lang="en-US" sz="1800" b="0" dirty="0"/>
              <a:t>sensitivity list (contains trigger signals), or </a:t>
            </a:r>
          </a:p>
          <a:p>
            <a:pPr lvl="1" algn="l" rtl="0" eaLnBrk="1" hangingPunct="1">
              <a:spcBef>
                <a:spcPct val="10000"/>
              </a:spcBef>
              <a:buFontTx/>
              <a:buChar char="•"/>
            </a:pPr>
            <a:r>
              <a:rPr lang="en-US" sz="1800" b="0" dirty="0"/>
              <a:t>wait-statements </a:t>
            </a:r>
          </a:p>
          <a:p>
            <a:pPr algn="l" rtl="0" eaLnBrk="1" hangingPunct="1">
              <a:spcBef>
                <a:spcPct val="10000"/>
              </a:spcBef>
              <a:buFontTx/>
              <a:buChar char="•"/>
            </a:pPr>
            <a:r>
              <a:rPr lang="en-US" sz="1800" dirty="0"/>
              <a:t>Signal values don’t change until suspension</a:t>
            </a:r>
          </a:p>
          <a:p>
            <a:pPr lvl="1" algn="l" rtl="0" eaLnBrk="1" hangingPunct="1">
              <a:spcBef>
                <a:spcPct val="10000"/>
              </a:spcBef>
              <a:buFontTx/>
              <a:buChar char="•"/>
            </a:pPr>
            <a:endParaRPr lang="en-US" sz="1800" b="0" dirty="0"/>
          </a:p>
        </p:txBody>
      </p:sp>
    </p:spTree>
    <p:extLst>
      <p:ext uri="{BB962C8B-B14F-4D97-AF65-F5344CB8AC3E}">
        <p14:creationId xmlns:p14="http://schemas.microsoft.com/office/powerpoint/2010/main" val="3542360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Activation Control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138" y="1257300"/>
            <a:ext cx="7705725" cy="521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720033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990600" y="1905000"/>
            <a:ext cx="7543800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r" rtl="1" eaLnBrk="1" hangingPunct="1">
              <a:lnSpc>
                <a:spcPct val="150000"/>
              </a:lnSpc>
              <a:buFontTx/>
              <a:buChar char="•"/>
            </a:pPr>
            <a:r>
              <a:rPr lang="ar-SA" dirty="0">
                <a:cs typeface="B Mitra" panose="00000400000000000000" pitchFamily="2" charset="-78"/>
              </a:rPr>
              <a:t>  ا</a:t>
            </a:r>
            <a:r>
              <a:rPr lang="fa-IR" dirty="0">
                <a:cs typeface="B Mitra" panose="00000400000000000000" pitchFamily="2" charset="-78"/>
              </a:rPr>
              <a:t>بزارهاي سنتز معمولاً ليست حساسيت را ناديده مي گيرند</a:t>
            </a:r>
          </a:p>
          <a:p>
            <a:pPr algn="r" rtl="1" eaLnBrk="1" hangingPunct="1">
              <a:lnSpc>
                <a:spcPct val="150000"/>
              </a:lnSpc>
              <a:buFontTx/>
              <a:buChar char="•"/>
            </a:pPr>
            <a:r>
              <a:rPr lang="fa-IR" dirty="0">
                <a:cs typeface="B Mitra" panose="00000400000000000000" pitchFamily="2" charset="-78"/>
              </a:rPr>
              <a:t>  براي مدارهاي ترکيبي همة وروديها بايد در ليست قرار گيرند تا نتيجة شبيه سازي قبل از سنتز با سخت افزار سنتز شده مطابقت داشته باشد.</a:t>
            </a:r>
          </a:p>
          <a:p>
            <a:pPr algn="r" rtl="1" eaLnBrk="1" hangingPunct="1">
              <a:lnSpc>
                <a:spcPct val="150000"/>
              </a:lnSpc>
              <a:buFontTx/>
              <a:buChar char="•"/>
            </a:pPr>
            <a:r>
              <a:rPr lang="fa-IR" dirty="0">
                <a:cs typeface="B Mitra" panose="00000400000000000000" pitchFamily="2" charset="-78"/>
              </a:rPr>
              <a:t>  براي مدارهاي ترتيبي، فقط </a:t>
            </a:r>
            <a:r>
              <a:rPr lang="en-US" dirty="0">
                <a:cs typeface="B Mitra" panose="00000400000000000000" pitchFamily="2" charset="-78"/>
              </a:rPr>
              <a:t>clock </a:t>
            </a:r>
            <a:r>
              <a:rPr lang="fa-IR" dirty="0">
                <a:cs typeface="B Mitra" panose="00000400000000000000" pitchFamily="2" charset="-78"/>
              </a:rPr>
              <a:t> و وروديهاي آسنکرون (</a:t>
            </a:r>
            <a:r>
              <a:rPr lang="en-US" dirty="0">
                <a:cs typeface="B Mitra" panose="00000400000000000000" pitchFamily="2" charset="-78"/>
              </a:rPr>
              <a:t>reset, preset</a:t>
            </a:r>
            <a:r>
              <a:rPr lang="fa-IR" dirty="0">
                <a:cs typeface="B Mitra" panose="00000400000000000000" pitchFamily="2" charset="-78"/>
              </a:rPr>
              <a:t>) در ليست قرار گيرند.</a:t>
            </a:r>
            <a:endParaRPr lang="en-US" dirty="0">
              <a:cs typeface="B Mitra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506874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VHDL Communication Model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3886200" y="2028825"/>
            <a:ext cx="4343400" cy="269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914400" indent="-4572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>
              <a:spcBef>
                <a:spcPct val="10000"/>
              </a:spcBef>
              <a:buFontTx/>
              <a:buChar char="•"/>
            </a:pPr>
            <a:r>
              <a:rPr lang="en-US" sz="1800"/>
              <a:t>Processes are concurrent statements </a:t>
            </a:r>
          </a:p>
          <a:p>
            <a:pPr lvl="1" algn="l" rtl="0" eaLnBrk="1" hangingPunct="1">
              <a:spcBef>
                <a:spcPct val="10000"/>
              </a:spcBef>
              <a:buFontTx/>
              <a:buChar char="•"/>
            </a:pPr>
            <a:r>
              <a:rPr lang="en-US" sz="1800" b="0"/>
              <a:t>Several processes </a:t>
            </a:r>
          </a:p>
          <a:p>
            <a:pPr lvl="1" algn="l" rtl="0" eaLnBrk="1" hangingPunct="1">
              <a:spcBef>
                <a:spcPct val="10000"/>
              </a:spcBef>
              <a:buFontTx/>
              <a:buChar char="•"/>
            </a:pPr>
            <a:r>
              <a:rPr lang="en-US" sz="1800" b="0"/>
              <a:t>run in parallel </a:t>
            </a:r>
          </a:p>
          <a:p>
            <a:pPr lvl="1" algn="l" rtl="0" eaLnBrk="1" hangingPunct="1">
              <a:spcBef>
                <a:spcPct val="10000"/>
              </a:spcBef>
              <a:buFontTx/>
              <a:buChar char="•"/>
            </a:pPr>
            <a:r>
              <a:rPr lang="en-US" sz="1800" b="0"/>
              <a:t>linked by signals in the sensitivity list </a:t>
            </a:r>
          </a:p>
          <a:p>
            <a:pPr algn="l" rtl="0" eaLnBrk="1" hangingPunct="1">
              <a:spcBef>
                <a:spcPct val="10000"/>
              </a:spcBef>
              <a:buFontTx/>
              <a:buChar char="•"/>
            </a:pPr>
            <a:r>
              <a:rPr lang="en-US" sz="1800"/>
              <a:t>Link to processes of other entity/architecture pairs via entity interface</a:t>
            </a:r>
          </a:p>
          <a:p>
            <a:pPr algn="l" rtl="0" eaLnBrk="1" hangingPunct="1">
              <a:spcBef>
                <a:spcPct val="10000"/>
              </a:spcBef>
              <a:buFontTx/>
              <a:buChar char="•"/>
            </a:pPr>
            <a:endParaRPr lang="en-US" sz="1800" b="0"/>
          </a:p>
        </p:txBody>
      </p:sp>
      <p:pic>
        <p:nvPicPr>
          <p:cNvPr id="7" name="Picture 4" descr="t_3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3616325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73672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Packages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  <p:pic>
        <p:nvPicPr>
          <p:cNvPr id="6" name="Picture 4" descr="t_4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528762"/>
            <a:ext cx="3962400" cy="384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4191000" y="1524000"/>
            <a:ext cx="4572000" cy="2725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914400" indent="-4572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>
              <a:spcBef>
                <a:spcPct val="10000"/>
              </a:spcBef>
              <a:buFontTx/>
              <a:buChar char="•"/>
            </a:pPr>
            <a:r>
              <a:rPr lang="en-US" sz="1800" dirty="0"/>
              <a:t>Collection of definitions, datatypes, subprograms </a:t>
            </a:r>
          </a:p>
          <a:p>
            <a:pPr algn="l" rtl="0" eaLnBrk="1" hangingPunct="1">
              <a:spcBef>
                <a:spcPct val="10000"/>
              </a:spcBef>
              <a:buFontTx/>
              <a:buChar char="•"/>
            </a:pPr>
            <a:r>
              <a:rPr lang="en-US" sz="1800" dirty="0"/>
              <a:t>Reference made by the design team </a:t>
            </a:r>
          </a:p>
          <a:p>
            <a:pPr algn="l" rtl="0" eaLnBrk="1" hangingPunct="1">
              <a:spcBef>
                <a:spcPct val="10000"/>
              </a:spcBef>
              <a:buFontTx/>
              <a:buChar char="•"/>
            </a:pPr>
            <a:r>
              <a:rPr lang="en-US" sz="1800" dirty="0"/>
              <a:t>Any changes are known to the team immediately </a:t>
            </a:r>
          </a:p>
          <a:p>
            <a:pPr lvl="1" algn="l" rtl="0" eaLnBrk="1" hangingPunct="1">
              <a:spcBef>
                <a:spcPct val="10000"/>
              </a:spcBef>
              <a:buFontTx/>
              <a:buChar char="•"/>
            </a:pPr>
            <a:r>
              <a:rPr lang="en-US" sz="1800" b="0" dirty="0"/>
              <a:t>same data types ("</a:t>
            </a:r>
            <a:r>
              <a:rPr lang="en-US" sz="1800" b="0" dirty="0" err="1"/>
              <a:t>downto</a:t>
            </a:r>
            <a:r>
              <a:rPr lang="en-US" sz="1800" b="0" dirty="0"/>
              <a:t> vs. to") </a:t>
            </a:r>
          </a:p>
          <a:p>
            <a:pPr lvl="1" algn="l" rtl="0" eaLnBrk="1" hangingPunct="1">
              <a:spcBef>
                <a:spcPct val="10000"/>
              </a:spcBef>
              <a:buFontTx/>
              <a:buChar char="•"/>
            </a:pPr>
            <a:r>
              <a:rPr lang="en-US" sz="1800" b="0" dirty="0"/>
              <a:t>extended functions for all </a:t>
            </a:r>
          </a:p>
          <a:p>
            <a:pPr lvl="1" algn="l" rtl="0" eaLnBrk="1" hangingPunct="1">
              <a:spcBef>
                <a:spcPct val="10000"/>
              </a:spcBef>
              <a:buFontTx/>
              <a:buChar char="•"/>
            </a:pPr>
            <a:r>
              <a:rPr lang="en-US" sz="1800" b="0" dirty="0"/>
              <a:t>clearing errors for all </a:t>
            </a:r>
          </a:p>
          <a:p>
            <a:pPr algn="l" rtl="0" eaLnBrk="1" hangingPunct="1">
              <a:spcBef>
                <a:spcPct val="10000"/>
              </a:spcBef>
              <a:buFontTx/>
              <a:buChar char="•"/>
            </a:pPr>
            <a:endParaRPr lang="en-US" sz="1800" b="0" dirty="0"/>
          </a:p>
        </p:txBody>
      </p:sp>
    </p:spTree>
    <p:extLst>
      <p:ext uri="{BB962C8B-B14F-4D97-AF65-F5344CB8AC3E}">
        <p14:creationId xmlns:p14="http://schemas.microsoft.com/office/powerpoint/2010/main" val="19953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Packages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762000" y="1828800"/>
            <a:ext cx="7848600" cy="34809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914400" indent="-4572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r" rtl="1" eaLnBrk="1" hangingPunct="1">
              <a:lnSpc>
                <a:spcPct val="150000"/>
              </a:lnSpc>
              <a:spcBef>
                <a:spcPct val="10000"/>
              </a:spcBef>
              <a:buFontTx/>
              <a:buChar char="•"/>
            </a:pPr>
            <a:r>
              <a:rPr lang="fa-IR" dirty="0">
                <a:cs typeface="B Mitra" panose="00000400000000000000" pitchFamily="2" charset="-78"/>
              </a:rPr>
              <a:t>پکيجها در دو بخش نوشته مي شوند:</a:t>
            </a:r>
          </a:p>
          <a:p>
            <a:pPr lvl="1" algn="r" rtl="1" eaLnBrk="1" hangingPunct="1">
              <a:lnSpc>
                <a:spcPct val="150000"/>
              </a:lnSpc>
              <a:spcBef>
                <a:spcPct val="10000"/>
              </a:spcBef>
              <a:buFontTx/>
              <a:buChar char="•"/>
            </a:pPr>
            <a:r>
              <a:rPr lang="en-US" dirty="0">
                <a:cs typeface="B Mitra" panose="00000400000000000000" pitchFamily="2" charset="-78"/>
              </a:rPr>
              <a:t>Package Header</a:t>
            </a:r>
            <a:r>
              <a:rPr lang="fa-IR" dirty="0">
                <a:cs typeface="B Mitra" panose="00000400000000000000" pitchFamily="2" charset="-78"/>
              </a:rPr>
              <a:t>: شامل اعلان </a:t>
            </a:r>
            <a:r>
              <a:rPr lang="en-US" dirty="0">
                <a:cs typeface="B Mitra" panose="00000400000000000000" pitchFamily="2" charset="-78"/>
              </a:rPr>
              <a:t>subprogram prototype</a:t>
            </a:r>
            <a:r>
              <a:rPr lang="fa-IR" dirty="0">
                <a:cs typeface="B Mitra" panose="00000400000000000000" pitchFamily="2" charset="-78"/>
              </a:rPr>
              <a:t>ها، </a:t>
            </a:r>
            <a:r>
              <a:rPr lang="en-US" dirty="0">
                <a:cs typeface="B Mitra" panose="00000400000000000000" pitchFamily="2" charset="-78"/>
              </a:rPr>
              <a:t>data type</a:t>
            </a:r>
            <a:r>
              <a:rPr lang="fa-IR" dirty="0">
                <a:cs typeface="B Mitra" panose="00000400000000000000" pitchFamily="2" charset="-78"/>
              </a:rPr>
              <a:t>ها، ...</a:t>
            </a:r>
          </a:p>
          <a:p>
            <a:pPr lvl="1" algn="r" rtl="1" eaLnBrk="1" hangingPunct="1">
              <a:lnSpc>
                <a:spcPct val="150000"/>
              </a:lnSpc>
              <a:spcBef>
                <a:spcPct val="10000"/>
              </a:spcBef>
              <a:buFontTx/>
              <a:buChar char="•"/>
            </a:pPr>
            <a:r>
              <a:rPr lang="en-US" dirty="0">
                <a:cs typeface="B Mitra" panose="00000400000000000000" pitchFamily="2" charset="-78"/>
              </a:rPr>
              <a:t>Package Body</a:t>
            </a:r>
            <a:r>
              <a:rPr lang="fa-IR" dirty="0">
                <a:cs typeface="B Mitra" panose="00000400000000000000" pitchFamily="2" charset="-78"/>
              </a:rPr>
              <a:t>: شامل پياده سازي </a:t>
            </a:r>
            <a:r>
              <a:rPr lang="en-US" dirty="0">
                <a:cs typeface="B Mitra" panose="00000400000000000000" pitchFamily="2" charset="-78"/>
              </a:rPr>
              <a:t>subprogram</a:t>
            </a:r>
            <a:r>
              <a:rPr lang="fa-IR" dirty="0">
                <a:cs typeface="B Mitra" panose="00000400000000000000" pitchFamily="2" charset="-78"/>
              </a:rPr>
              <a:t>ها</a:t>
            </a:r>
          </a:p>
          <a:p>
            <a:pPr algn="r" rtl="1" eaLnBrk="1" hangingPunct="1">
              <a:lnSpc>
                <a:spcPct val="150000"/>
              </a:lnSpc>
              <a:spcBef>
                <a:spcPct val="10000"/>
              </a:spcBef>
              <a:buFontTx/>
              <a:buChar char="•"/>
            </a:pPr>
            <a:r>
              <a:rPr lang="fa-IR" dirty="0">
                <a:cs typeface="B Mitra" panose="00000400000000000000" pitchFamily="2" charset="-78"/>
              </a:rPr>
              <a:t>کامپايل را آسان مي کند: فقط </a:t>
            </a:r>
            <a:r>
              <a:rPr lang="en-US" dirty="0">
                <a:cs typeface="B Mitra" panose="00000400000000000000" pitchFamily="2" charset="-78"/>
              </a:rPr>
              <a:t>header</a:t>
            </a:r>
            <a:r>
              <a:rPr lang="fa-IR" dirty="0">
                <a:cs typeface="B Mitra" panose="00000400000000000000" pitchFamily="2" charset="-78"/>
              </a:rPr>
              <a:t> بايد خوانده شود تا تطبيق کد </a:t>
            </a:r>
            <a:r>
              <a:rPr lang="en-US" dirty="0">
                <a:cs typeface="B Mitra" panose="00000400000000000000" pitchFamily="2" charset="-78"/>
              </a:rPr>
              <a:t>VHDL</a:t>
            </a:r>
            <a:r>
              <a:rPr lang="fa-IR" dirty="0">
                <a:cs typeface="B Mitra" panose="00000400000000000000" pitchFamily="2" charset="-78"/>
              </a:rPr>
              <a:t> جاري با تعاريف اعلانهاي قبلي مشخص شود.</a:t>
            </a:r>
            <a:endParaRPr lang="en-US" dirty="0">
              <a:cs typeface="B Mitra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9953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Package Declaration &amp; Body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613" y="1295400"/>
            <a:ext cx="2828925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5175" y="1228725"/>
            <a:ext cx="5686425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3067050"/>
            <a:ext cx="5200650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1" y="3810001"/>
            <a:ext cx="3733800" cy="861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1" y="4899025"/>
            <a:ext cx="3800475" cy="149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243417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Library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  <p:grpSp>
        <p:nvGrpSpPr>
          <p:cNvPr id="6" name="Group 7"/>
          <p:cNvGrpSpPr>
            <a:grpSpLocks/>
          </p:cNvGrpSpPr>
          <p:nvPr/>
        </p:nvGrpSpPr>
        <p:grpSpPr bwMode="auto">
          <a:xfrm>
            <a:off x="685800" y="1339850"/>
            <a:ext cx="7696200" cy="4527550"/>
            <a:chOff x="96" y="711"/>
            <a:chExt cx="4848" cy="2852"/>
          </a:xfrm>
        </p:grpSpPr>
        <p:pic>
          <p:nvPicPr>
            <p:cNvPr id="7" name="Picture 3" descr="t_4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" y="711"/>
              <a:ext cx="4848" cy="28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Text Box 5"/>
            <p:cNvSpPr txBox="1">
              <a:spLocks noChangeArrowheads="1"/>
            </p:cNvSpPr>
            <p:nvPr/>
          </p:nvSpPr>
          <p:spPr bwMode="auto">
            <a:xfrm>
              <a:off x="1956" y="1248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5pPr>
              <a:lvl6pPr marL="25146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6pPr>
              <a:lvl7pPr marL="29718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7pPr>
              <a:lvl8pPr marL="34290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8pPr>
              <a:lvl9pPr marL="3886200" indent="-228600" algn="r" rtl="1" eaLnBrk="0" fontAlgn="base" hangingPunct="0">
                <a:spcBef>
                  <a:spcPct val="5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9pPr>
            </a:lstStyle>
            <a:p>
              <a:pPr eaLnBrk="1" hangingPunct="1"/>
              <a:r>
                <a:rPr lang="en-US"/>
                <a:t>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9539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Modeling Combinational Logic: </a:t>
            </a:r>
            <a:br>
              <a:rPr lang="en-US" sz="3600" dirty="0"/>
            </a:br>
            <a:r>
              <a:rPr lang="en-US" sz="3600" dirty="0"/>
              <a:t>1-Bit Full Adder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371600"/>
            <a:ext cx="36576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9100" y="1371600"/>
            <a:ext cx="4686300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1950" y="2514600"/>
            <a:ext cx="4286250" cy="395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93" y="3962400"/>
            <a:ext cx="3649907" cy="1704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30816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1-Bit Full Adder: Dataflow Models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950" y="1219200"/>
            <a:ext cx="6896100" cy="178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50" y="2971800"/>
            <a:ext cx="8648700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4238625"/>
            <a:ext cx="6248400" cy="261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769" y="5105400"/>
            <a:ext cx="233362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33630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6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64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15269</TotalTime>
  <Words>1920</Words>
  <Application>Microsoft Office PowerPoint</Application>
  <PresentationFormat>On-screen Show (4:3)</PresentationFormat>
  <Paragraphs>313</Paragraphs>
  <Slides>35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Arial</vt:lpstr>
      <vt:lpstr>CommonBullets</vt:lpstr>
      <vt:lpstr>Courier New</vt:lpstr>
      <vt:lpstr>Helvetica</vt:lpstr>
      <vt:lpstr>Times New Roman</vt:lpstr>
      <vt:lpstr>Blank Presentation</vt:lpstr>
      <vt:lpstr>Computer-Aided Design    VHDL Syntax</vt:lpstr>
      <vt:lpstr>VHDL - Overview</vt:lpstr>
      <vt:lpstr>Abstraction Levels in IC Design</vt:lpstr>
      <vt:lpstr>VHDL Structural Elements</vt:lpstr>
      <vt:lpstr>Design Library</vt:lpstr>
      <vt:lpstr>Design File</vt:lpstr>
      <vt:lpstr>VHDL Key Idea</vt:lpstr>
      <vt:lpstr>VHDL Interface - Ports</vt:lpstr>
      <vt:lpstr>VHDL Conceptual Model</vt:lpstr>
      <vt:lpstr>VHDL Design Units</vt:lpstr>
      <vt:lpstr>Entity</vt:lpstr>
      <vt:lpstr>Entity Port Modes</vt:lpstr>
      <vt:lpstr>General</vt:lpstr>
      <vt:lpstr>VHDL Identifiers (Names)</vt:lpstr>
      <vt:lpstr>Identifiers</vt:lpstr>
      <vt:lpstr>Architecture</vt:lpstr>
      <vt:lpstr>Architecture Structure</vt:lpstr>
      <vt:lpstr>Four Classes of Data Objects</vt:lpstr>
      <vt:lpstr>Data Types</vt:lpstr>
      <vt:lpstr>Enumerated Types</vt:lpstr>
      <vt:lpstr>Logic Data Representation</vt:lpstr>
      <vt:lpstr>Time Representation: Type time </vt:lpstr>
      <vt:lpstr>Arrays</vt:lpstr>
      <vt:lpstr>Signal</vt:lpstr>
      <vt:lpstr>Signal Assignment Statement</vt:lpstr>
      <vt:lpstr>Process Statement</vt:lpstr>
      <vt:lpstr>Process Activation Control</vt:lpstr>
      <vt:lpstr>Process</vt:lpstr>
      <vt:lpstr>VHDL Communication Model</vt:lpstr>
      <vt:lpstr>Packages</vt:lpstr>
      <vt:lpstr>Packages</vt:lpstr>
      <vt:lpstr>Package Declaration &amp; Body</vt:lpstr>
      <vt:lpstr>Library</vt:lpstr>
      <vt:lpstr>Modeling Combinational Logic:  1-Bit Full Adder</vt:lpstr>
      <vt:lpstr>1-Bit Full Adder: Dataflow Models</vt:lpstr>
    </vt:vector>
  </TitlesOfParts>
  <Company>EPFL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MEGAFRAME Chip</dc:title>
  <dc:creator>Mahdi</dc:creator>
  <cp:lastModifiedBy>Mahdi Aminian</cp:lastModifiedBy>
  <cp:revision>681</cp:revision>
  <cp:lastPrinted>2019-03-03T20:27:23Z</cp:lastPrinted>
  <dcterms:created xsi:type="dcterms:W3CDTF">2009-11-03T19:03:43Z</dcterms:created>
  <dcterms:modified xsi:type="dcterms:W3CDTF">2024-10-21T23:06:33Z</dcterms:modified>
</cp:coreProperties>
</file>